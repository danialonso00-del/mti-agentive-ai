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306" r:id="rId3"/>
    <p:sldId id="308" r:id="rId4"/>
    <p:sldId id="310" r:id="rId5"/>
    <p:sldId id="309" r:id="rId6"/>
    <p:sldId id="311" r:id="rId7"/>
    <p:sldId id="312" r:id="rId8"/>
    <p:sldId id="313" r:id="rId9"/>
    <p:sldId id="257" r:id="rId10"/>
    <p:sldId id="258" r:id="rId11"/>
    <p:sldId id="259" r:id="rId12"/>
    <p:sldId id="346" r:id="rId13"/>
    <p:sldId id="261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05" r:id="rId22"/>
    <p:sldId id="262" r:id="rId23"/>
    <p:sldId id="263" r:id="rId24"/>
    <p:sldId id="265" r:id="rId25"/>
    <p:sldId id="338" r:id="rId26"/>
    <p:sldId id="269" r:id="rId27"/>
    <p:sldId id="271" r:id="rId28"/>
    <p:sldId id="272" r:id="rId29"/>
    <p:sldId id="273" r:id="rId30"/>
    <p:sldId id="274" r:id="rId31"/>
    <p:sldId id="319" r:id="rId32"/>
    <p:sldId id="320" r:id="rId33"/>
    <p:sldId id="321" r:id="rId34"/>
    <p:sldId id="278" r:id="rId35"/>
    <p:sldId id="323" r:id="rId36"/>
    <p:sldId id="324" r:id="rId37"/>
    <p:sldId id="325" r:id="rId38"/>
    <p:sldId id="284" r:id="rId39"/>
    <p:sldId id="285" r:id="rId40"/>
    <p:sldId id="334" r:id="rId41"/>
    <p:sldId id="287" r:id="rId42"/>
    <p:sldId id="335" r:id="rId43"/>
    <p:sldId id="289" r:id="rId44"/>
    <p:sldId id="328" r:id="rId45"/>
    <p:sldId id="291" r:id="rId46"/>
    <p:sldId id="336" r:id="rId47"/>
    <p:sldId id="293" r:id="rId48"/>
    <p:sldId id="337" r:id="rId49"/>
    <p:sldId id="295" r:id="rId50"/>
    <p:sldId id="331" r:id="rId51"/>
    <p:sldId id="297" r:id="rId52"/>
    <p:sldId id="332" r:id="rId53"/>
    <p:sldId id="299" r:id="rId54"/>
    <p:sldId id="333" r:id="rId55"/>
    <p:sldId id="301" r:id="rId56"/>
    <p:sldId id="302" r:id="rId57"/>
    <p:sldId id="303" r:id="rId58"/>
    <p:sldId id="304" r:id="rId5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A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700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Añadir también IA </a:t>
            </a:r>
            <a:r>
              <a:rPr lang="es-ES" dirty="0" err="1"/>
              <a:t>ptradicional</a:t>
            </a:r>
            <a:r>
              <a:rPr lang="es-ES" dirty="0"/>
              <a:t> (ML </a:t>
            </a:r>
            <a:r>
              <a:rPr lang="es-ES" dirty="0" err="1"/>
              <a:t>etc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3E3F4-7F45-6F81-E75C-B0446518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23280-1523-A541-00A2-2F5810476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E1221-EC93-BDE0-1926-5107A9176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8380D-B9C8-840D-E0B3-97013251F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974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984B-4AB3-B126-7040-12571C55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9033E-1E62-1E6E-51BC-2B64F7788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3DF37-8B7A-0474-3364-FFA7B6F92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7E429-319C-E83D-4CE9-8311C350B9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660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034AE-1870-A482-0F17-86C1C6B05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718D0-E1CE-0833-B9AB-944875B15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D83A5-9262-E9A2-A4BD-23E6C6736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22376-86D9-D824-8FBB-D1F2A4E5D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589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31339-C0C9-50FB-5EA1-AF5C4091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82327-C5D6-C6C4-A799-A08DAF0FB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DAA3C-E8A9-3A0B-0D02-4D0D5E74B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D99D9-C0C3-7B20-DAFA-BE76620D9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780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98B6-1A4E-29F3-5E9F-C20F16A9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B29E8-5DD8-7C3A-A114-8F8963A32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CE4F0-3F76-0B82-6409-24B439F9E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A6B97-08B8-E902-C3A6-CF5FF7995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318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2A93-8369-55AD-E7C7-C4191636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54311-FF84-8062-18F7-89F7346FC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115EE-07B9-4516-7A5E-68F547A38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3FFA3-CBDB-F71E-D995-888278C91F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2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330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115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4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11" Type="http://schemas.openxmlformats.org/officeDocument/2006/relationships/image" Target="../media/image7.png"/><Relationship Id="rId5" Type="http://schemas.openxmlformats.org/officeDocument/2006/relationships/image" Target="../media/image19.jpeg"/><Relationship Id="rId10" Type="http://schemas.openxmlformats.org/officeDocument/2006/relationships/image" Target="../media/image23.png"/><Relationship Id="rId4" Type="http://schemas.openxmlformats.org/officeDocument/2006/relationships/image" Target="../media/image18.jpe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6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6.png"/><Relationship Id="rId20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3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7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jpe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51.jpe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7.png"/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6.png"/><Relationship Id="rId9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7.png"/><Relationship Id="rId3" Type="http://schemas.openxmlformats.org/officeDocument/2006/relationships/image" Target="../media/image84.jpe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1.png"/><Relationship Id="rId5" Type="http://schemas.openxmlformats.org/officeDocument/2006/relationships/image" Target="../media/image86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8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26" Type="http://schemas.openxmlformats.org/officeDocument/2006/relationships/image" Target="../media/image113.png"/><Relationship Id="rId3" Type="http://schemas.openxmlformats.org/officeDocument/2006/relationships/image" Target="../media/image84.jpeg"/><Relationship Id="rId21" Type="http://schemas.openxmlformats.org/officeDocument/2006/relationships/image" Target="../media/image87.png"/><Relationship Id="rId7" Type="http://schemas.openxmlformats.org/officeDocument/2006/relationships/image" Target="../media/image96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5" Type="http://schemas.openxmlformats.org/officeDocument/2006/relationships/image" Target="../media/image112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29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99.png"/><Relationship Id="rId24" Type="http://schemas.openxmlformats.org/officeDocument/2006/relationships/image" Target="../media/image111.png"/><Relationship Id="rId5" Type="http://schemas.openxmlformats.org/officeDocument/2006/relationships/image" Target="../media/image94.png"/><Relationship Id="rId15" Type="http://schemas.openxmlformats.org/officeDocument/2006/relationships/image" Target="../media/image103.png"/><Relationship Id="rId23" Type="http://schemas.openxmlformats.org/officeDocument/2006/relationships/image" Target="../media/image110.png"/><Relationship Id="rId28" Type="http://schemas.openxmlformats.org/officeDocument/2006/relationships/image" Target="../media/image115.png"/><Relationship Id="rId10" Type="http://schemas.openxmlformats.org/officeDocument/2006/relationships/image" Target="../media/image6.png"/><Relationship Id="rId19" Type="http://schemas.openxmlformats.org/officeDocument/2006/relationships/image" Target="../media/image107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Relationship Id="rId30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19.png"/><Relationship Id="rId18" Type="http://schemas.openxmlformats.org/officeDocument/2006/relationships/image" Target="../media/image121.png"/><Relationship Id="rId26" Type="http://schemas.openxmlformats.org/officeDocument/2006/relationships/image" Target="../media/image7.png"/><Relationship Id="rId3" Type="http://schemas.openxmlformats.org/officeDocument/2006/relationships/image" Target="../media/image84.jpeg"/><Relationship Id="rId21" Type="http://schemas.openxmlformats.org/officeDocument/2006/relationships/image" Target="../media/image112.png"/><Relationship Id="rId7" Type="http://schemas.openxmlformats.org/officeDocument/2006/relationships/image" Target="../media/image96.png"/><Relationship Id="rId12" Type="http://schemas.openxmlformats.org/officeDocument/2006/relationships/image" Target="../media/image118.png"/><Relationship Id="rId17" Type="http://schemas.openxmlformats.org/officeDocument/2006/relationships/image" Target="../media/image88.png"/><Relationship Id="rId25" Type="http://schemas.openxmlformats.org/officeDocument/2006/relationships/image" Target="../media/image125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04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17.png"/><Relationship Id="rId24" Type="http://schemas.openxmlformats.org/officeDocument/2006/relationships/image" Target="../media/image124.png"/><Relationship Id="rId5" Type="http://schemas.openxmlformats.org/officeDocument/2006/relationships/image" Target="../media/image94.png"/><Relationship Id="rId15" Type="http://schemas.openxmlformats.org/officeDocument/2006/relationships/image" Target="../media/image105.png"/><Relationship Id="rId23" Type="http://schemas.openxmlformats.org/officeDocument/2006/relationships/image" Target="../media/image114.png"/><Relationship Id="rId10" Type="http://schemas.openxmlformats.org/officeDocument/2006/relationships/image" Target="../media/image6.png"/><Relationship Id="rId19" Type="http://schemas.openxmlformats.org/officeDocument/2006/relationships/image" Target="../media/image122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20.png"/><Relationship Id="rId22" Type="http://schemas.openxmlformats.org/officeDocument/2006/relationships/image" Target="../media/image1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1.png"/><Relationship Id="rId18" Type="http://schemas.openxmlformats.org/officeDocument/2006/relationships/image" Target="../media/image107.png"/><Relationship Id="rId26" Type="http://schemas.openxmlformats.org/officeDocument/2006/relationships/image" Target="../media/image114.png"/><Relationship Id="rId3" Type="http://schemas.openxmlformats.org/officeDocument/2006/relationships/image" Target="../media/image84.jpeg"/><Relationship Id="rId21" Type="http://schemas.openxmlformats.org/officeDocument/2006/relationships/image" Target="../media/image128.png"/><Relationship Id="rId7" Type="http://schemas.openxmlformats.org/officeDocument/2006/relationships/image" Target="../media/image96.png"/><Relationship Id="rId12" Type="http://schemas.openxmlformats.org/officeDocument/2006/relationships/image" Target="../media/image126.png"/><Relationship Id="rId17" Type="http://schemas.openxmlformats.org/officeDocument/2006/relationships/image" Target="../media/image106.png"/><Relationship Id="rId25" Type="http://schemas.openxmlformats.org/officeDocument/2006/relationships/image" Target="../media/image11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18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99.png"/><Relationship Id="rId24" Type="http://schemas.openxmlformats.org/officeDocument/2006/relationships/image" Target="../media/image112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23" Type="http://schemas.openxmlformats.org/officeDocument/2006/relationships/image" Target="../media/image130.png"/><Relationship Id="rId28" Type="http://schemas.openxmlformats.org/officeDocument/2006/relationships/image" Target="../media/image7.png"/><Relationship Id="rId10" Type="http://schemas.openxmlformats.org/officeDocument/2006/relationships/image" Target="../media/image6.png"/><Relationship Id="rId19" Type="http://schemas.openxmlformats.org/officeDocument/2006/relationships/image" Target="../media/image127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5.png"/><Relationship Id="rId22" Type="http://schemas.openxmlformats.org/officeDocument/2006/relationships/image" Target="../media/image129.png"/><Relationship Id="rId27" Type="http://schemas.openxmlformats.org/officeDocument/2006/relationships/image" Target="../media/image1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99.png"/><Relationship Id="rId18" Type="http://schemas.openxmlformats.org/officeDocument/2006/relationships/image" Target="../media/image90.png"/><Relationship Id="rId26" Type="http://schemas.openxmlformats.org/officeDocument/2006/relationships/image" Target="../media/image138.png"/><Relationship Id="rId3" Type="http://schemas.openxmlformats.org/officeDocument/2006/relationships/image" Target="../media/image84.jpeg"/><Relationship Id="rId21" Type="http://schemas.openxmlformats.org/officeDocument/2006/relationships/image" Target="../media/image136.png"/><Relationship Id="rId7" Type="http://schemas.openxmlformats.org/officeDocument/2006/relationships/image" Target="../media/image96.png"/><Relationship Id="rId12" Type="http://schemas.openxmlformats.org/officeDocument/2006/relationships/image" Target="../media/image133.png"/><Relationship Id="rId17" Type="http://schemas.openxmlformats.org/officeDocument/2006/relationships/image" Target="../media/image134.png"/><Relationship Id="rId25" Type="http://schemas.openxmlformats.org/officeDocument/2006/relationships/image" Target="../media/image137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19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32.png"/><Relationship Id="rId24" Type="http://schemas.openxmlformats.org/officeDocument/2006/relationships/image" Target="../media/image114.png"/><Relationship Id="rId5" Type="http://schemas.openxmlformats.org/officeDocument/2006/relationships/image" Target="../media/image94.png"/><Relationship Id="rId15" Type="http://schemas.openxmlformats.org/officeDocument/2006/relationships/image" Target="../media/image118.png"/><Relationship Id="rId23" Type="http://schemas.openxmlformats.org/officeDocument/2006/relationships/image" Target="../media/image113.png"/><Relationship Id="rId28" Type="http://schemas.openxmlformats.org/officeDocument/2006/relationships/image" Target="../media/image7.png"/><Relationship Id="rId10" Type="http://schemas.openxmlformats.org/officeDocument/2006/relationships/image" Target="../media/image6.png"/><Relationship Id="rId19" Type="http://schemas.openxmlformats.org/officeDocument/2006/relationships/image" Target="../media/image135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0.png"/><Relationship Id="rId22" Type="http://schemas.openxmlformats.org/officeDocument/2006/relationships/image" Target="../media/image112.png"/><Relationship Id="rId27" Type="http://schemas.openxmlformats.org/officeDocument/2006/relationships/image" Target="../media/image13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19.png"/><Relationship Id="rId18" Type="http://schemas.openxmlformats.org/officeDocument/2006/relationships/image" Target="../media/image141.png"/><Relationship Id="rId26" Type="http://schemas.openxmlformats.org/officeDocument/2006/relationships/image" Target="../media/image125.png"/><Relationship Id="rId3" Type="http://schemas.openxmlformats.org/officeDocument/2006/relationships/image" Target="../media/image84.jpeg"/><Relationship Id="rId21" Type="http://schemas.openxmlformats.org/officeDocument/2006/relationships/image" Target="../media/image112.png"/><Relationship Id="rId7" Type="http://schemas.openxmlformats.org/officeDocument/2006/relationships/image" Target="../media/image96.png"/><Relationship Id="rId12" Type="http://schemas.openxmlformats.org/officeDocument/2006/relationships/image" Target="../media/image118.png"/><Relationship Id="rId17" Type="http://schemas.openxmlformats.org/officeDocument/2006/relationships/image" Target="../media/image91.png"/><Relationship Id="rId25" Type="http://schemas.openxmlformats.org/officeDocument/2006/relationships/image" Target="../media/image144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04.png"/><Relationship Id="rId20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40.png"/><Relationship Id="rId24" Type="http://schemas.openxmlformats.org/officeDocument/2006/relationships/image" Target="../media/image131.png"/><Relationship Id="rId5" Type="http://schemas.openxmlformats.org/officeDocument/2006/relationships/image" Target="../media/image94.png"/><Relationship Id="rId15" Type="http://schemas.openxmlformats.org/officeDocument/2006/relationships/image" Target="../media/image105.png"/><Relationship Id="rId23" Type="http://schemas.openxmlformats.org/officeDocument/2006/relationships/image" Target="../media/image114.png"/><Relationship Id="rId10" Type="http://schemas.openxmlformats.org/officeDocument/2006/relationships/image" Target="../media/image6.png"/><Relationship Id="rId19" Type="http://schemas.openxmlformats.org/officeDocument/2006/relationships/image" Target="../media/image142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32.png"/><Relationship Id="rId22" Type="http://schemas.openxmlformats.org/officeDocument/2006/relationships/image" Target="../media/image113.png"/><Relationship Id="rId27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4.png"/><Relationship Id="rId18" Type="http://schemas.openxmlformats.org/officeDocument/2006/relationships/image" Target="../media/image92.png"/><Relationship Id="rId26" Type="http://schemas.openxmlformats.org/officeDocument/2006/relationships/image" Target="../media/image131.png"/><Relationship Id="rId3" Type="http://schemas.openxmlformats.org/officeDocument/2006/relationships/image" Target="../media/image84.jpeg"/><Relationship Id="rId21" Type="http://schemas.openxmlformats.org/officeDocument/2006/relationships/image" Target="../media/image121.png"/><Relationship Id="rId7" Type="http://schemas.openxmlformats.org/officeDocument/2006/relationships/image" Target="../media/image96.png"/><Relationship Id="rId12" Type="http://schemas.openxmlformats.org/officeDocument/2006/relationships/image" Target="../media/image105.png"/><Relationship Id="rId17" Type="http://schemas.openxmlformats.org/officeDocument/2006/relationships/image" Target="../media/image100.png"/><Relationship Id="rId25" Type="http://schemas.openxmlformats.org/officeDocument/2006/relationships/image" Target="../media/image147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27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1.png"/><Relationship Id="rId24" Type="http://schemas.openxmlformats.org/officeDocument/2006/relationships/image" Target="../media/image114.png"/><Relationship Id="rId5" Type="http://schemas.openxmlformats.org/officeDocument/2006/relationships/image" Target="../media/image94.png"/><Relationship Id="rId15" Type="http://schemas.openxmlformats.org/officeDocument/2006/relationships/image" Target="../media/image107.png"/><Relationship Id="rId23" Type="http://schemas.openxmlformats.org/officeDocument/2006/relationships/image" Target="../media/image113.png"/><Relationship Id="rId10" Type="http://schemas.openxmlformats.org/officeDocument/2006/relationships/image" Target="../media/image6.png"/><Relationship Id="rId19" Type="http://schemas.openxmlformats.org/officeDocument/2006/relationships/image" Target="../media/image145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6.png"/><Relationship Id="rId22" Type="http://schemas.openxmlformats.org/officeDocument/2006/relationships/image" Target="../media/image112.png"/><Relationship Id="rId27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7" Type="http://schemas.openxmlformats.org/officeDocument/2006/relationships/image" Target="../media/image151.png"/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6.png"/><Relationship Id="rId4" Type="http://schemas.openxmlformats.org/officeDocument/2006/relationships/image" Target="../media/image1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jpeg"/><Relationship Id="rId7" Type="http://schemas.openxmlformats.org/officeDocument/2006/relationships/image" Target="../media/image15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15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jpeg"/><Relationship Id="rId5" Type="http://schemas.openxmlformats.org/officeDocument/2006/relationships/image" Target="../media/image6.png"/><Relationship Id="rId4" Type="http://schemas.openxmlformats.org/officeDocument/2006/relationships/image" Target="../media/image1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7" Type="http://schemas.openxmlformats.org/officeDocument/2006/relationships/image" Target="../media/image16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6.png"/><Relationship Id="rId4" Type="http://schemas.openxmlformats.org/officeDocument/2006/relationships/image" Target="../media/image1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6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3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7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5.png"/><Relationship Id="rId7" Type="http://schemas.openxmlformats.org/officeDocument/2006/relationships/image" Target="../media/image17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81.jpeg"/><Relationship Id="rId7" Type="http://schemas.openxmlformats.org/officeDocument/2006/relationships/image" Target="../media/image18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0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7" Type="http://schemas.openxmlformats.org/officeDocument/2006/relationships/image" Target="../media/image18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5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05.png"/><Relationship Id="rId18" Type="http://schemas.openxmlformats.org/officeDocument/2006/relationships/image" Target="../media/image199.png"/><Relationship Id="rId3" Type="http://schemas.openxmlformats.org/officeDocument/2006/relationships/image" Target="../media/image189.jpeg"/><Relationship Id="rId21" Type="http://schemas.openxmlformats.org/officeDocument/2006/relationships/image" Target="../media/image116.png"/><Relationship Id="rId7" Type="http://schemas.openxmlformats.org/officeDocument/2006/relationships/image" Target="../media/image193.png"/><Relationship Id="rId12" Type="http://schemas.openxmlformats.org/officeDocument/2006/relationships/image" Target="../media/image100.png"/><Relationship Id="rId17" Type="http://schemas.openxmlformats.org/officeDocument/2006/relationships/image" Target="../media/image127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198.png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99.png"/><Relationship Id="rId5" Type="http://schemas.openxmlformats.org/officeDocument/2006/relationships/image" Target="../media/image191.png"/><Relationship Id="rId15" Type="http://schemas.openxmlformats.org/officeDocument/2006/relationships/image" Target="../media/image197.png"/><Relationship Id="rId10" Type="http://schemas.openxmlformats.org/officeDocument/2006/relationships/image" Target="../media/image6.png"/><Relationship Id="rId19" Type="http://schemas.openxmlformats.org/officeDocument/2006/relationships/image" Target="../media/image200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196.png"/><Relationship Id="rId22" Type="http://schemas.openxmlformats.org/officeDocument/2006/relationships/image" Target="../media/image20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15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6.png"/><Relationship Id="rId18" Type="http://schemas.openxmlformats.org/officeDocument/2006/relationships/image" Target="../media/image200.png"/><Relationship Id="rId3" Type="http://schemas.openxmlformats.org/officeDocument/2006/relationships/image" Target="../media/image189.jpeg"/><Relationship Id="rId21" Type="http://schemas.openxmlformats.org/officeDocument/2006/relationships/image" Target="../media/image125.png"/><Relationship Id="rId7" Type="http://schemas.openxmlformats.org/officeDocument/2006/relationships/image" Target="../media/image193.png"/><Relationship Id="rId12" Type="http://schemas.openxmlformats.org/officeDocument/2006/relationships/image" Target="../media/image120.png"/><Relationship Id="rId17" Type="http://schemas.openxmlformats.org/officeDocument/2006/relationships/image" Target="../media/image206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199.png"/><Relationship Id="rId20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105.png"/><Relationship Id="rId5" Type="http://schemas.openxmlformats.org/officeDocument/2006/relationships/image" Target="../media/image191.png"/><Relationship Id="rId15" Type="http://schemas.openxmlformats.org/officeDocument/2006/relationships/image" Target="../media/image104.png"/><Relationship Id="rId10" Type="http://schemas.openxmlformats.org/officeDocument/2006/relationships/image" Target="../media/image6.png"/><Relationship Id="rId19" Type="http://schemas.openxmlformats.org/officeDocument/2006/relationships/image" Target="../media/image201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11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195.png"/><Relationship Id="rId7" Type="http://schemas.openxmlformats.org/officeDocument/2006/relationships/image" Target="../media/image210.png"/><Relationship Id="rId12" Type="http://schemas.openxmlformats.org/officeDocument/2006/relationships/image" Target="../media/image215.png"/><Relationship Id="rId2" Type="http://schemas.openxmlformats.org/officeDocument/2006/relationships/image" Target="../media/image20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9.png"/><Relationship Id="rId11" Type="http://schemas.openxmlformats.org/officeDocument/2006/relationships/image" Target="../media/image214.png"/><Relationship Id="rId5" Type="http://schemas.openxmlformats.org/officeDocument/2006/relationships/image" Target="../media/image208.png"/><Relationship Id="rId10" Type="http://schemas.openxmlformats.org/officeDocument/2006/relationships/image" Target="../media/image213.png"/><Relationship Id="rId4" Type="http://schemas.openxmlformats.org/officeDocument/2006/relationships/image" Target="../media/image150.png"/><Relationship Id="rId9" Type="http://schemas.openxmlformats.org/officeDocument/2006/relationships/image" Target="../media/image21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197.png"/><Relationship Id="rId18" Type="http://schemas.openxmlformats.org/officeDocument/2006/relationships/image" Target="../media/image218.png"/><Relationship Id="rId3" Type="http://schemas.openxmlformats.org/officeDocument/2006/relationships/image" Target="../media/image189.jpeg"/><Relationship Id="rId21" Type="http://schemas.openxmlformats.org/officeDocument/2006/relationships/image" Target="../media/image219.png"/><Relationship Id="rId7" Type="http://schemas.openxmlformats.org/officeDocument/2006/relationships/image" Target="../media/image194.png"/><Relationship Id="rId12" Type="http://schemas.openxmlformats.org/officeDocument/2006/relationships/image" Target="../media/image132.png"/><Relationship Id="rId17" Type="http://schemas.openxmlformats.org/officeDocument/2006/relationships/image" Target="../media/image217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90.png"/><Relationship Id="rId20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3.png"/><Relationship Id="rId11" Type="http://schemas.openxmlformats.org/officeDocument/2006/relationships/image" Target="../media/image196.png"/><Relationship Id="rId5" Type="http://schemas.openxmlformats.org/officeDocument/2006/relationships/image" Target="../media/image192.png"/><Relationship Id="rId15" Type="http://schemas.openxmlformats.org/officeDocument/2006/relationships/image" Target="../media/image216.png"/><Relationship Id="rId10" Type="http://schemas.openxmlformats.org/officeDocument/2006/relationships/image" Target="../media/image6.png"/><Relationship Id="rId19" Type="http://schemas.openxmlformats.org/officeDocument/2006/relationships/image" Target="../media/image201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133.png"/><Relationship Id="rId22" Type="http://schemas.openxmlformats.org/officeDocument/2006/relationships/image" Target="../media/image13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2.png"/><Relationship Id="rId5" Type="http://schemas.openxmlformats.org/officeDocument/2006/relationships/image" Target="../media/image221.png"/><Relationship Id="rId4" Type="http://schemas.openxmlformats.org/officeDocument/2006/relationships/image" Target="../media/image15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6.png"/><Relationship Id="rId18" Type="http://schemas.openxmlformats.org/officeDocument/2006/relationships/image" Target="../media/image224.png"/><Relationship Id="rId3" Type="http://schemas.openxmlformats.org/officeDocument/2006/relationships/image" Target="../media/image189.jpeg"/><Relationship Id="rId21" Type="http://schemas.openxmlformats.org/officeDocument/2006/relationships/image" Target="../media/image115.png"/><Relationship Id="rId7" Type="http://schemas.openxmlformats.org/officeDocument/2006/relationships/image" Target="../media/image193.png"/><Relationship Id="rId12" Type="http://schemas.openxmlformats.org/officeDocument/2006/relationships/image" Target="../media/image100.png"/><Relationship Id="rId17" Type="http://schemas.openxmlformats.org/officeDocument/2006/relationships/image" Target="../media/image103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223.png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99.png"/><Relationship Id="rId5" Type="http://schemas.openxmlformats.org/officeDocument/2006/relationships/image" Target="../media/image191.png"/><Relationship Id="rId15" Type="http://schemas.openxmlformats.org/officeDocument/2006/relationships/image" Target="../media/image198.png"/><Relationship Id="rId10" Type="http://schemas.openxmlformats.org/officeDocument/2006/relationships/image" Target="../media/image6.png"/><Relationship Id="rId19" Type="http://schemas.openxmlformats.org/officeDocument/2006/relationships/image" Target="../media/image218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19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7.png"/><Relationship Id="rId5" Type="http://schemas.openxmlformats.org/officeDocument/2006/relationships/image" Target="../media/image226.png"/><Relationship Id="rId4" Type="http://schemas.openxmlformats.org/officeDocument/2006/relationships/image" Target="../media/image15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26.png"/><Relationship Id="rId18" Type="http://schemas.openxmlformats.org/officeDocument/2006/relationships/image" Target="../media/image127.png"/><Relationship Id="rId3" Type="http://schemas.openxmlformats.org/officeDocument/2006/relationships/image" Target="../media/image189.jpeg"/><Relationship Id="rId21" Type="http://schemas.openxmlformats.org/officeDocument/2006/relationships/image" Target="../media/image131.png"/><Relationship Id="rId7" Type="http://schemas.openxmlformats.org/officeDocument/2006/relationships/image" Target="../media/image194.png"/><Relationship Id="rId12" Type="http://schemas.openxmlformats.org/officeDocument/2006/relationships/image" Target="../media/image100.png"/><Relationship Id="rId17" Type="http://schemas.openxmlformats.org/officeDocument/2006/relationships/image" Target="../media/image198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197.png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3.png"/><Relationship Id="rId11" Type="http://schemas.openxmlformats.org/officeDocument/2006/relationships/image" Target="../media/image99.png"/><Relationship Id="rId5" Type="http://schemas.openxmlformats.org/officeDocument/2006/relationships/image" Target="../media/image191.png"/><Relationship Id="rId15" Type="http://schemas.openxmlformats.org/officeDocument/2006/relationships/image" Target="../media/image196.png"/><Relationship Id="rId10" Type="http://schemas.openxmlformats.org/officeDocument/2006/relationships/image" Target="../media/image6.png"/><Relationship Id="rId19" Type="http://schemas.openxmlformats.org/officeDocument/2006/relationships/image" Target="../media/image200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105.png"/><Relationship Id="rId22" Type="http://schemas.openxmlformats.org/officeDocument/2006/relationships/image" Target="../media/image22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4" Type="http://schemas.openxmlformats.org/officeDocument/2006/relationships/image" Target="../media/image15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7.png"/><Relationship Id="rId18" Type="http://schemas.openxmlformats.org/officeDocument/2006/relationships/image" Target="../media/image224.png"/><Relationship Id="rId3" Type="http://schemas.openxmlformats.org/officeDocument/2006/relationships/image" Target="../media/image189.jpeg"/><Relationship Id="rId21" Type="http://schemas.openxmlformats.org/officeDocument/2006/relationships/image" Target="../media/image131.png"/><Relationship Id="rId7" Type="http://schemas.openxmlformats.org/officeDocument/2006/relationships/image" Target="../media/image193.png"/><Relationship Id="rId12" Type="http://schemas.openxmlformats.org/officeDocument/2006/relationships/image" Target="../media/image196.png"/><Relationship Id="rId17" Type="http://schemas.openxmlformats.org/officeDocument/2006/relationships/image" Target="../media/image228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100.png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198.png"/><Relationship Id="rId5" Type="http://schemas.openxmlformats.org/officeDocument/2006/relationships/image" Target="../media/image191.png"/><Relationship Id="rId15" Type="http://schemas.openxmlformats.org/officeDocument/2006/relationships/image" Target="../media/image104.png"/><Relationship Id="rId10" Type="http://schemas.openxmlformats.org/officeDocument/2006/relationships/image" Target="../media/image6.png"/><Relationship Id="rId19" Type="http://schemas.openxmlformats.org/officeDocument/2006/relationships/image" Target="../media/image218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10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23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3.png"/><Relationship Id="rId5" Type="http://schemas.openxmlformats.org/officeDocument/2006/relationships/image" Target="../media/image232.png"/><Relationship Id="rId4" Type="http://schemas.openxmlformats.org/officeDocument/2006/relationships/image" Target="../media/image15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6.png"/><Relationship Id="rId18" Type="http://schemas.openxmlformats.org/officeDocument/2006/relationships/image" Target="../media/image206.png"/><Relationship Id="rId3" Type="http://schemas.openxmlformats.org/officeDocument/2006/relationships/image" Target="../media/image189.jpeg"/><Relationship Id="rId21" Type="http://schemas.openxmlformats.org/officeDocument/2006/relationships/image" Target="../media/image138.png"/><Relationship Id="rId7" Type="http://schemas.openxmlformats.org/officeDocument/2006/relationships/image" Target="../media/image193.png"/><Relationship Id="rId12" Type="http://schemas.openxmlformats.org/officeDocument/2006/relationships/image" Target="../media/image120.png"/><Relationship Id="rId17" Type="http://schemas.openxmlformats.org/officeDocument/2006/relationships/image" Target="../media/image144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134.png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105.png"/><Relationship Id="rId5" Type="http://schemas.openxmlformats.org/officeDocument/2006/relationships/image" Target="../media/image191.png"/><Relationship Id="rId15" Type="http://schemas.openxmlformats.org/officeDocument/2006/relationships/image" Target="../media/image234.png"/><Relationship Id="rId23" Type="http://schemas.openxmlformats.org/officeDocument/2006/relationships/image" Target="../media/image202.png"/><Relationship Id="rId10" Type="http://schemas.openxmlformats.org/officeDocument/2006/relationships/image" Target="../media/image6.png"/><Relationship Id="rId19" Type="http://schemas.openxmlformats.org/officeDocument/2006/relationships/image" Target="../media/image200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118.png"/><Relationship Id="rId22" Type="http://schemas.openxmlformats.org/officeDocument/2006/relationships/image" Target="../media/image23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6.png"/><Relationship Id="rId5" Type="http://schemas.openxmlformats.org/officeDocument/2006/relationships/image" Target="../media/image229.png"/><Relationship Id="rId4" Type="http://schemas.openxmlformats.org/officeDocument/2006/relationships/image" Target="../media/image15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7.png"/><Relationship Id="rId18" Type="http://schemas.openxmlformats.org/officeDocument/2006/relationships/image" Target="../media/image218.png"/><Relationship Id="rId3" Type="http://schemas.openxmlformats.org/officeDocument/2006/relationships/image" Target="../media/image189.jpeg"/><Relationship Id="rId21" Type="http://schemas.openxmlformats.org/officeDocument/2006/relationships/image" Target="../media/image144.png"/><Relationship Id="rId7" Type="http://schemas.openxmlformats.org/officeDocument/2006/relationships/image" Target="../media/image193.png"/><Relationship Id="rId12" Type="http://schemas.openxmlformats.org/officeDocument/2006/relationships/image" Target="../media/image196.png"/><Relationship Id="rId17" Type="http://schemas.openxmlformats.org/officeDocument/2006/relationships/image" Target="../media/image237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217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140.png"/><Relationship Id="rId5" Type="http://schemas.openxmlformats.org/officeDocument/2006/relationships/image" Target="../media/image191.png"/><Relationship Id="rId15" Type="http://schemas.openxmlformats.org/officeDocument/2006/relationships/image" Target="../media/image105.png"/><Relationship Id="rId10" Type="http://schemas.openxmlformats.org/officeDocument/2006/relationships/image" Target="../media/image6.png"/><Relationship Id="rId19" Type="http://schemas.openxmlformats.org/officeDocument/2006/relationships/image" Target="../media/image201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132.png"/><Relationship Id="rId22" Type="http://schemas.openxmlformats.org/officeDocument/2006/relationships/image" Target="../media/image12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0.png"/><Relationship Id="rId4" Type="http://schemas.openxmlformats.org/officeDocument/2006/relationships/image" Target="../media/image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24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60ea73a606d19d764f6b1b42d4630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df87e040894f7eac7789364e25e15f5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7ed7bb912f7c94ef41a7d56085217d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761695"/>
            <a:ext cx="1714500" cy="1218895"/>
          </a:xfrm>
          <a:prstGeom prst="rect">
            <a:avLst/>
          </a:prstGeom>
        </p:spPr>
      </p:pic>
      <p:pic>
        <p:nvPicPr>
          <p:cNvPr id="5" name="Image 3" descr="gen-dedup-1473232738e87a88a640e54005ce6f59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4287500" y="914400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s-ES" sz="975" b="1" kern="0" spc="234" noProof="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 · 2026</a:t>
            </a:r>
            <a:endParaRPr lang="es-ES" sz="975" noProof="0" dirty="0"/>
          </a:p>
        </p:txBody>
      </p:sp>
      <p:sp>
        <p:nvSpPr>
          <p:cNvPr id="7" name="Text 1"/>
          <p:cNvSpPr txBox="1"/>
          <p:nvPr/>
        </p:nvSpPr>
        <p:spPr>
          <a:xfrm>
            <a:off x="14287500" y="1123798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s-ES" sz="975" kern="0" spc="215" noProof="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despliegues en producción</a:t>
            </a:r>
            <a:endParaRPr lang="es-ES" sz="975" noProof="0" dirty="0"/>
          </a:p>
        </p:txBody>
      </p:sp>
      <p:sp>
        <p:nvSpPr>
          <p:cNvPr id="8" name="Shape 2"/>
          <p:cNvSpPr/>
          <p:nvPr/>
        </p:nvSpPr>
        <p:spPr>
          <a:xfrm>
            <a:off x="6703466" y="2857500"/>
            <a:ext cx="4886554" cy="428854"/>
          </a:xfrm>
          <a:prstGeom prst="roundRect">
            <a:avLst>
              <a:gd name="adj" fmla="val 49893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3"/>
          <p:cNvSpPr/>
          <p:nvPr/>
        </p:nvSpPr>
        <p:spPr>
          <a:xfrm>
            <a:off x="6703466" y="2857500"/>
            <a:ext cx="488655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92100" tIns="114300" rIns="292100" bIns="114300" rtlCol="0" anchor="ctr"/>
          <a:lstStyle/>
          <a:p>
            <a:pPr marL="0" indent="0" algn="ctr">
              <a:buNone/>
            </a:pPr>
            <a:r>
              <a:rPr lang="es-ES" sz="1125" b="1" kern="0" spc="270" noProof="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Autonomía real · Resultados reales</a:t>
            </a:r>
            <a:endParaRPr lang="es-ES" sz="1125" noProof="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3810305"/>
            <a:ext cx="16002000" cy="1362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10500" b="1" kern="0" spc="-315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</a:t>
            </a:r>
            <a:endParaRPr lang="es-ES" sz="10500" noProof="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5429707"/>
            <a:ext cx="1600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2400" kern="0" spc="-24" noProof="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Despliegues IA. </a:t>
            </a:r>
            <a:r>
              <a:rPr lang="es-ES" sz="2400" b="1" kern="0" spc="-24" noProof="0" dirty="0">
                <a:solidFill>
                  <a:srgbClr val="E6A817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plataforma.</a:t>
            </a:r>
            <a:r>
              <a:rPr lang="es-ES" sz="2400" kern="0" spc="-24" noProof="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Autonomía real.</a:t>
            </a:r>
            <a:endParaRPr lang="es-ES" sz="2400" noProof="0" dirty="0"/>
          </a:p>
        </p:txBody>
      </p:sp>
      <p:sp>
        <p:nvSpPr>
          <p:cNvPr id="12" name="Text 6"/>
          <p:cNvSpPr txBox="1"/>
          <p:nvPr/>
        </p:nvSpPr>
        <p:spPr>
          <a:xfrm>
            <a:off x="2857500" y="6441948"/>
            <a:ext cx="1257300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41"/>
              </a:lnSpc>
              <a:buNone/>
            </a:pPr>
            <a:r>
              <a:rPr lang="es-ES" sz="1575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Diseñamos e implantamos soluciones de IA Agentiva industrial. </a:t>
            </a:r>
            <a:r>
              <a:rPr lang="es-ES" sz="15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r>
              <a:rPr lang="es-ES" sz="1575" noProof="0" dirty="0" err="1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igitalización</a:t>
            </a:r>
            <a:r>
              <a:rPr lang="es-ES" sz="1575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procesos, agentes autónomos,</a:t>
            </a:r>
          </a:p>
          <a:p>
            <a:pPr marL="0" indent="0" algn="ctr">
              <a:lnSpc>
                <a:spcPts val="2441"/>
              </a:lnSpc>
              <a:buNone/>
            </a:pPr>
            <a:r>
              <a:rPr lang="es-ES" sz="1575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documental y asistentes conversacionales conectados a tu ERP, </a:t>
            </a:r>
            <a:r>
              <a:rPr lang="es-ES" sz="1575" noProof="0" dirty="0" err="1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</a:t>
            </a:r>
            <a:r>
              <a:rPr lang="es-ES" sz="1575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datos reales.</a:t>
            </a:r>
          </a:p>
        </p:txBody>
      </p:sp>
      <p:sp>
        <p:nvSpPr>
          <p:cNvPr id="13" name="Shape 7"/>
          <p:cNvSpPr/>
          <p:nvPr/>
        </p:nvSpPr>
        <p:spPr>
          <a:xfrm>
            <a:off x="4406494" y="8153705"/>
            <a:ext cx="1019556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8"/>
          <p:cNvSpPr/>
          <p:nvPr/>
        </p:nvSpPr>
        <p:spPr>
          <a:xfrm>
            <a:off x="4406494" y="8153705"/>
            <a:ext cx="1019556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COPEGAL</a:t>
            </a:r>
            <a:endParaRPr lang="es-ES" sz="900" noProof="0" dirty="0"/>
          </a:p>
        </p:txBody>
      </p:sp>
      <p:sp>
        <p:nvSpPr>
          <p:cNvPr id="15" name="Shape 9"/>
          <p:cNvSpPr/>
          <p:nvPr/>
        </p:nvSpPr>
        <p:spPr>
          <a:xfrm>
            <a:off x="5609844" y="8153705"/>
            <a:ext cx="752551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0"/>
          <p:cNvSpPr/>
          <p:nvPr/>
        </p:nvSpPr>
        <p:spPr>
          <a:xfrm>
            <a:off x="5609844" y="8153705"/>
            <a:ext cx="7525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s-ES" sz="900" noProof="0" dirty="0"/>
          </a:p>
        </p:txBody>
      </p:sp>
      <p:sp>
        <p:nvSpPr>
          <p:cNvPr id="17" name="Shape 11"/>
          <p:cNvSpPr/>
          <p:nvPr/>
        </p:nvSpPr>
        <p:spPr>
          <a:xfrm>
            <a:off x="6544361" y="8153705"/>
            <a:ext cx="752551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2"/>
          <p:cNvSpPr/>
          <p:nvPr/>
        </p:nvSpPr>
        <p:spPr>
          <a:xfrm>
            <a:off x="6544361" y="8153705"/>
            <a:ext cx="7525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s-ES" sz="900" noProof="0" dirty="0"/>
          </a:p>
        </p:txBody>
      </p:sp>
      <p:sp>
        <p:nvSpPr>
          <p:cNvPr id="19" name="Shape 13"/>
          <p:cNvSpPr/>
          <p:nvPr/>
        </p:nvSpPr>
        <p:spPr>
          <a:xfrm>
            <a:off x="7484364" y="8153705"/>
            <a:ext cx="1114654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4"/>
          <p:cNvSpPr/>
          <p:nvPr/>
        </p:nvSpPr>
        <p:spPr>
          <a:xfrm>
            <a:off x="7484364" y="8153705"/>
            <a:ext cx="1114654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REGENASA</a:t>
            </a:r>
            <a:endParaRPr lang="es-ES" sz="900" noProof="0" dirty="0"/>
          </a:p>
        </p:txBody>
      </p:sp>
      <p:sp>
        <p:nvSpPr>
          <p:cNvPr id="21" name="Shape 15"/>
          <p:cNvSpPr/>
          <p:nvPr/>
        </p:nvSpPr>
        <p:spPr>
          <a:xfrm>
            <a:off x="8787384" y="8153705"/>
            <a:ext cx="1123798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6"/>
          <p:cNvSpPr/>
          <p:nvPr/>
        </p:nvSpPr>
        <p:spPr>
          <a:xfrm>
            <a:off x="8787384" y="8153705"/>
            <a:ext cx="112471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GALMETEC</a:t>
            </a:r>
            <a:endParaRPr lang="es-ES" sz="900" noProof="0" dirty="0"/>
          </a:p>
        </p:txBody>
      </p:sp>
      <p:sp>
        <p:nvSpPr>
          <p:cNvPr id="23" name="Shape 17"/>
          <p:cNvSpPr/>
          <p:nvPr/>
        </p:nvSpPr>
        <p:spPr>
          <a:xfrm>
            <a:off x="10099548" y="8153705"/>
            <a:ext cx="780898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4" name="Text 18"/>
          <p:cNvSpPr/>
          <p:nvPr/>
        </p:nvSpPr>
        <p:spPr>
          <a:xfrm>
            <a:off x="10099548" y="8153705"/>
            <a:ext cx="78181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80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PRISA</a:t>
            </a:r>
            <a:endParaRPr lang="es-ES" sz="900" noProof="0" dirty="0"/>
          </a:p>
        </p:txBody>
      </p:sp>
      <p:sp>
        <p:nvSpPr>
          <p:cNvPr id="25" name="Shape 19"/>
          <p:cNvSpPr/>
          <p:nvPr/>
        </p:nvSpPr>
        <p:spPr>
          <a:xfrm>
            <a:off x="11064240" y="8153705"/>
            <a:ext cx="638251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Text 20"/>
          <p:cNvSpPr/>
          <p:nvPr/>
        </p:nvSpPr>
        <p:spPr>
          <a:xfrm>
            <a:off x="11064240" y="8153705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SIGI</a:t>
            </a:r>
            <a:endParaRPr lang="es-ES" sz="900" noProof="0" dirty="0"/>
          </a:p>
        </p:txBody>
      </p:sp>
      <p:sp>
        <p:nvSpPr>
          <p:cNvPr id="27" name="Shape 21"/>
          <p:cNvSpPr/>
          <p:nvPr/>
        </p:nvSpPr>
        <p:spPr>
          <a:xfrm>
            <a:off x="11884457" y="8153705"/>
            <a:ext cx="1000354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8" name="Text 22"/>
          <p:cNvSpPr/>
          <p:nvPr/>
        </p:nvSpPr>
        <p:spPr>
          <a:xfrm>
            <a:off x="11884457" y="8153705"/>
            <a:ext cx="1000354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s-ES" sz="900" noProof="0" dirty="0"/>
          </a:p>
        </p:txBody>
      </p:sp>
      <p:sp>
        <p:nvSpPr>
          <p:cNvPr id="29" name="Shape 23"/>
          <p:cNvSpPr/>
          <p:nvPr/>
        </p:nvSpPr>
        <p:spPr>
          <a:xfrm>
            <a:off x="13072262" y="8153705"/>
            <a:ext cx="809244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Text 24"/>
          <p:cNvSpPr/>
          <p:nvPr/>
        </p:nvSpPr>
        <p:spPr>
          <a:xfrm>
            <a:off x="13072262" y="8153705"/>
            <a:ext cx="810158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ASPOL</a:t>
            </a:r>
            <a:endParaRPr lang="es-ES" sz="900" noProof="0" dirty="0"/>
          </a:p>
        </p:txBody>
      </p:sp>
      <p:sp>
        <p:nvSpPr>
          <p:cNvPr id="31" name="Text 25"/>
          <p:cNvSpPr txBox="1"/>
          <p:nvPr/>
        </p:nvSpPr>
        <p:spPr>
          <a:xfrm>
            <a:off x="1143000" y="9810598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975" kern="0" spc="176" noProof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www.mingothings.com · info@mingothings.com</a:t>
            </a:r>
            <a:endParaRPr lang="es-ES" sz="975" noProof="0" dirty="0"/>
          </a:p>
        </p:txBody>
      </p:sp>
      <p:sp>
        <p:nvSpPr>
          <p:cNvPr id="32" name="Text 26"/>
          <p:cNvSpPr txBox="1"/>
          <p:nvPr/>
        </p:nvSpPr>
        <p:spPr>
          <a:xfrm>
            <a:off x="16383305" y="9810598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s-ES" sz="975" kern="0" spc="176" noProof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s-ES" sz="975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a4746f7ae18871903d6c6f0da58ca57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8762695"/>
            <a:ext cx="16002000" cy="9144"/>
          </a:xfrm>
          <a:prstGeom prst="rect">
            <a:avLst/>
          </a:prstGeom>
        </p:spPr>
      </p:pic>
      <p:pic>
        <p:nvPicPr>
          <p:cNvPr id="4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3810305"/>
            <a:ext cx="914400" cy="384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Manifiesto · 02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4095598"/>
            <a:ext cx="3810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qué creemos</a:t>
            </a:r>
            <a:endParaRPr lang="en-US" sz="1125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4667098"/>
            <a:ext cx="3810305" cy="1886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0" b="1" kern="0" spc="-6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5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6667805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2016 · Barcelona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6096305" y="2667305"/>
            <a:ext cx="11239805" cy="339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55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Creamos tecnología </a:t>
            </a:r>
            <a:endParaRPr lang="en-US" sz="55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55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</a:t>
            </a:r>
            <a:r>
              <a:rPr lang="en-US" sz="5550" b="1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 donde </a:t>
            </a:r>
            <a:endParaRPr lang="en-US" sz="55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550" b="1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importa</a:t>
            </a:r>
            <a:r>
              <a:rPr lang="en-US" sz="555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endParaRPr lang="en-US" sz="55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55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fallar </a:t>
            </a:r>
            <a:r>
              <a:rPr lang="en-US" sz="5550" b="1" kern="0" spc="-11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una opción.</a:t>
            </a:r>
            <a:endParaRPr lang="en-US" sz="555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9048902"/>
            <a:ext cx="3810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9001</a:t>
            </a:r>
            <a:endParaRPr lang="en-US" sz="42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9658807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calidad certificada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333695" y="9048902"/>
            <a:ext cx="2857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25+</a:t>
            </a:r>
            <a:endParaRPr lang="en-US" sz="4200" dirty="0"/>
          </a:p>
        </p:txBody>
      </p:sp>
      <p:sp>
        <p:nvSpPr>
          <p:cNvPr id="13" name="Text 8"/>
          <p:cNvSpPr txBox="1"/>
          <p:nvPr/>
        </p:nvSpPr>
        <p:spPr>
          <a:xfrm>
            <a:off x="5333695" y="9658807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Países de operación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572500" y="9048902"/>
            <a:ext cx="32388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150K+</a:t>
            </a:r>
            <a:endParaRPr lang="en-US" sz="4200" dirty="0"/>
          </a:p>
        </p:txBody>
      </p:sp>
      <p:sp>
        <p:nvSpPr>
          <p:cNvPr id="15" name="Text 10"/>
          <p:cNvSpPr txBox="1"/>
          <p:nvPr/>
        </p:nvSpPr>
        <p:spPr>
          <a:xfrm>
            <a:off x="8572500" y="9658807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Dispositivos IoT conectados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2191695" y="9048902"/>
            <a:ext cx="3810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Hubs</a:t>
            </a:r>
            <a:endParaRPr lang="en-US" sz="4200" dirty="0"/>
          </a:p>
        </p:txBody>
      </p:sp>
      <p:sp>
        <p:nvSpPr>
          <p:cNvPr id="17" name="Text 12"/>
          <p:cNvSpPr txBox="1"/>
          <p:nvPr/>
        </p:nvSpPr>
        <p:spPr>
          <a:xfrm>
            <a:off x="12191695" y="9658807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Ingeniería y entrega global</a:t>
            </a:r>
            <a:endParaRPr lang="en-US" sz="1200" dirty="0"/>
          </a:p>
        </p:txBody>
      </p:sp>
      <p:pic>
        <p:nvPicPr>
          <p:cNvPr id="21" name="Image 1" descr="gen-dedup-3fc9b6bd6bd01734c54b10a0f11af3f3.png">
            <a:extLst>
              <a:ext uri="{FF2B5EF4-FFF2-40B4-BE49-F238E27FC236}">
                <a16:creationId xmlns:a16="http://schemas.microsoft.com/office/drawing/2014/main" id="{ED051283-1275-5587-FEDD-1E22A3F4A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5ead705bd3332e96ed1c40e0ec4d6f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Presencia global · 05</a:t>
            </a:r>
          </a:p>
        </p:txBody>
      </p:sp>
      <p:sp>
        <p:nvSpPr>
          <p:cNvPr id="7" name="Text 1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</a:t>
            </a: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global · </a:t>
            </a:r>
            <a:r>
              <a:rPr lang="en-US" sz="1100" b="1" kern="0" spc="3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</a:t>
            </a: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</a:t>
            </a:r>
          </a:p>
        </p:txBody>
      </p:sp>
      <p:sp>
        <p:nvSpPr>
          <p:cNvPr id="8" name="Text 2"/>
          <p:cNvSpPr txBox="1"/>
          <p:nvPr/>
        </p:nvSpPr>
        <p:spPr>
          <a:xfrm>
            <a:off x="1143000" y="2619756"/>
            <a:ext cx="142875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00" b="1" kern="0" spc="-1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hubs. </a:t>
            </a:r>
            <a:r>
              <a:rPr lang="en-US" sz="550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</a:t>
            </a:r>
            <a:r>
              <a:rPr lang="en-US" sz="5500" b="1" kern="0" spc="-16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</a:t>
            </a:r>
            <a:r>
              <a:rPr lang="en-US" sz="550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5500" b="1" kern="0" spc="-16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</a:t>
            </a:r>
            <a:r>
              <a:rPr lang="en-US" sz="550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500" dirty="0"/>
          </a:p>
        </p:txBody>
      </p:sp>
      <p:sp>
        <p:nvSpPr>
          <p:cNvPr id="9" name="Text 3"/>
          <p:cNvSpPr txBox="1"/>
          <p:nvPr/>
        </p:nvSpPr>
        <p:spPr>
          <a:xfrm>
            <a:off x="1142999" y="3610966"/>
            <a:ext cx="1619219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6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la sede en Barcelona entregamos proyectos críticos en tres continentes — con equipos regionales que hablan el idioma local y conocen la normativa local.</a:t>
            </a:r>
          </a:p>
        </p:txBody>
      </p:sp>
      <p:grpSp>
        <p:nvGrpSpPr>
          <p:cNvPr id="391" name="Google Shape;183;p30">
            <a:extLst>
              <a:ext uri="{FF2B5EF4-FFF2-40B4-BE49-F238E27FC236}">
                <a16:creationId xmlns:a16="http://schemas.microsoft.com/office/drawing/2014/main" id="{06D1D403-4F80-9BE7-0D05-87BDD9CD2B6F}"/>
              </a:ext>
            </a:extLst>
          </p:cNvPr>
          <p:cNvGrpSpPr/>
          <p:nvPr/>
        </p:nvGrpSpPr>
        <p:grpSpPr>
          <a:xfrm>
            <a:off x="4038416" y="4111923"/>
            <a:ext cx="10193524" cy="5980545"/>
            <a:chOff x="-341711" y="-621047"/>
            <a:chExt cx="9985772" cy="6380273"/>
          </a:xfrm>
          <a:noFill/>
        </p:grpSpPr>
        <p:sp>
          <p:nvSpPr>
            <p:cNvPr id="392" name="Google Shape;184;p30">
              <a:extLst>
                <a:ext uri="{FF2B5EF4-FFF2-40B4-BE49-F238E27FC236}">
                  <a16:creationId xmlns:a16="http://schemas.microsoft.com/office/drawing/2014/main" id="{B2CC2846-BF8D-887E-9A15-B5BBC3F5C724}"/>
                </a:ext>
              </a:extLst>
            </p:cNvPr>
            <p:cNvSpPr/>
            <p:nvPr/>
          </p:nvSpPr>
          <p:spPr>
            <a:xfrm>
              <a:off x="7160860" y="3288754"/>
              <a:ext cx="211665" cy="250783"/>
            </a:xfrm>
            <a:custGeom>
              <a:avLst/>
              <a:gdLst/>
              <a:ahLst/>
              <a:cxnLst/>
              <a:rect l="l" t="t" r="r" b="b"/>
              <a:pathLst>
                <a:path w="282220" h="334378" extrusionOk="0">
                  <a:moveTo>
                    <a:pt x="74991" y="0"/>
                  </a:moveTo>
                  <a:lnTo>
                    <a:pt x="80892" y="7868"/>
                  </a:lnTo>
                  <a:lnTo>
                    <a:pt x="84515" y="7143"/>
                  </a:lnTo>
                  <a:lnTo>
                    <a:pt x="104968" y="34413"/>
                  </a:lnTo>
                  <a:lnTo>
                    <a:pt x="117750" y="63629"/>
                  </a:lnTo>
                  <a:lnTo>
                    <a:pt x="154528" y="63629"/>
                  </a:lnTo>
                  <a:lnTo>
                    <a:pt x="157469" y="70772"/>
                  </a:lnTo>
                  <a:lnTo>
                    <a:pt x="164052" y="70772"/>
                  </a:lnTo>
                  <a:lnTo>
                    <a:pt x="179959" y="109404"/>
                  </a:lnTo>
                  <a:lnTo>
                    <a:pt x="154962" y="113949"/>
                  </a:lnTo>
                  <a:lnTo>
                    <a:pt x="148982" y="129894"/>
                  </a:lnTo>
                  <a:lnTo>
                    <a:pt x="181797" y="145438"/>
                  </a:lnTo>
                  <a:lnTo>
                    <a:pt x="184776" y="149481"/>
                  </a:lnTo>
                  <a:lnTo>
                    <a:pt x="191321" y="152581"/>
                  </a:lnTo>
                  <a:lnTo>
                    <a:pt x="223136" y="195758"/>
                  </a:lnTo>
                  <a:lnTo>
                    <a:pt x="245861" y="234390"/>
                  </a:lnTo>
                  <a:lnTo>
                    <a:pt x="273130" y="259387"/>
                  </a:lnTo>
                  <a:lnTo>
                    <a:pt x="282220" y="286656"/>
                  </a:lnTo>
                  <a:lnTo>
                    <a:pt x="277675" y="325288"/>
                  </a:lnTo>
                  <a:lnTo>
                    <a:pt x="239043" y="309381"/>
                  </a:lnTo>
                  <a:lnTo>
                    <a:pt x="223136" y="334378"/>
                  </a:lnTo>
                  <a:lnTo>
                    <a:pt x="195866" y="318471"/>
                  </a:lnTo>
                  <a:lnTo>
                    <a:pt x="196666" y="317351"/>
                  </a:lnTo>
                  <a:lnTo>
                    <a:pt x="186342" y="311328"/>
                  </a:lnTo>
                  <a:lnTo>
                    <a:pt x="197705" y="295421"/>
                  </a:lnTo>
                  <a:lnTo>
                    <a:pt x="197705" y="263606"/>
                  </a:lnTo>
                  <a:lnTo>
                    <a:pt x="170435" y="231792"/>
                  </a:lnTo>
                  <a:lnTo>
                    <a:pt x="165890" y="193160"/>
                  </a:lnTo>
                  <a:lnTo>
                    <a:pt x="144743" y="168488"/>
                  </a:lnTo>
                  <a:lnTo>
                    <a:pt x="120875" y="168488"/>
                  </a:lnTo>
                  <a:lnTo>
                    <a:pt x="116330" y="179851"/>
                  </a:lnTo>
                  <a:lnTo>
                    <a:pt x="89060" y="184396"/>
                  </a:lnTo>
                  <a:lnTo>
                    <a:pt x="85786" y="176211"/>
                  </a:lnTo>
                  <a:lnTo>
                    <a:pt x="79536" y="177253"/>
                  </a:lnTo>
                  <a:lnTo>
                    <a:pt x="79008" y="175932"/>
                  </a:lnTo>
                  <a:lnTo>
                    <a:pt x="41339" y="195758"/>
                  </a:lnTo>
                  <a:lnTo>
                    <a:pt x="41339" y="183602"/>
                  </a:lnTo>
                  <a:lnTo>
                    <a:pt x="31815" y="188615"/>
                  </a:lnTo>
                  <a:lnTo>
                    <a:pt x="31815" y="156800"/>
                  </a:lnTo>
                  <a:lnTo>
                    <a:pt x="41619" y="123465"/>
                  </a:lnTo>
                  <a:lnTo>
                    <a:pt x="25431" y="120767"/>
                  </a:lnTo>
                  <a:lnTo>
                    <a:pt x="25431" y="115211"/>
                  </a:lnTo>
                  <a:lnTo>
                    <a:pt x="15907" y="113624"/>
                  </a:lnTo>
                  <a:lnTo>
                    <a:pt x="15907" y="92600"/>
                  </a:lnTo>
                  <a:lnTo>
                    <a:pt x="9524" y="88952"/>
                  </a:lnTo>
                  <a:lnTo>
                    <a:pt x="9896" y="87464"/>
                  </a:lnTo>
                  <a:lnTo>
                    <a:pt x="0" y="81809"/>
                  </a:lnTo>
                  <a:lnTo>
                    <a:pt x="4545" y="63629"/>
                  </a:lnTo>
                  <a:lnTo>
                    <a:pt x="36359" y="38632"/>
                  </a:lnTo>
                  <a:lnTo>
                    <a:pt x="43177" y="47722"/>
                  </a:lnTo>
                  <a:lnTo>
                    <a:pt x="43405" y="47722"/>
                  </a:lnTo>
                  <a:lnTo>
                    <a:pt x="45883" y="45775"/>
                  </a:lnTo>
                  <a:lnTo>
                    <a:pt x="47343" y="47722"/>
                  </a:lnTo>
                  <a:lnTo>
                    <a:pt x="59084" y="47722"/>
                  </a:lnTo>
                  <a:lnTo>
                    <a:pt x="5226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185;p30">
              <a:extLst>
                <a:ext uri="{FF2B5EF4-FFF2-40B4-BE49-F238E27FC236}">
                  <a16:creationId xmlns:a16="http://schemas.microsoft.com/office/drawing/2014/main" id="{2B7ECBAF-3546-4293-90E6-D8CED10D403B}"/>
                </a:ext>
              </a:extLst>
            </p:cNvPr>
            <p:cNvSpPr/>
            <p:nvPr/>
          </p:nvSpPr>
          <p:spPr>
            <a:xfrm>
              <a:off x="7082378" y="3341427"/>
              <a:ext cx="226760" cy="426413"/>
            </a:xfrm>
            <a:custGeom>
              <a:avLst/>
              <a:gdLst/>
              <a:ahLst/>
              <a:cxnLst/>
              <a:rect l="l" t="t" r="r" b="b"/>
              <a:pathLst>
                <a:path w="302346" h="568550" extrusionOk="0">
                  <a:moveTo>
                    <a:pt x="102261" y="0"/>
                  </a:moveTo>
                  <a:lnTo>
                    <a:pt x="118168" y="15907"/>
                  </a:lnTo>
                  <a:lnTo>
                    <a:pt x="118168" y="23050"/>
                  </a:lnTo>
                  <a:lnTo>
                    <a:pt x="120549" y="25431"/>
                  </a:lnTo>
                  <a:lnTo>
                    <a:pt x="120549" y="39029"/>
                  </a:lnTo>
                  <a:lnTo>
                    <a:pt x="145438" y="43177"/>
                  </a:lnTo>
                  <a:lnTo>
                    <a:pt x="142879" y="51878"/>
                  </a:lnTo>
                  <a:lnTo>
                    <a:pt x="147819" y="52701"/>
                  </a:lnTo>
                  <a:lnTo>
                    <a:pt x="136456" y="91333"/>
                  </a:lnTo>
                  <a:lnTo>
                    <a:pt x="139561" y="113070"/>
                  </a:lnTo>
                  <a:lnTo>
                    <a:pt x="177252" y="90899"/>
                  </a:lnTo>
                  <a:lnTo>
                    <a:pt x="188614" y="97716"/>
                  </a:lnTo>
                  <a:lnTo>
                    <a:pt x="209067" y="97716"/>
                  </a:lnTo>
                  <a:lnTo>
                    <a:pt x="213611" y="86354"/>
                  </a:lnTo>
                  <a:lnTo>
                    <a:pt x="240881" y="86354"/>
                  </a:lnTo>
                  <a:lnTo>
                    <a:pt x="272695" y="118168"/>
                  </a:lnTo>
                  <a:lnTo>
                    <a:pt x="272695" y="125311"/>
                  </a:lnTo>
                  <a:lnTo>
                    <a:pt x="275076" y="127692"/>
                  </a:lnTo>
                  <a:lnTo>
                    <a:pt x="275076" y="159578"/>
                  </a:lnTo>
                  <a:lnTo>
                    <a:pt x="299965" y="188615"/>
                  </a:lnTo>
                  <a:lnTo>
                    <a:pt x="299965" y="195361"/>
                  </a:lnTo>
                  <a:lnTo>
                    <a:pt x="302346" y="198139"/>
                  </a:lnTo>
                  <a:lnTo>
                    <a:pt x="302346" y="229953"/>
                  </a:lnTo>
                  <a:lnTo>
                    <a:pt x="290984" y="245860"/>
                  </a:lnTo>
                  <a:lnTo>
                    <a:pt x="259169" y="241316"/>
                  </a:lnTo>
                  <a:lnTo>
                    <a:pt x="211448" y="252678"/>
                  </a:lnTo>
                  <a:lnTo>
                    <a:pt x="184178" y="279947"/>
                  </a:lnTo>
                  <a:lnTo>
                    <a:pt x="195540" y="327669"/>
                  </a:lnTo>
                  <a:lnTo>
                    <a:pt x="163726" y="311762"/>
                  </a:lnTo>
                  <a:lnTo>
                    <a:pt x="129639" y="311762"/>
                  </a:lnTo>
                  <a:lnTo>
                    <a:pt x="131680" y="302238"/>
                  </a:lnTo>
                  <a:lnTo>
                    <a:pt x="127258" y="302238"/>
                  </a:lnTo>
                  <a:lnTo>
                    <a:pt x="132034" y="279947"/>
                  </a:lnTo>
                  <a:lnTo>
                    <a:pt x="104642" y="279947"/>
                  </a:lnTo>
                  <a:lnTo>
                    <a:pt x="97824" y="323124"/>
                  </a:lnTo>
                  <a:lnTo>
                    <a:pt x="81917" y="375391"/>
                  </a:lnTo>
                  <a:lnTo>
                    <a:pt x="66010" y="407205"/>
                  </a:lnTo>
                  <a:lnTo>
                    <a:pt x="68968" y="424951"/>
                  </a:lnTo>
                  <a:lnTo>
                    <a:pt x="90898" y="424951"/>
                  </a:lnTo>
                  <a:lnTo>
                    <a:pt x="106806" y="463583"/>
                  </a:lnTo>
                  <a:lnTo>
                    <a:pt x="107854" y="469869"/>
                  </a:lnTo>
                  <a:lnTo>
                    <a:pt x="109187" y="473107"/>
                  </a:lnTo>
                  <a:lnTo>
                    <a:pt x="112323" y="491921"/>
                  </a:lnTo>
                  <a:lnTo>
                    <a:pt x="134075" y="515849"/>
                  </a:lnTo>
                  <a:lnTo>
                    <a:pt x="154527" y="515849"/>
                  </a:lnTo>
                  <a:lnTo>
                    <a:pt x="177252" y="538574"/>
                  </a:lnTo>
                  <a:lnTo>
                    <a:pt x="174276" y="542741"/>
                  </a:lnTo>
                  <a:lnTo>
                    <a:pt x="179633" y="548098"/>
                  </a:lnTo>
                  <a:lnTo>
                    <a:pt x="168271" y="564005"/>
                  </a:lnTo>
                  <a:lnTo>
                    <a:pt x="141001" y="568550"/>
                  </a:lnTo>
                  <a:lnTo>
                    <a:pt x="141001" y="558629"/>
                  </a:lnTo>
                  <a:lnTo>
                    <a:pt x="138620" y="559026"/>
                  </a:lnTo>
                  <a:lnTo>
                    <a:pt x="138620" y="546908"/>
                  </a:lnTo>
                  <a:lnTo>
                    <a:pt x="109187" y="532191"/>
                  </a:lnTo>
                  <a:lnTo>
                    <a:pt x="104642" y="536736"/>
                  </a:lnTo>
                  <a:lnTo>
                    <a:pt x="88735" y="525373"/>
                  </a:lnTo>
                  <a:lnTo>
                    <a:pt x="81917" y="504921"/>
                  </a:lnTo>
                  <a:lnTo>
                    <a:pt x="61465" y="484469"/>
                  </a:lnTo>
                  <a:lnTo>
                    <a:pt x="45558" y="466289"/>
                  </a:lnTo>
                  <a:lnTo>
                    <a:pt x="38740" y="489014"/>
                  </a:lnTo>
                  <a:lnTo>
                    <a:pt x="29651" y="466289"/>
                  </a:lnTo>
                  <a:lnTo>
                    <a:pt x="30161" y="463994"/>
                  </a:lnTo>
                  <a:lnTo>
                    <a:pt x="27270" y="456765"/>
                  </a:lnTo>
                  <a:lnTo>
                    <a:pt x="31814" y="436313"/>
                  </a:lnTo>
                  <a:lnTo>
                    <a:pt x="43177" y="397681"/>
                  </a:lnTo>
                  <a:lnTo>
                    <a:pt x="63629" y="361322"/>
                  </a:lnTo>
                  <a:lnTo>
                    <a:pt x="79271" y="330036"/>
                  </a:lnTo>
                  <a:lnTo>
                    <a:pt x="70555" y="300400"/>
                  </a:lnTo>
                  <a:lnTo>
                    <a:pt x="70555" y="298971"/>
                  </a:lnTo>
                  <a:lnTo>
                    <a:pt x="68174" y="290876"/>
                  </a:lnTo>
                  <a:lnTo>
                    <a:pt x="68174" y="274968"/>
                  </a:lnTo>
                  <a:lnTo>
                    <a:pt x="65427" y="261233"/>
                  </a:lnTo>
                  <a:lnTo>
                    <a:pt x="38740" y="236771"/>
                  </a:lnTo>
                  <a:lnTo>
                    <a:pt x="36942" y="227781"/>
                  </a:lnTo>
                  <a:lnTo>
                    <a:pt x="36359" y="227247"/>
                  </a:lnTo>
                  <a:lnTo>
                    <a:pt x="31814" y="204522"/>
                  </a:lnTo>
                  <a:lnTo>
                    <a:pt x="43177" y="199977"/>
                  </a:lnTo>
                  <a:lnTo>
                    <a:pt x="57619" y="171093"/>
                  </a:lnTo>
                  <a:lnTo>
                    <a:pt x="45558" y="150417"/>
                  </a:lnTo>
                  <a:lnTo>
                    <a:pt x="22833" y="123147"/>
                  </a:lnTo>
                  <a:lnTo>
                    <a:pt x="2381" y="91333"/>
                  </a:lnTo>
                  <a:lnTo>
                    <a:pt x="4945" y="89501"/>
                  </a:lnTo>
                  <a:lnTo>
                    <a:pt x="0" y="81809"/>
                  </a:lnTo>
                  <a:lnTo>
                    <a:pt x="15907" y="70447"/>
                  </a:lnTo>
                  <a:lnTo>
                    <a:pt x="31814" y="31815"/>
                  </a:lnTo>
                  <a:lnTo>
                    <a:pt x="59084" y="27270"/>
                  </a:lnTo>
                  <a:lnTo>
                    <a:pt x="79536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186;p30">
              <a:extLst>
                <a:ext uri="{FF2B5EF4-FFF2-40B4-BE49-F238E27FC236}">
                  <a16:creationId xmlns:a16="http://schemas.microsoft.com/office/drawing/2014/main" id="{BEC28750-3B36-3656-A0E7-91A2D8E5B781}"/>
                </a:ext>
              </a:extLst>
            </p:cNvPr>
            <p:cNvSpPr/>
            <p:nvPr/>
          </p:nvSpPr>
          <p:spPr>
            <a:xfrm>
              <a:off x="6850669" y="3109715"/>
              <a:ext cx="88626" cy="53079"/>
            </a:xfrm>
            <a:custGeom>
              <a:avLst/>
              <a:gdLst/>
              <a:ahLst/>
              <a:cxnLst/>
              <a:rect l="l" t="t" r="r" b="b"/>
              <a:pathLst>
                <a:path w="118168" h="70772" extrusionOk="0">
                  <a:moveTo>
                    <a:pt x="40904" y="0"/>
                  </a:moveTo>
                  <a:lnTo>
                    <a:pt x="68174" y="4545"/>
                  </a:lnTo>
                  <a:lnTo>
                    <a:pt x="84081" y="11362"/>
                  </a:lnTo>
                  <a:lnTo>
                    <a:pt x="99988" y="20452"/>
                  </a:lnTo>
                  <a:lnTo>
                    <a:pt x="118168" y="31815"/>
                  </a:lnTo>
                  <a:lnTo>
                    <a:pt x="118168" y="38958"/>
                  </a:lnTo>
                  <a:lnTo>
                    <a:pt x="118168" y="59084"/>
                  </a:lnTo>
                  <a:lnTo>
                    <a:pt x="118168" y="66227"/>
                  </a:lnTo>
                  <a:lnTo>
                    <a:pt x="84081" y="66227"/>
                  </a:lnTo>
                  <a:lnTo>
                    <a:pt x="52267" y="66227"/>
                  </a:lnTo>
                  <a:lnTo>
                    <a:pt x="31814" y="70772"/>
                  </a:lnTo>
                  <a:lnTo>
                    <a:pt x="0" y="54865"/>
                  </a:lnTo>
                  <a:lnTo>
                    <a:pt x="0" y="47722"/>
                  </a:lnTo>
                  <a:lnTo>
                    <a:pt x="0" y="45775"/>
                  </a:lnTo>
                  <a:lnTo>
                    <a:pt x="0" y="38632"/>
                  </a:lnTo>
                  <a:lnTo>
                    <a:pt x="20452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187;p30">
              <a:extLst>
                <a:ext uri="{FF2B5EF4-FFF2-40B4-BE49-F238E27FC236}">
                  <a16:creationId xmlns:a16="http://schemas.microsoft.com/office/drawing/2014/main" id="{D0709252-8A84-E322-DD38-729819B41AD7}"/>
                </a:ext>
              </a:extLst>
            </p:cNvPr>
            <p:cNvSpPr/>
            <p:nvPr/>
          </p:nvSpPr>
          <p:spPr>
            <a:xfrm>
              <a:off x="6823317" y="3164174"/>
              <a:ext cx="133102" cy="179201"/>
            </a:xfrm>
            <a:custGeom>
              <a:avLst/>
              <a:gdLst/>
              <a:ahLst/>
              <a:cxnLst/>
              <a:rect l="l" t="t" r="r" b="b"/>
              <a:pathLst>
                <a:path w="177469" h="238934" extrusionOk="0">
                  <a:moveTo>
                    <a:pt x="27487" y="0"/>
                  </a:moveTo>
                  <a:lnTo>
                    <a:pt x="54756" y="15907"/>
                  </a:lnTo>
                  <a:lnTo>
                    <a:pt x="70663" y="15907"/>
                  </a:lnTo>
                  <a:lnTo>
                    <a:pt x="75208" y="47722"/>
                  </a:lnTo>
                  <a:lnTo>
                    <a:pt x="107023" y="54539"/>
                  </a:lnTo>
                  <a:lnTo>
                    <a:pt x="145655" y="54539"/>
                  </a:lnTo>
                  <a:lnTo>
                    <a:pt x="166107" y="59084"/>
                  </a:lnTo>
                  <a:lnTo>
                    <a:pt x="150199" y="90899"/>
                  </a:lnTo>
                  <a:lnTo>
                    <a:pt x="148684" y="91548"/>
                  </a:lnTo>
                  <a:lnTo>
                    <a:pt x="145437" y="98042"/>
                  </a:lnTo>
                  <a:lnTo>
                    <a:pt x="129530" y="104859"/>
                  </a:lnTo>
                  <a:lnTo>
                    <a:pt x="118811" y="118641"/>
                  </a:lnTo>
                  <a:lnTo>
                    <a:pt x="136508" y="138305"/>
                  </a:lnTo>
                  <a:lnTo>
                    <a:pt x="140893" y="120766"/>
                  </a:lnTo>
                  <a:lnTo>
                    <a:pt x="143869" y="120766"/>
                  </a:lnTo>
                  <a:lnTo>
                    <a:pt x="145655" y="113623"/>
                  </a:lnTo>
                  <a:lnTo>
                    <a:pt x="157017" y="113623"/>
                  </a:lnTo>
                  <a:lnTo>
                    <a:pt x="177469" y="177252"/>
                  </a:lnTo>
                  <a:lnTo>
                    <a:pt x="177469" y="204522"/>
                  </a:lnTo>
                  <a:lnTo>
                    <a:pt x="172707" y="203161"/>
                  </a:lnTo>
                  <a:lnTo>
                    <a:pt x="172707" y="211665"/>
                  </a:lnTo>
                  <a:lnTo>
                    <a:pt x="162829" y="208842"/>
                  </a:lnTo>
                  <a:lnTo>
                    <a:pt x="166107" y="231791"/>
                  </a:lnTo>
                  <a:lnTo>
                    <a:pt x="157112" y="209305"/>
                  </a:lnTo>
                  <a:lnTo>
                    <a:pt x="161345" y="238934"/>
                  </a:lnTo>
                  <a:lnTo>
                    <a:pt x="152255" y="216210"/>
                  </a:lnTo>
                  <a:lnTo>
                    <a:pt x="145437" y="195757"/>
                  </a:lnTo>
                  <a:lnTo>
                    <a:pt x="140893" y="179850"/>
                  </a:lnTo>
                  <a:lnTo>
                    <a:pt x="124985" y="152581"/>
                  </a:lnTo>
                  <a:lnTo>
                    <a:pt x="99974" y="152581"/>
                  </a:lnTo>
                  <a:lnTo>
                    <a:pt x="102478" y="161345"/>
                  </a:lnTo>
                  <a:lnTo>
                    <a:pt x="97647" y="168246"/>
                  </a:lnTo>
                  <a:lnTo>
                    <a:pt x="97716" y="168488"/>
                  </a:lnTo>
                  <a:lnTo>
                    <a:pt x="81809" y="191213"/>
                  </a:lnTo>
                  <a:lnTo>
                    <a:pt x="70446" y="184395"/>
                  </a:lnTo>
                  <a:lnTo>
                    <a:pt x="65901" y="191213"/>
                  </a:lnTo>
                  <a:lnTo>
                    <a:pt x="49994" y="184395"/>
                  </a:lnTo>
                  <a:lnTo>
                    <a:pt x="38632" y="179850"/>
                  </a:lnTo>
                  <a:lnTo>
                    <a:pt x="34087" y="152581"/>
                  </a:lnTo>
                  <a:lnTo>
                    <a:pt x="22725" y="120766"/>
                  </a:lnTo>
                  <a:lnTo>
                    <a:pt x="27270" y="98042"/>
                  </a:lnTo>
                  <a:lnTo>
                    <a:pt x="0" y="82134"/>
                  </a:lnTo>
                  <a:lnTo>
                    <a:pt x="6266" y="75868"/>
                  </a:lnTo>
                  <a:lnTo>
                    <a:pt x="4762" y="74991"/>
                  </a:lnTo>
                  <a:lnTo>
                    <a:pt x="16124" y="63629"/>
                  </a:lnTo>
                  <a:lnTo>
                    <a:pt x="31460" y="52894"/>
                  </a:lnTo>
                  <a:lnTo>
                    <a:pt x="6817" y="34413"/>
                  </a:lnTo>
                  <a:lnTo>
                    <a:pt x="22725" y="7143"/>
                  </a:lnTo>
                  <a:lnTo>
                    <a:pt x="23169" y="740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188;p30">
              <a:extLst>
                <a:ext uri="{FF2B5EF4-FFF2-40B4-BE49-F238E27FC236}">
                  <a16:creationId xmlns:a16="http://schemas.microsoft.com/office/drawing/2014/main" id="{D417B978-F858-019E-78A2-A1B090249E14}"/>
                </a:ext>
              </a:extLst>
            </p:cNvPr>
            <p:cNvSpPr/>
            <p:nvPr/>
          </p:nvSpPr>
          <p:spPr>
            <a:xfrm>
              <a:off x="6431397" y="2179217"/>
              <a:ext cx="1692427" cy="1233957"/>
            </a:xfrm>
            <a:custGeom>
              <a:avLst/>
              <a:gdLst/>
              <a:ahLst/>
              <a:cxnLst/>
              <a:rect l="l" t="t" r="r" b="b"/>
              <a:pathLst>
                <a:path w="993" h="724" extrusionOk="0">
                  <a:moveTo>
                    <a:pt x="593" y="715"/>
                  </a:moveTo>
                  <a:lnTo>
                    <a:pt x="593" y="715"/>
                  </a:lnTo>
                  <a:lnTo>
                    <a:pt x="579" y="724"/>
                  </a:lnTo>
                  <a:lnTo>
                    <a:pt x="565" y="720"/>
                  </a:lnTo>
                  <a:lnTo>
                    <a:pt x="565" y="703"/>
                  </a:lnTo>
                  <a:lnTo>
                    <a:pt x="574" y="696"/>
                  </a:lnTo>
                  <a:lnTo>
                    <a:pt x="591" y="691"/>
                  </a:lnTo>
                  <a:lnTo>
                    <a:pt x="600" y="691"/>
                  </a:lnTo>
                  <a:lnTo>
                    <a:pt x="603" y="698"/>
                  </a:lnTo>
                  <a:lnTo>
                    <a:pt x="596" y="706"/>
                  </a:lnTo>
                  <a:lnTo>
                    <a:pt x="593" y="715"/>
                  </a:lnTo>
                  <a:moveTo>
                    <a:pt x="872" y="97"/>
                  </a:moveTo>
                  <a:lnTo>
                    <a:pt x="872" y="97"/>
                  </a:lnTo>
                  <a:lnTo>
                    <a:pt x="901" y="104"/>
                  </a:lnTo>
                  <a:lnTo>
                    <a:pt x="920" y="121"/>
                  </a:lnTo>
                  <a:lnTo>
                    <a:pt x="927" y="145"/>
                  </a:lnTo>
                  <a:lnTo>
                    <a:pt x="950" y="145"/>
                  </a:lnTo>
                  <a:lnTo>
                    <a:pt x="965" y="135"/>
                  </a:lnTo>
                  <a:lnTo>
                    <a:pt x="993" y="128"/>
                  </a:lnTo>
                  <a:lnTo>
                    <a:pt x="984" y="149"/>
                  </a:lnTo>
                  <a:lnTo>
                    <a:pt x="976" y="159"/>
                  </a:lnTo>
                  <a:lnTo>
                    <a:pt x="972" y="185"/>
                  </a:lnTo>
                  <a:lnTo>
                    <a:pt x="960" y="206"/>
                  </a:lnTo>
                  <a:lnTo>
                    <a:pt x="941" y="201"/>
                  </a:lnTo>
                  <a:lnTo>
                    <a:pt x="927" y="211"/>
                  </a:lnTo>
                  <a:lnTo>
                    <a:pt x="931" y="230"/>
                  </a:lnTo>
                  <a:lnTo>
                    <a:pt x="929" y="256"/>
                  </a:lnTo>
                  <a:lnTo>
                    <a:pt x="922" y="256"/>
                  </a:lnTo>
                  <a:lnTo>
                    <a:pt x="922" y="268"/>
                  </a:lnTo>
                  <a:lnTo>
                    <a:pt x="910" y="253"/>
                  </a:lnTo>
                  <a:lnTo>
                    <a:pt x="905" y="268"/>
                  </a:lnTo>
                  <a:lnTo>
                    <a:pt x="879" y="275"/>
                  </a:lnTo>
                  <a:lnTo>
                    <a:pt x="882" y="287"/>
                  </a:lnTo>
                  <a:lnTo>
                    <a:pt x="868" y="287"/>
                  </a:lnTo>
                  <a:lnTo>
                    <a:pt x="861" y="279"/>
                  </a:lnTo>
                  <a:lnTo>
                    <a:pt x="849" y="294"/>
                  </a:lnTo>
                  <a:lnTo>
                    <a:pt x="832" y="308"/>
                  </a:lnTo>
                  <a:lnTo>
                    <a:pt x="818" y="320"/>
                  </a:lnTo>
                  <a:lnTo>
                    <a:pt x="797" y="327"/>
                  </a:lnTo>
                  <a:lnTo>
                    <a:pt x="785" y="334"/>
                  </a:lnTo>
                  <a:lnTo>
                    <a:pt x="766" y="341"/>
                  </a:lnTo>
                  <a:lnTo>
                    <a:pt x="775" y="332"/>
                  </a:lnTo>
                  <a:lnTo>
                    <a:pt x="771" y="324"/>
                  </a:lnTo>
                  <a:lnTo>
                    <a:pt x="785" y="310"/>
                  </a:lnTo>
                  <a:lnTo>
                    <a:pt x="775" y="298"/>
                  </a:lnTo>
                  <a:lnTo>
                    <a:pt x="761" y="306"/>
                  </a:lnTo>
                  <a:lnTo>
                    <a:pt x="742" y="320"/>
                  </a:lnTo>
                  <a:lnTo>
                    <a:pt x="733" y="334"/>
                  </a:lnTo>
                  <a:lnTo>
                    <a:pt x="719" y="334"/>
                  </a:lnTo>
                  <a:lnTo>
                    <a:pt x="709" y="346"/>
                  </a:lnTo>
                  <a:lnTo>
                    <a:pt x="719" y="358"/>
                  </a:lnTo>
                  <a:lnTo>
                    <a:pt x="730" y="362"/>
                  </a:lnTo>
                  <a:lnTo>
                    <a:pt x="733" y="372"/>
                  </a:lnTo>
                  <a:lnTo>
                    <a:pt x="745" y="377"/>
                  </a:lnTo>
                  <a:lnTo>
                    <a:pt x="761" y="362"/>
                  </a:lnTo>
                  <a:lnTo>
                    <a:pt x="778" y="369"/>
                  </a:lnTo>
                  <a:lnTo>
                    <a:pt x="787" y="372"/>
                  </a:lnTo>
                  <a:lnTo>
                    <a:pt x="790" y="381"/>
                  </a:lnTo>
                  <a:lnTo>
                    <a:pt x="766" y="386"/>
                  </a:lnTo>
                  <a:lnTo>
                    <a:pt x="759" y="398"/>
                  </a:lnTo>
                  <a:lnTo>
                    <a:pt x="745" y="407"/>
                  </a:lnTo>
                  <a:lnTo>
                    <a:pt x="735" y="421"/>
                  </a:lnTo>
                  <a:lnTo>
                    <a:pt x="752" y="433"/>
                  </a:lnTo>
                  <a:lnTo>
                    <a:pt x="759" y="452"/>
                  </a:lnTo>
                  <a:lnTo>
                    <a:pt x="768" y="469"/>
                  </a:lnTo>
                  <a:lnTo>
                    <a:pt x="780" y="483"/>
                  </a:lnTo>
                  <a:lnTo>
                    <a:pt x="780" y="497"/>
                  </a:lnTo>
                  <a:lnTo>
                    <a:pt x="768" y="502"/>
                  </a:lnTo>
                  <a:lnTo>
                    <a:pt x="773" y="511"/>
                  </a:lnTo>
                  <a:lnTo>
                    <a:pt x="782" y="519"/>
                  </a:lnTo>
                  <a:lnTo>
                    <a:pt x="780" y="533"/>
                  </a:lnTo>
                  <a:lnTo>
                    <a:pt x="775" y="549"/>
                  </a:lnTo>
                  <a:lnTo>
                    <a:pt x="766" y="549"/>
                  </a:lnTo>
                  <a:lnTo>
                    <a:pt x="756" y="571"/>
                  </a:lnTo>
                  <a:lnTo>
                    <a:pt x="742" y="592"/>
                  </a:lnTo>
                  <a:lnTo>
                    <a:pt x="728" y="613"/>
                  </a:lnTo>
                  <a:lnTo>
                    <a:pt x="704" y="630"/>
                  </a:lnTo>
                  <a:lnTo>
                    <a:pt x="683" y="644"/>
                  </a:lnTo>
                  <a:lnTo>
                    <a:pt x="664" y="646"/>
                  </a:lnTo>
                  <a:lnTo>
                    <a:pt x="655" y="656"/>
                  </a:lnTo>
                  <a:lnTo>
                    <a:pt x="650" y="649"/>
                  </a:lnTo>
                  <a:lnTo>
                    <a:pt x="641" y="658"/>
                  </a:lnTo>
                  <a:lnTo>
                    <a:pt x="617" y="665"/>
                  </a:lnTo>
                  <a:lnTo>
                    <a:pt x="600" y="670"/>
                  </a:lnTo>
                  <a:lnTo>
                    <a:pt x="596" y="687"/>
                  </a:lnTo>
                  <a:lnTo>
                    <a:pt x="586" y="689"/>
                  </a:lnTo>
                  <a:lnTo>
                    <a:pt x="581" y="677"/>
                  </a:lnTo>
                  <a:lnTo>
                    <a:pt x="586" y="670"/>
                  </a:lnTo>
                  <a:lnTo>
                    <a:pt x="562" y="663"/>
                  </a:lnTo>
                  <a:lnTo>
                    <a:pt x="555" y="665"/>
                  </a:lnTo>
                  <a:lnTo>
                    <a:pt x="539" y="661"/>
                  </a:lnTo>
                  <a:lnTo>
                    <a:pt x="532" y="656"/>
                  </a:lnTo>
                  <a:lnTo>
                    <a:pt x="534" y="644"/>
                  </a:lnTo>
                  <a:lnTo>
                    <a:pt x="520" y="642"/>
                  </a:lnTo>
                  <a:lnTo>
                    <a:pt x="510" y="635"/>
                  </a:lnTo>
                  <a:lnTo>
                    <a:pt x="499" y="644"/>
                  </a:lnTo>
                  <a:lnTo>
                    <a:pt x="482" y="646"/>
                  </a:lnTo>
                  <a:lnTo>
                    <a:pt x="468" y="646"/>
                  </a:lnTo>
                  <a:lnTo>
                    <a:pt x="461" y="651"/>
                  </a:lnTo>
                  <a:lnTo>
                    <a:pt x="451" y="653"/>
                  </a:lnTo>
                  <a:lnTo>
                    <a:pt x="454" y="672"/>
                  </a:lnTo>
                  <a:lnTo>
                    <a:pt x="447" y="672"/>
                  </a:lnTo>
                  <a:lnTo>
                    <a:pt x="444" y="668"/>
                  </a:lnTo>
                  <a:lnTo>
                    <a:pt x="444" y="661"/>
                  </a:lnTo>
                  <a:lnTo>
                    <a:pt x="432" y="665"/>
                  </a:lnTo>
                  <a:lnTo>
                    <a:pt x="425" y="663"/>
                  </a:lnTo>
                  <a:lnTo>
                    <a:pt x="413" y="656"/>
                  </a:lnTo>
                  <a:lnTo>
                    <a:pt x="418" y="642"/>
                  </a:lnTo>
                  <a:lnTo>
                    <a:pt x="409" y="639"/>
                  </a:lnTo>
                  <a:lnTo>
                    <a:pt x="404" y="623"/>
                  </a:lnTo>
                  <a:lnTo>
                    <a:pt x="387" y="625"/>
                  </a:lnTo>
                  <a:lnTo>
                    <a:pt x="390" y="604"/>
                  </a:lnTo>
                  <a:lnTo>
                    <a:pt x="404" y="590"/>
                  </a:lnTo>
                  <a:lnTo>
                    <a:pt x="404" y="575"/>
                  </a:lnTo>
                  <a:lnTo>
                    <a:pt x="404" y="561"/>
                  </a:lnTo>
                  <a:lnTo>
                    <a:pt x="397" y="556"/>
                  </a:lnTo>
                  <a:lnTo>
                    <a:pt x="392" y="547"/>
                  </a:lnTo>
                  <a:lnTo>
                    <a:pt x="383" y="547"/>
                  </a:lnTo>
                  <a:lnTo>
                    <a:pt x="364" y="545"/>
                  </a:lnTo>
                  <a:lnTo>
                    <a:pt x="371" y="537"/>
                  </a:lnTo>
                  <a:lnTo>
                    <a:pt x="361" y="526"/>
                  </a:lnTo>
                  <a:lnTo>
                    <a:pt x="352" y="533"/>
                  </a:lnTo>
                  <a:lnTo>
                    <a:pt x="338" y="528"/>
                  </a:lnTo>
                  <a:lnTo>
                    <a:pt x="319" y="540"/>
                  </a:lnTo>
                  <a:lnTo>
                    <a:pt x="305" y="554"/>
                  </a:lnTo>
                  <a:lnTo>
                    <a:pt x="290" y="556"/>
                  </a:lnTo>
                  <a:lnTo>
                    <a:pt x="283" y="552"/>
                  </a:lnTo>
                  <a:lnTo>
                    <a:pt x="276" y="549"/>
                  </a:lnTo>
                  <a:lnTo>
                    <a:pt x="264" y="547"/>
                  </a:lnTo>
                  <a:lnTo>
                    <a:pt x="255" y="552"/>
                  </a:lnTo>
                  <a:lnTo>
                    <a:pt x="246" y="566"/>
                  </a:lnTo>
                  <a:lnTo>
                    <a:pt x="243" y="549"/>
                  </a:lnTo>
                  <a:lnTo>
                    <a:pt x="234" y="554"/>
                  </a:lnTo>
                  <a:lnTo>
                    <a:pt x="215" y="552"/>
                  </a:lnTo>
                  <a:lnTo>
                    <a:pt x="196" y="549"/>
                  </a:lnTo>
                  <a:lnTo>
                    <a:pt x="184" y="540"/>
                  </a:lnTo>
                  <a:lnTo>
                    <a:pt x="170" y="537"/>
                  </a:lnTo>
                  <a:lnTo>
                    <a:pt x="165" y="528"/>
                  </a:lnTo>
                  <a:lnTo>
                    <a:pt x="156" y="526"/>
                  </a:lnTo>
                  <a:lnTo>
                    <a:pt x="139" y="514"/>
                  </a:lnTo>
                  <a:lnTo>
                    <a:pt x="127" y="507"/>
                  </a:lnTo>
                  <a:lnTo>
                    <a:pt x="120" y="511"/>
                  </a:lnTo>
                  <a:lnTo>
                    <a:pt x="97" y="500"/>
                  </a:lnTo>
                  <a:lnTo>
                    <a:pt x="82" y="488"/>
                  </a:lnTo>
                  <a:lnTo>
                    <a:pt x="78" y="466"/>
                  </a:lnTo>
                  <a:lnTo>
                    <a:pt x="89" y="469"/>
                  </a:lnTo>
                  <a:lnTo>
                    <a:pt x="89" y="459"/>
                  </a:lnTo>
                  <a:lnTo>
                    <a:pt x="82" y="448"/>
                  </a:lnTo>
                  <a:lnTo>
                    <a:pt x="85" y="433"/>
                  </a:lnTo>
                  <a:lnTo>
                    <a:pt x="68" y="410"/>
                  </a:lnTo>
                  <a:lnTo>
                    <a:pt x="40" y="403"/>
                  </a:lnTo>
                  <a:lnTo>
                    <a:pt x="35" y="386"/>
                  </a:lnTo>
                  <a:lnTo>
                    <a:pt x="23" y="377"/>
                  </a:lnTo>
                  <a:lnTo>
                    <a:pt x="21" y="372"/>
                  </a:lnTo>
                  <a:lnTo>
                    <a:pt x="18" y="360"/>
                  </a:lnTo>
                  <a:lnTo>
                    <a:pt x="18" y="353"/>
                  </a:lnTo>
                  <a:lnTo>
                    <a:pt x="9" y="348"/>
                  </a:lnTo>
                  <a:lnTo>
                    <a:pt x="4" y="350"/>
                  </a:lnTo>
                  <a:lnTo>
                    <a:pt x="0" y="332"/>
                  </a:lnTo>
                  <a:lnTo>
                    <a:pt x="4" y="324"/>
                  </a:lnTo>
                  <a:lnTo>
                    <a:pt x="2" y="320"/>
                  </a:lnTo>
                  <a:lnTo>
                    <a:pt x="18" y="310"/>
                  </a:lnTo>
                  <a:lnTo>
                    <a:pt x="28" y="308"/>
                  </a:lnTo>
                  <a:lnTo>
                    <a:pt x="44" y="310"/>
                  </a:lnTo>
                  <a:lnTo>
                    <a:pt x="52" y="296"/>
                  </a:lnTo>
                  <a:lnTo>
                    <a:pt x="73" y="294"/>
                  </a:lnTo>
                  <a:lnTo>
                    <a:pt x="78" y="284"/>
                  </a:lnTo>
                  <a:lnTo>
                    <a:pt x="104" y="272"/>
                  </a:lnTo>
                  <a:lnTo>
                    <a:pt x="106" y="268"/>
                  </a:lnTo>
                  <a:lnTo>
                    <a:pt x="104" y="256"/>
                  </a:lnTo>
                  <a:lnTo>
                    <a:pt x="115" y="249"/>
                  </a:lnTo>
                  <a:lnTo>
                    <a:pt x="101" y="211"/>
                  </a:lnTo>
                  <a:lnTo>
                    <a:pt x="134" y="201"/>
                  </a:lnTo>
                  <a:lnTo>
                    <a:pt x="141" y="197"/>
                  </a:lnTo>
                  <a:lnTo>
                    <a:pt x="153" y="154"/>
                  </a:lnTo>
                  <a:lnTo>
                    <a:pt x="184" y="163"/>
                  </a:lnTo>
                  <a:lnTo>
                    <a:pt x="193" y="152"/>
                  </a:lnTo>
                  <a:lnTo>
                    <a:pt x="196" y="128"/>
                  </a:lnTo>
                  <a:lnTo>
                    <a:pt x="208" y="126"/>
                  </a:lnTo>
                  <a:lnTo>
                    <a:pt x="222" y="109"/>
                  </a:lnTo>
                  <a:lnTo>
                    <a:pt x="227" y="107"/>
                  </a:lnTo>
                  <a:lnTo>
                    <a:pt x="231" y="123"/>
                  </a:lnTo>
                  <a:lnTo>
                    <a:pt x="246" y="137"/>
                  </a:lnTo>
                  <a:lnTo>
                    <a:pt x="267" y="147"/>
                  </a:lnTo>
                  <a:lnTo>
                    <a:pt x="279" y="166"/>
                  </a:lnTo>
                  <a:lnTo>
                    <a:pt x="274" y="192"/>
                  </a:lnTo>
                  <a:lnTo>
                    <a:pt x="279" y="204"/>
                  </a:lnTo>
                  <a:lnTo>
                    <a:pt x="298" y="206"/>
                  </a:lnTo>
                  <a:lnTo>
                    <a:pt x="319" y="211"/>
                  </a:lnTo>
                  <a:lnTo>
                    <a:pt x="340" y="225"/>
                  </a:lnTo>
                  <a:lnTo>
                    <a:pt x="350" y="227"/>
                  </a:lnTo>
                  <a:lnTo>
                    <a:pt x="357" y="246"/>
                  </a:lnTo>
                  <a:lnTo>
                    <a:pt x="366" y="261"/>
                  </a:lnTo>
                  <a:lnTo>
                    <a:pt x="385" y="261"/>
                  </a:lnTo>
                  <a:lnTo>
                    <a:pt x="418" y="265"/>
                  </a:lnTo>
                  <a:lnTo>
                    <a:pt x="439" y="261"/>
                  </a:lnTo>
                  <a:lnTo>
                    <a:pt x="456" y="265"/>
                  </a:lnTo>
                  <a:lnTo>
                    <a:pt x="480" y="277"/>
                  </a:lnTo>
                  <a:lnTo>
                    <a:pt x="499" y="277"/>
                  </a:lnTo>
                  <a:lnTo>
                    <a:pt x="506" y="284"/>
                  </a:lnTo>
                  <a:lnTo>
                    <a:pt x="525" y="272"/>
                  </a:lnTo>
                  <a:lnTo>
                    <a:pt x="551" y="265"/>
                  </a:lnTo>
                  <a:lnTo>
                    <a:pt x="574" y="265"/>
                  </a:lnTo>
                  <a:lnTo>
                    <a:pt x="593" y="256"/>
                  </a:lnTo>
                  <a:lnTo>
                    <a:pt x="605" y="246"/>
                  </a:lnTo>
                  <a:lnTo>
                    <a:pt x="617" y="237"/>
                  </a:lnTo>
                  <a:lnTo>
                    <a:pt x="615" y="230"/>
                  </a:lnTo>
                  <a:lnTo>
                    <a:pt x="610" y="223"/>
                  </a:lnTo>
                  <a:lnTo>
                    <a:pt x="617" y="206"/>
                  </a:lnTo>
                  <a:lnTo>
                    <a:pt x="626" y="208"/>
                  </a:lnTo>
                  <a:lnTo>
                    <a:pt x="643" y="213"/>
                  </a:lnTo>
                  <a:lnTo>
                    <a:pt x="659" y="201"/>
                  </a:lnTo>
                  <a:lnTo>
                    <a:pt x="683" y="192"/>
                  </a:lnTo>
                  <a:lnTo>
                    <a:pt x="695" y="178"/>
                  </a:lnTo>
                  <a:lnTo>
                    <a:pt x="707" y="171"/>
                  </a:lnTo>
                  <a:lnTo>
                    <a:pt x="730" y="166"/>
                  </a:lnTo>
                  <a:lnTo>
                    <a:pt x="745" y="171"/>
                  </a:lnTo>
                  <a:lnTo>
                    <a:pt x="745" y="161"/>
                  </a:lnTo>
                  <a:lnTo>
                    <a:pt x="730" y="145"/>
                  </a:lnTo>
                  <a:lnTo>
                    <a:pt x="719" y="137"/>
                  </a:lnTo>
                  <a:lnTo>
                    <a:pt x="704" y="147"/>
                  </a:lnTo>
                  <a:lnTo>
                    <a:pt x="690" y="142"/>
                  </a:lnTo>
                  <a:lnTo>
                    <a:pt x="681" y="145"/>
                  </a:lnTo>
                  <a:lnTo>
                    <a:pt x="676" y="135"/>
                  </a:lnTo>
                  <a:lnTo>
                    <a:pt x="688" y="111"/>
                  </a:lnTo>
                  <a:lnTo>
                    <a:pt x="695" y="92"/>
                  </a:lnTo>
                  <a:lnTo>
                    <a:pt x="714" y="102"/>
                  </a:lnTo>
                  <a:lnTo>
                    <a:pt x="738" y="85"/>
                  </a:lnTo>
                  <a:lnTo>
                    <a:pt x="738" y="76"/>
                  </a:lnTo>
                  <a:lnTo>
                    <a:pt x="752" y="48"/>
                  </a:lnTo>
                  <a:lnTo>
                    <a:pt x="761" y="40"/>
                  </a:lnTo>
                  <a:lnTo>
                    <a:pt x="761" y="26"/>
                  </a:lnTo>
                  <a:lnTo>
                    <a:pt x="752" y="19"/>
                  </a:lnTo>
                  <a:lnTo>
                    <a:pt x="766" y="5"/>
                  </a:lnTo>
                  <a:lnTo>
                    <a:pt x="785" y="0"/>
                  </a:lnTo>
                  <a:lnTo>
                    <a:pt x="806" y="0"/>
                  </a:lnTo>
                  <a:lnTo>
                    <a:pt x="832" y="7"/>
                  </a:lnTo>
                  <a:lnTo>
                    <a:pt x="846" y="17"/>
                  </a:lnTo>
                  <a:lnTo>
                    <a:pt x="856" y="45"/>
                  </a:lnTo>
                  <a:lnTo>
                    <a:pt x="863" y="55"/>
                  </a:lnTo>
                  <a:lnTo>
                    <a:pt x="868" y="71"/>
                  </a:lnTo>
                  <a:lnTo>
                    <a:pt x="872" y="97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189;p30">
              <a:extLst>
                <a:ext uri="{FF2B5EF4-FFF2-40B4-BE49-F238E27FC236}">
                  <a16:creationId xmlns:a16="http://schemas.microsoft.com/office/drawing/2014/main" id="{AD69D818-D8FB-0CC3-21FC-9DD5C5303800}"/>
                </a:ext>
              </a:extLst>
            </p:cNvPr>
            <p:cNvSpPr/>
            <p:nvPr/>
          </p:nvSpPr>
          <p:spPr>
            <a:xfrm>
              <a:off x="7213532" y="3257914"/>
              <a:ext cx="203062" cy="429821"/>
            </a:xfrm>
            <a:custGeom>
              <a:avLst/>
              <a:gdLst/>
              <a:ahLst/>
              <a:cxnLst/>
              <a:rect l="l" t="t" r="r" b="b"/>
              <a:pathLst>
                <a:path w="270749" h="573095" extrusionOk="0">
                  <a:moveTo>
                    <a:pt x="118494" y="0"/>
                  </a:moveTo>
                  <a:lnTo>
                    <a:pt x="141218" y="15907"/>
                  </a:lnTo>
                  <a:lnTo>
                    <a:pt x="173033" y="24997"/>
                  </a:lnTo>
                  <a:lnTo>
                    <a:pt x="168488" y="47722"/>
                  </a:lnTo>
                  <a:lnTo>
                    <a:pt x="184395" y="63629"/>
                  </a:lnTo>
                  <a:lnTo>
                    <a:pt x="220755" y="74992"/>
                  </a:lnTo>
                  <a:lnTo>
                    <a:pt x="208749" y="82996"/>
                  </a:lnTo>
                  <a:lnTo>
                    <a:pt x="213612" y="84516"/>
                  </a:lnTo>
                  <a:lnTo>
                    <a:pt x="165890" y="116330"/>
                  </a:lnTo>
                  <a:lnTo>
                    <a:pt x="140865" y="144929"/>
                  </a:lnTo>
                  <a:lnTo>
                    <a:pt x="136674" y="165890"/>
                  </a:lnTo>
                  <a:lnTo>
                    <a:pt x="161671" y="209067"/>
                  </a:lnTo>
                  <a:lnTo>
                    <a:pt x="195758" y="256789"/>
                  </a:lnTo>
                  <a:lnTo>
                    <a:pt x="232117" y="284058"/>
                  </a:lnTo>
                  <a:lnTo>
                    <a:pt x="254842" y="311328"/>
                  </a:lnTo>
                  <a:lnTo>
                    <a:pt x="270749" y="381774"/>
                  </a:lnTo>
                  <a:lnTo>
                    <a:pt x="263932" y="449948"/>
                  </a:lnTo>
                  <a:lnTo>
                    <a:pt x="257265" y="454710"/>
                  </a:lnTo>
                  <a:lnTo>
                    <a:pt x="256789" y="459472"/>
                  </a:lnTo>
                  <a:lnTo>
                    <a:pt x="224974" y="482197"/>
                  </a:lnTo>
                  <a:lnTo>
                    <a:pt x="188615" y="509466"/>
                  </a:lnTo>
                  <a:lnTo>
                    <a:pt x="154528" y="541281"/>
                  </a:lnTo>
                  <a:lnTo>
                    <a:pt x="106806" y="573095"/>
                  </a:lnTo>
                  <a:lnTo>
                    <a:pt x="95444" y="545826"/>
                  </a:lnTo>
                  <a:lnTo>
                    <a:pt x="106806" y="525373"/>
                  </a:lnTo>
                  <a:lnTo>
                    <a:pt x="79536" y="502649"/>
                  </a:lnTo>
                  <a:lnTo>
                    <a:pt x="91144" y="496845"/>
                  </a:lnTo>
                  <a:lnTo>
                    <a:pt x="86679" y="493125"/>
                  </a:lnTo>
                  <a:lnTo>
                    <a:pt x="118494" y="477218"/>
                  </a:lnTo>
                  <a:lnTo>
                    <a:pt x="144427" y="477218"/>
                  </a:lnTo>
                  <a:lnTo>
                    <a:pt x="134075" y="459472"/>
                  </a:lnTo>
                  <a:lnTo>
                    <a:pt x="144260" y="455163"/>
                  </a:lnTo>
                  <a:lnTo>
                    <a:pt x="141218" y="449948"/>
                  </a:lnTo>
                  <a:lnTo>
                    <a:pt x="193876" y="427670"/>
                  </a:lnTo>
                  <a:lnTo>
                    <a:pt x="197704" y="391298"/>
                  </a:lnTo>
                  <a:lnTo>
                    <a:pt x="193160" y="364029"/>
                  </a:lnTo>
                  <a:lnTo>
                    <a:pt x="197704" y="325397"/>
                  </a:lnTo>
                  <a:lnTo>
                    <a:pt x="188615" y="298127"/>
                  </a:lnTo>
                  <a:lnTo>
                    <a:pt x="161345" y="273130"/>
                  </a:lnTo>
                  <a:lnTo>
                    <a:pt x="138620" y="239043"/>
                  </a:lnTo>
                  <a:lnTo>
                    <a:pt x="106806" y="191321"/>
                  </a:lnTo>
                  <a:lnTo>
                    <a:pt x="63629" y="170869"/>
                  </a:lnTo>
                  <a:lnTo>
                    <a:pt x="72387" y="162110"/>
                  </a:lnTo>
                  <a:lnTo>
                    <a:pt x="70772" y="161345"/>
                  </a:lnTo>
                  <a:lnTo>
                    <a:pt x="82134" y="149983"/>
                  </a:lnTo>
                  <a:lnTo>
                    <a:pt x="93582" y="143623"/>
                  </a:lnTo>
                  <a:lnTo>
                    <a:pt x="79536" y="109513"/>
                  </a:lnTo>
                  <a:lnTo>
                    <a:pt x="36359" y="109513"/>
                  </a:lnTo>
                  <a:lnTo>
                    <a:pt x="20452" y="77698"/>
                  </a:lnTo>
                  <a:lnTo>
                    <a:pt x="0" y="45884"/>
                  </a:lnTo>
                  <a:lnTo>
                    <a:pt x="9775" y="40453"/>
                  </a:lnTo>
                  <a:lnTo>
                    <a:pt x="7143" y="36360"/>
                  </a:lnTo>
                  <a:lnTo>
                    <a:pt x="27595" y="24997"/>
                  </a:lnTo>
                  <a:lnTo>
                    <a:pt x="54865" y="24997"/>
                  </a:lnTo>
                  <a:lnTo>
                    <a:pt x="93497" y="2499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190;p30">
              <a:extLst>
                <a:ext uri="{FF2B5EF4-FFF2-40B4-BE49-F238E27FC236}">
                  <a16:creationId xmlns:a16="http://schemas.microsoft.com/office/drawing/2014/main" id="{3AE49275-AA4D-8B70-8F61-B040B42948D6}"/>
                </a:ext>
              </a:extLst>
            </p:cNvPr>
            <p:cNvSpPr/>
            <p:nvPr/>
          </p:nvSpPr>
          <p:spPr>
            <a:xfrm>
              <a:off x="5360978" y="2973448"/>
              <a:ext cx="17125" cy="40904"/>
            </a:xfrm>
            <a:custGeom>
              <a:avLst/>
              <a:gdLst/>
              <a:ahLst/>
              <a:cxnLst/>
              <a:rect l="l" t="t" r="r" b="b"/>
              <a:pathLst>
                <a:path w="22834" h="54539" extrusionOk="0">
                  <a:moveTo>
                    <a:pt x="4545" y="0"/>
                  </a:moveTo>
                  <a:lnTo>
                    <a:pt x="6719" y="1553"/>
                  </a:lnTo>
                  <a:lnTo>
                    <a:pt x="6926" y="0"/>
                  </a:lnTo>
                  <a:lnTo>
                    <a:pt x="22834" y="11362"/>
                  </a:lnTo>
                  <a:lnTo>
                    <a:pt x="22834" y="38632"/>
                  </a:lnTo>
                  <a:lnTo>
                    <a:pt x="18289" y="49994"/>
                  </a:lnTo>
                  <a:lnTo>
                    <a:pt x="2381" y="54539"/>
                  </a:lnTo>
                  <a:lnTo>
                    <a:pt x="2381" y="53859"/>
                  </a:lnTo>
                  <a:lnTo>
                    <a:pt x="0" y="54539"/>
                  </a:lnTo>
                  <a:lnTo>
                    <a:pt x="0" y="43177"/>
                  </a:lnTo>
                  <a:lnTo>
                    <a:pt x="9090" y="38632"/>
                  </a:lnTo>
                  <a:lnTo>
                    <a:pt x="0" y="3408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191;p30">
              <a:extLst>
                <a:ext uri="{FF2B5EF4-FFF2-40B4-BE49-F238E27FC236}">
                  <a16:creationId xmlns:a16="http://schemas.microsoft.com/office/drawing/2014/main" id="{68469593-5B21-547E-F42A-E4BA63608344}"/>
                </a:ext>
              </a:extLst>
            </p:cNvPr>
            <p:cNvSpPr/>
            <p:nvPr/>
          </p:nvSpPr>
          <p:spPr>
            <a:xfrm>
              <a:off x="5359194" y="2947803"/>
              <a:ext cx="121253" cy="138296"/>
            </a:xfrm>
            <a:custGeom>
              <a:avLst/>
              <a:gdLst/>
              <a:ahLst/>
              <a:cxnLst/>
              <a:rect l="l" t="t" r="r" b="b"/>
              <a:pathLst>
                <a:path w="161671" h="184395" extrusionOk="0">
                  <a:moveTo>
                    <a:pt x="138621" y="0"/>
                  </a:moveTo>
                  <a:lnTo>
                    <a:pt x="141471" y="9774"/>
                  </a:lnTo>
                  <a:lnTo>
                    <a:pt x="145764" y="7143"/>
                  </a:lnTo>
                  <a:lnTo>
                    <a:pt x="161671" y="61682"/>
                  </a:lnTo>
                  <a:lnTo>
                    <a:pt x="157126" y="66227"/>
                  </a:lnTo>
                  <a:lnTo>
                    <a:pt x="82135" y="88952"/>
                  </a:lnTo>
                  <a:lnTo>
                    <a:pt x="104227" y="111044"/>
                  </a:lnTo>
                  <a:lnTo>
                    <a:pt x="118494" y="125311"/>
                  </a:lnTo>
                  <a:lnTo>
                    <a:pt x="102587" y="136673"/>
                  </a:lnTo>
                  <a:lnTo>
                    <a:pt x="98042" y="152581"/>
                  </a:lnTo>
                  <a:lnTo>
                    <a:pt x="70772" y="159398"/>
                  </a:lnTo>
                  <a:lnTo>
                    <a:pt x="59410" y="168488"/>
                  </a:lnTo>
                  <a:lnTo>
                    <a:pt x="43503" y="184395"/>
                  </a:lnTo>
                  <a:lnTo>
                    <a:pt x="7143" y="175305"/>
                  </a:lnTo>
                  <a:lnTo>
                    <a:pt x="7143" y="169948"/>
                  </a:lnTo>
                  <a:lnTo>
                    <a:pt x="0" y="168162"/>
                  </a:lnTo>
                  <a:lnTo>
                    <a:pt x="0" y="161345"/>
                  </a:lnTo>
                  <a:lnTo>
                    <a:pt x="15908" y="97716"/>
                  </a:lnTo>
                  <a:lnTo>
                    <a:pt x="15908" y="81809"/>
                  </a:lnTo>
                  <a:lnTo>
                    <a:pt x="20452" y="65902"/>
                  </a:lnTo>
                  <a:lnTo>
                    <a:pt x="20452" y="43177"/>
                  </a:lnTo>
                  <a:lnTo>
                    <a:pt x="27270" y="27270"/>
                  </a:lnTo>
                  <a:lnTo>
                    <a:pt x="68174" y="4317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192;p30">
              <a:extLst>
                <a:ext uri="{FF2B5EF4-FFF2-40B4-BE49-F238E27FC236}">
                  <a16:creationId xmlns:a16="http://schemas.microsoft.com/office/drawing/2014/main" id="{29743792-50D1-3C70-9DCA-7F5202109E6C}"/>
                </a:ext>
              </a:extLst>
            </p:cNvPr>
            <p:cNvSpPr/>
            <p:nvPr/>
          </p:nvSpPr>
          <p:spPr>
            <a:xfrm>
              <a:off x="5366173" y="2910387"/>
              <a:ext cx="42690" cy="51293"/>
            </a:xfrm>
            <a:custGeom>
              <a:avLst/>
              <a:gdLst/>
              <a:ahLst/>
              <a:cxnLst/>
              <a:rect l="l" t="t" r="r" b="b"/>
              <a:pathLst>
                <a:path w="56920" h="68391" extrusionOk="0">
                  <a:moveTo>
                    <a:pt x="31815" y="0"/>
                  </a:moveTo>
                  <a:lnTo>
                    <a:pt x="47722" y="0"/>
                  </a:lnTo>
                  <a:lnTo>
                    <a:pt x="49763" y="4762"/>
                  </a:lnTo>
                  <a:lnTo>
                    <a:pt x="50103" y="4762"/>
                  </a:lnTo>
                  <a:lnTo>
                    <a:pt x="56920" y="20669"/>
                  </a:lnTo>
                  <a:lnTo>
                    <a:pt x="41013" y="36577"/>
                  </a:lnTo>
                  <a:lnTo>
                    <a:pt x="29651" y="57029"/>
                  </a:lnTo>
                  <a:lnTo>
                    <a:pt x="18288" y="63846"/>
                  </a:lnTo>
                  <a:lnTo>
                    <a:pt x="13744" y="68391"/>
                  </a:lnTo>
                  <a:lnTo>
                    <a:pt x="2381" y="68391"/>
                  </a:lnTo>
                  <a:lnTo>
                    <a:pt x="4082" y="63629"/>
                  </a:lnTo>
                  <a:lnTo>
                    <a:pt x="0" y="63629"/>
                  </a:lnTo>
                  <a:lnTo>
                    <a:pt x="11363" y="31815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193;p30">
              <a:extLst>
                <a:ext uri="{FF2B5EF4-FFF2-40B4-BE49-F238E27FC236}">
                  <a16:creationId xmlns:a16="http://schemas.microsoft.com/office/drawing/2014/main" id="{7D8A43E2-881E-6D56-1D5E-3D4666461061}"/>
                </a:ext>
              </a:extLst>
            </p:cNvPr>
            <p:cNvSpPr/>
            <p:nvPr/>
          </p:nvSpPr>
          <p:spPr>
            <a:xfrm>
              <a:off x="5383217" y="2814861"/>
              <a:ext cx="180661" cy="170680"/>
            </a:xfrm>
            <a:custGeom>
              <a:avLst/>
              <a:gdLst/>
              <a:ahLst/>
              <a:cxnLst/>
              <a:rect l="l" t="t" r="r" b="b"/>
              <a:pathLst>
                <a:path w="240881" h="227573" extrusionOk="0">
                  <a:moveTo>
                    <a:pt x="240881" y="0"/>
                  </a:moveTo>
                  <a:lnTo>
                    <a:pt x="235354" y="8598"/>
                  </a:lnTo>
                  <a:lnTo>
                    <a:pt x="240881" y="7143"/>
                  </a:lnTo>
                  <a:lnTo>
                    <a:pt x="220429" y="38958"/>
                  </a:lnTo>
                  <a:lnTo>
                    <a:pt x="203599" y="49476"/>
                  </a:lnTo>
                  <a:lnTo>
                    <a:pt x="209067" y="74992"/>
                  </a:lnTo>
                  <a:lnTo>
                    <a:pt x="208184" y="78017"/>
                  </a:lnTo>
                  <a:lnTo>
                    <a:pt x="209067" y="82135"/>
                  </a:lnTo>
                  <a:lnTo>
                    <a:pt x="193160" y="136674"/>
                  </a:lnTo>
                  <a:lnTo>
                    <a:pt x="111351" y="184396"/>
                  </a:lnTo>
                  <a:lnTo>
                    <a:pt x="40905" y="227573"/>
                  </a:lnTo>
                  <a:lnTo>
                    <a:pt x="0" y="211666"/>
                  </a:lnTo>
                  <a:lnTo>
                    <a:pt x="4545" y="207121"/>
                  </a:lnTo>
                  <a:lnTo>
                    <a:pt x="4545" y="206290"/>
                  </a:lnTo>
                  <a:lnTo>
                    <a:pt x="0" y="204523"/>
                  </a:lnTo>
                  <a:lnTo>
                    <a:pt x="4545" y="199978"/>
                  </a:lnTo>
                  <a:lnTo>
                    <a:pt x="4545" y="184396"/>
                  </a:lnTo>
                  <a:lnTo>
                    <a:pt x="4545" y="177253"/>
                  </a:lnTo>
                  <a:lnTo>
                    <a:pt x="9090" y="156801"/>
                  </a:lnTo>
                  <a:lnTo>
                    <a:pt x="29460" y="142542"/>
                  </a:lnTo>
                  <a:lnTo>
                    <a:pt x="24997" y="132129"/>
                  </a:lnTo>
                  <a:lnTo>
                    <a:pt x="9090" y="125312"/>
                  </a:lnTo>
                  <a:lnTo>
                    <a:pt x="9090" y="118169"/>
                  </a:lnTo>
                  <a:lnTo>
                    <a:pt x="9090" y="93497"/>
                  </a:lnTo>
                  <a:lnTo>
                    <a:pt x="9090" y="86354"/>
                  </a:lnTo>
                  <a:lnTo>
                    <a:pt x="15907" y="65902"/>
                  </a:lnTo>
                  <a:lnTo>
                    <a:pt x="24997" y="54540"/>
                  </a:lnTo>
                  <a:lnTo>
                    <a:pt x="36360" y="47722"/>
                  </a:lnTo>
                  <a:lnTo>
                    <a:pt x="36360" y="29868"/>
                  </a:lnTo>
                  <a:lnTo>
                    <a:pt x="36360" y="22725"/>
                  </a:lnTo>
                  <a:lnTo>
                    <a:pt x="47722" y="31815"/>
                  </a:lnTo>
                  <a:lnTo>
                    <a:pt x="90899" y="15907"/>
                  </a:lnTo>
                  <a:lnTo>
                    <a:pt x="111351" y="27270"/>
                  </a:lnTo>
                  <a:lnTo>
                    <a:pt x="138620" y="27270"/>
                  </a:lnTo>
                  <a:lnTo>
                    <a:pt x="181797" y="11362"/>
                  </a:lnTo>
                  <a:lnTo>
                    <a:pt x="197704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194;p30">
              <a:extLst>
                <a:ext uri="{FF2B5EF4-FFF2-40B4-BE49-F238E27FC236}">
                  <a16:creationId xmlns:a16="http://schemas.microsoft.com/office/drawing/2014/main" id="{AD98D474-C685-7E0E-647F-C68E9D7A27B0}"/>
                </a:ext>
              </a:extLst>
            </p:cNvPr>
            <p:cNvSpPr/>
            <p:nvPr/>
          </p:nvSpPr>
          <p:spPr>
            <a:xfrm>
              <a:off x="5461375" y="2811453"/>
              <a:ext cx="279920" cy="276186"/>
            </a:xfrm>
            <a:custGeom>
              <a:avLst/>
              <a:gdLst/>
              <a:ahLst/>
              <a:cxnLst/>
              <a:rect l="l" t="t" r="r" b="b"/>
              <a:pathLst>
                <a:path w="373227" h="368248" extrusionOk="0">
                  <a:moveTo>
                    <a:pt x="145438" y="0"/>
                  </a:moveTo>
                  <a:lnTo>
                    <a:pt x="188615" y="4545"/>
                  </a:lnTo>
                  <a:lnTo>
                    <a:pt x="189875" y="5806"/>
                  </a:lnTo>
                  <a:lnTo>
                    <a:pt x="200520" y="6926"/>
                  </a:lnTo>
                  <a:lnTo>
                    <a:pt x="210583" y="16989"/>
                  </a:lnTo>
                  <a:lnTo>
                    <a:pt x="220429" y="11362"/>
                  </a:lnTo>
                  <a:lnTo>
                    <a:pt x="223628" y="18719"/>
                  </a:lnTo>
                  <a:lnTo>
                    <a:pt x="232334" y="13743"/>
                  </a:lnTo>
                  <a:lnTo>
                    <a:pt x="255059" y="66010"/>
                  </a:lnTo>
                  <a:lnTo>
                    <a:pt x="280056" y="81917"/>
                  </a:lnTo>
                  <a:lnTo>
                    <a:pt x="280056" y="109187"/>
                  </a:lnTo>
                  <a:lnTo>
                    <a:pt x="264149" y="125094"/>
                  </a:lnTo>
                  <a:lnTo>
                    <a:pt x="255059" y="156909"/>
                  </a:lnTo>
                  <a:lnTo>
                    <a:pt x="280056" y="200086"/>
                  </a:lnTo>
                  <a:lnTo>
                    <a:pt x="323233" y="222810"/>
                  </a:lnTo>
                  <a:lnTo>
                    <a:pt x="345958" y="254625"/>
                  </a:lnTo>
                  <a:lnTo>
                    <a:pt x="341413" y="286439"/>
                  </a:lnTo>
                  <a:lnTo>
                    <a:pt x="350503" y="286439"/>
                  </a:lnTo>
                  <a:lnTo>
                    <a:pt x="350503" y="309164"/>
                  </a:lnTo>
                  <a:lnTo>
                    <a:pt x="373227" y="329616"/>
                  </a:lnTo>
                  <a:lnTo>
                    <a:pt x="350503" y="329616"/>
                  </a:lnTo>
                  <a:lnTo>
                    <a:pt x="323233" y="325071"/>
                  </a:lnTo>
                  <a:lnTo>
                    <a:pt x="298236" y="368248"/>
                  </a:lnTo>
                  <a:lnTo>
                    <a:pt x="232334" y="361431"/>
                  </a:lnTo>
                  <a:lnTo>
                    <a:pt x="230653" y="360107"/>
                  </a:lnTo>
                  <a:lnTo>
                    <a:pt x="220429" y="359050"/>
                  </a:lnTo>
                  <a:lnTo>
                    <a:pt x="113624" y="274969"/>
                  </a:lnTo>
                  <a:lnTo>
                    <a:pt x="59084" y="247699"/>
                  </a:lnTo>
                  <a:lnTo>
                    <a:pt x="15908" y="236337"/>
                  </a:lnTo>
                  <a:lnTo>
                    <a:pt x="0" y="181797"/>
                  </a:lnTo>
                  <a:lnTo>
                    <a:pt x="81809" y="134076"/>
                  </a:lnTo>
                  <a:lnTo>
                    <a:pt x="97716" y="79536"/>
                  </a:lnTo>
                  <a:lnTo>
                    <a:pt x="90899" y="47722"/>
                  </a:lnTo>
                  <a:lnTo>
                    <a:pt x="113624" y="36360"/>
                  </a:lnTo>
                  <a:lnTo>
                    <a:pt x="129531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195;p30">
              <a:extLst>
                <a:ext uri="{FF2B5EF4-FFF2-40B4-BE49-F238E27FC236}">
                  <a16:creationId xmlns:a16="http://schemas.microsoft.com/office/drawing/2014/main" id="{4B11D9C0-85B7-2987-51C0-604DFDCA631F}"/>
                </a:ext>
              </a:extLst>
            </p:cNvPr>
            <p:cNvSpPr/>
            <p:nvPr/>
          </p:nvSpPr>
          <p:spPr>
            <a:xfrm>
              <a:off x="5611357" y="2726073"/>
              <a:ext cx="539063" cy="484361"/>
            </a:xfrm>
            <a:custGeom>
              <a:avLst/>
              <a:gdLst/>
              <a:ahLst/>
              <a:cxnLst/>
              <a:rect l="l" t="t" r="r" b="b"/>
              <a:pathLst>
                <a:path w="718750" h="645814" extrusionOk="0">
                  <a:moveTo>
                    <a:pt x="20452" y="0"/>
                  </a:moveTo>
                  <a:lnTo>
                    <a:pt x="25871" y="14450"/>
                  </a:lnTo>
                  <a:lnTo>
                    <a:pt x="34738" y="9524"/>
                  </a:lnTo>
                  <a:lnTo>
                    <a:pt x="41556" y="27704"/>
                  </a:lnTo>
                  <a:lnTo>
                    <a:pt x="53845" y="39993"/>
                  </a:lnTo>
                  <a:lnTo>
                    <a:pt x="68174" y="43177"/>
                  </a:lnTo>
                  <a:lnTo>
                    <a:pt x="86354" y="43177"/>
                  </a:lnTo>
                  <a:lnTo>
                    <a:pt x="129531" y="11362"/>
                  </a:lnTo>
                  <a:lnTo>
                    <a:pt x="138621" y="6818"/>
                  </a:lnTo>
                  <a:lnTo>
                    <a:pt x="147393" y="19099"/>
                  </a:lnTo>
                  <a:lnTo>
                    <a:pt x="152907" y="16342"/>
                  </a:lnTo>
                  <a:lnTo>
                    <a:pt x="164269" y="32249"/>
                  </a:lnTo>
                  <a:lnTo>
                    <a:pt x="152907" y="52701"/>
                  </a:lnTo>
                  <a:lnTo>
                    <a:pt x="166107" y="65902"/>
                  </a:lnTo>
                  <a:lnTo>
                    <a:pt x="170435" y="65902"/>
                  </a:lnTo>
                  <a:lnTo>
                    <a:pt x="172840" y="72634"/>
                  </a:lnTo>
                  <a:lnTo>
                    <a:pt x="175631" y="75426"/>
                  </a:lnTo>
                  <a:lnTo>
                    <a:pt x="184721" y="75426"/>
                  </a:lnTo>
                  <a:lnTo>
                    <a:pt x="193959" y="101293"/>
                  </a:lnTo>
                  <a:lnTo>
                    <a:pt x="220429" y="109078"/>
                  </a:lnTo>
                  <a:lnTo>
                    <a:pt x="232104" y="117834"/>
                  </a:lnTo>
                  <a:lnTo>
                    <a:pt x="234715" y="118602"/>
                  </a:lnTo>
                  <a:lnTo>
                    <a:pt x="250024" y="130084"/>
                  </a:lnTo>
                  <a:lnTo>
                    <a:pt x="295421" y="140893"/>
                  </a:lnTo>
                  <a:lnTo>
                    <a:pt x="354505" y="129531"/>
                  </a:lnTo>
                  <a:lnTo>
                    <a:pt x="359050" y="120441"/>
                  </a:lnTo>
                  <a:lnTo>
                    <a:pt x="390864" y="109078"/>
                  </a:lnTo>
                  <a:lnTo>
                    <a:pt x="418134" y="81809"/>
                  </a:lnTo>
                  <a:lnTo>
                    <a:pt x="440858" y="81809"/>
                  </a:lnTo>
                  <a:lnTo>
                    <a:pt x="456766" y="77264"/>
                  </a:lnTo>
                  <a:lnTo>
                    <a:pt x="484035" y="81809"/>
                  </a:lnTo>
                  <a:lnTo>
                    <a:pt x="520395" y="102261"/>
                  </a:lnTo>
                  <a:lnTo>
                    <a:pt x="552209" y="109078"/>
                  </a:lnTo>
                  <a:lnTo>
                    <a:pt x="562503" y="117747"/>
                  </a:lnTo>
                  <a:lnTo>
                    <a:pt x="566495" y="118602"/>
                  </a:lnTo>
                  <a:lnTo>
                    <a:pt x="599619" y="146496"/>
                  </a:lnTo>
                  <a:lnTo>
                    <a:pt x="622655" y="152255"/>
                  </a:lnTo>
                  <a:lnTo>
                    <a:pt x="622655" y="158208"/>
                  </a:lnTo>
                  <a:lnTo>
                    <a:pt x="636941" y="161779"/>
                  </a:lnTo>
                  <a:lnTo>
                    <a:pt x="636941" y="198139"/>
                  </a:lnTo>
                  <a:lnTo>
                    <a:pt x="625579" y="252678"/>
                  </a:lnTo>
                  <a:lnTo>
                    <a:pt x="617355" y="281462"/>
                  </a:lnTo>
                  <a:lnTo>
                    <a:pt x="618111" y="281786"/>
                  </a:lnTo>
                  <a:lnTo>
                    <a:pt x="616572" y="284204"/>
                  </a:lnTo>
                  <a:lnTo>
                    <a:pt x="616489" y="284492"/>
                  </a:lnTo>
                  <a:lnTo>
                    <a:pt x="632397" y="291310"/>
                  </a:lnTo>
                  <a:lnTo>
                    <a:pt x="616489" y="316307"/>
                  </a:lnTo>
                  <a:lnTo>
                    <a:pt x="625579" y="350394"/>
                  </a:lnTo>
                  <a:lnTo>
                    <a:pt x="630655" y="369003"/>
                  </a:lnTo>
                  <a:lnTo>
                    <a:pt x="645380" y="372684"/>
                  </a:lnTo>
                  <a:lnTo>
                    <a:pt x="645380" y="378637"/>
                  </a:lnTo>
                  <a:lnTo>
                    <a:pt x="659666" y="382208"/>
                  </a:lnTo>
                  <a:lnTo>
                    <a:pt x="659666" y="414023"/>
                  </a:lnTo>
                  <a:lnTo>
                    <a:pt x="625579" y="452655"/>
                  </a:lnTo>
                  <a:lnTo>
                    <a:pt x="641486" y="473107"/>
                  </a:lnTo>
                  <a:lnTo>
                    <a:pt x="656585" y="495754"/>
                  </a:lnTo>
                  <a:lnTo>
                    <a:pt x="681740" y="506760"/>
                  </a:lnTo>
                  <a:lnTo>
                    <a:pt x="681740" y="510034"/>
                  </a:lnTo>
                  <a:lnTo>
                    <a:pt x="696026" y="516284"/>
                  </a:lnTo>
                  <a:lnTo>
                    <a:pt x="696026" y="549473"/>
                  </a:lnTo>
                  <a:lnTo>
                    <a:pt x="697647" y="549937"/>
                  </a:lnTo>
                  <a:lnTo>
                    <a:pt x="699652" y="555952"/>
                  </a:lnTo>
                  <a:lnTo>
                    <a:pt x="711933" y="559461"/>
                  </a:lnTo>
                  <a:lnTo>
                    <a:pt x="718750" y="579913"/>
                  </a:lnTo>
                  <a:lnTo>
                    <a:pt x="664211" y="602637"/>
                  </a:lnTo>
                  <a:lnTo>
                    <a:pt x="648304" y="645814"/>
                  </a:lnTo>
                  <a:lnTo>
                    <a:pt x="582402" y="634452"/>
                  </a:lnTo>
                  <a:lnTo>
                    <a:pt x="541498" y="629907"/>
                  </a:lnTo>
                  <a:lnTo>
                    <a:pt x="498321" y="623090"/>
                  </a:lnTo>
                  <a:lnTo>
                    <a:pt x="496685" y="615563"/>
                  </a:lnTo>
                  <a:lnTo>
                    <a:pt x="484035" y="613566"/>
                  </a:lnTo>
                  <a:lnTo>
                    <a:pt x="473891" y="566903"/>
                  </a:lnTo>
                  <a:lnTo>
                    <a:pt x="464234" y="564006"/>
                  </a:lnTo>
                  <a:lnTo>
                    <a:pt x="439237" y="570823"/>
                  </a:lnTo>
                  <a:lnTo>
                    <a:pt x="400605" y="591275"/>
                  </a:lnTo>
                  <a:lnTo>
                    <a:pt x="357428" y="575368"/>
                  </a:lnTo>
                  <a:lnTo>
                    <a:pt x="349017" y="568008"/>
                  </a:lnTo>
                  <a:lnTo>
                    <a:pt x="343142" y="565844"/>
                  </a:lnTo>
                  <a:lnTo>
                    <a:pt x="315945" y="542046"/>
                  </a:lnTo>
                  <a:lnTo>
                    <a:pt x="282437" y="532191"/>
                  </a:lnTo>
                  <a:lnTo>
                    <a:pt x="279100" y="525887"/>
                  </a:lnTo>
                  <a:lnTo>
                    <a:pt x="268151" y="522667"/>
                  </a:lnTo>
                  <a:lnTo>
                    <a:pt x="247699" y="484035"/>
                  </a:lnTo>
                  <a:lnTo>
                    <a:pt x="226679" y="438493"/>
                  </a:lnTo>
                  <a:lnTo>
                    <a:pt x="211991" y="445837"/>
                  </a:lnTo>
                  <a:lnTo>
                    <a:pt x="198947" y="435692"/>
                  </a:lnTo>
                  <a:lnTo>
                    <a:pt x="197705" y="436313"/>
                  </a:lnTo>
                  <a:lnTo>
                    <a:pt x="190645" y="430823"/>
                  </a:lnTo>
                  <a:lnTo>
                    <a:pt x="175631" y="445837"/>
                  </a:lnTo>
                  <a:lnTo>
                    <a:pt x="163100" y="434559"/>
                  </a:lnTo>
                  <a:lnTo>
                    <a:pt x="161345" y="436313"/>
                  </a:lnTo>
                  <a:lnTo>
                    <a:pt x="138621" y="415861"/>
                  </a:lnTo>
                  <a:lnTo>
                    <a:pt x="138621" y="393136"/>
                  </a:lnTo>
                  <a:lnTo>
                    <a:pt x="129531" y="393136"/>
                  </a:lnTo>
                  <a:lnTo>
                    <a:pt x="134076" y="361322"/>
                  </a:lnTo>
                  <a:lnTo>
                    <a:pt x="120129" y="333429"/>
                  </a:lnTo>
                  <a:lnTo>
                    <a:pt x="82460" y="316307"/>
                  </a:lnTo>
                  <a:lnTo>
                    <a:pt x="80079" y="312194"/>
                  </a:lnTo>
                  <a:lnTo>
                    <a:pt x="68174" y="306783"/>
                  </a:lnTo>
                  <a:lnTo>
                    <a:pt x="43177" y="263606"/>
                  </a:lnTo>
                  <a:lnTo>
                    <a:pt x="52267" y="227247"/>
                  </a:lnTo>
                  <a:lnTo>
                    <a:pt x="68174" y="211339"/>
                  </a:lnTo>
                  <a:lnTo>
                    <a:pt x="68174" y="189048"/>
                  </a:lnTo>
                  <a:lnTo>
                    <a:pt x="57463" y="182231"/>
                  </a:lnTo>
                  <a:lnTo>
                    <a:pt x="57203" y="181633"/>
                  </a:lnTo>
                  <a:lnTo>
                    <a:pt x="43177" y="172707"/>
                  </a:lnTo>
                  <a:lnTo>
                    <a:pt x="20452" y="120441"/>
                  </a:lnTo>
                  <a:lnTo>
                    <a:pt x="0" y="81809"/>
                  </a:lnTo>
                  <a:lnTo>
                    <a:pt x="4545" y="65902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196;p30">
              <a:extLst>
                <a:ext uri="{FF2B5EF4-FFF2-40B4-BE49-F238E27FC236}">
                  <a16:creationId xmlns:a16="http://schemas.microsoft.com/office/drawing/2014/main" id="{48B14A8B-3939-F2E1-3145-F740EFEBA2BF}"/>
                </a:ext>
              </a:extLst>
            </p:cNvPr>
            <p:cNvSpPr/>
            <p:nvPr/>
          </p:nvSpPr>
          <p:spPr>
            <a:xfrm>
              <a:off x="5632054" y="2654733"/>
              <a:ext cx="153392" cy="129531"/>
            </a:xfrm>
            <a:custGeom>
              <a:avLst/>
              <a:gdLst/>
              <a:ahLst/>
              <a:cxnLst/>
              <a:rect l="l" t="t" r="r" b="b"/>
              <a:pathLst>
                <a:path w="90" h="76" extrusionOk="0">
                  <a:moveTo>
                    <a:pt x="3" y="45"/>
                  </a:moveTo>
                  <a:lnTo>
                    <a:pt x="3" y="45"/>
                  </a:lnTo>
                  <a:lnTo>
                    <a:pt x="7" y="50"/>
                  </a:lnTo>
                  <a:lnTo>
                    <a:pt x="17" y="50"/>
                  </a:lnTo>
                  <a:lnTo>
                    <a:pt x="14" y="55"/>
                  </a:lnTo>
                  <a:lnTo>
                    <a:pt x="21" y="67"/>
                  </a:lnTo>
                  <a:lnTo>
                    <a:pt x="10" y="64"/>
                  </a:lnTo>
                  <a:lnTo>
                    <a:pt x="3" y="53"/>
                  </a:lnTo>
                  <a:lnTo>
                    <a:pt x="0" y="45"/>
                  </a:lnTo>
                  <a:lnTo>
                    <a:pt x="3" y="45"/>
                  </a:lnTo>
                  <a:close/>
                  <a:moveTo>
                    <a:pt x="43" y="12"/>
                  </a:moveTo>
                  <a:lnTo>
                    <a:pt x="43" y="12"/>
                  </a:lnTo>
                  <a:lnTo>
                    <a:pt x="50" y="15"/>
                  </a:lnTo>
                  <a:lnTo>
                    <a:pt x="52" y="10"/>
                  </a:lnTo>
                  <a:lnTo>
                    <a:pt x="62" y="0"/>
                  </a:lnTo>
                  <a:lnTo>
                    <a:pt x="69" y="12"/>
                  </a:lnTo>
                  <a:lnTo>
                    <a:pt x="78" y="29"/>
                  </a:lnTo>
                  <a:lnTo>
                    <a:pt x="85" y="29"/>
                  </a:lnTo>
                  <a:lnTo>
                    <a:pt x="90" y="34"/>
                  </a:lnTo>
                  <a:lnTo>
                    <a:pt x="78" y="36"/>
                  </a:lnTo>
                  <a:lnTo>
                    <a:pt x="74" y="53"/>
                  </a:lnTo>
                  <a:lnTo>
                    <a:pt x="71" y="60"/>
                  </a:lnTo>
                  <a:lnTo>
                    <a:pt x="66" y="64"/>
                  </a:lnTo>
                  <a:lnTo>
                    <a:pt x="66" y="74"/>
                  </a:lnTo>
                  <a:lnTo>
                    <a:pt x="62" y="76"/>
                  </a:lnTo>
                  <a:lnTo>
                    <a:pt x="52" y="64"/>
                  </a:lnTo>
                  <a:lnTo>
                    <a:pt x="57" y="55"/>
                  </a:lnTo>
                  <a:lnTo>
                    <a:pt x="52" y="48"/>
                  </a:lnTo>
                  <a:lnTo>
                    <a:pt x="48" y="50"/>
                  </a:lnTo>
                  <a:lnTo>
                    <a:pt x="29" y="64"/>
                  </a:lnTo>
                  <a:lnTo>
                    <a:pt x="29" y="50"/>
                  </a:lnTo>
                  <a:lnTo>
                    <a:pt x="19" y="48"/>
                  </a:lnTo>
                  <a:lnTo>
                    <a:pt x="14" y="41"/>
                  </a:lnTo>
                  <a:lnTo>
                    <a:pt x="19" y="36"/>
                  </a:lnTo>
                  <a:lnTo>
                    <a:pt x="10" y="29"/>
                  </a:lnTo>
                  <a:lnTo>
                    <a:pt x="12" y="22"/>
                  </a:lnTo>
                  <a:lnTo>
                    <a:pt x="5" y="19"/>
                  </a:lnTo>
                  <a:lnTo>
                    <a:pt x="3" y="12"/>
                  </a:lnTo>
                  <a:lnTo>
                    <a:pt x="7" y="10"/>
                  </a:lnTo>
                  <a:lnTo>
                    <a:pt x="19" y="15"/>
                  </a:lnTo>
                  <a:lnTo>
                    <a:pt x="29" y="17"/>
                  </a:lnTo>
                  <a:lnTo>
                    <a:pt x="31" y="15"/>
                  </a:lnTo>
                  <a:lnTo>
                    <a:pt x="21" y="3"/>
                  </a:lnTo>
                  <a:lnTo>
                    <a:pt x="26" y="0"/>
                  </a:lnTo>
                  <a:lnTo>
                    <a:pt x="31" y="0"/>
                  </a:lnTo>
                  <a:lnTo>
                    <a:pt x="43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197;p30">
              <a:extLst>
                <a:ext uri="{FF2B5EF4-FFF2-40B4-BE49-F238E27FC236}">
                  <a16:creationId xmlns:a16="http://schemas.microsoft.com/office/drawing/2014/main" id="{DB7AD941-0779-7C85-FF0E-A19DAE4B7445}"/>
                </a:ext>
              </a:extLst>
            </p:cNvPr>
            <p:cNvSpPr/>
            <p:nvPr/>
          </p:nvSpPr>
          <p:spPr>
            <a:xfrm>
              <a:off x="5596100" y="2673399"/>
              <a:ext cx="90737" cy="93983"/>
            </a:xfrm>
            <a:custGeom>
              <a:avLst/>
              <a:gdLst/>
              <a:ahLst/>
              <a:cxnLst/>
              <a:rect l="l" t="t" r="r" b="b"/>
              <a:pathLst>
                <a:path w="120983" h="125311" extrusionOk="0">
                  <a:moveTo>
                    <a:pt x="84498" y="86354"/>
                  </a:moveTo>
                  <a:lnTo>
                    <a:pt x="86354" y="88952"/>
                  </a:lnTo>
                  <a:lnTo>
                    <a:pt x="91533" y="89988"/>
                  </a:lnTo>
                  <a:lnTo>
                    <a:pt x="93714" y="86354"/>
                  </a:lnTo>
                  <a:close/>
                  <a:moveTo>
                    <a:pt x="61899" y="0"/>
                  </a:moveTo>
                  <a:lnTo>
                    <a:pt x="70989" y="15907"/>
                  </a:lnTo>
                  <a:lnTo>
                    <a:pt x="82351" y="22725"/>
                  </a:lnTo>
                  <a:lnTo>
                    <a:pt x="77807" y="38632"/>
                  </a:lnTo>
                  <a:lnTo>
                    <a:pt x="98259" y="49994"/>
                  </a:lnTo>
                  <a:lnTo>
                    <a:pt x="86896" y="65902"/>
                  </a:lnTo>
                  <a:lnTo>
                    <a:pt x="98259" y="81809"/>
                  </a:lnTo>
                  <a:lnTo>
                    <a:pt x="120983" y="86354"/>
                  </a:lnTo>
                  <a:lnTo>
                    <a:pt x="120983" y="118168"/>
                  </a:lnTo>
                  <a:lnTo>
                    <a:pt x="109078" y="118168"/>
                  </a:lnTo>
                  <a:lnTo>
                    <a:pt x="109078" y="125311"/>
                  </a:lnTo>
                  <a:lnTo>
                    <a:pt x="90899" y="125311"/>
                  </a:lnTo>
                  <a:lnTo>
                    <a:pt x="74991" y="104859"/>
                  </a:lnTo>
                  <a:lnTo>
                    <a:pt x="81809" y="93497"/>
                  </a:lnTo>
                  <a:lnTo>
                    <a:pt x="65902" y="93497"/>
                  </a:lnTo>
                  <a:lnTo>
                    <a:pt x="54539" y="82134"/>
                  </a:lnTo>
                  <a:lnTo>
                    <a:pt x="43177" y="82134"/>
                  </a:lnTo>
                  <a:lnTo>
                    <a:pt x="31815" y="66227"/>
                  </a:lnTo>
                  <a:lnTo>
                    <a:pt x="0" y="57137"/>
                  </a:lnTo>
                  <a:lnTo>
                    <a:pt x="6818" y="34413"/>
                  </a:lnTo>
                  <a:lnTo>
                    <a:pt x="0" y="18505"/>
                  </a:lnTo>
                  <a:lnTo>
                    <a:pt x="13638" y="15406"/>
                  </a:lnTo>
                  <a:lnTo>
                    <a:pt x="11905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198;p30">
              <a:extLst>
                <a:ext uri="{FF2B5EF4-FFF2-40B4-BE49-F238E27FC236}">
                  <a16:creationId xmlns:a16="http://schemas.microsoft.com/office/drawing/2014/main" id="{824650B5-7EEA-AFDC-4417-95BE1868E615}"/>
                </a:ext>
              </a:extLst>
            </p:cNvPr>
            <p:cNvSpPr/>
            <p:nvPr/>
          </p:nvSpPr>
          <p:spPr>
            <a:xfrm>
              <a:off x="5500900" y="2588101"/>
              <a:ext cx="186370" cy="100369"/>
            </a:xfrm>
            <a:custGeom>
              <a:avLst/>
              <a:gdLst/>
              <a:ahLst/>
              <a:cxnLst/>
              <a:rect l="l" t="t" r="r" b="b"/>
              <a:pathLst>
                <a:path w="248493" h="133825" extrusionOk="0">
                  <a:moveTo>
                    <a:pt x="6818" y="0"/>
                  </a:moveTo>
                  <a:lnTo>
                    <a:pt x="38632" y="9090"/>
                  </a:lnTo>
                  <a:lnTo>
                    <a:pt x="90899" y="15907"/>
                  </a:lnTo>
                  <a:lnTo>
                    <a:pt x="140893" y="43177"/>
                  </a:lnTo>
                  <a:lnTo>
                    <a:pt x="145438" y="52267"/>
                  </a:lnTo>
                  <a:lnTo>
                    <a:pt x="165890" y="43177"/>
                  </a:lnTo>
                  <a:lnTo>
                    <a:pt x="204522" y="52267"/>
                  </a:lnTo>
                  <a:lnTo>
                    <a:pt x="215885" y="74991"/>
                  </a:lnTo>
                  <a:lnTo>
                    <a:pt x="236337" y="84081"/>
                  </a:lnTo>
                  <a:lnTo>
                    <a:pt x="226036" y="90262"/>
                  </a:lnTo>
                  <a:lnTo>
                    <a:pt x="237131" y="95193"/>
                  </a:lnTo>
                  <a:lnTo>
                    <a:pt x="231413" y="98624"/>
                  </a:lnTo>
                  <a:lnTo>
                    <a:pt x="247699" y="118168"/>
                  </a:lnTo>
                  <a:lnTo>
                    <a:pt x="243154" y="122713"/>
                  </a:lnTo>
                  <a:lnTo>
                    <a:pt x="242994" y="122681"/>
                  </a:lnTo>
                  <a:lnTo>
                    <a:pt x="248493" y="129280"/>
                  </a:lnTo>
                  <a:lnTo>
                    <a:pt x="243948" y="133825"/>
                  </a:lnTo>
                  <a:lnTo>
                    <a:pt x="221224" y="129280"/>
                  </a:lnTo>
                  <a:lnTo>
                    <a:pt x="193954" y="117918"/>
                  </a:lnTo>
                  <a:lnTo>
                    <a:pt x="184864" y="129280"/>
                  </a:lnTo>
                  <a:lnTo>
                    <a:pt x="134870" y="133825"/>
                  </a:lnTo>
                  <a:lnTo>
                    <a:pt x="98510" y="113373"/>
                  </a:lnTo>
                  <a:lnTo>
                    <a:pt x="59878" y="113373"/>
                  </a:lnTo>
                  <a:lnTo>
                    <a:pt x="63212" y="102261"/>
                  </a:lnTo>
                  <a:lnTo>
                    <a:pt x="59084" y="102261"/>
                  </a:lnTo>
                  <a:lnTo>
                    <a:pt x="64452" y="84367"/>
                  </a:lnTo>
                  <a:lnTo>
                    <a:pt x="55333" y="58834"/>
                  </a:lnTo>
                  <a:lnTo>
                    <a:pt x="39426" y="36109"/>
                  </a:lnTo>
                  <a:lnTo>
                    <a:pt x="16702" y="31564"/>
                  </a:lnTo>
                  <a:lnTo>
                    <a:pt x="794" y="20202"/>
                  </a:lnTo>
                  <a:lnTo>
                    <a:pt x="5944" y="13336"/>
                  </a:lnTo>
                  <a:lnTo>
                    <a:pt x="0" y="909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199;p30">
              <a:extLst>
                <a:ext uri="{FF2B5EF4-FFF2-40B4-BE49-F238E27FC236}">
                  <a16:creationId xmlns:a16="http://schemas.microsoft.com/office/drawing/2014/main" id="{A8EEC715-B5F3-A909-9DE3-572D7B013AFE}"/>
                </a:ext>
              </a:extLst>
            </p:cNvPr>
            <p:cNvSpPr/>
            <p:nvPr/>
          </p:nvSpPr>
          <p:spPr>
            <a:xfrm>
              <a:off x="5846803" y="2620482"/>
              <a:ext cx="386888" cy="269695"/>
            </a:xfrm>
            <a:custGeom>
              <a:avLst/>
              <a:gdLst/>
              <a:ahLst/>
              <a:cxnLst/>
              <a:rect l="l" t="t" r="r" b="b"/>
              <a:pathLst>
                <a:path w="515850" h="359593" extrusionOk="0">
                  <a:moveTo>
                    <a:pt x="40905" y="31815"/>
                  </a:moveTo>
                  <a:lnTo>
                    <a:pt x="15908" y="40905"/>
                  </a:lnTo>
                  <a:lnTo>
                    <a:pt x="15204" y="44423"/>
                  </a:lnTo>
                  <a:lnTo>
                    <a:pt x="15908" y="43720"/>
                  </a:lnTo>
                  <a:lnTo>
                    <a:pt x="42414" y="35436"/>
                  </a:lnTo>
                  <a:close/>
                  <a:moveTo>
                    <a:pt x="224974" y="0"/>
                  </a:moveTo>
                  <a:lnTo>
                    <a:pt x="272696" y="24997"/>
                  </a:lnTo>
                  <a:lnTo>
                    <a:pt x="279514" y="63629"/>
                  </a:lnTo>
                  <a:lnTo>
                    <a:pt x="288604" y="74992"/>
                  </a:lnTo>
                  <a:lnTo>
                    <a:pt x="331780" y="68174"/>
                  </a:lnTo>
                  <a:lnTo>
                    <a:pt x="343143" y="79537"/>
                  </a:lnTo>
                  <a:lnTo>
                    <a:pt x="363595" y="127258"/>
                  </a:lnTo>
                  <a:lnTo>
                    <a:pt x="402227" y="161346"/>
                  </a:lnTo>
                  <a:lnTo>
                    <a:pt x="429496" y="181798"/>
                  </a:lnTo>
                  <a:lnTo>
                    <a:pt x="465856" y="209067"/>
                  </a:lnTo>
                  <a:lnTo>
                    <a:pt x="515850" y="224975"/>
                  </a:lnTo>
                  <a:lnTo>
                    <a:pt x="515850" y="236880"/>
                  </a:lnTo>
                  <a:lnTo>
                    <a:pt x="515850" y="252244"/>
                  </a:lnTo>
                  <a:lnTo>
                    <a:pt x="515850" y="264149"/>
                  </a:lnTo>
                  <a:lnTo>
                    <a:pt x="504488" y="264149"/>
                  </a:lnTo>
                  <a:lnTo>
                    <a:pt x="488581" y="252787"/>
                  </a:lnTo>
                  <a:lnTo>
                    <a:pt x="481763" y="268694"/>
                  </a:lnTo>
                  <a:lnTo>
                    <a:pt x="449949" y="275512"/>
                  </a:lnTo>
                  <a:lnTo>
                    <a:pt x="440859" y="311871"/>
                  </a:lnTo>
                  <a:lnTo>
                    <a:pt x="422679" y="327779"/>
                  </a:lnTo>
                  <a:lnTo>
                    <a:pt x="390865" y="334596"/>
                  </a:lnTo>
                  <a:lnTo>
                    <a:pt x="386320" y="355048"/>
                  </a:lnTo>
                  <a:lnTo>
                    <a:pt x="354505" y="359593"/>
                  </a:lnTo>
                  <a:lnTo>
                    <a:pt x="315873" y="343686"/>
                  </a:lnTo>
                  <a:lnTo>
                    <a:pt x="315873" y="331781"/>
                  </a:lnTo>
                  <a:lnTo>
                    <a:pt x="315873" y="307326"/>
                  </a:lnTo>
                  <a:lnTo>
                    <a:pt x="288604" y="300509"/>
                  </a:lnTo>
                  <a:lnTo>
                    <a:pt x="245427" y="264149"/>
                  </a:lnTo>
                  <a:lnTo>
                    <a:pt x="213612" y="257332"/>
                  </a:lnTo>
                  <a:lnTo>
                    <a:pt x="177253" y="236880"/>
                  </a:lnTo>
                  <a:lnTo>
                    <a:pt x="149983" y="232335"/>
                  </a:lnTo>
                  <a:lnTo>
                    <a:pt x="134076" y="236880"/>
                  </a:lnTo>
                  <a:lnTo>
                    <a:pt x="111351" y="236880"/>
                  </a:lnTo>
                  <a:lnTo>
                    <a:pt x="84082" y="264149"/>
                  </a:lnTo>
                  <a:lnTo>
                    <a:pt x="52267" y="275512"/>
                  </a:lnTo>
                  <a:lnTo>
                    <a:pt x="40905" y="241425"/>
                  </a:lnTo>
                  <a:lnTo>
                    <a:pt x="42095" y="233091"/>
                  </a:lnTo>
                  <a:lnTo>
                    <a:pt x="40905" y="229520"/>
                  </a:lnTo>
                  <a:lnTo>
                    <a:pt x="46152" y="192787"/>
                  </a:lnTo>
                  <a:lnTo>
                    <a:pt x="20452" y="177795"/>
                  </a:lnTo>
                  <a:lnTo>
                    <a:pt x="23971" y="167943"/>
                  </a:lnTo>
                  <a:lnTo>
                    <a:pt x="20452" y="165890"/>
                  </a:lnTo>
                  <a:lnTo>
                    <a:pt x="27911" y="145005"/>
                  </a:lnTo>
                  <a:lnTo>
                    <a:pt x="4545" y="139163"/>
                  </a:lnTo>
                  <a:lnTo>
                    <a:pt x="7996" y="128121"/>
                  </a:lnTo>
                  <a:lnTo>
                    <a:pt x="4545" y="127258"/>
                  </a:lnTo>
                  <a:lnTo>
                    <a:pt x="15908" y="90899"/>
                  </a:lnTo>
                  <a:lnTo>
                    <a:pt x="47722" y="102261"/>
                  </a:lnTo>
                  <a:lnTo>
                    <a:pt x="71537" y="88653"/>
                  </a:lnTo>
                  <a:lnTo>
                    <a:pt x="52267" y="70989"/>
                  </a:lnTo>
                  <a:lnTo>
                    <a:pt x="40905" y="43720"/>
                  </a:lnTo>
                  <a:lnTo>
                    <a:pt x="15908" y="52810"/>
                  </a:lnTo>
                  <a:lnTo>
                    <a:pt x="9090" y="86897"/>
                  </a:lnTo>
                  <a:lnTo>
                    <a:pt x="0" y="59627"/>
                  </a:lnTo>
                  <a:lnTo>
                    <a:pt x="2977" y="56651"/>
                  </a:lnTo>
                  <a:lnTo>
                    <a:pt x="0" y="47722"/>
                  </a:lnTo>
                  <a:lnTo>
                    <a:pt x="15908" y="31815"/>
                  </a:lnTo>
                  <a:lnTo>
                    <a:pt x="52267" y="20452"/>
                  </a:lnTo>
                  <a:lnTo>
                    <a:pt x="79537" y="31815"/>
                  </a:lnTo>
                  <a:lnTo>
                    <a:pt x="106806" y="68174"/>
                  </a:lnTo>
                  <a:lnTo>
                    <a:pt x="122713" y="68174"/>
                  </a:lnTo>
                  <a:lnTo>
                    <a:pt x="166467" y="68174"/>
                  </a:lnTo>
                  <a:lnTo>
                    <a:pt x="161345" y="52810"/>
                  </a:lnTo>
                  <a:lnTo>
                    <a:pt x="164747" y="51109"/>
                  </a:lnTo>
                  <a:lnTo>
                    <a:pt x="161345" y="40905"/>
                  </a:lnTo>
                  <a:lnTo>
                    <a:pt x="193160" y="2499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200;p30">
              <a:extLst>
                <a:ext uri="{FF2B5EF4-FFF2-40B4-BE49-F238E27FC236}">
                  <a16:creationId xmlns:a16="http://schemas.microsoft.com/office/drawing/2014/main" id="{30C9FC11-E402-7514-4487-F893DB294F79}"/>
                </a:ext>
              </a:extLst>
            </p:cNvPr>
            <p:cNvSpPr/>
            <p:nvPr/>
          </p:nvSpPr>
          <p:spPr>
            <a:xfrm>
              <a:off x="6068369" y="2770386"/>
              <a:ext cx="402226" cy="314089"/>
            </a:xfrm>
            <a:custGeom>
              <a:avLst/>
              <a:gdLst/>
              <a:ahLst/>
              <a:cxnLst/>
              <a:rect l="l" t="t" r="r" b="b"/>
              <a:pathLst>
                <a:path w="536301" h="418785" extrusionOk="0">
                  <a:moveTo>
                    <a:pt x="420069" y="91466"/>
                  </a:moveTo>
                  <a:lnTo>
                    <a:pt x="413588" y="93171"/>
                  </a:lnTo>
                  <a:lnTo>
                    <a:pt x="412499" y="94571"/>
                  </a:lnTo>
                  <a:lnTo>
                    <a:pt x="413588" y="96095"/>
                  </a:lnTo>
                  <a:close/>
                  <a:moveTo>
                    <a:pt x="374956" y="0"/>
                  </a:moveTo>
                  <a:lnTo>
                    <a:pt x="397681" y="11362"/>
                  </a:lnTo>
                  <a:lnTo>
                    <a:pt x="392638" y="23127"/>
                  </a:lnTo>
                  <a:lnTo>
                    <a:pt x="397681" y="25648"/>
                  </a:lnTo>
                  <a:lnTo>
                    <a:pt x="396986" y="27270"/>
                  </a:lnTo>
                  <a:lnTo>
                    <a:pt x="402226" y="27270"/>
                  </a:lnTo>
                  <a:lnTo>
                    <a:pt x="402226" y="41556"/>
                  </a:lnTo>
                  <a:lnTo>
                    <a:pt x="402226" y="65902"/>
                  </a:lnTo>
                  <a:lnTo>
                    <a:pt x="413588" y="81809"/>
                  </a:lnTo>
                  <a:lnTo>
                    <a:pt x="429495" y="70447"/>
                  </a:lnTo>
                  <a:lnTo>
                    <a:pt x="445403" y="65902"/>
                  </a:lnTo>
                  <a:lnTo>
                    <a:pt x="465855" y="49994"/>
                  </a:lnTo>
                  <a:lnTo>
                    <a:pt x="493124" y="49994"/>
                  </a:lnTo>
                  <a:lnTo>
                    <a:pt x="531756" y="49994"/>
                  </a:lnTo>
                  <a:lnTo>
                    <a:pt x="536301" y="65902"/>
                  </a:lnTo>
                  <a:lnTo>
                    <a:pt x="532463" y="66755"/>
                  </a:lnTo>
                  <a:lnTo>
                    <a:pt x="536301" y="80188"/>
                  </a:lnTo>
                  <a:lnTo>
                    <a:pt x="515849" y="84733"/>
                  </a:lnTo>
                  <a:lnTo>
                    <a:pt x="499942" y="91550"/>
                  </a:lnTo>
                  <a:lnTo>
                    <a:pt x="456765" y="96095"/>
                  </a:lnTo>
                  <a:lnTo>
                    <a:pt x="413588" y="107457"/>
                  </a:lnTo>
                  <a:lnTo>
                    <a:pt x="400666" y="124071"/>
                  </a:lnTo>
                  <a:lnTo>
                    <a:pt x="402226" y="129531"/>
                  </a:lnTo>
                  <a:lnTo>
                    <a:pt x="406771" y="152255"/>
                  </a:lnTo>
                  <a:lnTo>
                    <a:pt x="404498" y="155177"/>
                  </a:lnTo>
                  <a:lnTo>
                    <a:pt x="406771" y="166541"/>
                  </a:lnTo>
                  <a:lnTo>
                    <a:pt x="390863" y="186994"/>
                  </a:lnTo>
                  <a:lnTo>
                    <a:pt x="390863" y="188615"/>
                  </a:lnTo>
                  <a:lnTo>
                    <a:pt x="390863" y="202901"/>
                  </a:lnTo>
                  <a:lnTo>
                    <a:pt x="381774" y="218808"/>
                  </a:lnTo>
                  <a:lnTo>
                    <a:pt x="350731" y="215156"/>
                  </a:lnTo>
                  <a:lnTo>
                    <a:pt x="359049" y="231792"/>
                  </a:lnTo>
                  <a:lnTo>
                    <a:pt x="353459" y="234897"/>
                  </a:lnTo>
                  <a:lnTo>
                    <a:pt x="359049" y="246078"/>
                  </a:lnTo>
                  <a:lnTo>
                    <a:pt x="338597" y="257440"/>
                  </a:lnTo>
                  <a:lnTo>
                    <a:pt x="322690" y="284710"/>
                  </a:lnTo>
                  <a:lnTo>
                    <a:pt x="322690" y="297693"/>
                  </a:lnTo>
                  <a:lnTo>
                    <a:pt x="322690" y="311979"/>
                  </a:lnTo>
                  <a:lnTo>
                    <a:pt x="304510" y="321069"/>
                  </a:lnTo>
                  <a:lnTo>
                    <a:pt x="295420" y="316524"/>
                  </a:lnTo>
                  <a:lnTo>
                    <a:pt x="268151" y="321069"/>
                  </a:lnTo>
                  <a:lnTo>
                    <a:pt x="263606" y="339249"/>
                  </a:lnTo>
                  <a:lnTo>
                    <a:pt x="236336" y="339249"/>
                  </a:lnTo>
                  <a:lnTo>
                    <a:pt x="213612" y="359701"/>
                  </a:lnTo>
                  <a:lnTo>
                    <a:pt x="213612" y="384047"/>
                  </a:lnTo>
                  <a:lnTo>
                    <a:pt x="213612" y="398333"/>
                  </a:lnTo>
                  <a:lnTo>
                    <a:pt x="165890" y="414240"/>
                  </a:lnTo>
                  <a:lnTo>
                    <a:pt x="138620" y="407423"/>
                  </a:lnTo>
                  <a:lnTo>
                    <a:pt x="127258" y="418785"/>
                  </a:lnTo>
                  <a:lnTo>
                    <a:pt x="111351" y="414240"/>
                  </a:lnTo>
                  <a:lnTo>
                    <a:pt x="74991" y="418785"/>
                  </a:lnTo>
                  <a:lnTo>
                    <a:pt x="9090" y="398333"/>
                  </a:lnTo>
                  <a:lnTo>
                    <a:pt x="18986" y="387118"/>
                  </a:lnTo>
                  <a:lnTo>
                    <a:pt x="9090" y="384047"/>
                  </a:lnTo>
                  <a:lnTo>
                    <a:pt x="43177" y="345415"/>
                  </a:lnTo>
                  <a:lnTo>
                    <a:pt x="43177" y="332431"/>
                  </a:lnTo>
                  <a:lnTo>
                    <a:pt x="15907" y="327886"/>
                  </a:lnTo>
                  <a:lnTo>
                    <a:pt x="9090" y="296072"/>
                  </a:lnTo>
                  <a:lnTo>
                    <a:pt x="0" y="261985"/>
                  </a:lnTo>
                  <a:lnTo>
                    <a:pt x="2837" y="258337"/>
                  </a:lnTo>
                  <a:lnTo>
                    <a:pt x="0" y="247699"/>
                  </a:lnTo>
                  <a:lnTo>
                    <a:pt x="8764" y="236431"/>
                  </a:lnTo>
                  <a:lnTo>
                    <a:pt x="0" y="230170"/>
                  </a:lnTo>
                  <a:lnTo>
                    <a:pt x="3390" y="218306"/>
                  </a:lnTo>
                  <a:lnTo>
                    <a:pt x="0" y="215884"/>
                  </a:lnTo>
                  <a:lnTo>
                    <a:pt x="9090" y="184070"/>
                  </a:lnTo>
                  <a:lnTo>
                    <a:pt x="20452" y="129531"/>
                  </a:lnTo>
                  <a:lnTo>
                    <a:pt x="59084" y="145438"/>
                  </a:lnTo>
                  <a:lnTo>
                    <a:pt x="90899" y="140893"/>
                  </a:lnTo>
                  <a:lnTo>
                    <a:pt x="95444" y="120441"/>
                  </a:lnTo>
                  <a:lnTo>
                    <a:pt x="127258" y="113623"/>
                  </a:lnTo>
                  <a:lnTo>
                    <a:pt x="145438" y="97716"/>
                  </a:lnTo>
                  <a:lnTo>
                    <a:pt x="154528" y="65902"/>
                  </a:lnTo>
                  <a:lnTo>
                    <a:pt x="186342" y="54539"/>
                  </a:lnTo>
                  <a:lnTo>
                    <a:pt x="193160" y="38632"/>
                  </a:lnTo>
                  <a:lnTo>
                    <a:pt x="209067" y="49994"/>
                  </a:lnTo>
                  <a:lnTo>
                    <a:pt x="220429" y="49994"/>
                  </a:lnTo>
                  <a:lnTo>
                    <a:pt x="240881" y="49994"/>
                  </a:lnTo>
                  <a:lnTo>
                    <a:pt x="268151" y="61357"/>
                  </a:lnTo>
                  <a:lnTo>
                    <a:pt x="279513" y="70447"/>
                  </a:lnTo>
                  <a:lnTo>
                    <a:pt x="304510" y="54539"/>
                  </a:lnTo>
                  <a:lnTo>
                    <a:pt x="315872" y="61357"/>
                  </a:lnTo>
                  <a:lnTo>
                    <a:pt x="331779" y="43177"/>
                  </a:lnTo>
                  <a:lnTo>
                    <a:pt x="354504" y="43177"/>
                  </a:lnTo>
                  <a:lnTo>
                    <a:pt x="354504" y="38632"/>
                  </a:lnTo>
                  <a:lnTo>
                    <a:pt x="359049" y="1818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201;p30">
              <a:extLst>
                <a:ext uri="{FF2B5EF4-FFF2-40B4-BE49-F238E27FC236}">
                  <a16:creationId xmlns:a16="http://schemas.microsoft.com/office/drawing/2014/main" id="{177C3456-0357-3EBF-359B-14DBBE547095}"/>
                </a:ext>
              </a:extLst>
            </p:cNvPr>
            <p:cNvSpPr/>
            <p:nvPr/>
          </p:nvSpPr>
          <p:spPr>
            <a:xfrm>
              <a:off x="6257553" y="2683544"/>
              <a:ext cx="209636" cy="160697"/>
            </a:xfrm>
            <a:custGeom>
              <a:avLst/>
              <a:gdLst/>
              <a:ahLst/>
              <a:cxnLst/>
              <a:rect l="l" t="t" r="r" b="b"/>
              <a:pathLst>
                <a:path w="279514" h="214263" extrusionOk="0">
                  <a:moveTo>
                    <a:pt x="118169" y="0"/>
                  </a:moveTo>
                  <a:lnTo>
                    <a:pt x="115169" y="15000"/>
                  </a:lnTo>
                  <a:lnTo>
                    <a:pt x="118169" y="14286"/>
                  </a:lnTo>
                  <a:lnTo>
                    <a:pt x="115305" y="28607"/>
                  </a:lnTo>
                  <a:lnTo>
                    <a:pt x="118169" y="38632"/>
                  </a:lnTo>
                  <a:lnTo>
                    <a:pt x="134076" y="34087"/>
                  </a:lnTo>
                  <a:lnTo>
                    <a:pt x="118169" y="49994"/>
                  </a:lnTo>
                  <a:lnTo>
                    <a:pt x="117289" y="49839"/>
                  </a:lnTo>
                  <a:lnTo>
                    <a:pt x="118169" y="52918"/>
                  </a:lnTo>
                  <a:lnTo>
                    <a:pt x="134076" y="48373"/>
                  </a:lnTo>
                  <a:lnTo>
                    <a:pt x="118169" y="64280"/>
                  </a:lnTo>
                  <a:lnTo>
                    <a:pt x="79537" y="57463"/>
                  </a:lnTo>
                  <a:lnTo>
                    <a:pt x="77421" y="70161"/>
                  </a:lnTo>
                  <a:lnTo>
                    <a:pt x="113624" y="65902"/>
                  </a:lnTo>
                  <a:lnTo>
                    <a:pt x="161345" y="81809"/>
                  </a:lnTo>
                  <a:lnTo>
                    <a:pt x="231792" y="77264"/>
                  </a:lnTo>
                  <a:lnTo>
                    <a:pt x="240882" y="118168"/>
                  </a:lnTo>
                  <a:lnTo>
                    <a:pt x="252244" y="113623"/>
                  </a:lnTo>
                  <a:lnTo>
                    <a:pt x="272697" y="124986"/>
                  </a:lnTo>
                  <a:lnTo>
                    <a:pt x="272697" y="139272"/>
                  </a:lnTo>
                  <a:lnTo>
                    <a:pt x="272697" y="140893"/>
                  </a:lnTo>
                  <a:lnTo>
                    <a:pt x="279514" y="168163"/>
                  </a:lnTo>
                  <a:lnTo>
                    <a:pt x="275943" y="168163"/>
                  </a:lnTo>
                  <a:lnTo>
                    <a:pt x="279514" y="182449"/>
                  </a:lnTo>
                  <a:lnTo>
                    <a:pt x="240882" y="182449"/>
                  </a:lnTo>
                  <a:lnTo>
                    <a:pt x="213612" y="175631"/>
                  </a:lnTo>
                  <a:lnTo>
                    <a:pt x="193160" y="198356"/>
                  </a:lnTo>
                  <a:lnTo>
                    <a:pt x="177253" y="202901"/>
                  </a:lnTo>
                  <a:lnTo>
                    <a:pt x="161345" y="214263"/>
                  </a:lnTo>
                  <a:lnTo>
                    <a:pt x="149983" y="198356"/>
                  </a:lnTo>
                  <a:lnTo>
                    <a:pt x="149983" y="184070"/>
                  </a:lnTo>
                  <a:lnTo>
                    <a:pt x="149983" y="159724"/>
                  </a:lnTo>
                  <a:lnTo>
                    <a:pt x="138621" y="159724"/>
                  </a:lnTo>
                  <a:lnTo>
                    <a:pt x="144743" y="145438"/>
                  </a:lnTo>
                  <a:lnTo>
                    <a:pt x="138621" y="145438"/>
                  </a:lnTo>
                  <a:lnTo>
                    <a:pt x="140396" y="141296"/>
                  </a:lnTo>
                  <a:lnTo>
                    <a:pt x="122713" y="132454"/>
                  </a:lnTo>
                  <a:lnTo>
                    <a:pt x="106806" y="150634"/>
                  </a:lnTo>
                  <a:lnTo>
                    <a:pt x="102261" y="166541"/>
                  </a:lnTo>
                  <a:lnTo>
                    <a:pt x="102261" y="171086"/>
                  </a:lnTo>
                  <a:lnTo>
                    <a:pt x="79537" y="171086"/>
                  </a:lnTo>
                  <a:lnTo>
                    <a:pt x="63629" y="193811"/>
                  </a:lnTo>
                  <a:lnTo>
                    <a:pt x="52267" y="186994"/>
                  </a:lnTo>
                  <a:lnTo>
                    <a:pt x="27270" y="202901"/>
                  </a:lnTo>
                  <a:lnTo>
                    <a:pt x="15908" y="193811"/>
                  </a:lnTo>
                  <a:lnTo>
                    <a:pt x="20815" y="183451"/>
                  </a:lnTo>
                  <a:lnTo>
                    <a:pt x="15908" y="179525"/>
                  </a:lnTo>
                  <a:lnTo>
                    <a:pt x="35013" y="139190"/>
                  </a:lnTo>
                  <a:lnTo>
                    <a:pt x="31815" y="112002"/>
                  </a:lnTo>
                  <a:lnTo>
                    <a:pt x="0" y="100640"/>
                  </a:lnTo>
                  <a:lnTo>
                    <a:pt x="6623" y="88719"/>
                  </a:lnTo>
                  <a:lnTo>
                    <a:pt x="0" y="86354"/>
                  </a:lnTo>
                  <a:lnTo>
                    <a:pt x="11363" y="65902"/>
                  </a:lnTo>
                  <a:lnTo>
                    <a:pt x="43177" y="70447"/>
                  </a:lnTo>
                  <a:lnTo>
                    <a:pt x="59084" y="43177"/>
                  </a:lnTo>
                  <a:lnTo>
                    <a:pt x="70447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202;p30">
              <a:extLst>
                <a:ext uri="{FF2B5EF4-FFF2-40B4-BE49-F238E27FC236}">
                  <a16:creationId xmlns:a16="http://schemas.microsoft.com/office/drawing/2014/main" id="{CBA67F80-6DD5-E4B3-7C7B-784F7BE62156}"/>
                </a:ext>
              </a:extLst>
            </p:cNvPr>
            <p:cNvSpPr/>
            <p:nvPr/>
          </p:nvSpPr>
          <p:spPr>
            <a:xfrm>
              <a:off x="6312010" y="2596704"/>
              <a:ext cx="305405" cy="160697"/>
            </a:xfrm>
            <a:custGeom>
              <a:avLst/>
              <a:gdLst/>
              <a:ahLst/>
              <a:cxnLst/>
              <a:rect l="l" t="t" r="r" b="b"/>
              <a:pathLst>
                <a:path w="407206" h="214263" extrusionOk="0">
                  <a:moveTo>
                    <a:pt x="177253" y="0"/>
                  </a:moveTo>
                  <a:lnTo>
                    <a:pt x="224974" y="22725"/>
                  </a:lnTo>
                  <a:lnTo>
                    <a:pt x="240882" y="15907"/>
                  </a:lnTo>
                  <a:lnTo>
                    <a:pt x="299966" y="22725"/>
                  </a:lnTo>
                  <a:lnTo>
                    <a:pt x="359050" y="27270"/>
                  </a:lnTo>
                  <a:lnTo>
                    <a:pt x="377230" y="43177"/>
                  </a:lnTo>
                  <a:lnTo>
                    <a:pt x="397682" y="49994"/>
                  </a:lnTo>
                  <a:lnTo>
                    <a:pt x="393137" y="59084"/>
                  </a:lnTo>
                  <a:lnTo>
                    <a:pt x="392500" y="59378"/>
                  </a:lnTo>
                  <a:lnTo>
                    <a:pt x="407206" y="64280"/>
                  </a:lnTo>
                  <a:lnTo>
                    <a:pt x="402661" y="73370"/>
                  </a:lnTo>
                  <a:lnTo>
                    <a:pt x="343577" y="100640"/>
                  </a:lnTo>
                  <a:lnTo>
                    <a:pt x="332215" y="123364"/>
                  </a:lnTo>
                  <a:lnTo>
                    <a:pt x="284493" y="127909"/>
                  </a:lnTo>
                  <a:lnTo>
                    <a:pt x="273130" y="155179"/>
                  </a:lnTo>
                  <a:lnTo>
                    <a:pt x="229953" y="150634"/>
                  </a:lnTo>
                  <a:lnTo>
                    <a:pt x="207229" y="159724"/>
                  </a:lnTo>
                  <a:lnTo>
                    <a:pt x="170869" y="182449"/>
                  </a:lnTo>
                  <a:lnTo>
                    <a:pt x="175414" y="191538"/>
                  </a:lnTo>
                  <a:lnTo>
                    <a:pt x="166324" y="202901"/>
                  </a:lnTo>
                  <a:lnTo>
                    <a:pt x="95878" y="214263"/>
                  </a:lnTo>
                  <a:lnTo>
                    <a:pt x="48156" y="198356"/>
                  </a:lnTo>
                  <a:lnTo>
                    <a:pt x="9524" y="198356"/>
                  </a:lnTo>
                  <a:lnTo>
                    <a:pt x="11905" y="184070"/>
                  </a:lnTo>
                  <a:lnTo>
                    <a:pt x="0" y="184070"/>
                  </a:lnTo>
                  <a:lnTo>
                    <a:pt x="4545" y="156800"/>
                  </a:lnTo>
                  <a:lnTo>
                    <a:pt x="43177" y="168163"/>
                  </a:lnTo>
                  <a:lnTo>
                    <a:pt x="59084" y="152255"/>
                  </a:lnTo>
                  <a:lnTo>
                    <a:pt x="86354" y="156800"/>
                  </a:lnTo>
                  <a:lnTo>
                    <a:pt x="127705" y="129233"/>
                  </a:lnTo>
                  <a:lnTo>
                    <a:pt x="100423" y="112002"/>
                  </a:lnTo>
                  <a:lnTo>
                    <a:pt x="73153" y="123364"/>
                  </a:lnTo>
                  <a:lnTo>
                    <a:pt x="48156" y="107457"/>
                  </a:lnTo>
                  <a:lnTo>
                    <a:pt x="52972" y="102297"/>
                  </a:lnTo>
                  <a:lnTo>
                    <a:pt x="38632" y="93171"/>
                  </a:lnTo>
                  <a:lnTo>
                    <a:pt x="66525" y="63286"/>
                  </a:lnTo>
                  <a:lnTo>
                    <a:pt x="68624" y="58563"/>
                  </a:lnTo>
                  <a:lnTo>
                    <a:pt x="54539" y="54539"/>
                  </a:lnTo>
                  <a:lnTo>
                    <a:pt x="63629" y="34087"/>
                  </a:lnTo>
                  <a:lnTo>
                    <a:pt x="86354" y="27270"/>
                  </a:lnTo>
                  <a:lnTo>
                    <a:pt x="149983" y="43177"/>
                  </a:lnTo>
                  <a:lnTo>
                    <a:pt x="156800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203;p30">
              <a:extLst>
                <a:ext uri="{FF2B5EF4-FFF2-40B4-BE49-F238E27FC236}">
                  <a16:creationId xmlns:a16="http://schemas.microsoft.com/office/drawing/2014/main" id="{D992E79F-3BE6-FA9A-DC78-AD7342F06BB0}"/>
                </a:ext>
              </a:extLst>
            </p:cNvPr>
            <p:cNvSpPr/>
            <p:nvPr/>
          </p:nvSpPr>
          <p:spPr>
            <a:xfrm>
              <a:off x="5940461" y="2514977"/>
              <a:ext cx="479248" cy="310355"/>
            </a:xfrm>
            <a:custGeom>
              <a:avLst/>
              <a:gdLst/>
              <a:ahLst/>
              <a:cxnLst/>
              <a:rect l="l" t="t" r="r" b="b"/>
              <a:pathLst>
                <a:path w="638997" h="413806" extrusionOk="0">
                  <a:moveTo>
                    <a:pt x="102695" y="0"/>
                  </a:moveTo>
                  <a:lnTo>
                    <a:pt x="107240" y="4545"/>
                  </a:lnTo>
                  <a:lnTo>
                    <a:pt x="166324" y="36360"/>
                  </a:lnTo>
                  <a:lnTo>
                    <a:pt x="198139" y="59084"/>
                  </a:lnTo>
                  <a:lnTo>
                    <a:pt x="229953" y="106806"/>
                  </a:lnTo>
                  <a:lnTo>
                    <a:pt x="273130" y="95444"/>
                  </a:lnTo>
                  <a:lnTo>
                    <a:pt x="339032" y="90899"/>
                  </a:lnTo>
                  <a:lnTo>
                    <a:pt x="382209" y="127258"/>
                  </a:lnTo>
                  <a:lnTo>
                    <a:pt x="382209" y="177253"/>
                  </a:lnTo>
                  <a:lnTo>
                    <a:pt x="398116" y="177253"/>
                  </a:lnTo>
                  <a:lnTo>
                    <a:pt x="402661" y="220429"/>
                  </a:lnTo>
                  <a:lnTo>
                    <a:pt x="450383" y="220429"/>
                  </a:lnTo>
                  <a:lnTo>
                    <a:pt x="461745" y="247699"/>
                  </a:lnTo>
                  <a:lnTo>
                    <a:pt x="466104" y="247699"/>
                  </a:lnTo>
                  <a:lnTo>
                    <a:pt x="484035" y="213829"/>
                  </a:lnTo>
                  <a:lnTo>
                    <a:pt x="527212" y="182015"/>
                  </a:lnTo>
                  <a:lnTo>
                    <a:pt x="536736" y="177253"/>
                  </a:lnTo>
                  <a:lnTo>
                    <a:pt x="536736" y="177253"/>
                  </a:lnTo>
                  <a:lnTo>
                    <a:pt x="544525" y="173358"/>
                  </a:lnTo>
                  <a:lnTo>
                    <a:pt x="549937" y="170652"/>
                  </a:lnTo>
                  <a:lnTo>
                    <a:pt x="549937" y="170652"/>
                  </a:lnTo>
                  <a:lnTo>
                    <a:pt x="559461" y="165890"/>
                  </a:lnTo>
                  <a:lnTo>
                    <a:pt x="568551" y="170435"/>
                  </a:lnTo>
                  <a:lnTo>
                    <a:pt x="543553" y="204522"/>
                  </a:lnTo>
                  <a:lnTo>
                    <a:pt x="564006" y="220429"/>
                  </a:lnTo>
                  <a:lnTo>
                    <a:pt x="595820" y="209067"/>
                  </a:lnTo>
                  <a:lnTo>
                    <a:pt x="638997" y="236337"/>
                  </a:lnTo>
                  <a:lnTo>
                    <a:pt x="591275" y="268151"/>
                  </a:lnTo>
                  <a:lnTo>
                    <a:pt x="589370" y="267834"/>
                  </a:lnTo>
                  <a:lnTo>
                    <a:pt x="581751" y="272913"/>
                  </a:lnTo>
                  <a:lnTo>
                    <a:pt x="554482" y="268368"/>
                  </a:lnTo>
                  <a:lnTo>
                    <a:pt x="538574" y="272913"/>
                  </a:lnTo>
                  <a:lnTo>
                    <a:pt x="534029" y="257006"/>
                  </a:lnTo>
                  <a:lnTo>
                    <a:pt x="538574" y="234281"/>
                  </a:lnTo>
                  <a:lnTo>
                    <a:pt x="499403" y="243608"/>
                  </a:lnTo>
                  <a:lnTo>
                    <a:pt x="489014" y="272696"/>
                  </a:lnTo>
                  <a:lnTo>
                    <a:pt x="473107" y="299966"/>
                  </a:lnTo>
                  <a:lnTo>
                    <a:pt x="466880" y="299076"/>
                  </a:lnTo>
                  <a:lnTo>
                    <a:pt x="463583" y="304728"/>
                  </a:lnTo>
                  <a:lnTo>
                    <a:pt x="438141" y="301093"/>
                  </a:lnTo>
                  <a:lnTo>
                    <a:pt x="429930" y="315873"/>
                  </a:lnTo>
                  <a:lnTo>
                    <a:pt x="457200" y="327235"/>
                  </a:lnTo>
                  <a:lnTo>
                    <a:pt x="466290" y="365867"/>
                  </a:lnTo>
                  <a:lnTo>
                    <a:pt x="445838" y="409044"/>
                  </a:lnTo>
                  <a:lnTo>
                    <a:pt x="439767" y="406515"/>
                  </a:lnTo>
                  <a:lnTo>
                    <a:pt x="436314" y="413806"/>
                  </a:lnTo>
                  <a:lnTo>
                    <a:pt x="409044" y="402444"/>
                  </a:lnTo>
                  <a:lnTo>
                    <a:pt x="388592" y="402444"/>
                  </a:lnTo>
                  <a:lnTo>
                    <a:pt x="388592" y="375174"/>
                  </a:lnTo>
                  <a:lnTo>
                    <a:pt x="338598" y="359267"/>
                  </a:lnTo>
                  <a:lnTo>
                    <a:pt x="302238" y="331997"/>
                  </a:lnTo>
                  <a:lnTo>
                    <a:pt x="274969" y="311545"/>
                  </a:lnTo>
                  <a:lnTo>
                    <a:pt x="236337" y="277458"/>
                  </a:lnTo>
                  <a:lnTo>
                    <a:pt x="215884" y="229736"/>
                  </a:lnTo>
                  <a:lnTo>
                    <a:pt x="204522" y="218374"/>
                  </a:lnTo>
                  <a:lnTo>
                    <a:pt x="161345" y="225191"/>
                  </a:lnTo>
                  <a:lnTo>
                    <a:pt x="152255" y="213829"/>
                  </a:lnTo>
                  <a:lnTo>
                    <a:pt x="145438" y="175197"/>
                  </a:lnTo>
                  <a:lnTo>
                    <a:pt x="99794" y="151288"/>
                  </a:lnTo>
                  <a:lnTo>
                    <a:pt x="75426" y="170435"/>
                  </a:lnTo>
                  <a:lnTo>
                    <a:pt x="59298" y="178499"/>
                  </a:lnTo>
                  <a:lnTo>
                    <a:pt x="43611" y="186342"/>
                  </a:lnTo>
                  <a:lnTo>
                    <a:pt x="52701" y="213612"/>
                  </a:lnTo>
                  <a:lnTo>
                    <a:pt x="41590" y="213612"/>
                  </a:lnTo>
                  <a:lnTo>
                    <a:pt x="43177" y="218374"/>
                  </a:lnTo>
                  <a:lnTo>
                    <a:pt x="0" y="218374"/>
                  </a:lnTo>
                  <a:lnTo>
                    <a:pt x="0" y="29759"/>
                  </a:lnTo>
                  <a:lnTo>
                    <a:pt x="9524" y="27204"/>
                  </a:lnTo>
                  <a:lnTo>
                    <a:pt x="9524" y="2499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204;p30">
              <a:extLst>
                <a:ext uri="{FF2B5EF4-FFF2-40B4-BE49-F238E27FC236}">
                  <a16:creationId xmlns:a16="http://schemas.microsoft.com/office/drawing/2014/main" id="{5F7F527C-3B3C-2D96-E500-BD21CF4D01B4}"/>
                </a:ext>
              </a:extLst>
            </p:cNvPr>
            <p:cNvSpPr/>
            <p:nvPr/>
          </p:nvSpPr>
          <p:spPr>
            <a:xfrm>
              <a:off x="5674337" y="2085396"/>
              <a:ext cx="1137207" cy="620708"/>
            </a:xfrm>
            <a:custGeom>
              <a:avLst/>
              <a:gdLst/>
              <a:ahLst/>
              <a:cxnLst/>
              <a:rect l="l" t="t" r="r" b="b"/>
              <a:pathLst>
                <a:path w="1516276" h="827611" extrusionOk="0">
                  <a:moveTo>
                    <a:pt x="831722" y="0"/>
                  </a:moveTo>
                  <a:lnTo>
                    <a:pt x="897623" y="15907"/>
                  </a:lnTo>
                  <a:lnTo>
                    <a:pt x="898607" y="22795"/>
                  </a:lnTo>
                  <a:lnTo>
                    <a:pt x="909528" y="25431"/>
                  </a:lnTo>
                  <a:lnTo>
                    <a:pt x="916672" y="75436"/>
                  </a:lnTo>
                  <a:lnTo>
                    <a:pt x="945345" y="63629"/>
                  </a:lnTo>
                  <a:lnTo>
                    <a:pt x="993067" y="90899"/>
                  </a:lnTo>
                  <a:lnTo>
                    <a:pt x="992653" y="93383"/>
                  </a:lnTo>
                  <a:lnTo>
                    <a:pt x="1004972" y="100423"/>
                  </a:lnTo>
                  <a:lnTo>
                    <a:pt x="1002014" y="118168"/>
                  </a:lnTo>
                  <a:lnTo>
                    <a:pt x="1024881" y="118168"/>
                  </a:lnTo>
                  <a:lnTo>
                    <a:pt x="1118052" y="59084"/>
                  </a:lnTo>
                  <a:lnTo>
                    <a:pt x="1099873" y="79536"/>
                  </a:lnTo>
                  <a:lnTo>
                    <a:pt x="1104860" y="84523"/>
                  </a:lnTo>
                  <a:lnTo>
                    <a:pt x="1129957" y="68608"/>
                  </a:lnTo>
                  <a:lnTo>
                    <a:pt x="1111777" y="89060"/>
                  </a:lnTo>
                  <a:lnTo>
                    <a:pt x="1161772" y="139055"/>
                  </a:lnTo>
                  <a:lnTo>
                    <a:pt x="1233337" y="274006"/>
                  </a:lnTo>
                  <a:lnTo>
                    <a:pt x="1252127" y="247699"/>
                  </a:lnTo>
                  <a:lnTo>
                    <a:pt x="1304394" y="279513"/>
                  </a:lnTo>
                  <a:lnTo>
                    <a:pt x="1354388" y="263606"/>
                  </a:lnTo>
                  <a:lnTo>
                    <a:pt x="1374841" y="272696"/>
                  </a:lnTo>
                  <a:lnTo>
                    <a:pt x="1376974" y="277877"/>
                  </a:lnTo>
                  <a:lnTo>
                    <a:pt x="1386746" y="282220"/>
                  </a:lnTo>
                  <a:lnTo>
                    <a:pt x="1400385" y="315343"/>
                  </a:lnTo>
                  <a:lnTo>
                    <a:pt x="1418017" y="322690"/>
                  </a:lnTo>
                  <a:lnTo>
                    <a:pt x="1423269" y="329442"/>
                  </a:lnTo>
                  <a:lnTo>
                    <a:pt x="1429922" y="332214"/>
                  </a:lnTo>
                  <a:lnTo>
                    <a:pt x="1438112" y="342743"/>
                  </a:lnTo>
                  <a:lnTo>
                    <a:pt x="1481646" y="338597"/>
                  </a:lnTo>
                  <a:lnTo>
                    <a:pt x="1488774" y="348576"/>
                  </a:lnTo>
                  <a:lnTo>
                    <a:pt x="1493551" y="348121"/>
                  </a:lnTo>
                  <a:lnTo>
                    <a:pt x="1516276" y="379936"/>
                  </a:lnTo>
                  <a:lnTo>
                    <a:pt x="1484461" y="418568"/>
                  </a:lnTo>
                  <a:lnTo>
                    <a:pt x="1457192" y="423113"/>
                  </a:lnTo>
                  <a:lnTo>
                    <a:pt x="1450375" y="477652"/>
                  </a:lnTo>
                  <a:lnTo>
                    <a:pt x="1429922" y="502649"/>
                  </a:lnTo>
                  <a:lnTo>
                    <a:pt x="1359476" y="482197"/>
                  </a:lnTo>
                  <a:lnTo>
                    <a:pt x="1332206" y="579913"/>
                  </a:lnTo>
                  <a:lnTo>
                    <a:pt x="1316299" y="589002"/>
                  </a:lnTo>
                  <a:lnTo>
                    <a:pt x="1241308" y="611727"/>
                  </a:lnTo>
                  <a:lnTo>
                    <a:pt x="1273122" y="698081"/>
                  </a:lnTo>
                  <a:lnTo>
                    <a:pt x="1248125" y="713988"/>
                  </a:lnTo>
                  <a:lnTo>
                    <a:pt x="1252670" y="741258"/>
                  </a:lnTo>
                  <a:lnTo>
                    <a:pt x="1232218" y="734440"/>
                  </a:lnTo>
                  <a:lnTo>
                    <a:pt x="1221961" y="725466"/>
                  </a:lnTo>
                  <a:lnTo>
                    <a:pt x="1220313" y="724916"/>
                  </a:lnTo>
                  <a:lnTo>
                    <a:pt x="1212919" y="718447"/>
                  </a:lnTo>
                  <a:lnTo>
                    <a:pt x="1154954" y="713988"/>
                  </a:lnTo>
                  <a:lnTo>
                    <a:pt x="1095870" y="707171"/>
                  </a:lnTo>
                  <a:lnTo>
                    <a:pt x="1079963" y="713988"/>
                  </a:lnTo>
                  <a:lnTo>
                    <a:pt x="1032241" y="691263"/>
                  </a:lnTo>
                  <a:lnTo>
                    <a:pt x="1011789" y="702626"/>
                  </a:lnTo>
                  <a:lnTo>
                    <a:pt x="1004972" y="734440"/>
                  </a:lnTo>
                  <a:lnTo>
                    <a:pt x="941343" y="718533"/>
                  </a:lnTo>
                  <a:lnTo>
                    <a:pt x="918618" y="725350"/>
                  </a:lnTo>
                  <a:lnTo>
                    <a:pt x="909528" y="745802"/>
                  </a:lnTo>
                  <a:lnTo>
                    <a:pt x="886804" y="757165"/>
                  </a:lnTo>
                  <a:lnTo>
                    <a:pt x="843627" y="788979"/>
                  </a:lnTo>
                  <a:lnTo>
                    <a:pt x="823175" y="827611"/>
                  </a:lnTo>
                  <a:lnTo>
                    <a:pt x="811812" y="827611"/>
                  </a:lnTo>
                  <a:lnTo>
                    <a:pt x="807844" y="818087"/>
                  </a:lnTo>
                  <a:lnTo>
                    <a:pt x="799907" y="818087"/>
                  </a:lnTo>
                  <a:lnTo>
                    <a:pt x="792513" y="800342"/>
                  </a:lnTo>
                  <a:lnTo>
                    <a:pt x="752728" y="800342"/>
                  </a:lnTo>
                  <a:lnTo>
                    <a:pt x="751726" y="790818"/>
                  </a:lnTo>
                  <a:lnTo>
                    <a:pt x="740823" y="790818"/>
                  </a:lnTo>
                  <a:lnTo>
                    <a:pt x="737281" y="757165"/>
                  </a:lnTo>
                  <a:lnTo>
                    <a:pt x="732276" y="757165"/>
                  </a:lnTo>
                  <a:lnTo>
                    <a:pt x="732276" y="747641"/>
                  </a:lnTo>
                  <a:lnTo>
                    <a:pt x="720371" y="747641"/>
                  </a:lnTo>
                  <a:lnTo>
                    <a:pt x="720371" y="697647"/>
                  </a:lnTo>
                  <a:lnTo>
                    <a:pt x="688549" y="670849"/>
                  </a:lnTo>
                  <a:lnTo>
                    <a:pt x="623198" y="675356"/>
                  </a:lnTo>
                  <a:lnTo>
                    <a:pt x="580021" y="686718"/>
                  </a:lnTo>
                  <a:lnTo>
                    <a:pt x="572843" y="675951"/>
                  </a:lnTo>
                  <a:lnTo>
                    <a:pt x="568116" y="677194"/>
                  </a:lnTo>
                  <a:lnTo>
                    <a:pt x="537601" y="631421"/>
                  </a:lnTo>
                  <a:lnTo>
                    <a:pt x="516392" y="616272"/>
                  </a:lnTo>
                  <a:lnTo>
                    <a:pt x="457308" y="584458"/>
                  </a:lnTo>
                  <a:lnTo>
                    <a:pt x="452763" y="579913"/>
                  </a:lnTo>
                  <a:lnTo>
                    <a:pt x="359592" y="604910"/>
                  </a:lnTo>
                  <a:lnTo>
                    <a:pt x="359592" y="793524"/>
                  </a:lnTo>
                  <a:lnTo>
                    <a:pt x="339140" y="793524"/>
                  </a:lnTo>
                  <a:lnTo>
                    <a:pt x="333188" y="784000"/>
                  </a:lnTo>
                  <a:lnTo>
                    <a:pt x="327235" y="784000"/>
                  </a:lnTo>
                  <a:lnTo>
                    <a:pt x="308101" y="753385"/>
                  </a:lnTo>
                  <a:lnTo>
                    <a:pt x="291418" y="745802"/>
                  </a:lnTo>
                  <a:lnTo>
                    <a:pt x="248241" y="750347"/>
                  </a:lnTo>
                  <a:lnTo>
                    <a:pt x="232334" y="766255"/>
                  </a:lnTo>
                  <a:lnTo>
                    <a:pt x="232334" y="757165"/>
                  </a:lnTo>
                  <a:lnTo>
                    <a:pt x="235419" y="741740"/>
                  </a:lnTo>
                  <a:lnTo>
                    <a:pt x="220429" y="756731"/>
                  </a:lnTo>
                  <a:lnTo>
                    <a:pt x="220429" y="747641"/>
                  </a:lnTo>
                  <a:lnTo>
                    <a:pt x="224974" y="724916"/>
                  </a:lnTo>
                  <a:lnTo>
                    <a:pt x="222070" y="714751"/>
                  </a:lnTo>
                  <a:lnTo>
                    <a:pt x="189157" y="702626"/>
                  </a:lnTo>
                  <a:lnTo>
                    <a:pt x="187205" y="696768"/>
                  </a:lnTo>
                  <a:lnTo>
                    <a:pt x="177252" y="693102"/>
                  </a:lnTo>
                  <a:lnTo>
                    <a:pt x="162774" y="649666"/>
                  </a:lnTo>
                  <a:lnTo>
                    <a:pt x="150526" y="643542"/>
                  </a:lnTo>
                  <a:lnTo>
                    <a:pt x="150526" y="639970"/>
                  </a:lnTo>
                  <a:lnTo>
                    <a:pt x="138621" y="634018"/>
                  </a:lnTo>
                  <a:lnTo>
                    <a:pt x="138621" y="618110"/>
                  </a:lnTo>
                  <a:lnTo>
                    <a:pt x="177252" y="622655"/>
                  </a:lnTo>
                  <a:lnTo>
                    <a:pt x="177252" y="586296"/>
                  </a:lnTo>
                  <a:lnTo>
                    <a:pt x="209067" y="579478"/>
                  </a:lnTo>
                  <a:lnTo>
                    <a:pt x="240881" y="586296"/>
                  </a:lnTo>
                  <a:lnTo>
                    <a:pt x="245426" y="531757"/>
                  </a:lnTo>
                  <a:lnTo>
                    <a:pt x="242242" y="509466"/>
                  </a:lnTo>
                  <a:lnTo>
                    <a:pt x="214155" y="509466"/>
                  </a:lnTo>
                  <a:lnTo>
                    <a:pt x="182340" y="498104"/>
                  </a:lnTo>
                  <a:lnTo>
                    <a:pt x="139163" y="525373"/>
                  </a:lnTo>
                  <a:lnTo>
                    <a:pt x="107349" y="536736"/>
                  </a:lnTo>
                  <a:lnTo>
                    <a:pt x="86897" y="525373"/>
                  </a:lnTo>
                  <a:lnTo>
                    <a:pt x="87341" y="522710"/>
                  </a:lnTo>
                  <a:lnTo>
                    <a:pt x="74992" y="515849"/>
                  </a:lnTo>
                  <a:lnTo>
                    <a:pt x="79536" y="488580"/>
                  </a:lnTo>
                  <a:lnTo>
                    <a:pt x="64441" y="461744"/>
                  </a:lnTo>
                  <a:lnTo>
                    <a:pt x="36902" y="461744"/>
                  </a:lnTo>
                  <a:lnTo>
                    <a:pt x="29918" y="452220"/>
                  </a:lnTo>
                  <a:lnTo>
                    <a:pt x="24997" y="452220"/>
                  </a:lnTo>
                  <a:lnTo>
                    <a:pt x="0" y="418133"/>
                  </a:lnTo>
                  <a:lnTo>
                    <a:pt x="20452" y="374957"/>
                  </a:lnTo>
                  <a:lnTo>
                    <a:pt x="9090" y="365867"/>
                  </a:lnTo>
                  <a:lnTo>
                    <a:pt x="36360" y="299965"/>
                  </a:lnTo>
                  <a:lnTo>
                    <a:pt x="48178" y="309698"/>
                  </a:lnTo>
                  <a:lnTo>
                    <a:pt x="48265" y="309489"/>
                  </a:lnTo>
                  <a:lnTo>
                    <a:pt x="75024" y="331526"/>
                  </a:lnTo>
                  <a:lnTo>
                    <a:pt x="79536" y="295420"/>
                  </a:lnTo>
                  <a:lnTo>
                    <a:pt x="154528" y="231791"/>
                  </a:lnTo>
                  <a:lnTo>
                    <a:pt x="213612" y="224974"/>
                  </a:lnTo>
                  <a:lnTo>
                    <a:pt x="295421" y="268151"/>
                  </a:lnTo>
                  <a:lnTo>
                    <a:pt x="338597" y="295420"/>
                  </a:lnTo>
                  <a:lnTo>
                    <a:pt x="374957" y="268151"/>
                  </a:lnTo>
                  <a:lnTo>
                    <a:pt x="434041" y="263606"/>
                  </a:lnTo>
                  <a:lnTo>
                    <a:pt x="481763" y="295420"/>
                  </a:lnTo>
                  <a:lnTo>
                    <a:pt x="493125" y="279513"/>
                  </a:lnTo>
                  <a:lnTo>
                    <a:pt x="547664" y="284058"/>
                  </a:lnTo>
                  <a:lnTo>
                    <a:pt x="551981" y="253835"/>
                  </a:lnTo>
                  <a:lnTo>
                    <a:pt x="505030" y="223136"/>
                  </a:lnTo>
                  <a:lnTo>
                    <a:pt x="506367" y="222270"/>
                  </a:lnTo>
                  <a:lnTo>
                    <a:pt x="493125" y="213612"/>
                  </a:lnTo>
                  <a:lnTo>
                    <a:pt x="531757" y="188615"/>
                  </a:lnTo>
                  <a:lnTo>
                    <a:pt x="520394" y="165890"/>
                  </a:lnTo>
                  <a:lnTo>
                    <a:pt x="559026" y="149983"/>
                  </a:lnTo>
                  <a:lnTo>
                    <a:pt x="531757" y="111351"/>
                  </a:lnTo>
                  <a:lnTo>
                    <a:pt x="547664" y="90899"/>
                  </a:lnTo>
                  <a:lnTo>
                    <a:pt x="686284" y="70447"/>
                  </a:lnTo>
                  <a:lnTo>
                    <a:pt x="702192" y="52267"/>
                  </a:lnTo>
                  <a:lnTo>
                    <a:pt x="795363" y="2727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205;p30">
              <a:extLst>
                <a:ext uri="{FF2B5EF4-FFF2-40B4-BE49-F238E27FC236}">
                  <a16:creationId xmlns:a16="http://schemas.microsoft.com/office/drawing/2014/main" id="{6CAC6019-F6E7-B959-09E2-3B56C00F4529}"/>
                </a:ext>
              </a:extLst>
            </p:cNvPr>
            <p:cNvSpPr/>
            <p:nvPr/>
          </p:nvSpPr>
          <p:spPr>
            <a:xfrm>
              <a:off x="6816499" y="2238624"/>
              <a:ext cx="888209" cy="431770"/>
            </a:xfrm>
            <a:custGeom>
              <a:avLst/>
              <a:gdLst/>
              <a:ahLst/>
              <a:cxnLst/>
              <a:rect l="l" t="t" r="r" b="b"/>
              <a:pathLst>
                <a:path w="1184279" h="575693" extrusionOk="0">
                  <a:moveTo>
                    <a:pt x="406771" y="0"/>
                  </a:moveTo>
                  <a:lnTo>
                    <a:pt x="449948" y="27270"/>
                  </a:lnTo>
                  <a:lnTo>
                    <a:pt x="481762" y="31815"/>
                  </a:lnTo>
                  <a:lnTo>
                    <a:pt x="524939" y="47722"/>
                  </a:lnTo>
                  <a:lnTo>
                    <a:pt x="527292" y="62624"/>
                  </a:lnTo>
                  <a:lnTo>
                    <a:pt x="532082" y="64389"/>
                  </a:lnTo>
                  <a:lnTo>
                    <a:pt x="536600" y="93005"/>
                  </a:lnTo>
                  <a:lnTo>
                    <a:pt x="584023" y="113623"/>
                  </a:lnTo>
                  <a:lnTo>
                    <a:pt x="622655" y="102261"/>
                  </a:lnTo>
                  <a:lnTo>
                    <a:pt x="665832" y="97716"/>
                  </a:lnTo>
                  <a:lnTo>
                    <a:pt x="702191" y="102261"/>
                  </a:lnTo>
                  <a:lnTo>
                    <a:pt x="740823" y="129531"/>
                  </a:lnTo>
                  <a:lnTo>
                    <a:pt x="761275" y="161345"/>
                  </a:lnTo>
                  <a:lnTo>
                    <a:pt x="795362" y="161345"/>
                  </a:lnTo>
                  <a:lnTo>
                    <a:pt x="843084" y="165890"/>
                  </a:lnTo>
                  <a:lnTo>
                    <a:pt x="874898" y="156800"/>
                  </a:lnTo>
                  <a:lnTo>
                    <a:pt x="922620" y="145438"/>
                  </a:lnTo>
                  <a:lnTo>
                    <a:pt x="977159" y="106806"/>
                  </a:lnTo>
                  <a:lnTo>
                    <a:pt x="1004429" y="113623"/>
                  </a:lnTo>
                  <a:lnTo>
                    <a:pt x="1020336" y="129531"/>
                  </a:lnTo>
                  <a:lnTo>
                    <a:pt x="1063513" y="122713"/>
                  </a:lnTo>
                  <a:lnTo>
                    <a:pt x="1056552" y="141607"/>
                  </a:lnTo>
                  <a:lnTo>
                    <a:pt x="1070656" y="139380"/>
                  </a:lnTo>
                  <a:lnTo>
                    <a:pt x="1054749" y="182557"/>
                  </a:lnTo>
                  <a:lnTo>
                    <a:pt x="1027479" y="237096"/>
                  </a:lnTo>
                  <a:lnTo>
                    <a:pt x="1031859" y="247609"/>
                  </a:lnTo>
                  <a:lnTo>
                    <a:pt x="1052151" y="236336"/>
                  </a:lnTo>
                  <a:lnTo>
                    <a:pt x="1083965" y="247699"/>
                  </a:lnTo>
                  <a:lnTo>
                    <a:pt x="1118052" y="224974"/>
                  </a:lnTo>
                  <a:lnTo>
                    <a:pt x="1143049" y="243154"/>
                  </a:lnTo>
                  <a:lnTo>
                    <a:pt x="1177136" y="279513"/>
                  </a:lnTo>
                  <a:lnTo>
                    <a:pt x="1177136" y="288561"/>
                  </a:lnTo>
                  <a:lnTo>
                    <a:pt x="1184279" y="296180"/>
                  </a:lnTo>
                  <a:lnTo>
                    <a:pt x="1184279" y="318905"/>
                  </a:lnTo>
                  <a:lnTo>
                    <a:pt x="1150192" y="312087"/>
                  </a:lnTo>
                  <a:lnTo>
                    <a:pt x="1097925" y="318905"/>
                  </a:lnTo>
                  <a:lnTo>
                    <a:pt x="1070656" y="334812"/>
                  </a:lnTo>
                  <a:lnTo>
                    <a:pt x="1047931" y="371171"/>
                  </a:lnTo>
                  <a:lnTo>
                    <a:pt x="988847" y="387079"/>
                  </a:lnTo>
                  <a:lnTo>
                    <a:pt x="952488" y="414348"/>
                  </a:lnTo>
                  <a:lnTo>
                    <a:pt x="913856" y="402986"/>
                  </a:lnTo>
                  <a:lnTo>
                    <a:pt x="893404" y="398441"/>
                  </a:lnTo>
                  <a:lnTo>
                    <a:pt x="879238" y="432844"/>
                  </a:lnTo>
                  <a:lnTo>
                    <a:pt x="881716" y="436313"/>
                  </a:lnTo>
                  <a:lnTo>
                    <a:pt x="884891" y="447425"/>
                  </a:lnTo>
                  <a:lnTo>
                    <a:pt x="888859" y="452980"/>
                  </a:lnTo>
                  <a:lnTo>
                    <a:pt x="893404" y="468887"/>
                  </a:lnTo>
                  <a:lnTo>
                    <a:pt x="866134" y="489340"/>
                  </a:lnTo>
                  <a:lnTo>
                    <a:pt x="838865" y="512064"/>
                  </a:lnTo>
                  <a:lnTo>
                    <a:pt x="795688" y="532516"/>
                  </a:lnTo>
                  <a:lnTo>
                    <a:pt x="743421" y="532516"/>
                  </a:lnTo>
                  <a:lnTo>
                    <a:pt x="684337" y="548424"/>
                  </a:lnTo>
                  <a:lnTo>
                    <a:pt x="641160" y="575693"/>
                  </a:lnTo>
                  <a:lnTo>
                    <a:pt x="625253" y="559786"/>
                  </a:lnTo>
                  <a:lnTo>
                    <a:pt x="582076" y="559786"/>
                  </a:lnTo>
                  <a:lnTo>
                    <a:pt x="527537" y="532516"/>
                  </a:lnTo>
                  <a:lnTo>
                    <a:pt x="488905" y="523426"/>
                  </a:lnTo>
                  <a:lnTo>
                    <a:pt x="441183" y="532516"/>
                  </a:lnTo>
                  <a:lnTo>
                    <a:pt x="361647" y="523426"/>
                  </a:lnTo>
                  <a:lnTo>
                    <a:pt x="323015" y="523426"/>
                  </a:lnTo>
                  <a:lnTo>
                    <a:pt x="302563" y="489340"/>
                  </a:lnTo>
                  <a:lnTo>
                    <a:pt x="298018" y="477002"/>
                  </a:lnTo>
                  <a:lnTo>
                    <a:pt x="295420" y="472673"/>
                  </a:lnTo>
                  <a:lnTo>
                    <a:pt x="285574" y="445946"/>
                  </a:lnTo>
                  <a:lnTo>
                    <a:pt x="263931" y="441618"/>
                  </a:lnTo>
                  <a:lnTo>
                    <a:pt x="216210" y="409803"/>
                  </a:lnTo>
                  <a:lnTo>
                    <a:pt x="168488" y="398441"/>
                  </a:lnTo>
                  <a:lnTo>
                    <a:pt x="125311" y="393896"/>
                  </a:lnTo>
                  <a:lnTo>
                    <a:pt x="113949" y="371171"/>
                  </a:lnTo>
                  <a:lnTo>
                    <a:pt x="114262" y="369417"/>
                  </a:lnTo>
                  <a:lnTo>
                    <a:pt x="106806" y="354504"/>
                  </a:lnTo>
                  <a:lnTo>
                    <a:pt x="117422" y="295052"/>
                  </a:lnTo>
                  <a:lnTo>
                    <a:pt x="98042" y="264366"/>
                  </a:lnTo>
                  <a:lnTo>
                    <a:pt x="50320" y="241641"/>
                  </a:lnTo>
                  <a:lnTo>
                    <a:pt x="16233" y="216644"/>
                  </a:lnTo>
                  <a:lnTo>
                    <a:pt x="12983" y="202832"/>
                  </a:lnTo>
                  <a:lnTo>
                    <a:pt x="9090" y="199977"/>
                  </a:lnTo>
                  <a:lnTo>
                    <a:pt x="0" y="161345"/>
                  </a:lnTo>
                  <a:lnTo>
                    <a:pt x="43177" y="149983"/>
                  </a:lnTo>
                  <a:lnTo>
                    <a:pt x="106806" y="102261"/>
                  </a:lnTo>
                  <a:lnTo>
                    <a:pt x="165890" y="74991"/>
                  </a:lnTo>
                  <a:lnTo>
                    <a:pt x="197704" y="90899"/>
                  </a:lnTo>
                  <a:lnTo>
                    <a:pt x="236336" y="90899"/>
                  </a:lnTo>
                  <a:lnTo>
                    <a:pt x="263606" y="118168"/>
                  </a:lnTo>
                  <a:lnTo>
                    <a:pt x="295420" y="118168"/>
                  </a:lnTo>
                  <a:lnTo>
                    <a:pt x="347687" y="134075"/>
                  </a:lnTo>
                  <a:lnTo>
                    <a:pt x="385878" y="98131"/>
                  </a:lnTo>
                  <a:lnTo>
                    <a:pt x="377555" y="80296"/>
                  </a:lnTo>
                  <a:lnTo>
                    <a:pt x="377904" y="79685"/>
                  </a:lnTo>
                  <a:lnTo>
                    <a:pt x="370412" y="6362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206;p30">
              <a:extLst>
                <a:ext uri="{FF2B5EF4-FFF2-40B4-BE49-F238E27FC236}">
                  <a16:creationId xmlns:a16="http://schemas.microsoft.com/office/drawing/2014/main" id="{6E792C6F-D14D-2222-5D89-BE335738C506}"/>
                </a:ext>
              </a:extLst>
            </p:cNvPr>
            <p:cNvSpPr/>
            <p:nvPr/>
          </p:nvSpPr>
          <p:spPr>
            <a:xfrm>
              <a:off x="6606864" y="3041379"/>
              <a:ext cx="228708" cy="126367"/>
            </a:xfrm>
            <a:custGeom>
              <a:avLst/>
              <a:gdLst/>
              <a:ahLst/>
              <a:cxnLst/>
              <a:rect l="l" t="t" r="r" b="b"/>
              <a:pathLst>
                <a:path w="304944" h="168489" extrusionOk="0">
                  <a:moveTo>
                    <a:pt x="61791" y="0"/>
                  </a:moveTo>
                  <a:lnTo>
                    <a:pt x="89060" y="11363"/>
                  </a:lnTo>
                  <a:lnTo>
                    <a:pt x="127692" y="38632"/>
                  </a:lnTo>
                  <a:lnTo>
                    <a:pt x="148144" y="43177"/>
                  </a:lnTo>
                  <a:lnTo>
                    <a:pt x="159506" y="63630"/>
                  </a:lnTo>
                  <a:lnTo>
                    <a:pt x="191321" y="70447"/>
                  </a:lnTo>
                  <a:lnTo>
                    <a:pt x="218590" y="90899"/>
                  </a:lnTo>
                  <a:lnTo>
                    <a:pt x="261767" y="97717"/>
                  </a:lnTo>
                  <a:lnTo>
                    <a:pt x="304944" y="102262"/>
                  </a:lnTo>
                  <a:lnTo>
                    <a:pt x="298127" y="118169"/>
                  </a:lnTo>
                  <a:lnTo>
                    <a:pt x="304944" y="145439"/>
                  </a:lnTo>
                  <a:lnTo>
                    <a:pt x="298127" y="161346"/>
                  </a:lnTo>
                  <a:lnTo>
                    <a:pt x="291664" y="161346"/>
                  </a:lnTo>
                  <a:lnTo>
                    <a:pt x="288603" y="168489"/>
                  </a:lnTo>
                  <a:lnTo>
                    <a:pt x="256788" y="168489"/>
                  </a:lnTo>
                  <a:lnTo>
                    <a:pt x="213611" y="163944"/>
                  </a:lnTo>
                  <a:lnTo>
                    <a:pt x="186342" y="157127"/>
                  </a:lnTo>
                  <a:lnTo>
                    <a:pt x="165890" y="136674"/>
                  </a:lnTo>
                  <a:lnTo>
                    <a:pt x="118168" y="132129"/>
                  </a:lnTo>
                  <a:lnTo>
                    <a:pt x="68174" y="109405"/>
                  </a:lnTo>
                  <a:lnTo>
                    <a:pt x="36359" y="88952"/>
                  </a:lnTo>
                  <a:lnTo>
                    <a:pt x="0" y="70773"/>
                  </a:lnTo>
                  <a:lnTo>
                    <a:pt x="9090" y="34413"/>
                  </a:lnTo>
                  <a:lnTo>
                    <a:pt x="36359" y="11688"/>
                  </a:lnTo>
                  <a:lnTo>
                    <a:pt x="37809" y="11274"/>
                  </a:lnTo>
                  <a:lnTo>
                    <a:pt x="45883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207;p30">
              <a:extLst>
                <a:ext uri="{FF2B5EF4-FFF2-40B4-BE49-F238E27FC236}">
                  <a16:creationId xmlns:a16="http://schemas.microsoft.com/office/drawing/2014/main" id="{E7C6B9E3-6657-041C-5512-7435D3FCD672}"/>
                </a:ext>
              </a:extLst>
            </p:cNvPr>
            <p:cNvSpPr/>
            <p:nvPr/>
          </p:nvSpPr>
          <p:spPr>
            <a:xfrm>
              <a:off x="6278005" y="2871456"/>
              <a:ext cx="813301" cy="827963"/>
            </a:xfrm>
            <a:custGeom>
              <a:avLst/>
              <a:gdLst/>
              <a:ahLst/>
              <a:cxnLst/>
              <a:rect l="l" t="t" r="r" b="b"/>
              <a:pathLst>
                <a:path w="1084401" h="1103951" extrusionOk="0">
                  <a:moveTo>
                    <a:pt x="364030" y="0"/>
                  </a:moveTo>
                  <a:lnTo>
                    <a:pt x="400389" y="52267"/>
                  </a:lnTo>
                  <a:lnTo>
                    <a:pt x="400389" y="86354"/>
                  </a:lnTo>
                  <a:lnTo>
                    <a:pt x="411751" y="111351"/>
                  </a:lnTo>
                  <a:lnTo>
                    <a:pt x="411751" y="134076"/>
                  </a:lnTo>
                  <a:lnTo>
                    <a:pt x="402226" y="130901"/>
                  </a:lnTo>
                  <a:lnTo>
                    <a:pt x="402226" y="140426"/>
                  </a:lnTo>
                  <a:lnTo>
                    <a:pt x="392192" y="137081"/>
                  </a:lnTo>
                  <a:lnTo>
                    <a:pt x="395844" y="177252"/>
                  </a:lnTo>
                  <a:lnTo>
                    <a:pt x="434476" y="204522"/>
                  </a:lnTo>
                  <a:lnTo>
                    <a:pt x="486743" y="229519"/>
                  </a:lnTo>
                  <a:lnTo>
                    <a:pt x="459473" y="252244"/>
                  </a:lnTo>
                  <a:lnTo>
                    <a:pt x="450383" y="288603"/>
                  </a:lnTo>
                  <a:lnTo>
                    <a:pt x="482198" y="306783"/>
                  </a:lnTo>
                  <a:lnTo>
                    <a:pt x="518557" y="327235"/>
                  </a:lnTo>
                  <a:lnTo>
                    <a:pt x="568551" y="349960"/>
                  </a:lnTo>
                  <a:lnTo>
                    <a:pt x="616273" y="354505"/>
                  </a:lnTo>
                  <a:lnTo>
                    <a:pt x="636725" y="374957"/>
                  </a:lnTo>
                  <a:lnTo>
                    <a:pt x="663995" y="381774"/>
                  </a:lnTo>
                  <a:lnTo>
                    <a:pt x="713989" y="386319"/>
                  </a:lnTo>
                  <a:lnTo>
                    <a:pt x="732183" y="386319"/>
                  </a:lnTo>
                  <a:lnTo>
                    <a:pt x="736279" y="376762"/>
                  </a:lnTo>
                  <a:lnTo>
                    <a:pt x="729461" y="349492"/>
                  </a:lnTo>
                  <a:lnTo>
                    <a:pt x="736279" y="333585"/>
                  </a:lnTo>
                  <a:lnTo>
                    <a:pt x="745209" y="328624"/>
                  </a:lnTo>
                  <a:lnTo>
                    <a:pt x="745804" y="327235"/>
                  </a:lnTo>
                  <a:lnTo>
                    <a:pt x="766256" y="315873"/>
                  </a:lnTo>
                  <a:lnTo>
                    <a:pt x="773073" y="349960"/>
                  </a:lnTo>
                  <a:lnTo>
                    <a:pt x="773073" y="359050"/>
                  </a:lnTo>
                  <a:lnTo>
                    <a:pt x="804888" y="374957"/>
                  </a:lnTo>
                  <a:lnTo>
                    <a:pt x="825340" y="370412"/>
                  </a:lnTo>
                  <a:lnTo>
                    <a:pt x="857154" y="370412"/>
                  </a:lnTo>
                  <a:lnTo>
                    <a:pt x="881716" y="370412"/>
                  </a:lnTo>
                  <a:lnTo>
                    <a:pt x="881716" y="349492"/>
                  </a:lnTo>
                  <a:lnTo>
                    <a:pt x="863537" y="338130"/>
                  </a:lnTo>
                  <a:lnTo>
                    <a:pt x="879761" y="335967"/>
                  </a:lnTo>
                  <a:lnTo>
                    <a:pt x="873062" y="331780"/>
                  </a:lnTo>
                  <a:lnTo>
                    <a:pt x="903485" y="327724"/>
                  </a:lnTo>
                  <a:lnTo>
                    <a:pt x="929438" y="301771"/>
                  </a:lnTo>
                  <a:lnTo>
                    <a:pt x="938056" y="296328"/>
                  </a:lnTo>
                  <a:lnTo>
                    <a:pt x="938963" y="295421"/>
                  </a:lnTo>
                  <a:lnTo>
                    <a:pt x="982140" y="268151"/>
                  </a:lnTo>
                  <a:lnTo>
                    <a:pt x="1013955" y="279513"/>
                  </a:lnTo>
                  <a:lnTo>
                    <a:pt x="1041224" y="263606"/>
                  </a:lnTo>
                  <a:lnTo>
                    <a:pt x="1057131" y="288603"/>
                  </a:lnTo>
                  <a:lnTo>
                    <a:pt x="1045769" y="306783"/>
                  </a:lnTo>
                  <a:lnTo>
                    <a:pt x="1084401" y="311328"/>
                  </a:lnTo>
                  <a:lnTo>
                    <a:pt x="1084401" y="327235"/>
                  </a:lnTo>
                  <a:lnTo>
                    <a:pt x="1074876" y="331045"/>
                  </a:lnTo>
                  <a:lnTo>
                    <a:pt x="1074876" y="333585"/>
                  </a:lnTo>
                  <a:lnTo>
                    <a:pt x="1073436" y="334161"/>
                  </a:lnTo>
                  <a:lnTo>
                    <a:pt x="1077584" y="359050"/>
                  </a:lnTo>
                  <a:lnTo>
                    <a:pt x="1066471" y="355875"/>
                  </a:lnTo>
                  <a:lnTo>
                    <a:pt x="1068059" y="365400"/>
                  </a:lnTo>
                  <a:lnTo>
                    <a:pt x="1036898" y="356497"/>
                  </a:lnTo>
                  <a:lnTo>
                    <a:pt x="1002592" y="381774"/>
                  </a:lnTo>
                  <a:lnTo>
                    <a:pt x="1002592" y="402227"/>
                  </a:lnTo>
                  <a:lnTo>
                    <a:pt x="982140" y="440859"/>
                  </a:lnTo>
                  <a:lnTo>
                    <a:pt x="982140" y="456766"/>
                  </a:lnTo>
                  <a:lnTo>
                    <a:pt x="966233" y="488580"/>
                  </a:lnTo>
                  <a:lnTo>
                    <a:pt x="960280" y="487786"/>
                  </a:lnTo>
                  <a:lnTo>
                    <a:pt x="956708" y="494930"/>
                  </a:lnTo>
                  <a:lnTo>
                    <a:pt x="932146" y="491655"/>
                  </a:lnTo>
                  <a:lnTo>
                    <a:pt x="932146" y="520395"/>
                  </a:lnTo>
                  <a:lnTo>
                    <a:pt x="923056" y="536302"/>
                  </a:lnTo>
                  <a:lnTo>
                    <a:pt x="927601" y="552209"/>
                  </a:lnTo>
                  <a:lnTo>
                    <a:pt x="911694" y="563572"/>
                  </a:lnTo>
                  <a:lnTo>
                    <a:pt x="911575" y="563203"/>
                  </a:lnTo>
                  <a:lnTo>
                    <a:pt x="902169" y="569922"/>
                  </a:lnTo>
                  <a:lnTo>
                    <a:pt x="881716" y="506293"/>
                  </a:lnTo>
                  <a:lnTo>
                    <a:pt x="878292" y="506293"/>
                  </a:lnTo>
                  <a:lnTo>
                    <a:pt x="873062" y="527212"/>
                  </a:lnTo>
                  <a:lnTo>
                    <a:pt x="866850" y="520310"/>
                  </a:lnTo>
                  <a:lnTo>
                    <a:pt x="863537" y="533562"/>
                  </a:lnTo>
                  <a:lnTo>
                    <a:pt x="843085" y="510838"/>
                  </a:lnTo>
                  <a:lnTo>
                    <a:pt x="858992" y="490385"/>
                  </a:lnTo>
                  <a:lnTo>
                    <a:pt x="865871" y="487437"/>
                  </a:lnTo>
                  <a:lnTo>
                    <a:pt x="868517" y="484035"/>
                  </a:lnTo>
                  <a:lnTo>
                    <a:pt x="876342" y="480682"/>
                  </a:lnTo>
                  <a:lnTo>
                    <a:pt x="890806" y="451754"/>
                  </a:lnTo>
                  <a:lnTo>
                    <a:pt x="870354" y="447209"/>
                  </a:lnTo>
                  <a:lnTo>
                    <a:pt x="838540" y="447209"/>
                  </a:lnTo>
                  <a:lnTo>
                    <a:pt x="799908" y="440391"/>
                  </a:lnTo>
                  <a:lnTo>
                    <a:pt x="795363" y="408577"/>
                  </a:lnTo>
                  <a:lnTo>
                    <a:pt x="779456" y="408577"/>
                  </a:lnTo>
                  <a:lnTo>
                    <a:pt x="756529" y="395203"/>
                  </a:lnTo>
                  <a:lnTo>
                    <a:pt x="745804" y="413589"/>
                  </a:lnTo>
                  <a:lnTo>
                    <a:pt x="773073" y="434041"/>
                  </a:lnTo>
                  <a:lnTo>
                    <a:pt x="750349" y="449948"/>
                  </a:lnTo>
                  <a:lnTo>
                    <a:pt x="738986" y="461311"/>
                  </a:lnTo>
                  <a:lnTo>
                    <a:pt x="766256" y="477218"/>
                  </a:lnTo>
                  <a:lnTo>
                    <a:pt x="761711" y="499943"/>
                  </a:lnTo>
                  <a:lnTo>
                    <a:pt x="773073" y="531757"/>
                  </a:lnTo>
                  <a:lnTo>
                    <a:pt x="777618" y="559027"/>
                  </a:lnTo>
                  <a:lnTo>
                    <a:pt x="773073" y="574934"/>
                  </a:lnTo>
                  <a:lnTo>
                    <a:pt x="765362" y="574934"/>
                  </a:lnTo>
                  <a:lnTo>
                    <a:pt x="763548" y="581284"/>
                  </a:lnTo>
                  <a:lnTo>
                    <a:pt x="736279" y="581284"/>
                  </a:lnTo>
                  <a:lnTo>
                    <a:pt x="702627" y="590140"/>
                  </a:lnTo>
                  <a:lnTo>
                    <a:pt x="702627" y="611294"/>
                  </a:lnTo>
                  <a:lnTo>
                    <a:pt x="686720" y="634018"/>
                  </a:lnTo>
                  <a:lnTo>
                    <a:pt x="678905" y="637926"/>
                  </a:lnTo>
                  <a:lnTo>
                    <a:pt x="677195" y="640368"/>
                  </a:lnTo>
                  <a:lnTo>
                    <a:pt x="629557" y="664187"/>
                  </a:lnTo>
                  <a:lnTo>
                    <a:pt x="589004" y="709010"/>
                  </a:lnTo>
                  <a:lnTo>
                    <a:pt x="561734" y="731734"/>
                  </a:lnTo>
                  <a:lnTo>
                    <a:pt x="525375" y="756731"/>
                  </a:lnTo>
                  <a:lnTo>
                    <a:pt x="525375" y="774911"/>
                  </a:lnTo>
                  <a:lnTo>
                    <a:pt x="515850" y="780354"/>
                  </a:lnTo>
                  <a:lnTo>
                    <a:pt x="515850" y="781261"/>
                  </a:lnTo>
                  <a:lnTo>
                    <a:pt x="499942" y="790351"/>
                  </a:lnTo>
                  <a:lnTo>
                    <a:pt x="461310" y="806258"/>
                  </a:lnTo>
                  <a:lnTo>
                    <a:pt x="452282" y="806258"/>
                  </a:lnTo>
                  <a:lnTo>
                    <a:pt x="443566" y="827178"/>
                  </a:lnTo>
                  <a:lnTo>
                    <a:pt x="454928" y="874900"/>
                  </a:lnTo>
                  <a:lnTo>
                    <a:pt x="454928" y="908987"/>
                  </a:lnTo>
                  <a:lnTo>
                    <a:pt x="439021" y="945346"/>
                  </a:lnTo>
                  <a:lnTo>
                    <a:pt x="439021" y="1004430"/>
                  </a:lnTo>
                  <a:lnTo>
                    <a:pt x="429496" y="1007288"/>
                  </a:lnTo>
                  <a:lnTo>
                    <a:pt x="429496" y="1010780"/>
                  </a:lnTo>
                  <a:lnTo>
                    <a:pt x="413549" y="1015564"/>
                  </a:lnTo>
                  <a:lnTo>
                    <a:pt x="400389" y="1036245"/>
                  </a:lnTo>
                  <a:lnTo>
                    <a:pt x="411751" y="1047607"/>
                  </a:lnTo>
                  <a:lnTo>
                    <a:pt x="400054" y="1051785"/>
                  </a:lnTo>
                  <a:lnTo>
                    <a:pt x="402226" y="1053957"/>
                  </a:lnTo>
                  <a:lnTo>
                    <a:pt x="378494" y="1062433"/>
                  </a:lnTo>
                  <a:lnTo>
                    <a:pt x="368574" y="1086239"/>
                  </a:lnTo>
                  <a:lnTo>
                    <a:pt x="352667" y="1097601"/>
                  </a:lnTo>
                  <a:lnTo>
                    <a:pt x="352432" y="1097316"/>
                  </a:lnTo>
                  <a:lnTo>
                    <a:pt x="343142" y="1103951"/>
                  </a:lnTo>
                  <a:lnTo>
                    <a:pt x="311328" y="1065319"/>
                  </a:lnTo>
                  <a:lnTo>
                    <a:pt x="288603" y="1017598"/>
                  </a:lnTo>
                  <a:lnTo>
                    <a:pt x="279513" y="978966"/>
                  </a:lnTo>
                  <a:lnTo>
                    <a:pt x="263606" y="958513"/>
                  </a:lnTo>
                  <a:lnTo>
                    <a:pt x="245426" y="924426"/>
                  </a:lnTo>
                  <a:lnTo>
                    <a:pt x="236336" y="876705"/>
                  </a:lnTo>
                  <a:lnTo>
                    <a:pt x="229519" y="856252"/>
                  </a:lnTo>
                  <a:lnTo>
                    <a:pt x="197704" y="801713"/>
                  </a:lnTo>
                  <a:lnTo>
                    <a:pt x="181797" y="726722"/>
                  </a:lnTo>
                  <a:lnTo>
                    <a:pt x="170435" y="679000"/>
                  </a:lnTo>
                  <a:lnTo>
                    <a:pt x="170435" y="635823"/>
                  </a:lnTo>
                  <a:lnTo>
                    <a:pt x="165890" y="597191"/>
                  </a:lnTo>
                  <a:lnTo>
                    <a:pt x="111351" y="617644"/>
                  </a:lnTo>
                  <a:lnTo>
                    <a:pt x="86354" y="613099"/>
                  </a:lnTo>
                  <a:lnTo>
                    <a:pt x="36359" y="565377"/>
                  </a:lnTo>
                  <a:lnTo>
                    <a:pt x="52267" y="554014"/>
                  </a:lnTo>
                  <a:lnTo>
                    <a:pt x="43177" y="538107"/>
                  </a:lnTo>
                  <a:lnTo>
                    <a:pt x="0" y="499475"/>
                  </a:lnTo>
                  <a:lnTo>
                    <a:pt x="24997" y="479023"/>
                  </a:lnTo>
                  <a:lnTo>
                    <a:pt x="26761" y="479023"/>
                  </a:lnTo>
                  <a:lnTo>
                    <a:pt x="34522" y="472673"/>
                  </a:lnTo>
                  <a:lnTo>
                    <a:pt x="104938" y="472673"/>
                  </a:lnTo>
                  <a:lnTo>
                    <a:pt x="95444" y="440391"/>
                  </a:lnTo>
                  <a:lnTo>
                    <a:pt x="74991" y="419939"/>
                  </a:lnTo>
                  <a:lnTo>
                    <a:pt x="68174" y="392669"/>
                  </a:lnTo>
                  <a:lnTo>
                    <a:pt x="47722" y="372217"/>
                  </a:lnTo>
                  <a:lnTo>
                    <a:pt x="90899" y="329040"/>
                  </a:lnTo>
                  <a:lnTo>
                    <a:pt x="93772" y="329343"/>
                  </a:lnTo>
                  <a:lnTo>
                    <a:pt x="100424" y="322690"/>
                  </a:lnTo>
                  <a:lnTo>
                    <a:pt x="139763" y="326831"/>
                  </a:lnTo>
                  <a:lnTo>
                    <a:pt x="170435" y="290408"/>
                  </a:lnTo>
                  <a:lnTo>
                    <a:pt x="193160" y="247232"/>
                  </a:lnTo>
                  <a:lnTo>
                    <a:pt x="229519" y="204055"/>
                  </a:lnTo>
                  <a:lnTo>
                    <a:pt x="229519" y="172240"/>
                  </a:lnTo>
                  <a:lnTo>
                    <a:pt x="256789" y="151788"/>
                  </a:lnTo>
                  <a:lnTo>
                    <a:pt x="229519" y="124518"/>
                  </a:lnTo>
                  <a:lnTo>
                    <a:pt x="220429" y="97249"/>
                  </a:lnTo>
                  <a:lnTo>
                    <a:pt x="204522" y="58617"/>
                  </a:lnTo>
                  <a:lnTo>
                    <a:pt x="220429" y="38165"/>
                  </a:lnTo>
                  <a:lnTo>
                    <a:pt x="224419" y="38932"/>
                  </a:lnTo>
                  <a:lnTo>
                    <a:pt x="229954" y="31815"/>
                  </a:lnTo>
                  <a:lnTo>
                    <a:pt x="289038" y="43177"/>
                  </a:lnTo>
                  <a:lnTo>
                    <a:pt x="327610" y="37087"/>
                  </a:lnTo>
                  <a:lnTo>
                    <a:pt x="354505" y="6350"/>
                  </a:lnTo>
                  <a:lnTo>
                    <a:pt x="356263" y="887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208;p30">
              <a:extLst>
                <a:ext uri="{FF2B5EF4-FFF2-40B4-BE49-F238E27FC236}">
                  <a16:creationId xmlns:a16="http://schemas.microsoft.com/office/drawing/2014/main" id="{7FBBC025-36B4-EAA8-6A7A-C54B8B4A61C2}"/>
                </a:ext>
              </a:extLst>
            </p:cNvPr>
            <p:cNvSpPr/>
            <p:nvPr/>
          </p:nvSpPr>
          <p:spPr>
            <a:xfrm>
              <a:off x="5821237" y="3179677"/>
              <a:ext cx="136511" cy="112650"/>
            </a:xfrm>
            <a:custGeom>
              <a:avLst/>
              <a:gdLst/>
              <a:ahLst/>
              <a:cxnLst/>
              <a:rect l="l" t="t" r="r" b="b"/>
              <a:pathLst>
                <a:path w="182014" h="150200" extrusionOk="0">
                  <a:moveTo>
                    <a:pt x="168162" y="0"/>
                  </a:moveTo>
                  <a:lnTo>
                    <a:pt x="170781" y="6548"/>
                  </a:lnTo>
                  <a:lnTo>
                    <a:pt x="172924" y="4762"/>
                  </a:lnTo>
                  <a:lnTo>
                    <a:pt x="177469" y="16125"/>
                  </a:lnTo>
                  <a:lnTo>
                    <a:pt x="182014" y="47939"/>
                  </a:lnTo>
                  <a:lnTo>
                    <a:pt x="161562" y="47939"/>
                  </a:lnTo>
                  <a:lnTo>
                    <a:pt x="161562" y="75209"/>
                  </a:lnTo>
                  <a:lnTo>
                    <a:pt x="166107" y="79754"/>
                  </a:lnTo>
                  <a:lnTo>
                    <a:pt x="150200" y="91116"/>
                  </a:lnTo>
                  <a:lnTo>
                    <a:pt x="150200" y="107023"/>
                  </a:lnTo>
                  <a:lnTo>
                    <a:pt x="141110" y="122931"/>
                  </a:lnTo>
                  <a:lnTo>
                    <a:pt x="134293" y="138838"/>
                  </a:lnTo>
                  <a:lnTo>
                    <a:pt x="129748" y="150200"/>
                  </a:lnTo>
                  <a:lnTo>
                    <a:pt x="20669" y="129748"/>
                  </a:lnTo>
                  <a:lnTo>
                    <a:pt x="19138" y="125592"/>
                  </a:lnTo>
                  <a:lnTo>
                    <a:pt x="15907" y="124986"/>
                  </a:lnTo>
                  <a:lnTo>
                    <a:pt x="0" y="81809"/>
                  </a:lnTo>
                  <a:lnTo>
                    <a:pt x="0" y="70447"/>
                  </a:lnTo>
                  <a:lnTo>
                    <a:pt x="6818" y="70447"/>
                  </a:lnTo>
                  <a:lnTo>
                    <a:pt x="6818" y="75209"/>
                  </a:lnTo>
                  <a:lnTo>
                    <a:pt x="11580" y="75209"/>
                  </a:lnTo>
                  <a:lnTo>
                    <a:pt x="11580" y="80789"/>
                  </a:lnTo>
                  <a:lnTo>
                    <a:pt x="38632" y="74992"/>
                  </a:lnTo>
                  <a:lnTo>
                    <a:pt x="65902" y="74992"/>
                  </a:lnTo>
                  <a:lnTo>
                    <a:pt x="86354" y="74992"/>
                  </a:lnTo>
                  <a:lnTo>
                    <a:pt x="113623" y="47722"/>
                  </a:lnTo>
                  <a:lnTo>
                    <a:pt x="140893" y="22725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209;p30">
              <a:extLst>
                <a:ext uri="{FF2B5EF4-FFF2-40B4-BE49-F238E27FC236}">
                  <a16:creationId xmlns:a16="http://schemas.microsoft.com/office/drawing/2014/main" id="{31AC6AAD-D883-30CE-B9C4-17ED38F9A0D7}"/>
                </a:ext>
              </a:extLst>
            </p:cNvPr>
            <p:cNvSpPr/>
            <p:nvPr/>
          </p:nvSpPr>
          <p:spPr>
            <a:xfrm>
              <a:off x="5833168" y="3167746"/>
              <a:ext cx="214748" cy="291446"/>
            </a:xfrm>
            <a:custGeom>
              <a:avLst/>
              <a:gdLst/>
              <a:ahLst/>
              <a:cxnLst/>
              <a:rect l="l" t="t" r="r" b="b"/>
              <a:pathLst>
                <a:path w="126" h="171" extrusionOk="0">
                  <a:moveTo>
                    <a:pt x="109" y="95"/>
                  </a:moveTo>
                  <a:lnTo>
                    <a:pt x="109" y="95"/>
                  </a:lnTo>
                  <a:lnTo>
                    <a:pt x="105" y="107"/>
                  </a:lnTo>
                  <a:lnTo>
                    <a:pt x="97" y="104"/>
                  </a:lnTo>
                  <a:lnTo>
                    <a:pt x="93" y="109"/>
                  </a:lnTo>
                  <a:lnTo>
                    <a:pt x="90" y="118"/>
                  </a:lnTo>
                  <a:lnTo>
                    <a:pt x="93" y="128"/>
                  </a:lnTo>
                  <a:lnTo>
                    <a:pt x="90" y="130"/>
                  </a:lnTo>
                  <a:lnTo>
                    <a:pt x="83" y="130"/>
                  </a:lnTo>
                  <a:lnTo>
                    <a:pt x="74" y="137"/>
                  </a:lnTo>
                  <a:lnTo>
                    <a:pt x="71" y="147"/>
                  </a:lnTo>
                  <a:lnTo>
                    <a:pt x="69" y="149"/>
                  </a:lnTo>
                  <a:lnTo>
                    <a:pt x="60" y="149"/>
                  </a:lnTo>
                  <a:lnTo>
                    <a:pt x="53" y="154"/>
                  </a:lnTo>
                  <a:lnTo>
                    <a:pt x="53" y="161"/>
                  </a:lnTo>
                  <a:lnTo>
                    <a:pt x="45" y="166"/>
                  </a:lnTo>
                  <a:lnTo>
                    <a:pt x="36" y="163"/>
                  </a:lnTo>
                  <a:lnTo>
                    <a:pt x="24" y="168"/>
                  </a:lnTo>
                  <a:lnTo>
                    <a:pt x="17" y="171"/>
                  </a:lnTo>
                  <a:lnTo>
                    <a:pt x="12" y="159"/>
                  </a:lnTo>
                  <a:lnTo>
                    <a:pt x="0" y="130"/>
                  </a:lnTo>
                  <a:lnTo>
                    <a:pt x="48" y="114"/>
                  </a:lnTo>
                  <a:lnTo>
                    <a:pt x="60" y="78"/>
                  </a:lnTo>
                  <a:lnTo>
                    <a:pt x="50" y="66"/>
                  </a:lnTo>
                  <a:lnTo>
                    <a:pt x="53" y="59"/>
                  </a:lnTo>
                  <a:lnTo>
                    <a:pt x="57" y="52"/>
                  </a:lnTo>
                  <a:lnTo>
                    <a:pt x="57" y="45"/>
                  </a:lnTo>
                  <a:lnTo>
                    <a:pt x="62" y="40"/>
                  </a:lnTo>
                  <a:lnTo>
                    <a:pt x="60" y="38"/>
                  </a:lnTo>
                  <a:lnTo>
                    <a:pt x="62" y="28"/>
                  </a:lnTo>
                  <a:lnTo>
                    <a:pt x="69" y="28"/>
                  </a:lnTo>
                  <a:lnTo>
                    <a:pt x="79" y="40"/>
                  </a:lnTo>
                  <a:lnTo>
                    <a:pt x="86" y="45"/>
                  </a:lnTo>
                  <a:lnTo>
                    <a:pt x="97" y="47"/>
                  </a:lnTo>
                  <a:lnTo>
                    <a:pt x="107" y="52"/>
                  </a:lnTo>
                  <a:lnTo>
                    <a:pt x="114" y="62"/>
                  </a:lnTo>
                  <a:lnTo>
                    <a:pt x="119" y="66"/>
                  </a:lnTo>
                  <a:lnTo>
                    <a:pt x="126" y="69"/>
                  </a:lnTo>
                  <a:lnTo>
                    <a:pt x="126" y="73"/>
                  </a:lnTo>
                  <a:lnTo>
                    <a:pt x="119" y="83"/>
                  </a:lnTo>
                  <a:lnTo>
                    <a:pt x="116" y="88"/>
                  </a:lnTo>
                  <a:lnTo>
                    <a:pt x="109" y="95"/>
                  </a:lnTo>
                  <a:moveTo>
                    <a:pt x="69" y="10"/>
                  </a:moveTo>
                  <a:lnTo>
                    <a:pt x="69" y="10"/>
                  </a:lnTo>
                  <a:lnTo>
                    <a:pt x="67" y="12"/>
                  </a:lnTo>
                  <a:lnTo>
                    <a:pt x="64" y="7"/>
                  </a:lnTo>
                  <a:lnTo>
                    <a:pt x="69" y="0"/>
                  </a:lnTo>
                  <a:lnTo>
                    <a:pt x="71" y="2"/>
                  </a:lnTo>
                  <a:lnTo>
                    <a:pt x="69" y="10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210;p30">
              <a:extLst>
                <a:ext uri="{FF2B5EF4-FFF2-40B4-BE49-F238E27FC236}">
                  <a16:creationId xmlns:a16="http://schemas.microsoft.com/office/drawing/2014/main" id="{A93ABE11-FBCD-5F46-4B45-9D56F9619F3B}"/>
                </a:ext>
              </a:extLst>
            </p:cNvPr>
            <p:cNvSpPr/>
            <p:nvPr/>
          </p:nvSpPr>
          <p:spPr>
            <a:xfrm>
              <a:off x="5572402" y="3387526"/>
              <a:ext cx="295096" cy="184151"/>
            </a:xfrm>
            <a:custGeom>
              <a:avLst/>
              <a:gdLst/>
              <a:ahLst/>
              <a:cxnLst/>
              <a:rect l="l" t="t" r="r" b="b"/>
              <a:pathLst>
                <a:path w="393462" h="245535" extrusionOk="0">
                  <a:moveTo>
                    <a:pt x="350285" y="0"/>
                  </a:moveTo>
                  <a:lnTo>
                    <a:pt x="382100" y="65902"/>
                  </a:lnTo>
                  <a:lnTo>
                    <a:pt x="393462" y="93171"/>
                  </a:lnTo>
                  <a:lnTo>
                    <a:pt x="366193" y="102261"/>
                  </a:lnTo>
                  <a:lnTo>
                    <a:pt x="354830" y="118169"/>
                  </a:lnTo>
                  <a:lnTo>
                    <a:pt x="354830" y="129531"/>
                  </a:lnTo>
                  <a:lnTo>
                    <a:pt x="323016" y="145438"/>
                  </a:lnTo>
                  <a:lnTo>
                    <a:pt x="317857" y="146827"/>
                  </a:lnTo>
                  <a:lnTo>
                    <a:pt x="315873" y="147819"/>
                  </a:lnTo>
                  <a:lnTo>
                    <a:pt x="263153" y="162013"/>
                  </a:lnTo>
                  <a:lnTo>
                    <a:pt x="232117" y="188615"/>
                  </a:lnTo>
                  <a:lnTo>
                    <a:pt x="225570" y="190486"/>
                  </a:lnTo>
                  <a:lnTo>
                    <a:pt x="224974" y="190996"/>
                  </a:lnTo>
                  <a:lnTo>
                    <a:pt x="209067" y="195541"/>
                  </a:lnTo>
                  <a:lnTo>
                    <a:pt x="199521" y="191723"/>
                  </a:lnTo>
                  <a:lnTo>
                    <a:pt x="177578" y="204522"/>
                  </a:lnTo>
                  <a:lnTo>
                    <a:pt x="170435" y="206903"/>
                  </a:lnTo>
                  <a:lnTo>
                    <a:pt x="170435" y="206903"/>
                  </a:lnTo>
                  <a:lnTo>
                    <a:pt x="149983" y="213721"/>
                  </a:lnTo>
                  <a:lnTo>
                    <a:pt x="122713" y="218266"/>
                  </a:lnTo>
                  <a:lnTo>
                    <a:pt x="116589" y="218266"/>
                  </a:lnTo>
                  <a:lnTo>
                    <a:pt x="109404" y="227247"/>
                  </a:lnTo>
                  <a:lnTo>
                    <a:pt x="98042" y="231792"/>
                  </a:lnTo>
                  <a:lnTo>
                    <a:pt x="93497" y="236337"/>
                  </a:lnTo>
                  <a:lnTo>
                    <a:pt x="88735" y="236337"/>
                  </a:lnTo>
                  <a:lnTo>
                    <a:pt x="86354" y="238718"/>
                  </a:lnTo>
                  <a:lnTo>
                    <a:pt x="72143" y="238718"/>
                  </a:lnTo>
                  <a:lnTo>
                    <a:pt x="66227" y="243154"/>
                  </a:lnTo>
                  <a:lnTo>
                    <a:pt x="62259" y="243154"/>
                  </a:lnTo>
                  <a:lnTo>
                    <a:pt x="59084" y="245535"/>
                  </a:lnTo>
                  <a:lnTo>
                    <a:pt x="31815" y="245535"/>
                  </a:lnTo>
                  <a:lnTo>
                    <a:pt x="20452" y="222811"/>
                  </a:lnTo>
                  <a:lnTo>
                    <a:pt x="20452" y="202358"/>
                  </a:lnTo>
                  <a:lnTo>
                    <a:pt x="15908" y="190996"/>
                  </a:lnTo>
                  <a:lnTo>
                    <a:pt x="9090" y="159181"/>
                  </a:lnTo>
                  <a:lnTo>
                    <a:pt x="0" y="147819"/>
                  </a:lnTo>
                  <a:lnTo>
                    <a:pt x="4545" y="143274"/>
                  </a:lnTo>
                  <a:lnTo>
                    <a:pt x="4545" y="127367"/>
                  </a:lnTo>
                  <a:lnTo>
                    <a:pt x="9090" y="120550"/>
                  </a:lnTo>
                  <a:lnTo>
                    <a:pt x="4545" y="104642"/>
                  </a:lnTo>
                  <a:lnTo>
                    <a:pt x="20452" y="95552"/>
                  </a:lnTo>
                  <a:lnTo>
                    <a:pt x="15908" y="72828"/>
                  </a:lnTo>
                  <a:lnTo>
                    <a:pt x="27270" y="56920"/>
                  </a:lnTo>
                  <a:lnTo>
                    <a:pt x="30874" y="59494"/>
                  </a:lnTo>
                  <a:lnTo>
                    <a:pt x="34413" y="54539"/>
                  </a:lnTo>
                  <a:lnTo>
                    <a:pt x="50320" y="65902"/>
                  </a:lnTo>
                  <a:lnTo>
                    <a:pt x="59410" y="65902"/>
                  </a:lnTo>
                  <a:lnTo>
                    <a:pt x="102587" y="59084"/>
                  </a:lnTo>
                  <a:lnTo>
                    <a:pt x="109404" y="65902"/>
                  </a:lnTo>
                  <a:lnTo>
                    <a:pt x="144856" y="70333"/>
                  </a:lnTo>
                  <a:lnTo>
                    <a:pt x="149983" y="68283"/>
                  </a:lnTo>
                  <a:lnTo>
                    <a:pt x="150380" y="68600"/>
                  </a:lnTo>
                  <a:lnTo>
                    <a:pt x="157126" y="65902"/>
                  </a:lnTo>
                  <a:lnTo>
                    <a:pt x="168488" y="74992"/>
                  </a:lnTo>
                  <a:lnTo>
                    <a:pt x="177553" y="72402"/>
                  </a:lnTo>
                  <a:lnTo>
                    <a:pt x="204522" y="34196"/>
                  </a:lnTo>
                  <a:lnTo>
                    <a:pt x="236337" y="18289"/>
                  </a:lnTo>
                  <a:lnTo>
                    <a:pt x="239728" y="17784"/>
                  </a:lnTo>
                  <a:lnTo>
                    <a:pt x="243480" y="1590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211;p30">
              <a:extLst>
                <a:ext uri="{FF2B5EF4-FFF2-40B4-BE49-F238E27FC236}">
                  <a16:creationId xmlns:a16="http://schemas.microsoft.com/office/drawing/2014/main" id="{F9F4C3E6-8784-012A-3C2D-698F6BD9E080}"/>
                </a:ext>
              </a:extLst>
            </p:cNvPr>
            <p:cNvSpPr/>
            <p:nvPr/>
          </p:nvSpPr>
          <p:spPr>
            <a:xfrm>
              <a:off x="5350672" y="2986920"/>
              <a:ext cx="586540" cy="482656"/>
            </a:xfrm>
            <a:custGeom>
              <a:avLst/>
              <a:gdLst/>
              <a:ahLst/>
              <a:cxnLst/>
              <a:rect l="l" t="t" r="r" b="b"/>
              <a:pathLst>
                <a:path w="782054" h="643542" extrusionOk="0">
                  <a:moveTo>
                    <a:pt x="165890" y="0"/>
                  </a:moveTo>
                  <a:lnTo>
                    <a:pt x="209067" y="11362"/>
                  </a:lnTo>
                  <a:lnTo>
                    <a:pt x="263606" y="38632"/>
                  </a:lnTo>
                  <a:lnTo>
                    <a:pt x="370412" y="122713"/>
                  </a:lnTo>
                  <a:lnTo>
                    <a:pt x="436314" y="129531"/>
                  </a:lnTo>
                  <a:lnTo>
                    <a:pt x="468128" y="129531"/>
                  </a:lnTo>
                  <a:lnTo>
                    <a:pt x="473419" y="139055"/>
                  </a:lnTo>
                  <a:lnTo>
                    <a:pt x="475271" y="139055"/>
                  </a:lnTo>
                  <a:lnTo>
                    <a:pt x="481343" y="149983"/>
                  </a:lnTo>
                  <a:lnTo>
                    <a:pt x="504488" y="149983"/>
                  </a:lnTo>
                  <a:lnTo>
                    <a:pt x="509250" y="159507"/>
                  </a:lnTo>
                  <a:lnTo>
                    <a:pt x="511631" y="159507"/>
                  </a:lnTo>
                  <a:lnTo>
                    <a:pt x="523858" y="183962"/>
                  </a:lnTo>
                  <a:lnTo>
                    <a:pt x="538575" y="193160"/>
                  </a:lnTo>
                  <a:lnTo>
                    <a:pt x="540335" y="199319"/>
                  </a:lnTo>
                  <a:lnTo>
                    <a:pt x="545718" y="202684"/>
                  </a:lnTo>
                  <a:lnTo>
                    <a:pt x="548426" y="212163"/>
                  </a:lnTo>
                  <a:lnTo>
                    <a:pt x="570389" y="224974"/>
                  </a:lnTo>
                  <a:lnTo>
                    <a:pt x="570389" y="230332"/>
                  </a:lnTo>
                  <a:lnTo>
                    <a:pt x="577532" y="234498"/>
                  </a:lnTo>
                  <a:lnTo>
                    <a:pt x="577532" y="250406"/>
                  </a:lnTo>
                  <a:lnTo>
                    <a:pt x="577532" y="268585"/>
                  </a:lnTo>
                  <a:lnTo>
                    <a:pt x="577532" y="277080"/>
                  </a:lnTo>
                  <a:lnTo>
                    <a:pt x="579479" y="279514"/>
                  </a:lnTo>
                  <a:lnTo>
                    <a:pt x="580029" y="280796"/>
                  </a:lnTo>
                  <a:lnTo>
                    <a:pt x="586622" y="289038"/>
                  </a:lnTo>
                  <a:lnTo>
                    <a:pt x="591511" y="300444"/>
                  </a:lnTo>
                  <a:lnTo>
                    <a:pt x="606749" y="311328"/>
                  </a:lnTo>
                  <a:lnTo>
                    <a:pt x="613566" y="306783"/>
                  </a:lnTo>
                  <a:lnTo>
                    <a:pt x="619478" y="317128"/>
                  </a:lnTo>
                  <a:lnTo>
                    <a:pt x="620709" y="316307"/>
                  </a:lnTo>
                  <a:lnTo>
                    <a:pt x="629799" y="332214"/>
                  </a:lnTo>
                  <a:lnTo>
                    <a:pt x="629799" y="343577"/>
                  </a:lnTo>
                  <a:lnTo>
                    <a:pt x="642404" y="377790"/>
                  </a:lnTo>
                  <a:lnTo>
                    <a:pt x="747642" y="393137"/>
                  </a:lnTo>
                  <a:lnTo>
                    <a:pt x="752187" y="386319"/>
                  </a:lnTo>
                  <a:lnTo>
                    <a:pt x="774911" y="413589"/>
                  </a:lnTo>
                  <a:lnTo>
                    <a:pt x="774670" y="414252"/>
                  </a:lnTo>
                  <a:lnTo>
                    <a:pt x="782054" y="423113"/>
                  </a:lnTo>
                  <a:lnTo>
                    <a:pt x="754785" y="498104"/>
                  </a:lnTo>
                  <a:lnTo>
                    <a:pt x="645706" y="541281"/>
                  </a:lnTo>
                  <a:lnTo>
                    <a:pt x="538900" y="557189"/>
                  </a:lnTo>
                  <a:lnTo>
                    <a:pt x="502541" y="573096"/>
                  </a:lnTo>
                  <a:lnTo>
                    <a:pt x="479816" y="611728"/>
                  </a:lnTo>
                  <a:lnTo>
                    <a:pt x="459364" y="616273"/>
                  </a:lnTo>
                  <a:lnTo>
                    <a:pt x="452547" y="607183"/>
                  </a:lnTo>
                  <a:lnTo>
                    <a:pt x="436639" y="607183"/>
                  </a:lnTo>
                  <a:lnTo>
                    <a:pt x="400280" y="607183"/>
                  </a:lnTo>
                  <a:lnTo>
                    <a:pt x="393463" y="600365"/>
                  </a:lnTo>
                  <a:lnTo>
                    <a:pt x="350286" y="600365"/>
                  </a:lnTo>
                  <a:lnTo>
                    <a:pt x="341196" y="607183"/>
                  </a:lnTo>
                  <a:lnTo>
                    <a:pt x="325289" y="595820"/>
                  </a:lnTo>
                  <a:lnTo>
                    <a:pt x="313926" y="611728"/>
                  </a:lnTo>
                  <a:lnTo>
                    <a:pt x="318471" y="627635"/>
                  </a:lnTo>
                  <a:lnTo>
                    <a:pt x="302564" y="643542"/>
                  </a:lnTo>
                  <a:lnTo>
                    <a:pt x="302564" y="627635"/>
                  </a:lnTo>
                  <a:lnTo>
                    <a:pt x="302121" y="627319"/>
                  </a:lnTo>
                  <a:lnTo>
                    <a:pt x="295421" y="634018"/>
                  </a:lnTo>
                  <a:lnTo>
                    <a:pt x="295421" y="622533"/>
                  </a:lnTo>
                  <a:lnTo>
                    <a:pt x="286657" y="616273"/>
                  </a:lnTo>
                  <a:lnTo>
                    <a:pt x="286657" y="611851"/>
                  </a:lnTo>
                  <a:lnTo>
                    <a:pt x="279514" y="606749"/>
                  </a:lnTo>
                  <a:lnTo>
                    <a:pt x="279514" y="594810"/>
                  </a:lnTo>
                  <a:lnTo>
                    <a:pt x="266204" y="584458"/>
                  </a:lnTo>
                  <a:lnTo>
                    <a:pt x="262123" y="577315"/>
                  </a:lnTo>
                  <a:lnTo>
                    <a:pt x="259061" y="574934"/>
                  </a:lnTo>
                  <a:lnTo>
                    <a:pt x="240882" y="543120"/>
                  </a:lnTo>
                  <a:lnTo>
                    <a:pt x="232744" y="514639"/>
                  </a:lnTo>
                  <a:lnTo>
                    <a:pt x="211665" y="493559"/>
                  </a:lnTo>
                  <a:lnTo>
                    <a:pt x="195758" y="489015"/>
                  </a:lnTo>
                  <a:lnTo>
                    <a:pt x="190467" y="480020"/>
                  </a:lnTo>
                  <a:lnTo>
                    <a:pt x="188615" y="479491"/>
                  </a:lnTo>
                  <a:lnTo>
                    <a:pt x="165890" y="440859"/>
                  </a:lnTo>
                  <a:lnTo>
                    <a:pt x="161345" y="413589"/>
                  </a:lnTo>
                  <a:lnTo>
                    <a:pt x="161345" y="393137"/>
                  </a:lnTo>
                  <a:lnTo>
                    <a:pt x="141963" y="350495"/>
                  </a:lnTo>
                  <a:lnTo>
                    <a:pt x="129856" y="343577"/>
                  </a:lnTo>
                  <a:lnTo>
                    <a:pt x="109404" y="332214"/>
                  </a:lnTo>
                  <a:lnTo>
                    <a:pt x="105558" y="324522"/>
                  </a:lnTo>
                  <a:lnTo>
                    <a:pt x="102261" y="322690"/>
                  </a:lnTo>
                  <a:lnTo>
                    <a:pt x="90899" y="299966"/>
                  </a:lnTo>
                  <a:lnTo>
                    <a:pt x="90899" y="290876"/>
                  </a:lnTo>
                  <a:lnTo>
                    <a:pt x="83505" y="276088"/>
                  </a:lnTo>
                  <a:lnTo>
                    <a:pt x="77590" y="273130"/>
                  </a:lnTo>
                  <a:lnTo>
                    <a:pt x="73621" y="265194"/>
                  </a:lnTo>
                  <a:lnTo>
                    <a:pt x="70447" y="263606"/>
                  </a:lnTo>
                  <a:lnTo>
                    <a:pt x="54539" y="231792"/>
                  </a:lnTo>
                  <a:lnTo>
                    <a:pt x="38632" y="199977"/>
                  </a:lnTo>
                  <a:lnTo>
                    <a:pt x="22257" y="175414"/>
                  </a:lnTo>
                  <a:lnTo>
                    <a:pt x="7143" y="175414"/>
                  </a:lnTo>
                  <a:lnTo>
                    <a:pt x="9260" y="165890"/>
                  </a:lnTo>
                  <a:lnTo>
                    <a:pt x="0" y="165890"/>
                  </a:lnTo>
                  <a:lnTo>
                    <a:pt x="4545" y="145438"/>
                  </a:lnTo>
                  <a:lnTo>
                    <a:pt x="4545" y="134076"/>
                  </a:lnTo>
                  <a:lnTo>
                    <a:pt x="11363" y="113623"/>
                  </a:lnTo>
                  <a:lnTo>
                    <a:pt x="47722" y="122713"/>
                  </a:lnTo>
                  <a:lnTo>
                    <a:pt x="63629" y="106806"/>
                  </a:lnTo>
                  <a:lnTo>
                    <a:pt x="74992" y="97716"/>
                  </a:lnTo>
                  <a:lnTo>
                    <a:pt x="102261" y="90899"/>
                  </a:lnTo>
                  <a:lnTo>
                    <a:pt x="106806" y="74992"/>
                  </a:lnTo>
                  <a:lnTo>
                    <a:pt x="121324" y="64621"/>
                  </a:lnTo>
                  <a:lnTo>
                    <a:pt x="93497" y="36794"/>
                  </a:lnTo>
                  <a:lnTo>
                    <a:pt x="95324" y="36240"/>
                  </a:lnTo>
                  <a:lnTo>
                    <a:pt x="86354" y="27270"/>
                  </a:lnTo>
                  <a:lnTo>
                    <a:pt x="161345" y="4545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212;p30">
              <a:extLst>
                <a:ext uri="{FF2B5EF4-FFF2-40B4-BE49-F238E27FC236}">
                  <a16:creationId xmlns:a16="http://schemas.microsoft.com/office/drawing/2014/main" id="{F0644EFC-1383-0ADB-8EE1-8FDE59875CDA}"/>
                </a:ext>
              </a:extLst>
            </p:cNvPr>
            <p:cNvSpPr/>
            <p:nvPr/>
          </p:nvSpPr>
          <p:spPr>
            <a:xfrm>
              <a:off x="5548541" y="3566565"/>
              <a:ext cx="46099" cy="54621"/>
            </a:xfrm>
            <a:custGeom>
              <a:avLst/>
              <a:gdLst/>
              <a:ahLst/>
              <a:cxnLst/>
              <a:rect l="l" t="t" r="r" b="b"/>
              <a:pathLst>
                <a:path w="61465" h="72828" extrusionOk="0">
                  <a:moveTo>
                    <a:pt x="47722" y="0"/>
                  </a:moveTo>
                  <a:lnTo>
                    <a:pt x="50103" y="2381"/>
                  </a:lnTo>
                  <a:lnTo>
                    <a:pt x="50103" y="2381"/>
                  </a:lnTo>
                  <a:lnTo>
                    <a:pt x="61465" y="13744"/>
                  </a:lnTo>
                  <a:lnTo>
                    <a:pt x="54648" y="29651"/>
                  </a:lnTo>
                  <a:lnTo>
                    <a:pt x="38741" y="41013"/>
                  </a:lnTo>
                  <a:lnTo>
                    <a:pt x="50103" y="52376"/>
                  </a:lnTo>
                  <a:lnTo>
                    <a:pt x="38741" y="72828"/>
                  </a:lnTo>
                  <a:lnTo>
                    <a:pt x="35320" y="69407"/>
                  </a:lnTo>
                  <a:lnTo>
                    <a:pt x="34196" y="68283"/>
                  </a:lnTo>
                  <a:lnTo>
                    <a:pt x="22833" y="68283"/>
                  </a:lnTo>
                  <a:lnTo>
                    <a:pt x="2381" y="68283"/>
                  </a:lnTo>
                  <a:lnTo>
                    <a:pt x="2381" y="65902"/>
                  </a:lnTo>
                  <a:lnTo>
                    <a:pt x="0" y="65902"/>
                  </a:lnTo>
                  <a:lnTo>
                    <a:pt x="0" y="54540"/>
                  </a:lnTo>
                  <a:lnTo>
                    <a:pt x="0" y="43177"/>
                  </a:lnTo>
                  <a:lnTo>
                    <a:pt x="9090" y="22725"/>
                  </a:lnTo>
                  <a:lnTo>
                    <a:pt x="20452" y="6818"/>
                  </a:lnTo>
                  <a:lnTo>
                    <a:pt x="36360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213;p30">
              <a:extLst>
                <a:ext uri="{FF2B5EF4-FFF2-40B4-BE49-F238E27FC236}">
                  <a16:creationId xmlns:a16="http://schemas.microsoft.com/office/drawing/2014/main" id="{C23D11EA-4441-0BD5-A573-758937B05C36}"/>
                </a:ext>
              </a:extLst>
            </p:cNvPr>
            <p:cNvSpPr/>
            <p:nvPr/>
          </p:nvSpPr>
          <p:spPr>
            <a:xfrm>
              <a:off x="5568831" y="3604062"/>
              <a:ext cx="184395" cy="100720"/>
            </a:xfrm>
            <a:custGeom>
              <a:avLst/>
              <a:gdLst/>
              <a:ahLst/>
              <a:cxnLst/>
              <a:rect l="l" t="t" r="r" b="b"/>
              <a:pathLst>
                <a:path w="245860" h="134293" extrusionOk="0">
                  <a:moveTo>
                    <a:pt x="20452" y="0"/>
                  </a:moveTo>
                  <a:lnTo>
                    <a:pt x="31815" y="4545"/>
                  </a:lnTo>
                  <a:lnTo>
                    <a:pt x="32122" y="5621"/>
                  </a:lnTo>
                  <a:lnTo>
                    <a:pt x="41339" y="9307"/>
                  </a:lnTo>
                  <a:lnTo>
                    <a:pt x="45884" y="25215"/>
                  </a:lnTo>
                  <a:lnTo>
                    <a:pt x="61805" y="36360"/>
                  </a:lnTo>
                  <a:lnTo>
                    <a:pt x="74991" y="36360"/>
                  </a:lnTo>
                  <a:lnTo>
                    <a:pt x="106806" y="27270"/>
                  </a:lnTo>
                  <a:lnTo>
                    <a:pt x="149983" y="20453"/>
                  </a:lnTo>
                  <a:lnTo>
                    <a:pt x="181797" y="9090"/>
                  </a:lnTo>
                  <a:lnTo>
                    <a:pt x="197704" y="9090"/>
                  </a:lnTo>
                  <a:lnTo>
                    <a:pt x="213612" y="0"/>
                  </a:lnTo>
                  <a:lnTo>
                    <a:pt x="236336" y="0"/>
                  </a:lnTo>
                  <a:lnTo>
                    <a:pt x="236336" y="4762"/>
                  </a:lnTo>
                  <a:lnTo>
                    <a:pt x="245860" y="4762"/>
                  </a:lnTo>
                  <a:lnTo>
                    <a:pt x="245860" y="20670"/>
                  </a:lnTo>
                  <a:lnTo>
                    <a:pt x="245860" y="57029"/>
                  </a:lnTo>
                  <a:lnTo>
                    <a:pt x="245860" y="79754"/>
                  </a:lnTo>
                  <a:lnTo>
                    <a:pt x="223136" y="100206"/>
                  </a:lnTo>
                  <a:lnTo>
                    <a:pt x="202683" y="134293"/>
                  </a:lnTo>
                  <a:lnTo>
                    <a:pt x="170869" y="134293"/>
                  </a:lnTo>
                  <a:lnTo>
                    <a:pt x="52701" y="91116"/>
                  </a:lnTo>
                  <a:lnTo>
                    <a:pt x="51052" y="89232"/>
                  </a:lnTo>
                  <a:lnTo>
                    <a:pt x="43177" y="86354"/>
                  </a:lnTo>
                  <a:lnTo>
                    <a:pt x="27270" y="68174"/>
                  </a:lnTo>
                  <a:lnTo>
                    <a:pt x="15907" y="52267"/>
                  </a:lnTo>
                  <a:lnTo>
                    <a:pt x="0" y="31815"/>
                  </a:lnTo>
                  <a:lnTo>
                    <a:pt x="9090" y="1590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214;p30">
              <a:extLst>
                <a:ext uri="{FF2B5EF4-FFF2-40B4-BE49-F238E27FC236}">
                  <a16:creationId xmlns:a16="http://schemas.microsoft.com/office/drawing/2014/main" id="{ADBB36F7-3163-43CD-1DCB-739F2427D2DF}"/>
                </a:ext>
              </a:extLst>
            </p:cNvPr>
            <p:cNvSpPr/>
            <p:nvPr/>
          </p:nvSpPr>
          <p:spPr>
            <a:xfrm>
              <a:off x="5396772" y="3418287"/>
              <a:ext cx="187560" cy="162157"/>
            </a:xfrm>
            <a:custGeom>
              <a:avLst/>
              <a:gdLst/>
              <a:ahLst/>
              <a:cxnLst/>
              <a:rect l="l" t="t" r="r" b="b"/>
              <a:pathLst>
                <a:path w="250080" h="216210" extrusionOk="0">
                  <a:moveTo>
                    <a:pt x="77373" y="0"/>
                  </a:moveTo>
                  <a:lnTo>
                    <a:pt x="100097" y="47722"/>
                  </a:lnTo>
                  <a:lnTo>
                    <a:pt x="109187" y="79537"/>
                  </a:lnTo>
                  <a:lnTo>
                    <a:pt x="131912" y="102261"/>
                  </a:lnTo>
                  <a:lnTo>
                    <a:pt x="179634" y="134076"/>
                  </a:lnTo>
                  <a:lnTo>
                    <a:pt x="202358" y="154528"/>
                  </a:lnTo>
                  <a:lnTo>
                    <a:pt x="222811" y="177253"/>
                  </a:lnTo>
                  <a:lnTo>
                    <a:pt x="234173" y="193160"/>
                  </a:lnTo>
                  <a:lnTo>
                    <a:pt x="250080" y="197705"/>
                  </a:lnTo>
                  <a:lnTo>
                    <a:pt x="243995" y="203790"/>
                  </a:lnTo>
                  <a:lnTo>
                    <a:pt x="247699" y="204848"/>
                  </a:lnTo>
                  <a:lnTo>
                    <a:pt x="236337" y="216210"/>
                  </a:lnTo>
                  <a:lnTo>
                    <a:pt x="220430" y="216210"/>
                  </a:lnTo>
                  <a:lnTo>
                    <a:pt x="209067" y="204848"/>
                  </a:lnTo>
                  <a:lnTo>
                    <a:pt x="193160" y="179851"/>
                  </a:lnTo>
                  <a:lnTo>
                    <a:pt x="177253" y="168488"/>
                  </a:lnTo>
                  <a:lnTo>
                    <a:pt x="165890" y="157126"/>
                  </a:lnTo>
                  <a:lnTo>
                    <a:pt x="140893" y="141219"/>
                  </a:lnTo>
                  <a:lnTo>
                    <a:pt x="113624" y="141219"/>
                  </a:lnTo>
                  <a:lnTo>
                    <a:pt x="102261" y="129856"/>
                  </a:lnTo>
                  <a:lnTo>
                    <a:pt x="79537" y="141219"/>
                  </a:lnTo>
                  <a:lnTo>
                    <a:pt x="59084" y="125312"/>
                  </a:lnTo>
                  <a:lnTo>
                    <a:pt x="47722" y="152581"/>
                  </a:lnTo>
                  <a:lnTo>
                    <a:pt x="4545" y="145764"/>
                  </a:lnTo>
                  <a:lnTo>
                    <a:pt x="0" y="129856"/>
                  </a:lnTo>
                  <a:lnTo>
                    <a:pt x="15908" y="70772"/>
                  </a:lnTo>
                  <a:lnTo>
                    <a:pt x="15908" y="50320"/>
                  </a:lnTo>
                  <a:lnTo>
                    <a:pt x="18289" y="47939"/>
                  </a:lnTo>
                  <a:lnTo>
                    <a:pt x="18289" y="43177"/>
                  </a:lnTo>
                  <a:lnTo>
                    <a:pt x="34196" y="27270"/>
                  </a:lnTo>
                  <a:lnTo>
                    <a:pt x="61465" y="204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215;p30">
              <a:extLst>
                <a:ext uri="{FF2B5EF4-FFF2-40B4-BE49-F238E27FC236}">
                  <a16:creationId xmlns:a16="http://schemas.microsoft.com/office/drawing/2014/main" id="{802712F1-7551-FE0D-6CE9-DFEEF3801F43}"/>
                </a:ext>
              </a:extLst>
            </p:cNvPr>
            <p:cNvSpPr/>
            <p:nvPr/>
          </p:nvSpPr>
          <p:spPr>
            <a:xfrm>
              <a:off x="5302951" y="3503505"/>
              <a:ext cx="414319" cy="329265"/>
            </a:xfrm>
            <a:custGeom>
              <a:avLst/>
              <a:gdLst/>
              <a:ahLst/>
              <a:cxnLst/>
              <a:rect l="l" t="t" r="r" b="b"/>
              <a:pathLst>
                <a:path w="552426" h="439020" extrusionOk="0">
                  <a:moveTo>
                    <a:pt x="186559" y="0"/>
                  </a:moveTo>
                  <a:lnTo>
                    <a:pt x="207012" y="20452"/>
                  </a:lnTo>
                  <a:lnTo>
                    <a:pt x="229736" y="9090"/>
                  </a:lnTo>
                  <a:lnTo>
                    <a:pt x="241099" y="15908"/>
                  </a:lnTo>
                  <a:lnTo>
                    <a:pt x="268368" y="20452"/>
                  </a:lnTo>
                  <a:lnTo>
                    <a:pt x="300183" y="31815"/>
                  </a:lnTo>
                  <a:lnTo>
                    <a:pt x="309273" y="47722"/>
                  </a:lnTo>
                  <a:lnTo>
                    <a:pt x="320635" y="59084"/>
                  </a:lnTo>
                  <a:lnTo>
                    <a:pt x="336542" y="79537"/>
                  </a:lnTo>
                  <a:lnTo>
                    <a:pt x="347904" y="90899"/>
                  </a:lnTo>
                  <a:lnTo>
                    <a:pt x="341952" y="99232"/>
                  </a:lnTo>
                  <a:lnTo>
                    <a:pt x="343142" y="100423"/>
                  </a:lnTo>
                  <a:lnTo>
                    <a:pt x="333181" y="114370"/>
                  </a:lnTo>
                  <a:lnTo>
                    <a:pt x="327452" y="127258"/>
                  </a:lnTo>
                  <a:lnTo>
                    <a:pt x="327452" y="138621"/>
                  </a:lnTo>
                  <a:lnTo>
                    <a:pt x="327452" y="149983"/>
                  </a:lnTo>
                  <a:lnTo>
                    <a:pt x="347904" y="149983"/>
                  </a:lnTo>
                  <a:lnTo>
                    <a:pt x="359267" y="143166"/>
                  </a:lnTo>
                  <a:lnTo>
                    <a:pt x="368357" y="149983"/>
                  </a:lnTo>
                  <a:lnTo>
                    <a:pt x="363119" y="159150"/>
                  </a:lnTo>
                  <a:lnTo>
                    <a:pt x="363595" y="159507"/>
                  </a:lnTo>
                  <a:lnTo>
                    <a:pt x="359659" y="166394"/>
                  </a:lnTo>
                  <a:lnTo>
                    <a:pt x="375174" y="186342"/>
                  </a:lnTo>
                  <a:lnTo>
                    <a:pt x="386536" y="202250"/>
                  </a:lnTo>
                  <a:lnTo>
                    <a:pt x="402444" y="220429"/>
                  </a:lnTo>
                  <a:lnTo>
                    <a:pt x="520612" y="263606"/>
                  </a:lnTo>
                  <a:lnTo>
                    <a:pt x="552426" y="263606"/>
                  </a:lnTo>
                  <a:lnTo>
                    <a:pt x="542902" y="273130"/>
                  </a:lnTo>
                  <a:lnTo>
                    <a:pt x="547664" y="273130"/>
                  </a:lnTo>
                  <a:lnTo>
                    <a:pt x="440858" y="379936"/>
                  </a:lnTo>
                  <a:lnTo>
                    <a:pt x="390864" y="379936"/>
                  </a:lnTo>
                  <a:lnTo>
                    <a:pt x="359050" y="407206"/>
                  </a:lnTo>
                  <a:lnTo>
                    <a:pt x="338597" y="407206"/>
                  </a:lnTo>
                  <a:lnTo>
                    <a:pt x="327235" y="416296"/>
                  </a:lnTo>
                  <a:lnTo>
                    <a:pt x="304511" y="416296"/>
                  </a:lnTo>
                  <a:lnTo>
                    <a:pt x="288603" y="407206"/>
                  </a:lnTo>
                  <a:lnTo>
                    <a:pt x="252244" y="423113"/>
                  </a:lnTo>
                  <a:lnTo>
                    <a:pt x="240882" y="439020"/>
                  </a:lnTo>
                  <a:lnTo>
                    <a:pt x="220429" y="434475"/>
                  </a:lnTo>
                  <a:lnTo>
                    <a:pt x="209067" y="427658"/>
                  </a:lnTo>
                  <a:lnTo>
                    <a:pt x="202250" y="434475"/>
                  </a:lnTo>
                  <a:lnTo>
                    <a:pt x="193160" y="434475"/>
                  </a:lnTo>
                  <a:lnTo>
                    <a:pt x="143166" y="400388"/>
                  </a:lnTo>
                  <a:lnTo>
                    <a:pt x="118168" y="400388"/>
                  </a:lnTo>
                  <a:lnTo>
                    <a:pt x="106806" y="391298"/>
                  </a:lnTo>
                  <a:lnTo>
                    <a:pt x="106806" y="368574"/>
                  </a:lnTo>
                  <a:lnTo>
                    <a:pt x="84081" y="364029"/>
                  </a:lnTo>
                  <a:lnTo>
                    <a:pt x="63629" y="320852"/>
                  </a:lnTo>
                  <a:lnTo>
                    <a:pt x="47722" y="314035"/>
                  </a:lnTo>
                  <a:lnTo>
                    <a:pt x="43177" y="298127"/>
                  </a:lnTo>
                  <a:lnTo>
                    <a:pt x="20452" y="282220"/>
                  </a:lnTo>
                  <a:lnTo>
                    <a:pt x="0" y="277675"/>
                  </a:lnTo>
                  <a:lnTo>
                    <a:pt x="9090" y="254951"/>
                  </a:lnTo>
                  <a:lnTo>
                    <a:pt x="10043" y="254951"/>
                  </a:lnTo>
                  <a:lnTo>
                    <a:pt x="13852" y="245427"/>
                  </a:lnTo>
                  <a:lnTo>
                    <a:pt x="36360" y="245427"/>
                  </a:lnTo>
                  <a:lnTo>
                    <a:pt x="36360" y="211774"/>
                  </a:lnTo>
                  <a:lnTo>
                    <a:pt x="47722" y="175414"/>
                  </a:lnTo>
                  <a:lnTo>
                    <a:pt x="50021" y="173772"/>
                  </a:lnTo>
                  <a:lnTo>
                    <a:pt x="52484" y="165890"/>
                  </a:lnTo>
                  <a:lnTo>
                    <a:pt x="65827" y="156359"/>
                  </a:lnTo>
                  <a:lnTo>
                    <a:pt x="68174" y="148145"/>
                  </a:lnTo>
                  <a:lnTo>
                    <a:pt x="84081" y="116330"/>
                  </a:lnTo>
                  <a:lnTo>
                    <a:pt x="84081" y="116330"/>
                  </a:lnTo>
                  <a:lnTo>
                    <a:pt x="88843" y="106806"/>
                  </a:lnTo>
                  <a:lnTo>
                    <a:pt x="110388" y="91725"/>
                  </a:lnTo>
                  <a:lnTo>
                    <a:pt x="122713" y="61791"/>
                  </a:lnTo>
                  <a:lnTo>
                    <a:pt x="127258" y="29976"/>
                  </a:lnTo>
                  <a:lnTo>
                    <a:pt x="130536" y="30839"/>
                  </a:lnTo>
                  <a:lnTo>
                    <a:pt x="132020" y="20452"/>
                  </a:lnTo>
                  <a:lnTo>
                    <a:pt x="173953" y="31487"/>
                  </a:lnTo>
                  <a:lnTo>
                    <a:pt x="181797" y="9524"/>
                  </a:lnTo>
                  <a:lnTo>
                    <a:pt x="182800" y="1052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216;p30">
              <a:extLst>
                <a:ext uri="{FF2B5EF4-FFF2-40B4-BE49-F238E27FC236}">
                  <a16:creationId xmlns:a16="http://schemas.microsoft.com/office/drawing/2014/main" id="{46687299-DEA0-87CA-AA8F-3150371EBAC3}"/>
                </a:ext>
              </a:extLst>
            </p:cNvPr>
            <p:cNvSpPr/>
            <p:nvPr/>
          </p:nvSpPr>
          <p:spPr>
            <a:xfrm>
              <a:off x="4999738" y="3300686"/>
              <a:ext cx="455061" cy="528511"/>
            </a:xfrm>
            <a:custGeom>
              <a:avLst/>
              <a:gdLst/>
              <a:ahLst/>
              <a:cxnLst/>
              <a:rect l="l" t="t" r="r" b="b"/>
              <a:pathLst>
                <a:path w="606748" h="704681" extrusionOk="0">
                  <a:moveTo>
                    <a:pt x="113623" y="0"/>
                  </a:moveTo>
                  <a:lnTo>
                    <a:pt x="263606" y="0"/>
                  </a:lnTo>
                  <a:lnTo>
                    <a:pt x="409044" y="0"/>
                  </a:lnTo>
                  <a:lnTo>
                    <a:pt x="547664" y="0"/>
                  </a:lnTo>
                  <a:lnTo>
                    <a:pt x="563571" y="38632"/>
                  </a:lnTo>
                  <a:lnTo>
                    <a:pt x="561888" y="39306"/>
                  </a:lnTo>
                  <a:lnTo>
                    <a:pt x="563571" y="43394"/>
                  </a:lnTo>
                  <a:lnTo>
                    <a:pt x="552916" y="47656"/>
                  </a:lnTo>
                  <a:lnTo>
                    <a:pt x="559026" y="86354"/>
                  </a:lnTo>
                  <a:lnTo>
                    <a:pt x="574934" y="134076"/>
                  </a:lnTo>
                  <a:lnTo>
                    <a:pt x="590841" y="140893"/>
                  </a:lnTo>
                  <a:lnTo>
                    <a:pt x="606748" y="156800"/>
                  </a:lnTo>
                  <a:lnTo>
                    <a:pt x="604665" y="159479"/>
                  </a:lnTo>
                  <a:lnTo>
                    <a:pt x="606748" y="161562"/>
                  </a:lnTo>
                  <a:lnTo>
                    <a:pt x="590841" y="182014"/>
                  </a:lnTo>
                  <a:lnTo>
                    <a:pt x="563571" y="188832"/>
                  </a:lnTo>
                  <a:lnTo>
                    <a:pt x="547664" y="197922"/>
                  </a:lnTo>
                  <a:lnTo>
                    <a:pt x="547664" y="220429"/>
                  </a:lnTo>
                  <a:lnTo>
                    <a:pt x="547664" y="225191"/>
                  </a:lnTo>
                  <a:lnTo>
                    <a:pt x="532444" y="277374"/>
                  </a:lnTo>
                  <a:lnTo>
                    <a:pt x="536302" y="290876"/>
                  </a:lnTo>
                  <a:lnTo>
                    <a:pt x="535848" y="294050"/>
                  </a:lnTo>
                  <a:lnTo>
                    <a:pt x="536302" y="295638"/>
                  </a:lnTo>
                  <a:lnTo>
                    <a:pt x="531757" y="327452"/>
                  </a:lnTo>
                  <a:lnTo>
                    <a:pt x="515850" y="366084"/>
                  </a:lnTo>
                  <a:lnTo>
                    <a:pt x="493125" y="381991"/>
                  </a:lnTo>
                  <a:lnTo>
                    <a:pt x="477218" y="413806"/>
                  </a:lnTo>
                  <a:lnTo>
                    <a:pt x="472673" y="429713"/>
                  </a:lnTo>
                  <a:lnTo>
                    <a:pt x="456766" y="441075"/>
                  </a:lnTo>
                  <a:lnTo>
                    <a:pt x="445403" y="477435"/>
                  </a:lnTo>
                  <a:lnTo>
                    <a:pt x="445403" y="506760"/>
                  </a:lnTo>
                  <a:lnTo>
                    <a:pt x="445403" y="511522"/>
                  </a:lnTo>
                  <a:lnTo>
                    <a:pt x="440858" y="520612"/>
                  </a:lnTo>
                  <a:lnTo>
                    <a:pt x="418134" y="520612"/>
                  </a:lnTo>
                  <a:lnTo>
                    <a:pt x="410793" y="538963"/>
                  </a:lnTo>
                  <a:lnTo>
                    <a:pt x="429496" y="543119"/>
                  </a:lnTo>
                  <a:lnTo>
                    <a:pt x="445403" y="559026"/>
                  </a:lnTo>
                  <a:lnTo>
                    <a:pt x="456766" y="574934"/>
                  </a:lnTo>
                  <a:lnTo>
                    <a:pt x="472673" y="581751"/>
                  </a:lnTo>
                  <a:lnTo>
                    <a:pt x="493125" y="624928"/>
                  </a:lnTo>
                  <a:lnTo>
                    <a:pt x="491500" y="626258"/>
                  </a:lnTo>
                  <a:lnTo>
                    <a:pt x="493125" y="629690"/>
                  </a:lnTo>
                  <a:lnTo>
                    <a:pt x="468128" y="650142"/>
                  </a:lnTo>
                  <a:lnTo>
                    <a:pt x="445403" y="672867"/>
                  </a:lnTo>
                  <a:lnTo>
                    <a:pt x="424951" y="693319"/>
                  </a:lnTo>
                  <a:lnTo>
                    <a:pt x="397682" y="693319"/>
                  </a:lnTo>
                  <a:lnTo>
                    <a:pt x="365867" y="700136"/>
                  </a:lnTo>
                  <a:lnTo>
                    <a:pt x="343142" y="693319"/>
                  </a:lnTo>
                  <a:lnTo>
                    <a:pt x="334053" y="704681"/>
                  </a:lnTo>
                  <a:lnTo>
                    <a:pt x="295421" y="677412"/>
                  </a:lnTo>
                  <a:lnTo>
                    <a:pt x="290876" y="661504"/>
                  </a:lnTo>
                  <a:lnTo>
                    <a:pt x="268151" y="666049"/>
                  </a:lnTo>
                  <a:lnTo>
                    <a:pt x="252244" y="666049"/>
                  </a:lnTo>
                  <a:lnTo>
                    <a:pt x="240881" y="672867"/>
                  </a:lnTo>
                  <a:lnTo>
                    <a:pt x="224974" y="666049"/>
                  </a:lnTo>
                  <a:lnTo>
                    <a:pt x="204522" y="638780"/>
                  </a:lnTo>
                  <a:lnTo>
                    <a:pt x="197705" y="629690"/>
                  </a:lnTo>
                  <a:lnTo>
                    <a:pt x="165890" y="613783"/>
                  </a:lnTo>
                  <a:lnTo>
                    <a:pt x="161345" y="591058"/>
                  </a:lnTo>
                  <a:lnTo>
                    <a:pt x="145438" y="575151"/>
                  </a:lnTo>
                  <a:lnTo>
                    <a:pt x="118168" y="554699"/>
                  </a:lnTo>
                  <a:lnTo>
                    <a:pt x="118168" y="549937"/>
                  </a:lnTo>
                  <a:lnTo>
                    <a:pt x="118168" y="543336"/>
                  </a:lnTo>
                  <a:lnTo>
                    <a:pt x="95444" y="527429"/>
                  </a:lnTo>
                  <a:lnTo>
                    <a:pt x="70447" y="511522"/>
                  </a:lnTo>
                  <a:lnTo>
                    <a:pt x="59084" y="500159"/>
                  </a:lnTo>
                  <a:lnTo>
                    <a:pt x="54539" y="488797"/>
                  </a:lnTo>
                  <a:lnTo>
                    <a:pt x="55660" y="486836"/>
                  </a:lnTo>
                  <a:lnTo>
                    <a:pt x="54539" y="484035"/>
                  </a:lnTo>
                  <a:lnTo>
                    <a:pt x="63629" y="468128"/>
                  </a:lnTo>
                  <a:lnTo>
                    <a:pt x="63629" y="461528"/>
                  </a:lnTo>
                  <a:lnTo>
                    <a:pt x="36360" y="436530"/>
                  </a:lnTo>
                  <a:lnTo>
                    <a:pt x="36360" y="431768"/>
                  </a:lnTo>
                  <a:lnTo>
                    <a:pt x="36360" y="418351"/>
                  </a:lnTo>
                  <a:lnTo>
                    <a:pt x="36360" y="413806"/>
                  </a:lnTo>
                  <a:lnTo>
                    <a:pt x="20452" y="397899"/>
                  </a:lnTo>
                  <a:lnTo>
                    <a:pt x="20452" y="393137"/>
                  </a:lnTo>
                  <a:lnTo>
                    <a:pt x="20452" y="377446"/>
                  </a:lnTo>
                  <a:lnTo>
                    <a:pt x="15908" y="366084"/>
                  </a:lnTo>
                  <a:lnTo>
                    <a:pt x="0" y="366084"/>
                  </a:lnTo>
                  <a:lnTo>
                    <a:pt x="1905" y="361322"/>
                  </a:lnTo>
                  <a:lnTo>
                    <a:pt x="0" y="361322"/>
                  </a:lnTo>
                  <a:lnTo>
                    <a:pt x="4545" y="349960"/>
                  </a:lnTo>
                  <a:lnTo>
                    <a:pt x="14936" y="335413"/>
                  </a:lnTo>
                  <a:lnTo>
                    <a:pt x="11363" y="322907"/>
                  </a:lnTo>
                  <a:lnTo>
                    <a:pt x="12365" y="321654"/>
                  </a:lnTo>
                  <a:lnTo>
                    <a:pt x="11363" y="318145"/>
                  </a:lnTo>
                  <a:lnTo>
                    <a:pt x="19182" y="308370"/>
                  </a:lnTo>
                  <a:lnTo>
                    <a:pt x="15908" y="300183"/>
                  </a:lnTo>
                  <a:lnTo>
                    <a:pt x="16921" y="297954"/>
                  </a:lnTo>
                  <a:lnTo>
                    <a:pt x="15908" y="295421"/>
                  </a:lnTo>
                  <a:lnTo>
                    <a:pt x="27270" y="270423"/>
                  </a:lnTo>
                  <a:lnTo>
                    <a:pt x="43177" y="243154"/>
                  </a:lnTo>
                  <a:lnTo>
                    <a:pt x="74992" y="247699"/>
                  </a:lnTo>
                  <a:lnTo>
                    <a:pt x="74992" y="102478"/>
                  </a:lnTo>
                  <a:lnTo>
                    <a:pt x="74992" y="97716"/>
                  </a:lnTo>
                  <a:lnTo>
                    <a:pt x="74992" y="79754"/>
                  </a:lnTo>
                  <a:lnTo>
                    <a:pt x="74992" y="74992"/>
                  </a:lnTo>
                  <a:lnTo>
                    <a:pt x="113623" y="74992"/>
                  </a:lnTo>
                  <a:lnTo>
                    <a:pt x="113623" y="47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217;p30">
              <a:extLst>
                <a:ext uri="{FF2B5EF4-FFF2-40B4-BE49-F238E27FC236}">
                  <a16:creationId xmlns:a16="http://schemas.microsoft.com/office/drawing/2014/main" id="{73DE995B-2C32-4759-D50F-FE9278F1A79E}"/>
                </a:ext>
              </a:extLst>
            </p:cNvPr>
            <p:cNvSpPr/>
            <p:nvPr/>
          </p:nvSpPr>
          <p:spPr>
            <a:xfrm>
              <a:off x="5212781" y="3798195"/>
              <a:ext cx="151768" cy="160372"/>
            </a:xfrm>
            <a:custGeom>
              <a:avLst/>
              <a:gdLst/>
              <a:ahLst/>
              <a:cxnLst/>
              <a:rect l="l" t="t" r="r" b="b"/>
              <a:pathLst>
                <a:path w="202358" h="213829" extrusionOk="0">
                  <a:moveTo>
                    <a:pt x="163726" y="0"/>
                  </a:moveTo>
                  <a:lnTo>
                    <a:pt x="179634" y="27270"/>
                  </a:lnTo>
                  <a:lnTo>
                    <a:pt x="186451" y="43177"/>
                  </a:lnTo>
                  <a:lnTo>
                    <a:pt x="202358" y="86354"/>
                  </a:lnTo>
                  <a:lnTo>
                    <a:pt x="190996" y="111351"/>
                  </a:lnTo>
                  <a:lnTo>
                    <a:pt x="190446" y="112084"/>
                  </a:lnTo>
                  <a:lnTo>
                    <a:pt x="188615" y="116113"/>
                  </a:lnTo>
                  <a:lnTo>
                    <a:pt x="168163" y="143383"/>
                  </a:lnTo>
                  <a:lnTo>
                    <a:pt x="159181" y="155957"/>
                  </a:lnTo>
                  <a:lnTo>
                    <a:pt x="159181" y="193160"/>
                  </a:lnTo>
                  <a:lnTo>
                    <a:pt x="156800" y="193160"/>
                  </a:lnTo>
                  <a:lnTo>
                    <a:pt x="156800" y="197922"/>
                  </a:lnTo>
                  <a:lnTo>
                    <a:pt x="86354" y="197922"/>
                  </a:lnTo>
                  <a:lnTo>
                    <a:pt x="43177" y="197922"/>
                  </a:lnTo>
                  <a:lnTo>
                    <a:pt x="31815" y="202467"/>
                  </a:lnTo>
                  <a:lnTo>
                    <a:pt x="11363" y="213829"/>
                  </a:lnTo>
                  <a:lnTo>
                    <a:pt x="0" y="209284"/>
                  </a:lnTo>
                  <a:lnTo>
                    <a:pt x="0" y="182015"/>
                  </a:lnTo>
                  <a:lnTo>
                    <a:pt x="2381" y="178681"/>
                  </a:lnTo>
                  <a:lnTo>
                    <a:pt x="2381" y="177253"/>
                  </a:lnTo>
                  <a:lnTo>
                    <a:pt x="11363" y="164679"/>
                  </a:lnTo>
                  <a:lnTo>
                    <a:pt x="11363" y="138838"/>
                  </a:lnTo>
                  <a:lnTo>
                    <a:pt x="13744" y="135504"/>
                  </a:lnTo>
                  <a:lnTo>
                    <a:pt x="13744" y="134076"/>
                  </a:lnTo>
                  <a:lnTo>
                    <a:pt x="24023" y="119684"/>
                  </a:lnTo>
                  <a:lnTo>
                    <a:pt x="31815" y="100206"/>
                  </a:lnTo>
                  <a:lnTo>
                    <a:pt x="32344" y="100073"/>
                  </a:lnTo>
                  <a:lnTo>
                    <a:pt x="34196" y="95444"/>
                  </a:lnTo>
                  <a:lnTo>
                    <a:pt x="52375" y="90899"/>
                  </a:lnTo>
                  <a:lnTo>
                    <a:pt x="58811" y="79637"/>
                  </a:lnTo>
                  <a:lnTo>
                    <a:pt x="43177" y="72936"/>
                  </a:lnTo>
                  <a:lnTo>
                    <a:pt x="49994" y="32032"/>
                  </a:lnTo>
                  <a:lnTo>
                    <a:pt x="51999" y="29526"/>
                  </a:lnTo>
                  <a:lnTo>
                    <a:pt x="52375" y="27270"/>
                  </a:lnTo>
                  <a:lnTo>
                    <a:pt x="61465" y="15908"/>
                  </a:lnTo>
                  <a:lnTo>
                    <a:pt x="88735" y="27270"/>
                  </a:lnTo>
                  <a:lnTo>
                    <a:pt x="116005" y="15908"/>
                  </a:lnTo>
                  <a:lnTo>
                    <a:pt x="143274" y="1590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218;p30">
              <a:extLst>
                <a:ext uri="{FF2B5EF4-FFF2-40B4-BE49-F238E27FC236}">
                  <a16:creationId xmlns:a16="http://schemas.microsoft.com/office/drawing/2014/main" id="{A3F7F226-FCAC-7ACF-BE60-305ED21DA582}"/>
                </a:ext>
              </a:extLst>
            </p:cNvPr>
            <p:cNvSpPr/>
            <p:nvPr/>
          </p:nvSpPr>
          <p:spPr>
            <a:xfrm>
              <a:off x="5326812" y="3760456"/>
              <a:ext cx="226922" cy="288524"/>
            </a:xfrm>
            <a:custGeom>
              <a:avLst/>
              <a:gdLst/>
              <a:ahLst/>
              <a:cxnLst/>
              <a:rect l="l" t="t" r="r" b="b"/>
              <a:pathLst>
                <a:path w="302563" h="384698" extrusionOk="0">
                  <a:moveTo>
                    <a:pt x="59410" y="0"/>
                  </a:moveTo>
                  <a:lnTo>
                    <a:pt x="82134" y="4545"/>
                  </a:lnTo>
                  <a:lnTo>
                    <a:pt x="82134" y="27270"/>
                  </a:lnTo>
                  <a:lnTo>
                    <a:pt x="93497" y="36360"/>
                  </a:lnTo>
                  <a:lnTo>
                    <a:pt x="118494" y="36360"/>
                  </a:lnTo>
                  <a:lnTo>
                    <a:pt x="161671" y="70447"/>
                  </a:lnTo>
                  <a:lnTo>
                    <a:pt x="177578" y="70447"/>
                  </a:lnTo>
                  <a:lnTo>
                    <a:pt x="184395" y="70447"/>
                  </a:lnTo>
                  <a:lnTo>
                    <a:pt x="195758" y="70447"/>
                  </a:lnTo>
                  <a:lnTo>
                    <a:pt x="216210" y="74992"/>
                  </a:lnTo>
                  <a:lnTo>
                    <a:pt x="227572" y="59084"/>
                  </a:lnTo>
                  <a:lnTo>
                    <a:pt x="263931" y="43177"/>
                  </a:lnTo>
                  <a:lnTo>
                    <a:pt x="279839" y="59084"/>
                  </a:lnTo>
                  <a:lnTo>
                    <a:pt x="302563" y="59084"/>
                  </a:lnTo>
                  <a:lnTo>
                    <a:pt x="290063" y="73370"/>
                  </a:lnTo>
                  <a:lnTo>
                    <a:pt x="295420" y="73370"/>
                  </a:lnTo>
                  <a:lnTo>
                    <a:pt x="270749" y="101566"/>
                  </a:lnTo>
                  <a:lnTo>
                    <a:pt x="270749" y="231792"/>
                  </a:lnTo>
                  <a:lnTo>
                    <a:pt x="291201" y="263606"/>
                  </a:lnTo>
                  <a:lnTo>
                    <a:pt x="278502" y="269250"/>
                  </a:lnTo>
                  <a:lnTo>
                    <a:pt x="284058" y="277892"/>
                  </a:lnTo>
                  <a:lnTo>
                    <a:pt x="263606" y="286982"/>
                  </a:lnTo>
                  <a:lnTo>
                    <a:pt x="252243" y="305162"/>
                  </a:lnTo>
                  <a:lnTo>
                    <a:pt x="241336" y="308278"/>
                  </a:lnTo>
                  <a:lnTo>
                    <a:pt x="238934" y="322690"/>
                  </a:lnTo>
                  <a:lnTo>
                    <a:pt x="233220" y="328405"/>
                  </a:lnTo>
                  <a:lnTo>
                    <a:pt x="231791" y="336976"/>
                  </a:lnTo>
                  <a:lnTo>
                    <a:pt x="224894" y="343874"/>
                  </a:lnTo>
                  <a:lnTo>
                    <a:pt x="220755" y="359050"/>
                  </a:lnTo>
                  <a:lnTo>
                    <a:pt x="216722" y="361930"/>
                  </a:lnTo>
                  <a:lnTo>
                    <a:pt x="213612" y="373336"/>
                  </a:lnTo>
                  <a:lnTo>
                    <a:pt x="197704" y="384698"/>
                  </a:lnTo>
                  <a:lnTo>
                    <a:pt x="145438" y="348339"/>
                  </a:lnTo>
                  <a:lnTo>
                    <a:pt x="138620" y="330159"/>
                  </a:lnTo>
                  <a:lnTo>
                    <a:pt x="4545" y="255168"/>
                  </a:lnTo>
                  <a:lnTo>
                    <a:pt x="0" y="250623"/>
                  </a:lnTo>
                  <a:lnTo>
                    <a:pt x="0" y="211991"/>
                  </a:lnTo>
                  <a:lnTo>
                    <a:pt x="7143" y="201991"/>
                  </a:lnTo>
                  <a:lnTo>
                    <a:pt x="7143" y="197705"/>
                  </a:lnTo>
                  <a:lnTo>
                    <a:pt x="18506" y="181798"/>
                  </a:lnTo>
                  <a:lnTo>
                    <a:pt x="37310" y="156725"/>
                  </a:lnTo>
                  <a:lnTo>
                    <a:pt x="43177" y="143817"/>
                  </a:lnTo>
                  <a:lnTo>
                    <a:pt x="27270" y="100640"/>
                  </a:lnTo>
                  <a:lnTo>
                    <a:pt x="20452" y="84733"/>
                  </a:lnTo>
                  <a:lnTo>
                    <a:pt x="4545" y="57463"/>
                  </a:lnTo>
                  <a:lnTo>
                    <a:pt x="14320" y="47689"/>
                  </a:lnTo>
                  <a:lnTo>
                    <a:pt x="11688" y="43177"/>
                  </a:lnTo>
                  <a:lnTo>
                    <a:pt x="34413" y="20452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219;p30">
              <a:extLst>
                <a:ext uri="{FF2B5EF4-FFF2-40B4-BE49-F238E27FC236}">
                  <a16:creationId xmlns:a16="http://schemas.microsoft.com/office/drawing/2014/main" id="{AF82C17E-4F73-39F5-D525-2E77351CF1A1}"/>
                </a:ext>
              </a:extLst>
            </p:cNvPr>
            <p:cNvSpPr/>
            <p:nvPr/>
          </p:nvSpPr>
          <p:spPr>
            <a:xfrm>
              <a:off x="5197444" y="3948262"/>
              <a:ext cx="51293" cy="54784"/>
            </a:xfrm>
            <a:custGeom>
              <a:avLst/>
              <a:gdLst/>
              <a:ahLst/>
              <a:cxnLst/>
              <a:rect l="l" t="t" r="r" b="b"/>
              <a:pathLst>
                <a:path w="68391" h="73045" extrusionOk="0">
                  <a:moveTo>
                    <a:pt x="57029" y="0"/>
                  </a:moveTo>
                  <a:lnTo>
                    <a:pt x="68391" y="22725"/>
                  </a:lnTo>
                  <a:lnTo>
                    <a:pt x="68391" y="43177"/>
                  </a:lnTo>
                  <a:lnTo>
                    <a:pt x="63629" y="46034"/>
                  </a:lnTo>
                  <a:lnTo>
                    <a:pt x="63629" y="50320"/>
                  </a:lnTo>
                  <a:lnTo>
                    <a:pt x="52267" y="57138"/>
                  </a:lnTo>
                  <a:lnTo>
                    <a:pt x="36360" y="50320"/>
                  </a:lnTo>
                  <a:lnTo>
                    <a:pt x="20452" y="73045"/>
                  </a:lnTo>
                  <a:lnTo>
                    <a:pt x="0" y="73045"/>
                  </a:lnTo>
                  <a:lnTo>
                    <a:pt x="4545" y="50320"/>
                  </a:lnTo>
                  <a:lnTo>
                    <a:pt x="8712" y="46153"/>
                  </a:lnTo>
                  <a:lnTo>
                    <a:pt x="9090" y="44262"/>
                  </a:lnTo>
                  <a:lnTo>
                    <a:pt x="9090" y="23051"/>
                  </a:lnTo>
                  <a:lnTo>
                    <a:pt x="13852" y="19241"/>
                  </a:lnTo>
                  <a:lnTo>
                    <a:pt x="13852" y="15908"/>
                  </a:lnTo>
                  <a:lnTo>
                    <a:pt x="25214" y="6817"/>
                  </a:lnTo>
                  <a:lnTo>
                    <a:pt x="36577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220;p30">
              <a:extLst>
                <a:ext uri="{FF2B5EF4-FFF2-40B4-BE49-F238E27FC236}">
                  <a16:creationId xmlns:a16="http://schemas.microsoft.com/office/drawing/2014/main" id="{3D178992-2694-9209-FB73-DCE2E28CF6BA}"/>
                </a:ext>
              </a:extLst>
            </p:cNvPr>
            <p:cNvSpPr/>
            <p:nvPr/>
          </p:nvSpPr>
          <p:spPr>
            <a:xfrm>
              <a:off x="5200690" y="3943067"/>
              <a:ext cx="310517" cy="301996"/>
            </a:xfrm>
            <a:custGeom>
              <a:avLst/>
              <a:gdLst/>
              <a:ahLst/>
              <a:cxnLst/>
              <a:rect l="l" t="t" r="r" b="b"/>
              <a:pathLst>
                <a:path w="414022" h="402661" extrusionOk="0">
                  <a:moveTo>
                    <a:pt x="54539" y="0"/>
                  </a:moveTo>
                  <a:lnTo>
                    <a:pt x="97716" y="0"/>
                  </a:lnTo>
                  <a:lnTo>
                    <a:pt x="172707" y="0"/>
                  </a:lnTo>
                  <a:lnTo>
                    <a:pt x="172707" y="4545"/>
                  </a:lnTo>
                  <a:lnTo>
                    <a:pt x="181609" y="9524"/>
                  </a:lnTo>
                  <a:lnTo>
                    <a:pt x="182231" y="9524"/>
                  </a:lnTo>
                  <a:lnTo>
                    <a:pt x="182231" y="9872"/>
                  </a:lnTo>
                  <a:lnTo>
                    <a:pt x="306782" y="79537"/>
                  </a:lnTo>
                  <a:lnTo>
                    <a:pt x="308774" y="84848"/>
                  </a:lnTo>
                  <a:lnTo>
                    <a:pt x="316306" y="89061"/>
                  </a:lnTo>
                  <a:lnTo>
                    <a:pt x="321653" y="103319"/>
                  </a:lnTo>
                  <a:lnTo>
                    <a:pt x="365866" y="134076"/>
                  </a:lnTo>
                  <a:lnTo>
                    <a:pt x="365016" y="136383"/>
                  </a:lnTo>
                  <a:lnTo>
                    <a:pt x="375390" y="143600"/>
                  </a:lnTo>
                  <a:lnTo>
                    <a:pt x="359483" y="186777"/>
                  </a:lnTo>
                  <a:lnTo>
                    <a:pt x="359483" y="205324"/>
                  </a:lnTo>
                  <a:lnTo>
                    <a:pt x="372684" y="215885"/>
                  </a:lnTo>
                  <a:lnTo>
                    <a:pt x="377229" y="220430"/>
                  </a:lnTo>
                  <a:lnTo>
                    <a:pt x="376918" y="221177"/>
                  </a:lnTo>
                  <a:lnTo>
                    <a:pt x="382208" y="225409"/>
                  </a:lnTo>
                  <a:lnTo>
                    <a:pt x="386753" y="229954"/>
                  </a:lnTo>
                  <a:lnTo>
                    <a:pt x="375390" y="257223"/>
                  </a:lnTo>
                  <a:lnTo>
                    <a:pt x="375390" y="268586"/>
                  </a:lnTo>
                  <a:lnTo>
                    <a:pt x="375390" y="284493"/>
                  </a:lnTo>
                  <a:lnTo>
                    <a:pt x="386753" y="304945"/>
                  </a:lnTo>
                  <a:lnTo>
                    <a:pt x="401490" y="340736"/>
                  </a:lnTo>
                  <a:lnTo>
                    <a:pt x="404498" y="343143"/>
                  </a:lnTo>
                  <a:lnTo>
                    <a:pt x="403332" y="344115"/>
                  </a:lnTo>
                  <a:lnTo>
                    <a:pt x="414022" y="352667"/>
                  </a:lnTo>
                  <a:lnTo>
                    <a:pt x="386753" y="375392"/>
                  </a:lnTo>
                  <a:lnTo>
                    <a:pt x="348121" y="386754"/>
                  </a:lnTo>
                  <a:lnTo>
                    <a:pt x="323124" y="386754"/>
                  </a:lnTo>
                  <a:lnTo>
                    <a:pt x="311762" y="395844"/>
                  </a:lnTo>
                  <a:lnTo>
                    <a:pt x="284492" y="395844"/>
                  </a:lnTo>
                  <a:lnTo>
                    <a:pt x="273130" y="402661"/>
                  </a:lnTo>
                  <a:lnTo>
                    <a:pt x="229953" y="395844"/>
                  </a:lnTo>
                  <a:lnTo>
                    <a:pt x="204956" y="395844"/>
                  </a:lnTo>
                  <a:lnTo>
                    <a:pt x="202688" y="386320"/>
                  </a:lnTo>
                  <a:lnTo>
                    <a:pt x="195432" y="386320"/>
                  </a:lnTo>
                  <a:lnTo>
                    <a:pt x="184070" y="338598"/>
                  </a:lnTo>
                  <a:lnTo>
                    <a:pt x="173532" y="319630"/>
                  </a:lnTo>
                  <a:lnTo>
                    <a:pt x="139055" y="309490"/>
                  </a:lnTo>
                  <a:lnTo>
                    <a:pt x="118602" y="300400"/>
                  </a:lnTo>
                  <a:lnTo>
                    <a:pt x="91333" y="293583"/>
                  </a:lnTo>
                  <a:lnTo>
                    <a:pt x="79971" y="289038"/>
                  </a:lnTo>
                  <a:lnTo>
                    <a:pt x="64063" y="277675"/>
                  </a:lnTo>
                  <a:lnTo>
                    <a:pt x="62383" y="273754"/>
                  </a:lnTo>
                  <a:lnTo>
                    <a:pt x="54539" y="268151"/>
                  </a:lnTo>
                  <a:lnTo>
                    <a:pt x="35836" y="224511"/>
                  </a:lnTo>
                  <a:lnTo>
                    <a:pt x="20887" y="214046"/>
                  </a:lnTo>
                  <a:lnTo>
                    <a:pt x="20348" y="210812"/>
                  </a:lnTo>
                  <a:lnTo>
                    <a:pt x="11363" y="204522"/>
                  </a:lnTo>
                  <a:lnTo>
                    <a:pt x="6817" y="177253"/>
                  </a:lnTo>
                  <a:lnTo>
                    <a:pt x="11363" y="161345"/>
                  </a:lnTo>
                  <a:lnTo>
                    <a:pt x="0" y="129531"/>
                  </a:lnTo>
                  <a:lnTo>
                    <a:pt x="18180" y="129531"/>
                  </a:lnTo>
                  <a:lnTo>
                    <a:pt x="34087" y="113624"/>
                  </a:lnTo>
                  <a:lnTo>
                    <a:pt x="43177" y="90899"/>
                  </a:lnTo>
                  <a:lnTo>
                    <a:pt x="54539" y="86354"/>
                  </a:lnTo>
                  <a:lnTo>
                    <a:pt x="54539" y="74992"/>
                  </a:lnTo>
                  <a:lnTo>
                    <a:pt x="49994" y="63629"/>
                  </a:lnTo>
                  <a:lnTo>
                    <a:pt x="43177" y="54539"/>
                  </a:lnTo>
                  <a:lnTo>
                    <a:pt x="54539" y="47722"/>
                  </a:lnTo>
                  <a:lnTo>
                    <a:pt x="61357" y="27270"/>
                  </a:lnTo>
                  <a:lnTo>
                    <a:pt x="4317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221;p30">
              <a:extLst>
                <a:ext uri="{FF2B5EF4-FFF2-40B4-BE49-F238E27FC236}">
                  <a16:creationId xmlns:a16="http://schemas.microsoft.com/office/drawing/2014/main" id="{A71E0E72-8EFE-0A9A-60B2-BF0995B78FEA}"/>
                </a:ext>
              </a:extLst>
            </p:cNvPr>
            <p:cNvSpPr/>
            <p:nvPr/>
          </p:nvSpPr>
          <p:spPr>
            <a:xfrm>
              <a:off x="5297999" y="4166257"/>
              <a:ext cx="88789" cy="220105"/>
            </a:xfrm>
            <a:custGeom>
              <a:avLst/>
              <a:gdLst/>
              <a:ahLst/>
              <a:cxnLst/>
              <a:rect l="l" t="t" r="r" b="b"/>
              <a:pathLst>
                <a:path w="118385" h="293473" extrusionOk="0">
                  <a:moveTo>
                    <a:pt x="9307" y="0"/>
                  </a:moveTo>
                  <a:lnTo>
                    <a:pt x="47939" y="11363"/>
                  </a:lnTo>
                  <a:lnTo>
                    <a:pt x="52484" y="22725"/>
                  </a:lnTo>
                  <a:lnTo>
                    <a:pt x="63846" y="38632"/>
                  </a:lnTo>
                  <a:lnTo>
                    <a:pt x="75209" y="86354"/>
                  </a:lnTo>
                  <a:lnTo>
                    <a:pt x="63846" y="120441"/>
                  </a:lnTo>
                  <a:lnTo>
                    <a:pt x="75209" y="161345"/>
                  </a:lnTo>
                  <a:lnTo>
                    <a:pt x="91116" y="161345"/>
                  </a:lnTo>
                  <a:lnTo>
                    <a:pt x="100206" y="179525"/>
                  </a:lnTo>
                  <a:lnTo>
                    <a:pt x="118385" y="204522"/>
                  </a:lnTo>
                  <a:lnTo>
                    <a:pt x="118385" y="254516"/>
                  </a:lnTo>
                  <a:lnTo>
                    <a:pt x="113623" y="255706"/>
                  </a:lnTo>
                  <a:lnTo>
                    <a:pt x="113623" y="261659"/>
                  </a:lnTo>
                  <a:lnTo>
                    <a:pt x="98041" y="265554"/>
                  </a:lnTo>
                  <a:lnTo>
                    <a:pt x="91116" y="286330"/>
                  </a:lnTo>
                  <a:lnTo>
                    <a:pt x="89330" y="284545"/>
                  </a:lnTo>
                  <a:lnTo>
                    <a:pt x="86354" y="293473"/>
                  </a:lnTo>
                  <a:lnTo>
                    <a:pt x="63629" y="270749"/>
                  </a:lnTo>
                  <a:lnTo>
                    <a:pt x="59084" y="245752"/>
                  </a:lnTo>
                  <a:lnTo>
                    <a:pt x="70447" y="227572"/>
                  </a:lnTo>
                  <a:lnTo>
                    <a:pt x="63629" y="211665"/>
                  </a:lnTo>
                  <a:lnTo>
                    <a:pt x="54539" y="202575"/>
                  </a:lnTo>
                  <a:lnTo>
                    <a:pt x="43177" y="202575"/>
                  </a:lnTo>
                  <a:lnTo>
                    <a:pt x="20452" y="186668"/>
                  </a:lnTo>
                  <a:lnTo>
                    <a:pt x="0" y="175305"/>
                  </a:lnTo>
                  <a:lnTo>
                    <a:pt x="15907" y="143491"/>
                  </a:lnTo>
                  <a:lnTo>
                    <a:pt x="20452" y="132129"/>
                  </a:lnTo>
                  <a:lnTo>
                    <a:pt x="15907" y="100314"/>
                  </a:lnTo>
                  <a:lnTo>
                    <a:pt x="20452" y="66227"/>
                  </a:lnTo>
                  <a:lnTo>
                    <a:pt x="24717" y="62816"/>
                  </a:lnTo>
                  <a:lnTo>
                    <a:pt x="25214" y="59084"/>
                  </a:lnTo>
                  <a:lnTo>
                    <a:pt x="30773" y="54637"/>
                  </a:lnTo>
                  <a:lnTo>
                    <a:pt x="20452" y="29868"/>
                  </a:lnTo>
                  <a:lnTo>
                    <a:pt x="4545" y="7143"/>
                  </a:lnTo>
                  <a:lnTo>
                    <a:pt x="16838" y="1075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222;p30">
              <a:extLst>
                <a:ext uri="{FF2B5EF4-FFF2-40B4-BE49-F238E27FC236}">
                  <a16:creationId xmlns:a16="http://schemas.microsoft.com/office/drawing/2014/main" id="{06A7E2D6-49D0-50BA-F081-9E6B7D9761EF}"/>
                </a:ext>
              </a:extLst>
            </p:cNvPr>
            <p:cNvSpPr/>
            <p:nvPr/>
          </p:nvSpPr>
          <p:spPr>
            <a:xfrm>
              <a:off x="5224470" y="4202210"/>
              <a:ext cx="300291" cy="484361"/>
            </a:xfrm>
            <a:custGeom>
              <a:avLst/>
              <a:gdLst/>
              <a:ahLst/>
              <a:cxnLst/>
              <a:rect l="l" t="t" r="r" b="b"/>
              <a:pathLst>
                <a:path w="400388" h="645815" extrusionOk="0">
                  <a:moveTo>
                    <a:pt x="379936" y="0"/>
                  </a:moveTo>
                  <a:lnTo>
                    <a:pt x="391298" y="15907"/>
                  </a:lnTo>
                  <a:lnTo>
                    <a:pt x="384481" y="54539"/>
                  </a:lnTo>
                  <a:lnTo>
                    <a:pt x="391298" y="86354"/>
                  </a:lnTo>
                  <a:lnTo>
                    <a:pt x="395843" y="145438"/>
                  </a:lnTo>
                  <a:lnTo>
                    <a:pt x="400388" y="161345"/>
                  </a:lnTo>
                  <a:lnTo>
                    <a:pt x="391298" y="188615"/>
                  </a:lnTo>
                  <a:lnTo>
                    <a:pt x="375391" y="215884"/>
                  </a:lnTo>
                  <a:lnTo>
                    <a:pt x="352666" y="243154"/>
                  </a:lnTo>
                  <a:lnTo>
                    <a:pt x="351616" y="243463"/>
                  </a:lnTo>
                  <a:lnTo>
                    <a:pt x="347904" y="247917"/>
                  </a:lnTo>
                  <a:lnTo>
                    <a:pt x="346853" y="248226"/>
                  </a:lnTo>
                  <a:lnTo>
                    <a:pt x="343142" y="252679"/>
                  </a:lnTo>
                  <a:lnTo>
                    <a:pt x="304511" y="264041"/>
                  </a:lnTo>
                  <a:lnTo>
                    <a:pt x="268151" y="284493"/>
                  </a:lnTo>
                  <a:lnTo>
                    <a:pt x="224974" y="323125"/>
                  </a:lnTo>
                  <a:lnTo>
                    <a:pt x="210868" y="327156"/>
                  </a:lnTo>
                  <a:lnTo>
                    <a:pt x="191321" y="349960"/>
                  </a:lnTo>
                  <a:lnTo>
                    <a:pt x="189923" y="350799"/>
                  </a:lnTo>
                  <a:lnTo>
                    <a:pt x="186559" y="354723"/>
                  </a:lnTo>
                  <a:lnTo>
                    <a:pt x="185159" y="355563"/>
                  </a:lnTo>
                  <a:lnTo>
                    <a:pt x="181797" y="359485"/>
                  </a:lnTo>
                  <a:lnTo>
                    <a:pt x="179182" y="361054"/>
                  </a:lnTo>
                  <a:lnTo>
                    <a:pt x="175414" y="381774"/>
                  </a:lnTo>
                  <a:lnTo>
                    <a:pt x="191321" y="415861"/>
                  </a:lnTo>
                  <a:lnTo>
                    <a:pt x="202684" y="436313"/>
                  </a:lnTo>
                  <a:lnTo>
                    <a:pt x="202684" y="447676"/>
                  </a:lnTo>
                  <a:lnTo>
                    <a:pt x="207229" y="447676"/>
                  </a:lnTo>
                  <a:lnTo>
                    <a:pt x="207229" y="484035"/>
                  </a:lnTo>
                  <a:lnTo>
                    <a:pt x="202684" y="506760"/>
                  </a:lnTo>
                  <a:lnTo>
                    <a:pt x="207229" y="511305"/>
                  </a:lnTo>
                  <a:lnTo>
                    <a:pt x="202684" y="527212"/>
                  </a:lnTo>
                  <a:lnTo>
                    <a:pt x="197923" y="531974"/>
                  </a:lnTo>
                  <a:lnTo>
                    <a:pt x="197922" y="531975"/>
                  </a:lnTo>
                  <a:lnTo>
                    <a:pt x="182015" y="547882"/>
                  </a:lnTo>
                  <a:lnTo>
                    <a:pt x="182014" y="547882"/>
                  </a:lnTo>
                  <a:lnTo>
                    <a:pt x="177253" y="552644"/>
                  </a:lnTo>
                  <a:lnTo>
                    <a:pt x="149983" y="564007"/>
                  </a:lnTo>
                  <a:lnTo>
                    <a:pt x="106806" y="586731"/>
                  </a:lnTo>
                  <a:lnTo>
                    <a:pt x="100423" y="593114"/>
                  </a:lnTo>
                  <a:lnTo>
                    <a:pt x="100423" y="609021"/>
                  </a:lnTo>
                  <a:lnTo>
                    <a:pt x="111785" y="613566"/>
                  </a:lnTo>
                  <a:lnTo>
                    <a:pt x="104968" y="636290"/>
                  </a:lnTo>
                  <a:lnTo>
                    <a:pt x="101868" y="635515"/>
                  </a:lnTo>
                  <a:lnTo>
                    <a:pt x="100206" y="641053"/>
                  </a:lnTo>
                  <a:lnTo>
                    <a:pt x="97105" y="640278"/>
                  </a:lnTo>
                  <a:lnTo>
                    <a:pt x="95444" y="645815"/>
                  </a:lnTo>
                  <a:lnTo>
                    <a:pt x="68174" y="638998"/>
                  </a:lnTo>
                  <a:lnTo>
                    <a:pt x="68174" y="623091"/>
                  </a:lnTo>
                  <a:lnTo>
                    <a:pt x="63629" y="607183"/>
                  </a:lnTo>
                  <a:lnTo>
                    <a:pt x="59084" y="591276"/>
                  </a:lnTo>
                  <a:lnTo>
                    <a:pt x="63629" y="548099"/>
                  </a:lnTo>
                  <a:lnTo>
                    <a:pt x="52267" y="520830"/>
                  </a:lnTo>
                  <a:lnTo>
                    <a:pt x="36360" y="461746"/>
                  </a:lnTo>
                  <a:lnTo>
                    <a:pt x="74992" y="418569"/>
                  </a:lnTo>
                  <a:lnTo>
                    <a:pt x="86354" y="391299"/>
                  </a:lnTo>
                  <a:lnTo>
                    <a:pt x="90899" y="386754"/>
                  </a:lnTo>
                  <a:lnTo>
                    <a:pt x="95444" y="366302"/>
                  </a:lnTo>
                  <a:lnTo>
                    <a:pt x="90899" y="354940"/>
                  </a:lnTo>
                  <a:lnTo>
                    <a:pt x="90899" y="323125"/>
                  </a:lnTo>
                  <a:lnTo>
                    <a:pt x="102261" y="300401"/>
                  </a:lnTo>
                  <a:lnTo>
                    <a:pt x="102261" y="248134"/>
                  </a:lnTo>
                  <a:lnTo>
                    <a:pt x="79537" y="236772"/>
                  </a:lnTo>
                  <a:lnTo>
                    <a:pt x="63629" y="229954"/>
                  </a:lnTo>
                  <a:lnTo>
                    <a:pt x="52267" y="225409"/>
                  </a:lnTo>
                  <a:lnTo>
                    <a:pt x="36360" y="214047"/>
                  </a:lnTo>
                  <a:lnTo>
                    <a:pt x="4545" y="214047"/>
                  </a:lnTo>
                  <a:lnTo>
                    <a:pt x="4545" y="204957"/>
                  </a:lnTo>
                  <a:lnTo>
                    <a:pt x="0" y="177688"/>
                  </a:lnTo>
                  <a:lnTo>
                    <a:pt x="5303" y="176173"/>
                  </a:lnTo>
                  <a:lnTo>
                    <a:pt x="4762" y="172926"/>
                  </a:lnTo>
                  <a:lnTo>
                    <a:pt x="4762" y="172926"/>
                  </a:lnTo>
                  <a:lnTo>
                    <a:pt x="4762" y="172925"/>
                  </a:lnTo>
                  <a:lnTo>
                    <a:pt x="10065" y="171410"/>
                  </a:lnTo>
                  <a:lnTo>
                    <a:pt x="9524" y="168163"/>
                  </a:lnTo>
                  <a:lnTo>
                    <a:pt x="120875" y="136348"/>
                  </a:lnTo>
                  <a:lnTo>
                    <a:pt x="143600" y="152255"/>
                  </a:lnTo>
                  <a:lnTo>
                    <a:pt x="154962" y="152255"/>
                  </a:lnTo>
                  <a:lnTo>
                    <a:pt x="170869" y="156800"/>
                  </a:lnTo>
                  <a:lnTo>
                    <a:pt x="170869" y="172708"/>
                  </a:lnTo>
                  <a:lnTo>
                    <a:pt x="159507" y="195432"/>
                  </a:lnTo>
                  <a:lnTo>
                    <a:pt x="164052" y="215884"/>
                  </a:lnTo>
                  <a:lnTo>
                    <a:pt x="182242" y="237712"/>
                  </a:lnTo>
                  <a:lnTo>
                    <a:pt x="186342" y="225409"/>
                  </a:lnTo>
                  <a:lnTo>
                    <a:pt x="189743" y="224729"/>
                  </a:lnTo>
                  <a:lnTo>
                    <a:pt x="191104" y="220646"/>
                  </a:lnTo>
                  <a:lnTo>
                    <a:pt x="194506" y="219966"/>
                  </a:lnTo>
                  <a:lnTo>
                    <a:pt x="195866" y="215884"/>
                  </a:lnTo>
                  <a:lnTo>
                    <a:pt x="208443" y="213369"/>
                  </a:lnTo>
                  <a:lnTo>
                    <a:pt x="204522" y="166325"/>
                  </a:lnTo>
                  <a:lnTo>
                    <a:pt x="186342" y="139056"/>
                  </a:lnTo>
                  <a:lnTo>
                    <a:pt x="177253" y="127693"/>
                  </a:lnTo>
                  <a:lnTo>
                    <a:pt x="161345" y="127693"/>
                  </a:lnTo>
                  <a:lnTo>
                    <a:pt x="149983" y="79972"/>
                  </a:lnTo>
                  <a:lnTo>
                    <a:pt x="161345" y="52702"/>
                  </a:lnTo>
                  <a:lnTo>
                    <a:pt x="164123" y="52702"/>
                  </a:lnTo>
                  <a:lnTo>
                    <a:pt x="166107" y="47939"/>
                  </a:lnTo>
                  <a:lnTo>
                    <a:pt x="168885" y="47939"/>
                  </a:lnTo>
                  <a:lnTo>
                    <a:pt x="170869" y="43177"/>
                  </a:lnTo>
                  <a:lnTo>
                    <a:pt x="195866" y="43177"/>
                  </a:lnTo>
                  <a:lnTo>
                    <a:pt x="239043" y="49994"/>
                  </a:lnTo>
                  <a:lnTo>
                    <a:pt x="250406" y="43177"/>
                  </a:lnTo>
                  <a:lnTo>
                    <a:pt x="277675" y="43177"/>
                  </a:lnTo>
                  <a:lnTo>
                    <a:pt x="293582" y="34087"/>
                  </a:lnTo>
                  <a:lnTo>
                    <a:pt x="314035" y="34087"/>
                  </a:lnTo>
                  <a:lnTo>
                    <a:pt x="352666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223;p30">
              <a:extLst>
                <a:ext uri="{FF2B5EF4-FFF2-40B4-BE49-F238E27FC236}">
                  <a16:creationId xmlns:a16="http://schemas.microsoft.com/office/drawing/2014/main" id="{90B7EE79-2C17-8A16-9F5D-7F45C6857082}"/>
                </a:ext>
              </a:extLst>
            </p:cNvPr>
            <p:cNvSpPr/>
            <p:nvPr/>
          </p:nvSpPr>
          <p:spPr>
            <a:xfrm>
              <a:off x="5195657" y="3982431"/>
              <a:ext cx="49507" cy="77223"/>
            </a:xfrm>
            <a:custGeom>
              <a:avLst/>
              <a:gdLst/>
              <a:ahLst/>
              <a:cxnLst/>
              <a:rect l="l" t="t" r="r" b="b"/>
              <a:pathLst>
                <a:path w="66010" h="102964" extrusionOk="0">
                  <a:moveTo>
                    <a:pt x="38741" y="0"/>
                  </a:moveTo>
                  <a:lnTo>
                    <a:pt x="54648" y="6818"/>
                  </a:lnTo>
                  <a:lnTo>
                    <a:pt x="61465" y="15908"/>
                  </a:lnTo>
                  <a:lnTo>
                    <a:pt x="66010" y="27270"/>
                  </a:lnTo>
                  <a:lnTo>
                    <a:pt x="66010" y="38632"/>
                  </a:lnTo>
                  <a:lnTo>
                    <a:pt x="63629" y="39585"/>
                  </a:lnTo>
                  <a:lnTo>
                    <a:pt x="63629" y="49878"/>
                  </a:lnTo>
                  <a:lnTo>
                    <a:pt x="52267" y="55466"/>
                  </a:lnTo>
                  <a:lnTo>
                    <a:pt x="43177" y="83406"/>
                  </a:lnTo>
                  <a:lnTo>
                    <a:pt x="27270" y="94582"/>
                  </a:lnTo>
                  <a:lnTo>
                    <a:pt x="9090" y="102964"/>
                  </a:lnTo>
                  <a:lnTo>
                    <a:pt x="9090" y="49878"/>
                  </a:lnTo>
                  <a:lnTo>
                    <a:pt x="0" y="30320"/>
                  </a:lnTo>
                  <a:lnTo>
                    <a:pt x="6722" y="30320"/>
                  </a:lnTo>
                  <a:lnTo>
                    <a:pt x="2381" y="22725"/>
                  </a:lnTo>
                  <a:lnTo>
                    <a:pt x="22833" y="22725"/>
                  </a:lnTo>
                  <a:lnTo>
                    <a:pt x="33245" y="7852"/>
                  </a:lnTo>
                  <a:lnTo>
                    <a:pt x="36360" y="2380"/>
                  </a:lnTo>
                  <a:lnTo>
                    <a:pt x="36882" y="265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224;p30">
              <a:extLst>
                <a:ext uri="{FF2B5EF4-FFF2-40B4-BE49-F238E27FC236}">
                  <a16:creationId xmlns:a16="http://schemas.microsoft.com/office/drawing/2014/main" id="{3B22917F-A708-5074-0D31-DE1BDBD46989}"/>
                </a:ext>
              </a:extLst>
            </p:cNvPr>
            <p:cNvSpPr/>
            <p:nvPr/>
          </p:nvSpPr>
          <p:spPr>
            <a:xfrm>
              <a:off x="4997953" y="4145967"/>
              <a:ext cx="325693" cy="276349"/>
            </a:xfrm>
            <a:custGeom>
              <a:avLst/>
              <a:gdLst/>
              <a:ahLst/>
              <a:cxnLst/>
              <a:rect l="l" t="t" r="r" b="b"/>
              <a:pathLst>
                <a:path w="434258" h="368465" extrusionOk="0">
                  <a:moveTo>
                    <a:pt x="316090" y="0"/>
                  </a:moveTo>
                  <a:lnTo>
                    <a:pt x="331997" y="0"/>
                  </a:lnTo>
                  <a:lnTo>
                    <a:pt x="347905" y="11363"/>
                  </a:lnTo>
                  <a:lnTo>
                    <a:pt x="359267" y="15908"/>
                  </a:lnTo>
                  <a:lnTo>
                    <a:pt x="386536" y="27270"/>
                  </a:lnTo>
                  <a:lnTo>
                    <a:pt x="406989" y="31815"/>
                  </a:lnTo>
                  <a:lnTo>
                    <a:pt x="422896" y="54539"/>
                  </a:lnTo>
                  <a:lnTo>
                    <a:pt x="434258" y="81809"/>
                  </a:lnTo>
                  <a:lnTo>
                    <a:pt x="428454" y="86452"/>
                  </a:lnTo>
                  <a:lnTo>
                    <a:pt x="429496" y="88952"/>
                  </a:lnTo>
                  <a:lnTo>
                    <a:pt x="422398" y="94630"/>
                  </a:lnTo>
                  <a:lnTo>
                    <a:pt x="418351" y="124986"/>
                  </a:lnTo>
                  <a:lnTo>
                    <a:pt x="422896" y="156800"/>
                  </a:lnTo>
                  <a:lnTo>
                    <a:pt x="417989" y="162933"/>
                  </a:lnTo>
                  <a:lnTo>
                    <a:pt x="418134" y="163943"/>
                  </a:lnTo>
                  <a:lnTo>
                    <a:pt x="413038" y="170313"/>
                  </a:lnTo>
                  <a:lnTo>
                    <a:pt x="402444" y="199977"/>
                  </a:lnTo>
                  <a:lnTo>
                    <a:pt x="422896" y="211340"/>
                  </a:lnTo>
                  <a:lnTo>
                    <a:pt x="411260" y="214664"/>
                  </a:lnTo>
                  <a:lnTo>
                    <a:pt x="418134" y="218483"/>
                  </a:lnTo>
                  <a:lnTo>
                    <a:pt x="312465" y="248674"/>
                  </a:lnTo>
                  <a:lnTo>
                    <a:pt x="316090" y="270424"/>
                  </a:lnTo>
                  <a:lnTo>
                    <a:pt x="310276" y="271254"/>
                  </a:lnTo>
                  <a:lnTo>
                    <a:pt x="311328" y="277567"/>
                  </a:lnTo>
                  <a:lnTo>
                    <a:pt x="279514" y="282112"/>
                  </a:lnTo>
                  <a:lnTo>
                    <a:pt x="264797" y="296828"/>
                  </a:lnTo>
                  <a:lnTo>
                    <a:pt x="261551" y="302238"/>
                  </a:lnTo>
                  <a:lnTo>
                    <a:pt x="260976" y="302402"/>
                  </a:lnTo>
                  <a:lnTo>
                    <a:pt x="256789" y="309381"/>
                  </a:lnTo>
                  <a:lnTo>
                    <a:pt x="240882" y="313926"/>
                  </a:lnTo>
                  <a:lnTo>
                    <a:pt x="209067" y="345741"/>
                  </a:lnTo>
                  <a:lnTo>
                    <a:pt x="193160" y="368465"/>
                  </a:lnTo>
                  <a:lnTo>
                    <a:pt x="177253" y="368465"/>
                  </a:lnTo>
                  <a:lnTo>
                    <a:pt x="165890" y="368465"/>
                  </a:lnTo>
                  <a:lnTo>
                    <a:pt x="122713" y="361648"/>
                  </a:lnTo>
                  <a:lnTo>
                    <a:pt x="118168" y="357103"/>
                  </a:lnTo>
                  <a:lnTo>
                    <a:pt x="102261" y="345741"/>
                  </a:lnTo>
                  <a:lnTo>
                    <a:pt x="79537" y="345741"/>
                  </a:lnTo>
                  <a:lnTo>
                    <a:pt x="47722" y="352558"/>
                  </a:lnTo>
                  <a:lnTo>
                    <a:pt x="27270" y="329833"/>
                  </a:lnTo>
                  <a:lnTo>
                    <a:pt x="0" y="298019"/>
                  </a:lnTo>
                  <a:lnTo>
                    <a:pt x="4545" y="179851"/>
                  </a:lnTo>
                  <a:lnTo>
                    <a:pt x="9033" y="179851"/>
                  </a:lnTo>
                  <a:lnTo>
                    <a:pt x="9307" y="172708"/>
                  </a:lnTo>
                  <a:lnTo>
                    <a:pt x="79537" y="172708"/>
                  </a:lnTo>
                  <a:lnTo>
                    <a:pt x="79537" y="168488"/>
                  </a:lnTo>
                  <a:lnTo>
                    <a:pt x="86354" y="152581"/>
                  </a:lnTo>
                  <a:lnTo>
                    <a:pt x="74992" y="132129"/>
                  </a:lnTo>
                  <a:lnTo>
                    <a:pt x="79537" y="116222"/>
                  </a:lnTo>
                  <a:lnTo>
                    <a:pt x="74992" y="104859"/>
                  </a:lnTo>
                  <a:lnTo>
                    <a:pt x="82611" y="104859"/>
                  </a:lnTo>
                  <a:lnTo>
                    <a:pt x="79754" y="97716"/>
                  </a:lnTo>
                  <a:lnTo>
                    <a:pt x="95661" y="97716"/>
                  </a:lnTo>
                  <a:lnTo>
                    <a:pt x="95661" y="113624"/>
                  </a:lnTo>
                  <a:lnTo>
                    <a:pt x="111568" y="109079"/>
                  </a:lnTo>
                  <a:lnTo>
                    <a:pt x="138838" y="113624"/>
                  </a:lnTo>
                  <a:lnTo>
                    <a:pt x="150200" y="129531"/>
                  </a:lnTo>
                  <a:lnTo>
                    <a:pt x="177470" y="134076"/>
                  </a:lnTo>
                  <a:lnTo>
                    <a:pt x="202467" y="124986"/>
                  </a:lnTo>
                  <a:lnTo>
                    <a:pt x="209284" y="140893"/>
                  </a:lnTo>
                  <a:lnTo>
                    <a:pt x="236554" y="145438"/>
                  </a:lnTo>
                  <a:lnTo>
                    <a:pt x="252461" y="161345"/>
                  </a:lnTo>
                  <a:lnTo>
                    <a:pt x="268368" y="184070"/>
                  </a:lnTo>
                  <a:lnTo>
                    <a:pt x="289615" y="184070"/>
                  </a:lnTo>
                  <a:lnTo>
                    <a:pt x="284058" y="152581"/>
                  </a:lnTo>
                  <a:lnTo>
                    <a:pt x="272696" y="159398"/>
                  </a:lnTo>
                  <a:lnTo>
                    <a:pt x="252244" y="141219"/>
                  </a:lnTo>
                  <a:lnTo>
                    <a:pt x="240882" y="136674"/>
                  </a:lnTo>
                  <a:lnTo>
                    <a:pt x="247699" y="98042"/>
                  </a:lnTo>
                  <a:lnTo>
                    <a:pt x="252244" y="57137"/>
                  </a:lnTo>
                  <a:lnTo>
                    <a:pt x="240882" y="38958"/>
                  </a:lnTo>
                  <a:lnTo>
                    <a:pt x="252244" y="18506"/>
                  </a:lnTo>
                  <a:lnTo>
                    <a:pt x="253264" y="18098"/>
                  </a:lnTo>
                  <a:lnTo>
                    <a:pt x="257006" y="11363"/>
                  </a:lnTo>
                  <a:lnTo>
                    <a:pt x="268368" y="681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225;p30">
              <a:extLst>
                <a:ext uri="{FF2B5EF4-FFF2-40B4-BE49-F238E27FC236}">
                  <a16:creationId xmlns:a16="http://schemas.microsoft.com/office/drawing/2014/main" id="{3652EA5E-4AFC-C8C1-1CBD-68AEB4441883}"/>
                </a:ext>
              </a:extLst>
            </p:cNvPr>
            <p:cNvSpPr/>
            <p:nvPr/>
          </p:nvSpPr>
          <p:spPr>
            <a:xfrm>
              <a:off x="4938134" y="4401294"/>
              <a:ext cx="281952" cy="292258"/>
            </a:xfrm>
            <a:custGeom>
              <a:avLst/>
              <a:gdLst/>
              <a:ahLst/>
              <a:cxnLst/>
              <a:rect l="l" t="t" r="r" b="b"/>
              <a:pathLst>
                <a:path w="375936" h="389677" extrusionOk="0">
                  <a:moveTo>
                    <a:pt x="214591" y="0"/>
                  </a:moveTo>
                  <a:lnTo>
                    <a:pt x="219136" y="4545"/>
                  </a:lnTo>
                  <a:lnTo>
                    <a:pt x="235044" y="31815"/>
                  </a:lnTo>
                  <a:lnTo>
                    <a:pt x="241861" y="43177"/>
                  </a:lnTo>
                  <a:lnTo>
                    <a:pt x="250951" y="65902"/>
                  </a:lnTo>
                  <a:lnTo>
                    <a:pt x="294128" y="106806"/>
                  </a:lnTo>
                  <a:lnTo>
                    <a:pt x="310035" y="113624"/>
                  </a:lnTo>
                  <a:lnTo>
                    <a:pt x="310035" y="124986"/>
                  </a:lnTo>
                  <a:lnTo>
                    <a:pt x="321397" y="149983"/>
                  </a:lnTo>
                  <a:lnTo>
                    <a:pt x="353212" y="156800"/>
                  </a:lnTo>
                  <a:lnTo>
                    <a:pt x="375936" y="172708"/>
                  </a:lnTo>
                  <a:lnTo>
                    <a:pt x="368328" y="177146"/>
                  </a:lnTo>
                  <a:lnTo>
                    <a:pt x="368791" y="177470"/>
                  </a:lnTo>
                  <a:lnTo>
                    <a:pt x="365824" y="179201"/>
                  </a:lnTo>
                  <a:lnTo>
                    <a:pt x="373555" y="184613"/>
                  </a:lnTo>
                  <a:lnTo>
                    <a:pt x="365947" y="189051"/>
                  </a:lnTo>
                  <a:lnTo>
                    <a:pt x="366410" y="189375"/>
                  </a:lnTo>
                  <a:lnTo>
                    <a:pt x="354350" y="196410"/>
                  </a:lnTo>
                  <a:lnTo>
                    <a:pt x="354504" y="196518"/>
                  </a:lnTo>
                  <a:lnTo>
                    <a:pt x="316125" y="218906"/>
                  </a:lnTo>
                  <a:lnTo>
                    <a:pt x="287202" y="243697"/>
                  </a:lnTo>
                  <a:lnTo>
                    <a:pt x="275839" y="270966"/>
                  </a:lnTo>
                  <a:lnTo>
                    <a:pt x="266750" y="286874"/>
                  </a:lnTo>
                  <a:lnTo>
                    <a:pt x="261755" y="287873"/>
                  </a:lnTo>
                  <a:lnTo>
                    <a:pt x="259605" y="291636"/>
                  </a:lnTo>
                  <a:lnTo>
                    <a:pt x="255766" y="292404"/>
                  </a:lnTo>
                  <a:lnTo>
                    <a:pt x="254844" y="294017"/>
                  </a:lnTo>
                  <a:lnTo>
                    <a:pt x="249849" y="295016"/>
                  </a:lnTo>
                  <a:lnTo>
                    <a:pt x="247699" y="298779"/>
                  </a:lnTo>
                  <a:lnTo>
                    <a:pt x="241572" y="300005"/>
                  </a:lnTo>
                  <a:lnTo>
                    <a:pt x="239480" y="307326"/>
                  </a:lnTo>
                  <a:lnTo>
                    <a:pt x="232663" y="318688"/>
                  </a:lnTo>
                  <a:lnTo>
                    <a:pt x="226232" y="322261"/>
                  </a:lnTo>
                  <a:lnTo>
                    <a:pt x="225518" y="323450"/>
                  </a:lnTo>
                  <a:lnTo>
                    <a:pt x="214089" y="329799"/>
                  </a:lnTo>
                  <a:lnTo>
                    <a:pt x="213612" y="330593"/>
                  </a:lnTo>
                  <a:lnTo>
                    <a:pt x="193159" y="341955"/>
                  </a:lnTo>
                  <a:lnTo>
                    <a:pt x="161345" y="341955"/>
                  </a:lnTo>
                  <a:lnTo>
                    <a:pt x="145438" y="330593"/>
                  </a:lnTo>
                  <a:lnTo>
                    <a:pt x="129531" y="326048"/>
                  </a:lnTo>
                  <a:lnTo>
                    <a:pt x="128500" y="326564"/>
                  </a:lnTo>
                  <a:lnTo>
                    <a:pt x="121312" y="339140"/>
                  </a:lnTo>
                  <a:lnTo>
                    <a:pt x="105405" y="350503"/>
                  </a:lnTo>
                  <a:lnTo>
                    <a:pt x="82680" y="373227"/>
                  </a:lnTo>
                  <a:lnTo>
                    <a:pt x="79821" y="373704"/>
                  </a:lnTo>
                  <a:lnTo>
                    <a:pt x="75535" y="377989"/>
                  </a:lnTo>
                  <a:lnTo>
                    <a:pt x="72679" y="378465"/>
                  </a:lnTo>
                  <a:lnTo>
                    <a:pt x="70774" y="380370"/>
                  </a:lnTo>
                  <a:lnTo>
                    <a:pt x="67915" y="380847"/>
                  </a:lnTo>
                  <a:lnTo>
                    <a:pt x="63629" y="385132"/>
                  </a:lnTo>
                  <a:lnTo>
                    <a:pt x="36360" y="389677"/>
                  </a:lnTo>
                  <a:lnTo>
                    <a:pt x="31815" y="373770"/>
                  </a:lnTo>
                  <a:lnTo>
                    <a:pt x="36360" y="346500"/>
                  </a:lnTo>
                  <a:lnTo>
                    <a:pt x="9090" y="310141"/>
                  </a:lnTo>
                  <a:lnTo>
                    <a:pt x="0" y="303324"/>
                  </a:lnTo>
                  <a:lnTo>
                    <a:pt x="0" y="185155"/>
                  </a:lnTo>
                  <a:lnTo>
                    <a:pt x="2381" y="185155"/>
                  </a:lnTo>
                  <a:lnTo>
                    <a:pt x="2381" y="173250"/>
                  </a:lnTo>
                  <a:lnTo>
                    <a:pt x="9526" y="173250"/>
                  </a:lnTo>
                  <a:lnTo>
                    <a:pt x="9526" y="168488"/>
                  </a:lnTo>
                  <a:lnTo>
                    <a:pt x="14287" y="168488"/>
                  </a:lnTo>
                  <a:lnTo>
                    <a:pt x="14287" y="166107"/>
                  </a:lnTo>
                  <a:lnTo>
                    <a:pt x="21432" y="166107"/>
                  </a:lnTo>
                  <a:lnTo>
                    <a:pt x="21432" y="161345"/>
                  </a:lnTo>
                  <a:lnTo>
                    <a:pt x="37531" y="161345"/>
                  </a:lnTo>
                  <a:lnTo>
                    <a:pt x="43177" y="46535"/>
                  </a:lnTo>
                  <a:lnTo>
                    <a:pt x="44973" y="46535"/>
                  </a:lnTo>
                  <a:lnTo>
                    <a:pt x="45558" y="34630"/>
                  </a:lnTo>
                  <a:lnTo>
                    <a:pt x="52469" y="34630"/>
                  </a:lnTo>
                  <a:lnTo>
                    <a:pt x="52703" y="29868"/>
                  </a:lnTo>
                  <a:lnTo>
                    <a:pt x="57347" y="29868"/>
                  </a:lnTo>
                  <a:lnTo>
                    <a:pt x="57464" y="27487"/>
                  </a:lnTo>
                  <a:lnTo>
                    <a:pt x="64375" y="27487"/>
                  </a:lnTo>
                  <a:lnTo>
                    <a:pt x="64609" y="22725"/>
                  </a:lnTo>
                  <a:lnTo>
                    <a:pt x="89606" y="22725"/>
                  </a:lnTo>
                  <a:lnTo>
                    <a:pt x="144145" y="11363"/>
                  </a:lnTo>
                  <a:lnTo>
                    <a:pt x="160052" y="22725"/>
                  </a:lnTo>
                  <a:lnTo>
                    <a:pt x="182777" y="11363"/>
                  </a:lnTo>
                  <a:lnTo>
                    <a:pt x="191867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226;p30">
              <a:extLst>
                <a:ext uri="{FF2B5EF4-FFF2-40B4-BE49-F238E27FC236}">
                  <a16:creationId xmlns:a16="http://schemas.microsoft.com/office/drawing/2014/main" id="{84D32718-A732-51CF-48A5-7BC28572271B}"/>
                </a:ext>
              </a:extLst>
            </p:cNvPr>
            <p:cNvSpPr/>
            <p:nvPr/>
          </p:nvSpPr>
          <p:spPr>
            <a:xfrm>
              <a:off x="5091774" y="4341046"/>
              <a:ext cx="214398" cy="214373"/>
            </a:xfrm>
            <a:custGeom>
              <a:avLst/>
              <a:gdLst/>
              <a:ahLst/>
              <a:cxnLst/>
              <a:rect l="l" t="t" r="r" b="b"/>
              <a:pathLst>
                <a:path w="285864" h="285831" extrusionOk="0">
                  <a:moveTo>
                    <a:pt x="194965" y="0"/>
                  </a:moveTo>
                  <a:lnTo>
                    <a:pt x="194965" y="15908"/>
                  </a:lnTo>
                  <a:lnTo>
                    <a:pt x="226780" y="15908"/>
                  </a:lnTo>
                  <a:lnTo>
                    <a:pt x="242687" y="20452"/>
                  </a:lnTo>
                  <a:lnTo>
                    <a:pt x="249505" y="31815"/>
                  </a:lnTo>
                  <a:lnTo>
                    <a:pt x="269957" y="31815"/>
                  </a:lnTo>
                  <a:lnTo>
                    <a:pt x="285864" y="43177"/>
                  </a:lnTo>
                  <a:lnTo>
                    <a:pt x="285864" y="95444"/>
                  </a:lnTo>
                  <a:lnTo>
                    <a:pt x="281319" y="122713"/>
                  </a:lnTo>
                  <a:lnTo>
                    <a:pt x="281319" y="149983"/>
                  </a:lnTo>
                  <a:lnTo>
                    <a:pt x="285864" y="161345"/>
                  </a:lnTo>
                  <a:lnTo>
                    <a:pt x="281319" y="181797"/>
                  </a:lnTo>
                  <a:lnTo>
                    <a:pt x="279505" y="183611"/>
                  </a:lnTo>
                  <a:lnTo>
                    <a:pt x="274969" y="204022"/>
                  </a:lnTo>
                  <a:lnTo>
                    <a:pt x="270424" y="208567"/>
                  </a:lnTo>
                  <a:lnTo>
                    <a:pt x="259062" y="235837"/>
                  </a:lnTo>
                  <a:lnTo>
                    <a:pt x="220430" y="285831"/>
                  </a:lnTo>
                  <a:lnTo>
                    <a:pt x="199978" y="279014"/>
                  </a:lnTo>
                  <a:lnTo>
                    <a:pt x="188615" y="285831"/>
                  </a:lnTo>
                  <a:lnTo>
                    <a:pt x="172708" y="274469"/>
                  </a:lnTo>
                  <a:lnTo>
                    <a:pt x="156801" y="274469"/>
                  </a:lnTo>
                  <a:lnTo>
                    <a:pt x="134076" y="258562"/>
                  </a:lnTo>
                  <a:lnTo>
                    <a:pt x="102261" y="251744"/>
                  </a:lnTo>
                  <a:lnTo>
                    <a:pt x="90899" y="226747"/>
                  </a:lnTo>
                  <a:lnTo>
                    <a:pt x="90899" y="215385"/>
                  </a:lnTo>
                  <a:lnTo>
                    <a:pt x="74992" y="208567"/>
                  </a:lnTo>
                  <a:lnTo>
                    <a:pt x="31815" y="167663"/>
                  </a:lnTo>
                  <a:lnTo>
                    <a:pt x="27270" y="144938"/>
                  </a:lnTo>
                  <a:lnTo>
                    <a:pt x="15908" y="140393"/>
                  </a:lnTo>
                  <a:lnTo>
                    <a:pt x="0" y="106306"/>
                  </a:lnTo>
                  <a:lnTo>
                    <a:pt x="18052" y="109157"/>
                  </a:lnTo>
                  <a:lnTo>
                    <a:pt x="6350" y="84081"/>
                  </a:lnTo>
                  <a:lnTo>
                    <a:pt x="49527" y="90899"/>
                  </a:lnTo>
                  <a:lnTo>
                    <a:pt x="60890" y="90899"/>
                  </a:lnTo>
                  <a:lnTo>
                    <a:pt x="76797" y="90899"/>
                  </a:lnTo>
                  <a:lnTo>
                    <a:pt x="92704" y="68174"/>
                  </a:lnTo>
                  <a:lnTo>
                    <a:pt x="124519" y="36360"/>
                  </a:lnTo>
                  <a:lnTo>
                    <a:pt x="140426" y="31815"/>
                  </a:lnTo>
                  <a:lnTo>
                    <a:pt x="140426" y="20452"/>
                  </a:lnTo>
                  <a:lnTo>
                    <a:pt x="163151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227;p30">
              <a:extLst>
                <a:ext uri="{FF2B5EF4-FFF2-40B4-BE49-F238E27FC236}">
                  <a16:creationId xmlns:a16="http://schemas.microsoft.com/office/drawing/2014/main" id="{6E8D4E70-E97A-6A1B-BE01-300A121415D4}"/>
                </a:ext>
              </a:extLst>
            </p:cNvPr>
            <p:cNvSpPr/>
            <p:nvPr/>
          </p:nvSpPr>
          <p:spPr>
            <a:xfrm>
              <a:off x="4846347" y="4543327"/>
              <a:ext cx="455063" cy="398820"/>
            </a:xfrm>
            <a:custGeom>
              <a:avLst/>
              <a:gdLst/>
              <a:ahLst/>
              <a:cxnLst/>
              <a:rect l="l" t="t" r="r" b="b"/>
              <a:pathLst>
                <a:path w="267" h="234" extrusionOk="0">
                  <a:moveTo>
                    <a:pt x="220" y="0"/>
                  </a:moveTo>
                  <a:lnTo>
                    <a:pt x="220" y="0"/>
                  </a:lnTo>
                  <a:lnTo>
                    <a:pt x="227" y="2"/>
                  </a:lnTo>
                  <a:lnTo>
                    <a:pt x="234" y="2"/>
                  </a:lnTo>
                  <a:lnTo>
                    <a:pt x="241" y="2"/>
                  </a:lnTo>
                  <a:lnTo>
                    <a:pt x="248" y="28"/>
                  </a:lnTo>
                  <a:lnTo>
                    <a:pt x="253" y="40"/>
                  </a:lnTo>
                  <a:lnTo>
                    <a:pt x="251" y="59"/>
                  </a:lnTo>
                  <a:lnTo>
                    <a:pt x="253" y="66"/>
                  </a:lnTo>
                  <a:lnTo>
                    <a:pt x="244" y="64"/>
                  </a:lnTo>
                  <a:lnTo>
                    <a:pt x="239" y="64"/>
                  </a:lnTo>
                  <a:lnTo>
                    <a:pt x="239" y="68"/>
                  </a:lnTo>
                  <a:lnTo>
                    <a:pt x="234" y="76"/>
                  </a:lnTo>
                  <a:lnTo>
                    <a:pt x="234" y="83"/>
                  </a:lnTo>
                  <a:lnTo>
                    <a:pt x="244" y="92"/>
                  </a:lnTo>
                  <a:lnTo>
                    <a:pt x="253" y="90"/>
                  </a:lnTo>
                  <a:lnTo>
                    <a:pt x="255" y="83"/>
                  </a:lnTo>
                  <a:lnTo>
                    <a:pt x="267" y="83"/>
                  </a:lnTo>
                  <a:lnTo>
                    <a:pt x="265" y="95"/>
                  </a:lnTo>
                  <a:lnTo>
                    <a:pt x="263" y="111"/>
                  </a:lnTo>
                  <a:lnTo>
                    <a:pt x="258" y="118"/>
                  </a:lnTo>
                  <a:lnTo>
                    <a:pt x="246" y="128"/>
                  </a:lnTo>
                  <a:lnTo>
                    <a:pt x="244" y="132"/>
                  </a:lnTo>
                  <a:lnTo>
                    <a:pt x="237" y="139"/>
                  </a:lnTo>
                  <a:lnTo>
                    <a:pt x="232" y="149"/>
                  </a:lnTo>
                  <a:lnTo>
                    <a:pt x="222" y="163"/>
                  </a:lnTo>
                  <a:lnTo>
                    <a:pt x="206" y="182"/>
                  </a:lnTo>
                  <a:lnTo>
                    <a:pt x="194" y="194"/>
                  </a:lnTo>
                  <a:lnTo>
                    <a:pt x="182" y="203"/>
                  </a:lnTo>
                  <a:lnTo>
                    <a:pt x="163" y="211"/>
                  </a:lnTo>
                  <a:lnTo>
                    <a:pt x="156" y="211"/>
                  </a:lnTo>
                  <a:lnTo>
                    <a:pt x="154" y="218"/>
                  </a:lnTo>
                  <a:lnTo>
                    <a:pt x="144" y="215"/>
                  </a:lnTo>
                  <a:lnTo>
                    <a:pt x="135" y="218"/>
                  </a:lnTo>
                  <a:lnTo>
                    <a:pt x="118" y="215"/>
                  </a:lnTo>
                  <a:lnTo>
                    <a:pt x="109" y="218"/>
                  </a:lnTo>
                  <a:lnTo>
                    <a:pt x="102" y="215"/>
                  </a:lnTo>
                  <a:lnTo>
                    <a:pt x="85" y="225"/>
                  </a:lnTo>
                  <a:lnTo>
                    <a:pt x="71" y="225"/>
                  </a:lnTo>
                  <a:lnTo>
                    <a:pt x="61" y="234"/>
                  </a:lnTo>
                  <a:lnTo>
                    <a:pt x="54" y="234"/>
                  </a:lnTo>
                  <a:lnTo>
                    <a:pt x="47" y="227"/>
                  </a:lnTo>
                  <a:lnTo>
                    <a:pt x="43" y="227"/>
                  </a:lnTo>
                  <a:lnTo>
                    <a:pt x="35" y="218"/>
                  </a:lnTo>
                  <a:lnTo>
                    <a:pt x="33" y="222"/>
                  </a:lnTo>
                  <a:lnTo>
                    <a:pt x="31" y="215"/>
                  </a:lnTo>
                  <a:lnTo>
                    <a:pt x="31" y="203"/>
                  </a:lnTo>
                  <a:lnTo>
                    <a:pt x="26" y="192"/>
                  </a:lnTo>
                  <a:lnTo>
                    <a:pt x="31" y="187"/>
                  </a:lnTo>
                  <a:lnTo>
                    <a:pt x="31" y="173"/>
                  </a:lnTo>
                  <a:lnTo>
                    <a:pt x="21" y="156"/>
                  </a:lnTo>
                  <a:lnTo>
                    <a:pt x="14" y="139"/>
                  </a:lnTo>
                  <a:lnTo>
                    <a:pt x="12" y="139"/>
                  </a:lnTo>
                  <a:lnTo>
                    <a:pt x="0" y="116"/>
                  </a:lnTo>
                  <a:lnTo>
                    <a:pt x="9" y="106"/>
                  </a:lnTo>
                  <a:lnTo>
                    <a:pt x="14" y="111"/>
                  </a:lnTo>
                  <a:lnTo>
                    <a:pt x="19" y="121"/>
                  </a:lnTo>
                  <a:lnTo>
                    <a:pt x="26" y="121"/>
                  </a:lnTo>
                  <a:lnTo>
                    <a:pt x="35" y="125"/>
                  </a:lnTo>
                  <a:lnTo>
                    <a:pt x="45" y="123"/>
                  </a:lnTo>
                  <a:lnTo>
                    <a:pt x="59" y="113"/>
                  </a:lnTo>
                  <a:lnTo>
                    <a:pt x="59" y="47"/>
                  </a:lnTo>
                  <a:lnTo>
                    <a:pt x="61" y="50"/>
                  </a:lnTo>
                  <a:lnTo>
                    <a:pt x="73" y="66"/>
                  </a:lnTo>
                  <a:lnTo>
                    <a:pt x="71" y="78"/>
                  </a:lnTo>
                  <a:lnTo>
                    <a:pt x="76" y="85"/>
                  </a:lnTo>
                  <a:lnTo>
                    <a:pt x="85" y="83"/>
                  </a:lnTo>
                  <a:lnTo>
                    <a:pt x="95" y="73"/>
                  </a:lnTo>
                  <a:lnTo>
                    <a:pt x="102" y="68"/>
                  </a:lnTo>
                  <a:lnTo>
                    <a:pt x="106" y="61"/>
                  </a:lnTo>
                  <a:lnTo>
                    <a:pt x="114" y="57"/>
                  </a:lnTo>
                  <a:lnTo>
                    <a:pt x="121" y="59"/>
                  </a:lnTo>
                  <a:lnTo>
                    <a:pt x="130" y="64"/>
                  </a:lnTo>
                  <a:lnTo>
                    <a:pt x="142" y="64"/>
                  </a:lnTo>
                  <a:lnTo>
                    <a:pt x="151" y="59"/>
                  </a:lnTo>
                  <a:lnTo>
                    <a:pt x="154" y="54"/>
                  </a:lnTo>
                  <a:lnTo>
                    <a:pt x="156" y="45"/>
                  </a:lnTo>
                  <a:lnTo>
                    <a:pt x="166" y="45"/>
                  </a:lnTo>
                  <a:lnTo>
                    <a:pt x="170" y="38"/>
                  </a:lnTo>
                  <a:lnTo>
                    <a:pt x="175" y="26"/>
                  </a:lnTo>
                  <a:lnTo>
                    <a:pt x="189" y="14"/>
                  </a:lnTo>
                  <a:lnTo>
                    <a:pt x="213" y="0"/>
                  </a:lnTo>
                  <a:lnTo>
                    <a:pt x="220" y="0"/>
                  </a:lnTo>
                  <a:moveTo>
                    <a:pt x="192" y="121"/>
                  </a:moveTo>
                  <a:lnTo>
                    <a:pt x="192" y="121"/>
                  </a:lnTo>
                  <a:lnTo>
                    <a:pt x="182" y="128"/>
                  </a:lnTo>
                  <a:lnTo>
                    <a:pt x="173" y="139"/>
                  </a:lnTo>
                  <a:lnTo>
                    <a:pt x="187" y="154"/>
                  </a:lnTo>
                  <a:lnTo>
                    <a:pt x="192" y="151"/>
                  </a:lnTo>
                  <a:lnTo>
                    <a:pt x="194" y="147"/>
                  </a:lnTo>
                  <a:lnTo>
                    <a:pt x="203" y="144"/>
                  </a:lnTo>
                  <a:lnTo>
                    <a:pt x="206" y="137"/>
                  </a:lnTo>
                  <a:lnTo>
                    <a:pt x="210" y="128"/>
                  </a:lnTo>
                  <a:lnTo>
                    <a:pt x="206" y="123"/>
                  </a:lnTo>
                  <a:lnTo>
                    <a:pt x="199" y="116"/>
                  </a:lnTo>
                  <a:lnTo>
                    <a:pt x="192" y="121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228;p30">
              <a:extLst>
                <a:ext uri="{FF2B5EF4-FFF2-40B4-BE49-F238E27FC236}">
                  <a16:creationId xmlns:a16="http://schemas.microsoft.com/office/drawing/2014/main" id="{EC5BA736-290B-C333-D0F7-40283176F038}"/>
                </a:ext>
              </a:extLst>
            </p:cNvPr>
            <p:cNvSpPr/>
            <p:nvPr/>
          </p:nvSpPr>
          <p:spPr>
            <a:xfrm>
              <a:off x="4721928" y="4384415"/>
              <a:ext cx="366435" cy="370333"/>
            </a:xfrm>
            <a:custGeom>
              <a:avLst/>
              <a:gdLst/>
              <a:ahLst/>
              <a:cxnLst/>
              <a:rect l="l" t="t" r="r" b="b"/>
              <a:pathLst>
                <a:path w="488580" h="493777" extrusionOk="0">
                  <a:moveTo>
                    <a:pt x="379218" y="46740"/>
                  </a:moveTo>
                  <a:lnTo>
                    <a:pt x="363595" y="49995"/>
                  </a:lnTo>
                  <a:lnTo>
                    <a:pt x="338598" y="49995"/>
                  </a:lnTo>
                  <a:lnTo>
                    <a:pt x="338513" y="51719"/>
                  </a:lnTo>
                  <a:lnTo>
                    <a:pt x="354505" y="52918"/>
                  </a:lnTo>
                  <a:close/>
                  <a:moveTo>
                    <a:pt x="36360" y="0"/>
                  </a:moveTo>
                  <a:lnTo>
                    <a:pt x="59084" y="6817"/>
                  </a:lnTo>
                  <a:lnTo>
                    <a:pt x="79537" y="22725"/>
                  </a:lnTo>
                  <a:lnTo>
                    <a:pt x="90899" y="15908"/>
                  </a:lnTo>
                  <a:lnTo>
                    <a:pt x="236337" y="15908"/>
                  </a:lnTo>
                  <a:lnTo>
                    <a:pt x="263606" y="31815"/>
                  </a:lnTo>
                  <a:lnTo>
                    <a:pt x="354505" y="38632"/>
                  </a:lnTo>
                  <a:lnTo>
                    <a:pt x="418134" y="22725"/>
                  </a:lnTo>
                  <a:lnTo>
                    <a:pt x="449948" y="15908"/>
                  </a:lnTo>
                  <a:lnTo>
                    <a:pt x="472673" y="15908"/>
                  </a:lnTo>
                  <a:lnTo>
                    <a:pt x="488580" y="27270"/>
                  </a:lnTo>
                  <a:lnTo>
                    <a:pt x="478580" y="34413"/>
                  </a:lnTo>
                  <a:lnTo>
                    <a:pt x="488580" y="41556"/>
                  </a:lnTo>
                  <a:lnTo>
                    <a:pt x="472673" y="52918"/>
                  </a:lnTo>
                  <a:lnTo>
                    <a:pt x="461311" y="52918"/>
                  </a:lnTo>
                  <a:lnTo>
                    <a:pt x="434041" y="68826"/>
                  </a:lnTo>
                  <a:lnTo>
                    <a:pt x="418134" y="52918"/>
                  </a:lnTo>
                  <a:lnTo>
                    <a:pt x="363595" y="64281"/>
                  </a:lnTo>
                  <a:lnTo>
                    <a:pt x="338598" y="64281"/>
                  </a:lnTo>
                  <a:lnTo>
                    <a:pt x="331780" y="202901"/>
                  </a:lnTo>
                  <a:lnTo>
                    <a:pt x="299966" y="202901"/>
                  </a:lnTo>
                  <a:lnTo>
                    <a:pt x="299966" y="306784"/>
                  </a:lnTo>
                  <a:lnTo>
                    <a:pt x="299966" y="321070"/>
                  </a:lnTo>
                  <a:lnTo>
                    <a:pt x="299966" y="456767"/>
                  </a:lnTo>
                  <a:lnTo>
                    <a:pt x="299966" y="471053"/>
                  </a:lnTo>
                  <a:lnTo>
                    <a:pt x="263606" y="493777"/>
                  </a:lnTo>
                  <a:lnTo>
                    <a:pt x="245426" y="493777"/>
                  </a:lnTo>
                  <a:lnTo>
                    <a:pt x="224974" y="489232"/>
                  </a:lnTo>
                  <a:lnTo>
                    <a:pt x="204522" y="489232"/>
                  </a:lnTo>
                  <a:lnTo>
                    <a:pt x="197705" y="466508"/>
                  </a:lnTo>
                  <a:lnTo>
                    <a:pt x="186342" y="455145"/>
                  </a:lnTo>
                  <a:lnTo>
                    <a:pt x="165890" y="477870"/>
                  </a:lnTo>
                  <a:lnTo>
                    <a:pt x="138621" y="446055"/>
                  </a:lnTo>
                  <a:lnTo>
                    <a:pt x="122713" y="411968"/>
                  </a:lnTo>
                  <a:lnTo>
                    <a:pt x="118168" y="375609"/>
                  </a:lnTo>
                  <a:lnTo>
                    <a:pt x="106806" y="348339"/>
                  </a:lnTo>
                  <a:lnTo>
                    <a:pt x="95444" y="284710"/>
                  </a:lnTo>
                  <a:lnTo>
                    <a:pt x="95444" y="270424"/>
                  </a:lnTo>
                  <a:lnTo>
                    <a:pt x="95444" y="234716"/>
                  </a:lnTo>
                  <a:lnTo>
                    <a:pt x="90899" y="214264"/>
                  </a:lnTo>
                  <a:lnTo>
                    <a:pt x="74992" y="198356"/>
                  </a:lnTo>
                  <a:lnTo>
                    <a:pt x="59084" y="166542"/>
                  </a:lnTo>
                  <a:lnTo>
                    <a:pt x="36360" y="123365"/>
                  </a:lnTo>
                  <a:lnTo>
                    <a:pt x="31815" y="96095"/>
                  </a:lnTo>
                  <a:lnTo>
                    <a:pt x="0" y="64281"/>
                  </a:lnTo>
                  <a:lnTo>
                    <a:pt x="0" y="49995"/>
                  </a:lnTo>
                  <a:lnTo>
                    <a:pt x="0" y="30194"/>
                  </a:lnTo>
                  <a:lnTo>
                    <a:pt x="0" y="15908"/>
                  </a:lnTo>
                  <a:lnTo>
                    <a:pt x="15908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229;p30">
              <a:extLst>
                <a:ext uri="{FF2B5EF4-FFF2-40B4-BE49-F238E27FC236}">
                  <a16:creationId xmlns:a16="http://schemas.microsoft.com/office/drawing/2014/main" id="{E8B4CD26-20C4-07AA-EC66-5E6B60138AA3}"/>
                </a:ext>
              </a:extLst>
            </p:cNvPr>
            <p:cNvSpPr/>
            <p:nvPr/>
          </p:nvSpPr>
          <p:spPr>
            <a:xfrm>
              <a:off x="4733859" y="3776202"/>
              <a:ext cx="530379" cy="514958"/>
            </a:xfrm>
            <a:custGeom>
              <a:avLst/>
              <a:gdLst/>
              <a:ahLst/>
              <a:cxnLst/>
              <a:rect l="l" t="t" r="r" b="b"/>
              <a:pathLst>
                <a:path w="707172" h="686611" extrusionOk="0">
                  <a:moveTo>
                    <a:pt x="493125" y="0"/>
                  </a:moveTo>
                  <a:lnTo>
                    <a:pt x="520395" y="6817"/>
                  </a:lnTo>
                  <a:lnTo>
                    <a:pt x="543120" y="6817"/>
                  </a:lnTo>
                  <a:lnTo>
                    <a:pt x="559027" y="0"/>
                  </a:lnTo>
                  <a:lnTo>
                    <a:pt x="564385" y="8930"/>
                  </a:lnTo>
                  <a:lnTo>
                    <a:pt x="568552" y="7144"/>
                  </a:lnTo>
                  <a:lnTo>
                    <a:pt x="585802" y="35894"/>
                  </a:lnTo>
                  <a:lnTo>
                    <a:pt x="595386" y="38632"/>
                  </a:lnTo>
                  <a:lnTo>
                    <a:pt x="606749" y="27270"/>
                  </a:lnTo>
                  <a:lnTo>
                    <a:pt x="622656" y="34087"/>
                  </a:lnTo>
                  <a:lnTo>
                    <a:pt x="645381" y="22725"/>
                  </a:lnTo>
                  <a:lnTo>
                    <a:pt x="650672" y="31985"/>
                  </a:lnTo>
                  <a:lnTo>
                    <a:pt x="654906" y="29869"/>
                  </a:lnTo>
                  <a:lnTo>
                    <a:pt x="663995" y="45776"/>
                  </a:lnTo>
                  <a:lnTo>
                    <a:pt x="698082" y="73046"/>
                  </a:lnTo>
                  <a:lnTo>
                    <a:pt x="691797" y="106571"/>
                  </a:lnTo>
                  <a:lnTo>
                    <a:pt x="697647" y="109079"/>
                  </a:lnTo>
                  <a:lnTo>
                    <a:pt x="696242" y="111538"/>
                  </a:lnTo>
                  <a:lnTo>
                    <a:pt x="707172" y="116223"/>
                  </a:lnTo>
                  <a:lnTo>
                    <a:pt x="698082" y="132130"/>
                  </a:lnTo>
                  <a:lnTo>
                    <a:pt x="679903" y="143492"/>
                  </a:lnTo>
                  <a:lnTo>
                    <a:pt x="670813" y="159399"/>
                  </a:lnTo>
                  <a:lnTo>
                    <a:pt x="659450" y="179852"/>
                  </a:lnTo>
                  <a:lnTo>
                    <a:pt x="659450" y="207121"/>
                  </a:lnTo>
                  <a:lnTo>
                    <a:pt x="648088" y="218483"/>
                  </a:lnTo>
                  <a:lnTo>
                    <a:pt x="648088" y="245753"/>
                  </a:lnTo>
                  <a:lnTo>
                    <a:pt x="636726" y="254843"/>
                  </a:lnTo>
                  <a:lnTo>
                    <a:pt x="636726" y="282112"/>
                  </a:lnTo>
                  <a:lnTo>
                    <a:pt x="632181" y="282112"/>
                  </a:lnTo>
                  <a:lnTo>
                    <a:pt x="627636" y="304837"/>
                  </a:lnTo>
                  <a:lnTo>
                    <a:pt x="636726" y="320744"/>
                  </a:lnTo>
                  <a:lnTo>
                    <a:pt x="636726" y="363921"/>
                  </a:lnTo>
                  <a:lnTo>
                    <a:pt x="643543" y="395736"/>
                  </a:lnTo>
                  <a:lnTo>
                    <a:pt x="643543" y="416188"/>
                  </a:lnTo>
                  <a:lnTo>
                    <a:pt x="648088" y="438913"/>
                  </a:lnTo>
                  <a:lnTo>
                    <a:pt x="670813" y="459365"/>
                  </a:lnTo>
                  <a:lnTo>
                    <a:pt x="691265" y="502542"/>
                  </a:lnTo>
                  <a:lnTo>
                    <a:pt x="675358" y="502542"/>
                  </a:lnTo>
                  <a:lnTo>
                    <a:pt x="627636" y="509359"/>
                  </a:lnTo>
                  <a:lnTo>
                    <a:pt x="616274" y="513904"/>
                  </a:lnTo>
                  <a:lnTo>
                    <a:pt x="604911" y="534356"/>
                  </a:lnTo>
                  <a:lnTo>
                    <a:pt x="616274" y="552536"/>
                  </a:lnTo>
                  <a:lnTo>
                    <a:pt x="611729" y="593440"/>
                  </a:lnTo>
                  <a:lnTo>
                    <a:pt x="605461" y="628958"/>
                  </a:lnTo>
                  <a:lnTo>
                    <a:pt x="606749" y="629473"/>
                  </a:lnTo>
                  <a:lnTo>
                    <a:pt x="613568" y="635535"/>
                  </a:lnTo>
                  <a:lnTo>
                    <a:pt x="616274" y="636617"/>
                  </a:lnTo>
                  <a:lnTo>
                    <a:pt x="628089" y="647120"/>
                  </a:lnTo>
                  <a:lnTo>
                    <a:pt x="638563" y="640835"/>
                  </a:lnTo>
                  <a:lnTo>
                    <a:pt x="640615" y="652463"/>
                  </a:lnTo>
                  <a:lnTo>
                    <a:pt x="648088" y="647979"/>
                  </a:lnTo>
                  <a:lnTo>
                    <a:pt x="654906" y="686611"/>
                  </a:lnTo>
                  <a:lnTo>
                    <a:pt x="620819" y="686611"/>
                  </a:lnTo>
                  <a:lnTo>
                    <a:pt x="617961" y="679467"/>
                  </a:lnTo>
                  <a:lnTo>
                    <a:pt x="611294" y="679467"/>
                  </a:lnTo>
                  <a:lnTo>
                    <a:pt x="602204" y="656743"/>
                  </a:lnTo>
                  <a:lnTo>
                    <a:pt x="592964" y="647503"/>
                  </a:lnTo>
                  <a:lnTo>
                    <a:pt x="568552" y="643434"/>
                  </a:lnTo>
                  <a:lnTo>
                    <a:pt x="564046" y="637127"/>
                  </a:lnTo>
                  <a:lnTo>
                    <a:pt x="559027" y="636290"/>
                  </a:lnTo>
                  <a:lnTo>
                    <a:pt x="553833" y="629019"/>
                  </a:lnTo>
                  <a:lnTo>
                    <a:pt x="536737" y="636617"/>
                  </a:lnTo>
                  <a:lnTo>
                    <a:pt x="509468" y="632072"/>
                  </a:lnTo>
                  <a:lnTo>
                    <a:pt x="502800" y="625404"/>
                  </a:lnTo>
                  <a:lnTo>
                    <a:pt x="499943" y="624928"/>
                  </a:lnTo>
                  <a:lnTo>
                    <a:pt x="490584" y="615569"/>
                  </a:lnTo>
                  <a:lnTo>
                    <a:pt x="470836" y="611620"/>
                  </a:lnTo>
                  <a:lnTo>
                    <a:pt x="454929" y="611620"/>
                  </a:lnTo>
                  <a:lnTo>
                    <a:pt x="452071" y="604476"/>
                  </a:lnTo>
                  <a:lnTo>
                    <a:pt x="445404" y="604476"/>
                  </a:lnTo>
                  <a:lnTo>
                    <a:pt x="443716" y="600258"/>
                  </a:lnTo>
                  <a:lnTo>
                    <a:pt x="439021" y="600258"/>
                  </a:lnTo>
                  <a:lnTo>
                    <a:pt x="423114" y="600258"/>
                  </a:lnTo>
                  <a:lnTo>
                    <a:pt x="400389" y="604802"/>
                  </a:lnTo>
                  <a:lnTo>
                    <a:pt x="384482" y="604802"/>
                  </a:lnTo>
                  <a:lnTo>
                    <a:pt x="375392" y="604802"/>
                  </a:lnTo>
                  <a:lnTo>
                    <a:pt x="375392" y="597658"/>
                  </a:lnTo>
                  <a:lnTo>
                    <a:pt x="374957" y="597658"/>
                  </a:lnTo>
                  <a:lnTo>
                    <a:pt x="365867" y="597658"/>
                  </a:lnTo>
                  <a:lnTo>
                    <a:pt x="365867" y="554482"/>
                  </a:lnTo>
                  <a:lnTo>
                    <a:pt x="354505" y="538574"/>
                  </a:lnTo>
                  <a:lnTo>
                    <a:pt x="347688" y="518122"/>
                  </a:lnTo>
                  <a:lnTo>
                    <a:pt x="354505" y="495398"/>
                  </a:lnTo>
                  <a:lnTo>
                    <a:pt x="347688" y="479490"/>
                  </a:lnTo>
                  <a:lnTo>
                    <a:pt x="347688" y="466182"/>
                  </a:lnTo>
                  <a:lnTo>
                    <a:pt x="316308" y="466182"/>
                  </a:lnTo>
                  <a:lnTo>
                    <a:pt x="316308" y="459038"/>
                  </a:lnTo>
                  <a:lnTo>
                    <a:pt x="306783" y="459038"/>
                  </a:lnTo>
                  <a:lnTo>
                    <a:pt x="306783" y="454820"/>
                  </a:lnTo>
                  <a:lnTo>
                    <a:pt x="298128" y="454820"/>
                  </a:lnTo>
                  <a:lnTo>
                    <a:pt x="293583" y="459365"/>
                  </a:lnTo>
                  <a:lnTo>
                    <a:pt x="273131" y="459365"/>
                  </a:lnTo>
                  <a:lnTo>
                    <a:pt x="261769" y="482089"/>
                  </a:lnTo>
                  <a:lnTo>
                    <a:pt x="257224" y="493452"/>
                  </a:lnTo>
                  <a:lnTo>
                    <a:pt x="239044" y="486634"/>
                  </a:lnTo>
                  <a:lnTo>
                    <a:pt x="223137" y="493452"/>
                  </a:lnTo>
                  <a:lnTo>
                    <a:pt x="202685" y="493452"/>
                  </a:lnTo>
                  <a:lnTo>
                    <a:pt x="196434" y="486308"/>
                  </a:lnTo>
                  <a:lnTo>
                    <a:pt x="193160" y="486308"/>
                  </a:lnTo>
                  <a:lnTo>
                    <a:pt x="177253" y="468128"/>
                  </a:lnTo>
                  <a:lnTo>
                    <a:pt x="170435" y="459038"/>
                  </a:lnTo>
                  <a:lnTo>
                    <a:pt x="161345" y="431769"/>
                  </a:lnTo>
                  <a:lnTo>
                    <a:pt x="153426" y="415929"/>
                  </a:lnTo>
                  <a:lnTo>
                    <a:pt x="52702" y="411643"/>
                  </a:lnTo>
                  <a:lnTo>
                    <a:pt x="36795" y="416188"/>
                  </a:lnTo>
                  <a:lnTo>
                    <a:pt x="29977" y="416188"/>
                  </a:lnTo>
                  <a:lnTo>
                    <a:pt x="14070" y="423005"/>
                  </a:lnTo>
                  <a:lnTo>
                    <a:pt x="10237" y="413422"/>
                  </a:lnTo>
                  <a:lnTo>
                    <a:pt x="4545" y="415861"/>
                  </a:lnTo>
                  <a:lnTo>
                    <a:pt x="0" y="404499"/>
                  </a:lnTo>
                  <a:lnTo>
                    <a:pt x="4545" y="399954"/>
                  </a:lnTo>
                  <a:lnTo>
                    <a:pt x="9090" y="384047"/>
                  </a:lnTo>
                  <a:lnTo>
                    <a:pt x="15908" y="372684"/>
                  </a:lnTo>
                  <a:lnTo>
                    <a:pt x="27270" y="365867"/>
                  </a:lnTo>
                  <a:lnTo>
                    <a:pt x="36360" y="372684"/>
                  </a:lnTo>
                  <a:lnTo>
                    <a:pt x="47722" y="356777"/>
                  </a:lnTo>
                  <a:lnTo>
                    <a:pt x="68174" y="356777"/>
                  </a:lnTo>
                  <a:lnTo>
                    <a:pt x="73532" y="363921"/>
                  </a:lnTo>
                  <a:lnTo>
                    <a:pt x="77699" y="363921"/>
                  </a:lnTo>
                  <a:lnTo>
                    <a:pt x="82568" y="370413"/>
                  </a:lnTo>
                  <a:lnTo>
                    <a:pt x="86354" y="372684"/>
                  </a:lnTo>
                  <a:lnTo>
                    <a:pt x="106806" y="349960"/>
                  </a:lnTo>
                  <a:lnTo>
                    <a:pt x="129531" y="334053"/>
                  </a:lnTo>
                  <a:lnTo>
                    <a:pt x="138621" y="324963"/>
                  </a:lnTo>
                  <a:lnTo>
                    <a:pt x="138621" y="290876"/>
                  </a:lnTo>
                  <a:lnTo>
                    <a:pt x="149983" y="254516"/>
                  </a:lnTo>
                  <a:lnTo>
                    <a:pt x="170435" y="238609"/>
                  </a:lnTo>
                  <a:lnTo>
                    <a:pt x="193160" y="222702"/>
                  </a:lnTo>
                  <a:lnTo>
                    <a:pt x="197705" y="204522"/>
                  </a:lnTo>
                  <a:lnTo>
                    <a:pt x="197705" y="195432"/>
                  </a:lnTo>
                  <a:lnTo>
                    <a:pt x="209067" y="184070"/>
                  </a:lnTo>
                  <a:lnTo>
                    <a:pt x="204522" y="161345"/>
                  </a:lnTo>
                  <a:lnTo>
                    <a:pt x="209067" y="129531"/>
                  </a:lnTo>
                  <a:lnTo>
                    <a:pt x="213612" y="102261"/>
                  </a:lnTo>
                  <a:lnTo>
                    <a:pt x="224974" y="86354"/>
                  </a:lnTo>
                  <a:lnTo>
                    <a:pt x="229519" y="65902"/>
                  </a:lnTo>
                  <a:lnTo>
                    <a:pt x="229519" y="38632"/>
                  </a:lnTo>
                  <a:lnTo>
                    <a:pt x="247699" y="18180"/>
                  </a:lnTo>
                  <a:lnTo>
                    <a:pt x="268151" y="6817"/>
                  </a:lnTo>
                  <a:lnTo>
                    <a:pt x="295421" y="22725"/>
                  </a:lnTo>
                  <a:lnTo>
                    <a:pt x="322690" y="34087"/>
                  </a:lnTo>
                  <a:lnTo>
                    <a:pt x="347688" y="38632"/>
                  </a:lnTo>
                  <a:lnTo>
                    <a:pt x="374957" y="43177"/>
                  </a:lnTo>
                  <a:lnTo>
                    <a:pt x="386319" y="22725"/>
                  </a:lnTo>
                  <a:lnTo>
                    <a:pt x="390864" y="18180"/>
                  </a:lnTo>
                  <a:lnTo>
                    <a:pt x="409044" y="22725"/>
                  </a:lnTo>
                  <a:lnTo>
                    <a:pt x="445404" y="6817"/>
                  </a:lnTo>
                  <a:lnTo>
                    <a:pt x="461311" y="11363"/>
                  </a:lnTo>
                  <a:lnTo>
                    <a:pt x="472673" y="11363"/>
                  </a:lnTo>
                  <a:lnTo>
                    <a:pt x="477218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230;p30">
              <a:extLst>
                <a:ext uri="{FF2B5EF4-FFF2-40B4-BE49-F238E27FC236}">
                  <a16:creationId xmlns:a16="http://schemas.microsoft.com/office/drawing/2014/main" id="{C4A1854C-5F05-3ED9-B3F7-5E79C833C560}"/>
                </a:ext>
              </a:extLst>
            </p:cNvPr>
            <p:cNvSpPr/>
            <p:nvPr/>
          </p:nvSpPr>
          <p:spPr>
            <a:xfrm>
              <a:off x="4716816" y="4038674"/>
              <a:ext cx="347688" cy="380073"/>
            </a:xfrm>
            <a:custGeom>
              <a:avLst/>
              <a:gdLst/>
              <a:ahLst/>
              <a:cxnLst/>
              <a:rect l="l" t="t" r="r" b="b"/>
              <a:pathLst>
                <a:path w="204" h="223" extrusionOk="0">
                  <a:moveTo>
                    <a:pt x="76" y="24"/>
                  </a:moveTo>
                  <a:lnTo>
                    <a:pt x="76" y="24"/>
                  </a:lnTo>
                  <a:lnTo>
                    <a:pt x="81" y="36"/>
                  </a:lnTo>
                  <a:lnTo>
                    <a:pt x="85" y="45"/>
                  </a:lnTo>
                  <a:lnTo>
                    <a:pt x="90" y="52"/>
                  </a:lnTo>
                  <a:lnTo>
                    <a:pt x="95" y="60"/>
                  </a:lnTo>
                  <a:lnTo>
                    <a:pt x="107" y="57"/>
                  </a:lnTo>
                  <a:lnTo>
                    <a:pt x="111" y="55"/>
                  </a:lnTo>
                  <a:lnTo>
                    <a:pt x="121" y="57"/>
                  </a:lnTo>
                  <a:lnTo>
                    <a:pt x="123" y="55"/>
                  </a:lnTo>
                  <a:lnTo>
                    <a:pt x="126" y="45"/>
                  </a:lnTo>
                  <a:lnTo>
                    <a:pt x="137" y="45"/>
                  </a:lnTo>
                  <a:lnTo>
                    <a:pt x="137" y="41"/>
                  </a:lnTo>
                  <a:lnTo>
                    <a:pt x="147" y="41"/>
                  </a:lnTo>
                  <a:lnTo>
                    <a:pt x="145" y="48"/>
                  </a:lnTo>
                  <a:lnTo>
                    <a:pt x="163" y="48"/>
                  </a:lnTo>
                  <a:lnTo>
                    <a:pt x="163" y="57"/>
                  </a:lnTo>
                  <a:lnTo>
                    <a:pt x="168" y="64"/>
                  </a:lnTo>
                  <a:lnTo>
                    <a:pt x="166" y="74"/>
                  </a:lnTo>
                  <a:lnTo>
                    <a:pt x="166" y="83"/>
                  </a:lnTo>
                  <a:lnTo>
                    <a:pt x="173" y="90"/>
                  </a:lnTo>
                  <a:lnTo>
                    <a:pt x="171" y="109"/>
                  </a:lnTo>
                  <a:lnTo>
                    <a:pt x="175" y="107"/>
                  </a:lnTo>
                  <a:lnTo>
                    <a:pt x="182" y="107"/>
                  </a:lnTo>
                  <a:lnTo>
                    <a:pt x="192" y="104"/>
                  </a:lnTo>
                  <a:lnTo>
                    <a:pt x="199" y="107"/>
                  </a:lnTo>
                  <a:lnTo>
                    <a:pt x="201" y="112"/>
                  </a:lnTo>
                  <a:lnTo>
                    <a:pt x="199" y="119"/>
                  </a:lnTo>
                  <a:lnTo>
                    <a:pt x="204" y="128"/>
                  </a:lnTo>
                  <a:lnTo>
                    <a:pt x="201" y="133"/>
                  </a:lnTo>
                  <a:lnTo>
                    <a:pt x="201" y="140"/>
                  </a:lnTo>
                  <a:lnTo>
                    <a:pt x="168" y="140"/>
                  </a:lnTo>
                  <a:lnTo>
                    <a:pt x="166" y="192"/>
                  </a:lnTo>
                  <a:lnTo>
                    <a:pt x="178" y="206"/>
                  </a:lnTo>
                  <a:lnTo>
                    <a:pt x="190" y="216"/>
                  </a:lnTo>
                  <a:lnTo>
                    <a:pt x="159" y="223"/>
                  </a:lnTo>
                  <a:lnTo>
                    <a:pt x="119" y="220"/>
                  </a:lnTo>
                  <a:lnTo>
                    <a:pt x="107" y="211"/>
                  </a:lnTo>
                  <a:lnTo>
                    <a:pt x="43" y="213"/>
                  </a:lnTo>
                  <a:lnTo>
                    <a:pt x="38" y="213"/>
                  </a:lnTo>
                  <a:lnTo>
                    <a:pt x="29" y="206"/>
                  </a:lnTo>
                  <a:lnTo>
                    <a:pt x="19" y="206"/>
                  </a:lnTo>
                  <a:lnTo>
                    <a:pt x="10" y="209"/>
                  </a:lnTo>
                  <a:lnTo>
                    <a:pt x="3" y="211"/>
                  </a:lnTo>
                  <a:lnTo>
                    <a:pt x="0" y="202"/>
                  </a:lnTo>
                  <a:lnTo>
                    <a:pt x="3" y="187"/>
                  </a:lnTo>
                  <a:lnTo>
                    <a:pt x="7" y="171"/>
                  </a:lnTo>
                  <a:lnTo>
                    <a:pt x="10" y="164"/>
                  </a:lnTo>
                  <a:lnTo>
                    <a:pt x="14" y="149"/>
                  </a:lnTo>
                  <a:lnTo>
                    <a:pt x="19" y="142"/>
                  </a:lnTo>
                  <a:lnTo>
                    <a:pt x="26" y="133"/>
                  </a:lnTo>
                  <a:lnTo>
                    <a:pt x="33" y="123"/>
                  </a:lnTo>
                  <a:lnTo>
                    <a:pt x="33" y="114"/>
                  </a:lnTo>
                  <a:lnTo>
                    <a:pt x="33" y="102"/>
                  </a:lnTo>
                  <a:lnTo>
                    <a:pt x="29" y="97"/>
                  </a:lnTo>
                  <a:lnTo>
                    <a:pt x="24" y="88"/>
                  </a:lnTo>
                  <a:lnTo>
                    <a:pt x="22" y="78"/>
                  </a:lnTo>
                  <a:lnTo>
                    <a:pt x="22" y="74"/>
                  </a:lnTo>
                  <a:lnTo>
                    <a:pt x="26" y="69"/>
                  </a:lnTo>
                  <a:lnTo>
                    <a:pt x="22" y="52"/>
                  </a:lnTo>
                  <a:lnTo>
                    <a:pt x="19" y="41"/>
                  </a:lnTo>
                  <a:lnTo>
                    <a:pt x="10" y="31"/>
                  </a:lnTo>
                  <a:lnTo>
                    <a:pt x="12" y="29"/>
                  </a:lnTo>
                  <a:lnTo>
                    <a:pt x="19" y="26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76" y="24"/>
                  </a:lnTo>
                  <a:close/>
                  <a:moveTo>
                    <a:pt x="12" y="22"/>
                  </a:moveTo>
                  <a:lnTo>
                    <a:pt x="12" y="22"/>
                  </a:lnTo>
                  <a:lnTo>
                    <a:pt x="10" y="22"/>
                  </a:lnTo>
                  <a:lnTo>
                    <a:pt x="5" y="10"/>
                  </a:lnTo>
                  <a:lnTo>
                    <a:pt x="12" y="5"/>
                  </a:lnTo>
                  <a:lnTo>
                    <a:pt x="17" y="0"/>
                  </a:lnTo>
                  <a:lnTo>
                    <a:pt x="24" y="7"/>
                  </a:lnTo>
                  <a:lnTo>
                    <a:pt x="17" y="10"/>
                  </a:lnTo>
                  <a:lnTo>
                    <a:pt x="14" y="15"/>
                  </a:lnTo>
                  <a:lnTo>
                    <a:pt x="12" y="2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231;p30">
              <a:extLst>
                <a:ext uri="{FF2B5EF4-FFF2-40B4-BE49-F238E27FC236}">
                  <a16:creationId xmlns:a16="http://schemas.microsoft.com/office/drawing/2014/main" id="{4A42A659-008C-5C37-17EF-3A518B3FA4E5}"/>
                </a:ext>
              </a:extLst>
            </p:cNvPr>
            <p:cNvSpPr/>
            <p:nvPr/>
          </p:nvSpPr>
          <p:spPr>
            <a:xfrm>
              <a:off x="4701475" y="3817106"/>
              <a:ext cx="208093" cy="245589"/>
            </a:xfrm>
            <a:custGeom>
              <a:avLst/>
              <a:gdLst/>
              <a:ahLst/>
              <a:cxnLst/>
              <a:rect l="l" t="t" r="r" b="b"/>
              <a:pathLst>
                <a:path w="277458" h="327452" extrusionOk="0">
                  <a:moveTo>
                    <a:pt x="224974" y="0"/>
                  </a:moveTo>
                  <a:lnTo>
                    <a:pt x="247699" y="6818"/>
                  </a:lnTo>
                  <a:lnTo>
                    <a:pt x="272696" y="11363"/>
                  </a:lnTo>
                  <a:lnTo>
                    <a:pt x="271864" y="15108"/>
                  </a:lnTo>
                  <a:lnTo>
                    <a:pt x="277458" y="16125"/>
                  </a:lnTo>
                  <a:lnTo>
                    <a:pt x="272913" y="36577"/>
                  </a:lnTo>
                  <a:lnTo>
                    <a:pt x="261551" y="52484"/>
                  </a:lnTo>
                  <a:lnTo>
                    <a:pt x="257006" y="79754"/>
                  </a:lnTo>
                  <a:lnTo>
                    <a:pt x="252461" y="111568"/>
                  </a:lnTo>
                  <a:lnTo>
                    <a:pt x="257006" y="134293"/>
                  </a:lnTo>
                  <a:lnTo>
                    <a:pt x="245644" y="145655"/>
                  </a:lnTo>
                  <a:lnTo>
                    <a:pt x="245644" y="154745"/>
                  </a:lnTo>
                  <a:lnTo>
                    <a:pt x="241099" y="172925"/>
                  </a:lnTo>
                  <a:lnTo>
                    <a:pt x="218374" y="188832"/>
                  </a:lnTo>
                  <a:lnTo>
                    <a:pt x="202467" y="204739"/>
                  </a:lnTo>
                  <a:lnTo>
                    <a:pt x="186560" y="241099"/>
                  </a:lnTo>
                  <a:lnTo>
                    <a:pt x="186560" y="275186"/>
                  </a:lnTo>
                  <a:lnTo>
                    <a:pt x="177470" y="284275"/>
                  </a:lnTo>
                  <a:lnTo>
                    <a:pt x="154745" y="300183"/>
                  </a:lnTo>
                  <a:lnTo>
                    <a:pt x="134293" y="322907"/>
                  </a:lnTo>
                  <a:lnTo>
                    <a:pt x="122931" y="316090"/>
                  </a:lnTo>
                  <a:lnTo>
                    <a:pt x="120333" y="312626"/>
                  </a:lnTo>
                  <a:lnTo>
                    <a:pt x="118169" y="311328"/>
                  </a:lnTo>
                  <a:lnTo>
                    <a:pt x="114923" y="307000"/>
                  </a:lnTo>
                  <a:lnTo>
                    <a:pt x="100206" y="307000"/>
                  </a:lnTo>
                  <a:lnTo>
                    <a:pt x="84299" y="322907"/>
                  </a:lnTo>
                  <a:lnTo>
                    <a:pt x="80489" y="317193"/>
                  </a:lnTo>
                  <a:lnTo>
                    <a:pt x="79537" y="318145"/>
                  </a:lnTo>
                  <a:lnTo>
                    <a:pt x="77190" y="314625"/>
                  </a:lnTo>
                  <a:lnTo>
                    <a:pt x="63846" y="307000"/>
                  </a:lnTo>
                  <a:lnTo>
                    <a:pt x="52484" y="311545"/>
                  </a:lnTo>
                  <a:lnTo>
                    <a:pt x="36577" y="327452"/>
                  </a:lnTo>
                  <a:lnTo>
                    <a:pt x="32132" y="322373"/>
                  </a:lnTo>
                  <a:lnTo>
                    <a:pt x="31815" y="322690"/>
                  </a:lnTo>
                  <a:lnTo>
                    <a:pt x="0" y="286331"/>
                  </a:lnTo>
                  <a:lnTo>
                    <a:pt x="31815" y="263606"/>
                  </a:lnTo>
                  <a:lnTo>
                    <a:pt x="15908" y="236337"/>
                  </a:lnTo>
                  <a:lnTo>
                    <a:pt x="31815" y="231792"/>
                  </a:lnTo>
                  <a:lnTo>
                    <a:pt x="52267" y="227247"/>
                  </a:lnTo>
                  <a:lnTo>
                    <a:pt x="52267" y="209067"/>
                  </a:lnTo>
                  <a:lnTo>
                    <a:pt x="74992" y="227247"/>
                  </a:lnTo>
                  <a:lnTo>
                    <a:pt x="106806" y="227247"/>
                  </a:lnTo>
                  <a:lnTo>
                    <a:pt x="118169" y="209067"/>
                  </a:lnTo>
                  <a:lnTo>
                    <a:pt x="122713" y="188615"/>
                  </a:lnTo>
                  <a:lnTo>
                    <a:pt x="118169" y="156800"/>
                  </a:lnTo>
                  <a:lnTo>
                    <a:pt x="102261" y="134076"/>
                  </a:lnTo>
                  <a:lnTo>
                    <a:pt x="117251" y="93389"/>
                  </a:lnTo>
                  <a:lnTo>
                    <a:pt x="111568" y="91116"/>
                  </a:lnTo>
                  <a:lnTo>
                    <a:pt x="84299" y="95661"/>
                  </a:lnTo>
                  <a:lnTo>
                    <a:pt x="83108" y="90303"/>
                  </a:lnTo>
                  <a:lnTo>
                    <a:pt x="79537" y="90899"/>
                  </a:lnTo>
                  <a:lnTo>
                    <a:pt x="74992" y="70447"/>
                  </a:lnTo>
                  <a:lnTo>
                    <a:pt x="74992" y="54539"/>
                  </a:lnTo>
                  <a:lnTo>
                    <a:pt x="122713" y="54539"/>
                  </a:lnTo>
                  <a:lnTo>
                    <a:pt x="149983" y="65902"/>
                  </a:lnTo>
                  <a:lnTo>
                    <a:pt x="177253" y="74992"/>
                  </a:lnTo>
                  <a:lnTo>
                    <a:pt x="181798" y="54539"/>
                  </a:lnTo>
                  <a:lnTo>
                    <a:pt x="204522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232;p30">
              <a:extLst>
                <a:ext uri="{FF2B5EF4-FFF2-40B4-BE49-F238E27FC236}">
                  <a16:creationId xmlns:a16="http://schemas.microsoft.com/office/drawing/2014/main" id="{D97C6880-240A-C649-FE96-B74DF9C108AB}"/>
                </a:ext>
              </a:extLst>
            </p:cNvPr>
            <p:cNvSpPr/>
            <p:nvPr/>
          </p:nvSpPr>
          <p:spPr>
            <a:xfrm>
              <a:off x="4652051" y="3858011"/>
              <a:ext cx="57948" cy="39363"/>
            </a:xfrm>
            <a:custGeom>
              <a:avLst/>
              <a:gdLst/>
              <a:ahLst/>
              <a:cxnLst/>
              <a:rect l="l" t="t" r="r" b="b"/>
              <a:pathLst>
                <a:path w="77264" h="52484" extrusionOk="0">
                  <a:moveTo>
                    <a:pt x="18180" y="0"/>
                  </a:moveTo>
                  <a:lnTo>
                    <a:pt x="77264" y="0"/>
                  </a:lnTo>
                  <a:lnTo>
                    <a:pt x="77264" y="4762"/>
                  </a:lnTo>
                  <a:lnTo>
                    <a:pt x="77264" y="43177"/>
                  </a:lnTo>
                  <a:lnTo>
                    <a:pt x="77264" y="47939"/>
                  </a:lnTo>
                  <a:lnTo>
                    <a:pt x="22725" y="47939"/>
                  </a:lnTo>
                  <a:lnTo>
                    <a:pt x="6818" y="52484"/>
                  </a:lnTo>
                  <a:lnTo>
                    <a:pt x="0" y="41122"/>
                  </a:lnTo>
                  <a:lnTo>
                    <a:pt x="1299" y="38524"/>
                  </a:lnTo>
                  <a:lnTo>
                    <a:pt x="0" y="3636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233;p30">
              <a:extLst>
                <a:ext uri="{FF2B5EF4-FFF2-40B4-BE49-F238E27FC236}">
                  <a16:creationId xmlns:a16="http://schemas.microsoft.com/office/drawing/2014/main" id="{05344270-4AC0-25FC-0B6C-0B939B4D1C8B}"/>
                </a:ext>
              </a:extLst>
            </p:cNvPr>
            <p:cNvSpPr/>
            <p:nvPr/>
          </p:nvSpPr>
          <p:spPr>
            <a:xfrm>
              <a:off x="4640119" y="3858010"/>
              <a:ext cx="153392" cy="174089"/>
            </a:xfrm>
            <a:custGeom>
              <a:avLst/>
              <a:gdLst/>
              <a:ahLst/>
              <a:cxnLst/>
              <a:rect l="l" t="t" r="r" b="b"/>
              <a:pathLst>
                <a:path w="204522" h="232118" extrusionOk="0">
                  <a:moveTo>
                    <a:pt x="93171" y="0"/>
                  </a:moveTo>
                  <a:lnTo>
                    <a:pt x="109079" y="0"/>
                  </a:lnTo>
                  <a:lnTo>
                    <a:pt x="129531" y="0"/>
                  </a:lnTo>
                  <a:lnTo>
                    <a:pt x="152256" y="0"/>
                  </a:lnTo>
                  <a:lnTo>
                    <a:pt x="156800" y="0"/>
                  </a:lnTo>
                  <a:lnTo>
                    <a:pt x="156800" y="7143"/>
                  </a:lnTo>
                  <a:lnTo>
                    <a:pt x="156800" y="15908"/>
                  </a:lnTo>
                  <a:lnTo>
                    <a:pt x="161345" y="31815"/>
                  </a:lnTo>
                  <a:lnTo>
                    <a:pt x="188615" y="31815"/>
                  </a:lnTo>
                  <a:lnTo>
                    <a:pt x="199977" y="36360"/>
                  </a:lnTo>
                  <a:lnTo>
                    <a:pt x="197684" y="42585"/>
                  </a:lnTo>
                  <a:lnTo>
                    <a:pt x="199977" y="43503"/>
                  </a:lnTo>
                  <a:lnTo>
                    <a:pt x="185794" y="82000"/>
                  </a:lnTo>
                  <a:lnTo>
                    <a:pt x="199977" y="102262"/>
                  </a:lnTo>
                  <a:lnTo>
                    <a:pt x="204522" y="129531"/>
                  </a:lnTo>
                  <a:lnTo>
                    <a:pt x="203901" y="132947"/>
                  </a:lnTo>
                  <a:lnTo>
                    <a:pt x="204522" y="136674"/>
                  </a:lnTo>
                  <a:lnTo>
                    <a:pt x="199977" y="161672"/>
                  </a:lnTo>
                  <a:lnTo>
                    <a:pt x="188615" y="179851"/>
                  </a:lnTo>
                  <a:lnTo>
                    <a:pt x="156800" y="179851"/>
                  </a:lnTo>
                  <a:lnTo>
                    <a:pt x="134076" y="161672"/>
                  </a:lnTo>
                  <a:lnTo>
                    <a:pt x="134076" y="172708"/>
                  </a:lnTo>
                  <a:lnTo>
                    <a:pt x="134076" y="179851"/>
                  </a:lnTo>
                  <a:lnTo>
                    <a:pt x="113624" y="179851"/>
                  </a:lnTo>
                  <a:lnTo>
                    <a:pt x="100841" y="187155"/>
                  </a:lnTo>
                  <a:lnTo>
                    <a:pt x="113624" y="209068"/>
                  </a:lnTo>
                  <a:lnTo>
                    <a:pt x="110398" y="210681"/>
                  </a:lnTo>
                  <a:lnTo>
                    <a:pt x="113624" y="216211"/>
                  </a:lnTo>
                  <a:lnTo>
                    <a:pt x="81809" y="232118"/>
                  </a:lnTo>
                  <a:lnTo>
                    <a:pt x="49995" y="200304"/>
                  </a:lnTo>
                  <a:lnTo>
                    <a:pt x="22725" y="168489"/>
                  </a:lnTo>
                  <a:lnTo>
                    <a:pt x="0" y="129857"/>
                  </a:lnTo>
                  <a:lnTo>
                    <a:pt x="0" y="122714"/>
                  </a:lnTo>
                  <a:lnTo>
                    <a:pt x="0" y="120767"/>
                  </a:lnTo>
                  <a:lnTo>
                    <a:pt x="0" y="113624"/>
                  </a:lnTo>
                  <a:lnTo>
                    <a:pt x="11363" y="95444"/>
                  </a:lnTo>
                  <a:lnTo>
                    <a:pt x="15908" y="74992"/>
                  </a:lnTo>
                  <a:lnTo>
                    <a:pt x="27270" y="47722"/>
                  </a:lnTo>
                  <a:lnTo>
                    <a:pt x="38632" y="43177"/>
                  </a:lnTo>
                  <a:lnTo>
                    <a:pt x="93171" y="43177"/>
                  </a:lnTo>
                  <a:lnTo>
                    <a:pt x="93171" y="714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234;p30">
              <a:extLst>
                <a:ext uri="{FF2B5EF4-FFF2-40B4-BE49-F238E27FC236}">
                  <a16:creationId xmlns:a16="http://schemas.microsoft.com/office/drawing/2014/main" id="{62B124BC-91BB-17D6-C8D0-75794A68EE3B}"/>
                </a:ext>
              </a:extLst>
            </p:cNvPr>
            <p:cNvSpPr/>
            <p:nvPr/>
          </p:nvSpPr>
          <p:spPr>
            <a:xfrm>
              <a:off x="4793511" y="3610880"/>
              <a:ext cx="363189" cy="256060"/>
            </a:xfrm>
            <a:custGeom>
              <a:avLst/>
              <a:gdLst/>
              <a:ahLst/>
              <a:cxnLst/>
              <a:rect l="l" t="t" r="r" b="b"/>
              <a:pathLst>
                <a:path w="484252" h="341413" extrusionOk="0">
                  <a:moveTo>
                    <a:pt x="311328" y="0"/>
                  </a:moveTo>
                  <a:lnTo>
                    <a:pt x="315843" y="12042"/>
                  </a:lnTo>
                  <a:lnTo>
                    <a:pt x="316090" y="11905"/>
                  </a:lnTo>
                  <a:lnTo>
                    <a:pt x="318695" y="18852"/>
                  </a:lnTo>
                  <a:lnTo>
                    <a:pt x="338597" y="43177"/>
                  </a:lnTo>
                  <a:lnTo>
                    <a:pt x="338597" y="49262"/>
                  </a:lnTo>
                  <a:lnTo>
                    <a:pt x="343359" y="55082"/>
                  </a:lnTo>
                  <a:lnTo>
                    <a:pt x="343359" y="66445"/>
                  </a:lnTo>
                  <a:lnTo>
                    <a:pt x="338815" y="82352"/>
                  </a:lnTo>
                  <a:lnTo>
                    <a:pt x="338815" y="85211"/>
                  </a:lnTo>
                  <a:lnTo>
                    <a:pt x="349960" y="93171"/>
                  </a:lnTo>
                  <a:lnTo>
                    <a:pt x="377229" y="109079"/>
                  </a:lnTo>
                  <a:lnTo>
                    <a:pt x="393137" y="124986"/>
                  </a:lnTo>
                  <a:lnTo>
                    <a:pt x="393137" y="132129"/>
                  </a:lnTo>
                  <a:lnTo>
                    <a:pt x="397899" y="136891"/>
                  </a:lnTo>
                  <a:lnTo>
                    <a:pt x="397899" y="139920"/>
                  </a:lnTo>
                  <a:lnTo>
                    <a:pt x="420406" y="156801"/>
                  </a:lnTo>
                  <a:lnTo>
                    <a:pt x="436313" y="172708"/>
                  </a:lnTo>
                  <a:lnTo>
                    <a:pt x="447676" y="195433"/>
                  </a:lnTo>
                  <a:lnTo>
                    <a:pt x="472673" y="211340"/>
                  </a:lnTo>
                  <a:lnTo>
                    <a:pt x="479490" y="220430"/>
                  </a:lnTo>
                  <a:lnTo>
                    <a:pt x="473011" y="220430"/>
                  </a:lnTo>
                  <a:lnTo>
                    <a:pt x="477435" y="223245"/>
                  </a:lnTo>
                  <a:lnTo>
                    <a:pt x="484252" y="232335"/>
                  </a:lnTo>
                  <a:lnTo>
                    <a:pt x="472890" y="232335"/>
                  </a:lnTo>
                  <a:lnTo>
                    <a:pt x="445620" y="232335"/>
                  </a:lnTo>
                  <a:lnTo>
                    <a:pt x="418351" y="227790"/>
                  </a:lnTo>
                  <a:lnTo>
                    <a:pt x="409261" y="232335"/>
                  </a:lnTo>
                  <a:lnTo>
                    <a:pt x="397899" y="243697"/>
                  </a:lnTo>
                  <a:lnTo>
                    <a:pt x="386536" y="243697"/>
                  </a:lnTo>
                  <a:lnTo>
                    <a:pt x="370629" y="239152"/>
                  </a:lnTo>
                  <a:lnTo>
                    <a:pt x="334270" y="255059"/>
                  </a:lnTo>
                  <a:lnTo>
                    <a:pt x="316090" y="250514"/>
                  </a:lnTo>
                  <a:lnTo>
                    <a:pt x="311545" y="255059"/>
                  </a:lnTo>
                  <a:lnTo>
                    <a:pt x="300183" y="275512"/>
                  </a:lnTo>
                  <a:lnTo>
                    <a:pt x="272913" y="266422"/>
                  </a:lnTo>
                  <a:lnTo>
                    <a:pt x="247916" y="266422"/>
                  </a:lnTo>
                  <a:lnTo>
                    <a:pt x="220646" y="250514"/>
                  </a:lnTo>
                  <a:lnTo>
                    <a:pt x="193377" y="239152"/>
                  </a:lnTo>
                  <a:lnTo>
                    <a:pt x="172925" y="250514"/>
                  </a:lnTo>
                  <a:lnTo>
                    <a:pt x="154745" y="270967"/>
                  </a:lnTo>
                  <a:lnTo>
                    <a:pt x="154745" y="293691"/>
                  </a:lnTo>
                  <a:lnTo>
                    <a:pt x="129748" y="293691"/>
                  </a:lnTo>
                  <a:lnTo>
                    <a:pt x="107023" y="286874"/>
                  </a:lnTo>
                  <a:lnTo>
                    <a:pt x="86571" y="302781"/>
                  </a:lnTo>
                  <a:lnTo>
                    <a:pt x="63846" y="341413"/>
                  </a:lnTo>
                  <a:lnTo>
                    <a:pt x="59301" y="330051"/>
                  </a:lnTo>
                  <a:lnTo>
                    <a:pt x="59301" y="329139"/>
                  </a:lnTo>
                  <a:lnTo>
                    <a:pt x="59084" y="329508"/>
                  </a:lnTo>
                  <a:lnTo>
                    <a:pt x="54539" y="318146"/>
                  </a:lnTo>
                  <a:lnTo>
                    <a:pt x="54539" y="309382"/>
                  </a:lnTo>
                  <a:lnTo>
                    <a:pt x="43394" y="298236"/>
                  </a:lnTo>
                  <a:lnTo>
                    <a:pt x="32032" y="282329"/>
                  </a:lnTo>
                  <a:lnTo>
                    <a:pt x="27487" y="270967"/>
                  </a:lnTo>
                  <a:lnTo>
                    <a:pt x="11580" y="250514"/>
                  </a:lnTo>
                  <a:lnTo>
                    <a:pt x="11580" y="244732"/>
                  </a:lnTo>
                  <a:lnTo>
                    <a:pt x="6818" y="238609"/>
                  </a:lnTo>
                  <a:lnTo>
                    <a:pt x="6818" y="228041"/>
                  </a:lnTo>
                  <a:lnTo>
                    <a:pt x="4762" y="223245"/>
                  </a:lnTo>
                  <a:lnTo>
                    <a:pt x="4888" y="222743"/>
                  </a:lnTo>
                  <a:lnTo>
                    <a:pt x="0" y="211340"/>
                  </a:lnTo>
                  <a:lnTo>
                    <a:pt x="6818" y="184070"/>
                  </a:lnTo>
                  <a:lnTo>
                    <a:pt x="15908" y="179525"/>
                  </a:lnTo>
                  <a:lnTo>
                    <a:pt x="31815" y="140893"/>
                  </a:lnTo>
                  <a:lnTo>
                    <a:pt x="65902" y="136348"/>
                  </a:lnTo>
                  <a:lnTo>
                    <a:pt x="70447" y="129531"/>
                  </a:lnTo>
                  <a:lnTo>
                    <a:pt x="74992" y="129531"/>
                  </a:lnTo>
                  <a:lnTo>
                    <a:pt x="86354" y="136348"/>
                  </a:lnTo>
                  <a:lnTo>
                    <a:pt x="134076" y="124986"/>
                  </a:lnTo>
                  <a:lnTo>
                    <a:pt x="145438" y="109079"/>
                  </a:lnTo>
                  <a:lnTo>
                    <a:pt x="167883" y="97856"/>
                  </a:lnTo>
                  <a:lnTo>
                    <a:pt x="166107" y="93714"/>
                  </a:lnTo>
                  <a:lnTo>
                    <a:pt x="166398" y="93598"/>
                  </a:lnTo>
                  <a:lnTo>
                    <a:pt x="161345" y="81809"/>
                  </a:lnTo>
                  <a:lnTo>
                    <a:pt x="172708" y="77264"/>
                  </a:lnTo>
                  <a:lnTo>
                    <a:pt x="209067" y="81809"/>
                  </a:lnTo>
                  <a:lnTo>
                    <a:pt x="243154" y="65902"/>
                  </a:lnTo>
                  <a:lnTo>
                    <a:pt x="268151" y="22725"/>
                  </a:lnTo>
                  <a:lnTo>
                    <a:pt x="290876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235;p30">
              <a:extLst>
                <a:ext uri="{FF2B5EF4-FFF2-40B4-BE49-F238E27FC236}">
                  <a16:creationId xmlns:a16="http://schemas.microsoft.com/office/drawing/2014/main" id="{F08BBBA5-0EFA-6437-D093-C735E2442642}"/>
                </a:ext>
              </a:extLst>
            </p:cNvPr>
            <p:cNvSpPr/>
            <p:nvPr/>
          </p:nvSpPr>
          <p:spPr>
            <a:xfrm>
              <a:off x="4633301" y="3563157"/>
              <a:ext cx="208093" cy="313763"/>
            </a:xfrm>
            <a:custGeom>
              <a:avLst/>
              <a:gdLst/>
              <a:ahLst/>
              <a:cxnLst/>
              <a:rect l="l" t="t" r="r" b="b"/>
              <a:pathLst>
                <a:path w="277458" h="418350" extrusionOk="0">
                  <a:moveTo>
                    <a:pt x="220430" y="0"/>
                  </a:moveTo>
                  <a:lnTo>
                    <a:pt x="223583" y="5406"/>
                  </a:lnTo>
                  <a:lnTo>
                    <a:pt x="225192" y="4762"/>
                  </a:lnTo>
                  <a:lnTo>
                    <a:pt x="241099" y="32032"/>
                  </a:lnTo>
                  <a:lnTo>
                    <a:pt x="241099" y="52484"/>
                  </a:lnTo>
                  <a:lnTo>
                    <a:pt x="241099" y="79753"/>
                  </a:lnTo>
                  <a:lnTo>
                    <a:pt x="257006" y="111568"/>
                  </a:lnTo>
                  <a:lnTo>
                    <a:pt x="241099" y="111568"/>
                  </a:lnTo>
                  <a:lnTo>
                    <a:pt x="229736" y="118385"/>
                  </a:lnTo>
                  <a:lnTo>
                    <a:pt x="207012" y="111568"/>
                  </a:lnTo>
                  <a:lnTo>
                    <a:pt x="202467" y="127475"/>
                  </a:lnTo>
                  <a:lnTo>
                    <a:pt x="220430" y="145438"/>
                  </a:lnTo>
                  <a:lnTo>
                    <a:pt x="236337" y="149983"/>
                  </a:lnTo>
                  <a:lnTo>
                    <a:pt x="237395" y="153687"/>
                  </a:lnTo>
                  <a:lnTo>
                    <a:pt x="241099" y="154745"/>
                  </a:lnTo>
                  <a:lnTo>
                    <a:pt x="245644" y="170652"/>
                  </a:lnTo>
                  <a:lnTo>
                    <a:pt x="257006" y="197921"/>
                  </a:lnTo>
                  <a:lnTo>
                    <a:pt x="250189" y="209284"/>
                  </a:lnTo>
                  <a:lnTo>
                    <a:pt x="234281" y="247916"/>
                  </a:lnTo>
                  <a:lnTo>
                    <a:pt x="225192" y="252461"/>
                  </a:lnTo>
                  <a:lnTo>
                    <a:pt x="218374" y="279730"/>
                  </a:lnTo>
                  <a:lnTo>
                    <a:pt x="225192" y="295637"/>
                  </a:lnTo>
                  <a:lnTo>
                    <a:pt x="225192" y="307000"/>
                  </a:lnTo>
                  <a:lnTo>
                    <a:pt x="241099" y="327452"/>
                  </a:lnTo>
                  <a:lnTo>
                    <a:pt x="245644" y="338814"/>
                  </a:lnTo>
                  <a:lnTo>
                    <a:pt x="255753" y="357011"/>
                  </a:lnTo>
                  <a:lnTo>
                    <a:pt x="268151" y="365867"/>
                  </a:lnTo>
                  <a:lnTo>
                    <a:pt x="268151" y="367227"/>
                  </a:lnTo>
                  <a:lnTo>
                    <a:pt x="272913" y="370629"/>
                  </a:lnTo>
                  <a:lnTo>
                    <a:pt x="272913" y="386536"/>
                  </a:lnTo>
                  <a:lnTo>
                    <a:pt x="277458" y="397898"/>
                  </a:lnTo>
                  <a:lnTo>
                    <a:pt x="272913" y="418350"/>
                  </a:lnTo>
                  <a:lnTo>
                    <a:pt x="245644" y="409260"/>
                  </a:lnTo>
                  <a:lnTo>
                    <a:pt x="218374" y="397898"/>
                  </a:lnTo>
                  <a:lnTo>
                    <a:pt x="170652" y="397898"/>
                  </a:lnTo>
                  <a:lnTo>
                    <a:pt x="166107" y="397898"/>
                  </a:lnTo>
                  <a:lnTo>
                    <a:pt x="143383" y="397898"/>
                  </a:lnTo>
                  <a:lnTo>
                    <a:pt x="122931" y="397898"/>
                  </a:lnTo>
                  <a:lnTo>
                    <a:pt x="107023" y="397898"/>
                  </a:lnTo>
                  <a:lnTo>
                    <a:pt x="47939" y="397898"/>
                  </a:lnTo>
                  <a:lnTo>
                    <a:pt x="48733" y="393136"/>
                  </a:lnTo>
                  <a:lnTo>
                    <a:pt x="43177" y="393136"/>
                  </a:lnTo>
                  <a:lnTo>
                    <a:pt x="47722" y="365867"/>
                  </a:lnTo>
                  <a:lnTo>
                    <a:pt x="34196" y="342679"/>
                  </a:lnTo>
                  <a:lnTo>
                    <a:pt x="20670" y="338814"/>
                  </a:lnTo>
                  <a:lnTo>
                    <a:pt x="17617" y="334541"/>
                  </a:lnTo>
                  <a:lnTo>
                    <a:pt x="15908" y="334052"/>
                  </a:lnTo>
                  <a:lnTo>
                    <a:pt x="4545" y="318145"/>
                  </a:lnTo>
                  <a:lnTo>
                    <a:pt x="0" y="311327"/>
                  </a:lnTo>
                  <a:lnTo>
                    <a:pt x="0" y="302238"/>
                  </a:lnTo>
                  <a:lnTo>
                    <a:pt x="9090" y="274968"/>
                  </a:lnTo>
                  <a:lnTo>
                    <a:pt x="24997" y="243154"/>
                  </a:lnTo>
                  <a:lnTo>
                    <a:pt x="36360" y="243154"/>
                  </a:lnTo>
                  <a:lnTo>
                    <a:pt x="59084" y="215884"/>
                  </a:lnTo>
                  <a:lnTo>
                    <a:pt x="68174" y="215884"/>
                  </a:lnTo>
                  <a:lnTo>
                    <a:pt x="90899" y="231791"/>
                  </a:lnTo>
                  <a:lnTo>
                    <a:pt x="118169" y="220429"/>
                  </a:lnTo>
                  <a:lnTo>
                    <a:pt x="122713" y="204522"/>
                  </a:lnTo>
                  <a:lnTo>
                    <a:pt x="127258" y="188615"/>
                  </a:lnTo>
                  <a:lnTo>
                    <a:pt x="134076" y="165890"/>
                  </a:lnTo>
                  <a:lnTo>
                    <a:pt x="154528" y="156800"/>
                  </a:lnTo>
                  <a:lnTo>
                    <a:pt x="161345" y="129531"/>
                  </a:lnTo>
                  <a:lnTo>
                    <a:pt x="170435" y="118168"/>
                  </a:lnTo>
                  <a:lnTo>
                    <a:pt x="177253" y="102261"/>
                  </a:lnTo>
                  <a:lnTo>
                    <a:pt x="181798" y="74991"/>
                  </a:lnTo>
                  <a:lnTo>
                    <a:pt x="213612" y="47722"/>
                  </a:lnTo>
                  <a:lnTo>
                    <a:pt x="213612" y="38632"/>
                  </a:lnTo>
                  <a:lnTo>
                    <a:pt x="219651" y="28568"/>
                  </a:lnTo>
                  <a:lnTo>
                    <a:pt x="207012" y="20669"/>
                  </a:lnTo>
                  <a:lnTo>
                    <a:pt x="207791" y="19371"/>
                  </a:lnTo>
                  <a:lnTo>
                    <a:pt x="202250" y="15907"/>
                  </a:lnTo>
                  <a:lnTo>
                    <a:pt x="20906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236;p30">
              <a:extLst>
                <a:ext uri="{FF2B5EF4-FFF2-40B4-BE49-F238E27FC236}">
                  <a16:creationId xmlns:a16="http://schemas.microsoft.com/office/drawing/2014/main" id="{2A52096C-04A3-3EDA-34F6-D6A26381BFC0}"/>
                </a:ext>
              </a:extLst>
            </p:cNvPr>
            <p:cNvSpPr/>
            <p:nvPr/>
          </p:nvSpPr>
          <p:spPr>
            <a:xfrm>
              <a:off x="4471387" y="3534184"/>
              <a:ext cx="332592" cy="274726"/>
            </a:xfrm>
            <a:custGeom>
              <a:avLst/>
              <a:gdLst/>
              <a:ahLst/>
              <a:cxnLst/>
              <a:rect l="l" t="t" r="r" b="b"/>
              <a:pathLst>
                <a:path w="443456" h="366302" extrusionOk="0">
                  <a:moveTo>
                    <a:pt x="102261" y="0"/>
                  </a:moveTo>
                  <a:lnTo>
                    <a:pt x="138621" y="18180"/>
                  </a:lnTo>
                  <a:lnTo>
                    <a:pt x="149983" y="27270"/>
                  </a:lnTo>
                  <a:lnTo>
                    <a:pt x="165890" y="27270"/>
                  </a:lnTo>
                  <a:lnTo>
                    <a:pt x="188615" y="22725"/>
                  </a:lnTo>
                  <a:lnTo>
                    <a:pt x="231792" y="38632"/>
                  </a:lnTo>
                  <a:lnTo>
                    <a:pt x="252244" y="38632"/>
                  </a:lnTo>
                  <a:lnTo>
                    <a:pt x="274968" y="22725"/>
                  </a:lnTo>
                  <a:lnTo>
                    <a:pt x="295420" y="27270"/>
                  </a:lnTo>
                  <a:lnTo>
                    <a:pt x="299965" y="18180"/>
                  </a:lnTo>
                  <a:lnTo>
                    <a:pt x="322690" y="22725"/>
                  </a:lnTo>
                  <a:lnTo>
                    <a:pt x="354505" y="34087"/>
                  </a:lnTo>
                  <a:lnTo>
                    <a:pt x="381774" y="11363"/>
                  </a:lnTo>
                  <a:lnTo>
                    <a:pt x="393136" y="11363"/>
                  </a:lnTo>
                  <a:lnTo>
                    <a:pt x="397648" y="20887"/>
                  </a:lnTo>
                  <a:lnTo>
                    <a:pt x="400279" y="20887"/>
                  </a:lnTo>
                  <a:lnTo>
                    <a:pt x="416220" y="54540"/>
                  </a:lnTo>
                  <a:lnTo>
                    <a:pt x="418134" y="54540"/>
                  </a:lnTo>
                  <a:lnTo>
                    <a:pt x="436313" y="65902"/>
                  </a:lnTo>
                  <a:lnTo>
                    <a:pt x="434105" y="69582"/>
                  </a:lnTo>
                  <a:lnTo>
                    <a:pt x="443456" y="75426"/>
                  </a:lnTo>
                  <a:lnTo>
                    <a:pt x="436639" y="86788"/>
                  </a:lnTo>
                  <a:lnTo>
                    <a:pt x="436639" y="95878"/>
                  </a:lnTo>
                  <a:lnTo>
                    <a:pt x="404824" y="123148"/>
                  </a:lnTo>
                  <a:lnTo>
                    <a:pt x="400279" y="150417"/>
                  </a:lnTo>
                  <a:lnTo>
                    <a:pt x="393462" y="166325"/>
                  </a:lnTo>
                  <a:lnTo>
                    <a:pt x="384372" y="177687"/>
                  </a:lnTo>
                  <a:lnTo>
                    <a:pt x="377555" y="204957"/>
                  </a:lnTo>
                  <a:lnTo>
                    <a:pt x="357103" y="214047"/>
                  </a:lnTo>
                  <a:lnTo>
                    <a:pt x="350285" y="236771"/>
                  </a:lnTo>
                  <a:lnTo>
                    <a:pt x="345740" y="252679"/>
                  </a:lnTo>
                  <a:lnTo>
                    <a:pt x="341195" y="268586"/>
                  </a:lnTo>
                  <a:lnTo>
                    <a:pt x="313926" y="279948"/>
                  </a:lnTo>
                  <a:lnTo>
                    <a:pt x="291201" y="264041"/>
                  </a:lnTo>
                  <a:lnTo>
                    <a:pt x="282111" y="264041"/>
                  </a:lnTo>
                  <a:lnTo>
                    <a:pt x="259387" y="284493"/>
                  </a:lnTo>
                  <a:lnTo>
                    <a:pt x="248024" y="284493"/>
                  </a:lnTo>
                  <a:lnTo>
                    <a:pt x="232117" y="323125"/>
                  </a:lnTo>
                  <a:lnTo>
                    <a:pt x="223027" y="350395"/>
                  </a:lnTo>
                  <a:lnTo>
                    <a:pt x="179850" y="359485"/>
                  </a:lnTo>
                  <a:lnTo>
                    <a:pt x="168488" y="359485"/>
                  </a:lnTo>
                  <a:lnTo>
                    <a:pt x="152581" y="366302"/>
                  </a:lnTo>
                  <a:lnTo>
                    <a:pt x="125311" y="366302"/>
                  </a:lnTo>
                  <a:lnTo>
                    <a:pt x="104859" y="343578"/>
                  </a:lnTo>
                  <a:lnTo>
                    <a:pt x="103628" y="340622"/>
                  </a:lnTo>
                  <a:lnTo>
                    <a:pt x="97716" y="334054"/>
                  </a:lnTo>
                  <a:lnTo>
                    <a:pt x="88360" y="311599"/>
                  </a:lnTo>
                  <a:lnTo>
                    <a:pt x="66227" y="291311"/>
                  </a:lnTo>
                  <a:lnTo>
                    <a:pt x="38958" y="291311"/>
                  </a:lnTo>
                  <a:lnTo>
                    <a:pt x="7143" y="291311"/>
                  </a:lnTo>
                  <a:lnTo>
                    <a:pt x="7143" y="281787"/>
                  </a:lnTo>
                  <a:lnTo>
                    <a:pt x="0" y="281787"/>
                  </a:lnTo>
                  <a:lnTo>
                    <a:pt x="0" y="227247"/>
                  </a:lnTo>
                  <a:lnTo>
                    <a:pt x="0" y="199978"/>
                  </a:lnTo>
                  <a:lnTo>
                    <a:pt x="4545" y="179525"/>
                  </a:lnTo>
                  <a:lnTo>
                    <a:pt x="15907" y="168163"/>
                  </a:lnTo>
                  <a:lnTo>
                    <a:pt x="38632" y="140893"/>
                  </a:lnTo>
                  <a:lnTo>
                    <a:pt x="31815" y="129531"/>
                  </a:lnTo>
                  <a:lnTo>
                    <a:pt x="43177" y="120441"/>
                  </a:lnTo>
                  <a:lnTo>
                    <a:pt x="31815" y="97717"/>
                  </a:lnTo>
                  <a:lnTo>
                    <a:pt x="31815" y="81809"/>
                  </a:lnTo>
                  <a:lnTo>
                    <a:pt x="38632" y="49995"/>
                  </a:lnTo>
                  <a:lnTo>
                    <a:pt x="47722" y="34087"/>
                  </a:lnTo>
                  <a:lnTo>
                    <a:pt x="54539" y="11363"/>
                  </a:lnTo>
                  <a:lnTo>
                    <a:pt x="59084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237;p30">
              <a:extLst>
                <a:ext uri="{FF2B5EF4-FFF2-40B4-BE49-F238E27FC236}">
                  <a16:creationId xmlns:a16="http://schemas.microsoft.com/office/drawing/2014/main" id="{C8691725-79BE-3B4F-E12C-0933AF12A59F}"/>
                </a:ext>
              </a:extLst>
            </p:cNvPr>
            <p:cNvSpPr/>
            <p:nvPr/>
          </p:nvSpPr>
          <p:spPr>
            <a:xfrm>
              <a:off x="4418553" y="3583610"/>
              <a:ext cx="88789" cy="168731"/>
            </a:xfrm>
            <a:custGeom>
              <a:avLst/>
              <a:gdLst/>
              <a:ahLst/>
              <a:cxnLst/>
              <a:rect l="l" t="t" r="r" b="b"/>
              <a:pathLst>
                <a:path w="118385" h="224975" extrusionOk="0">
                  <a:moveTo>
                    <a:pt x="59084" y="0"/>
                  </a:moveTo>
                  <a:lnTo>
                    <a:pt x="63846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107023" y="20453"/>
                  </a:lnTo>
                  <a:lnTo>
                    <a:pt x="107023" y="31815"/>
                  </a:lnTo>
                  <a:lnTo>
                    <a:pt x="118385" y="54540"/>
                  </a:lnTo>
                  <a:lnTo>
                    <a:pt x="107023" y="70447"/>
                  </a:lnTo>
                  <a:lnTo>
                    <a:pt x="113840" y="79537"/>
                  </a:lnTo>
                  <a:lnTo>
                    <a:pt x="91116" y="102262"/>
                  </a:lnTo>
                  <a:lnTo>
                    <a:pt x="79753" y="113624"/>
                  </a:lnTo>
                  <a:lnTo>
                    <a:pt x="75209" y="138621"/>
                  </a:lnTo>
                  <a:lnTo>
                    <a:pt x="75209" y="161346"/>
                  </a:lnTo>
                  <a:lnTo>
                    <a:pt x="75209" y="220430"/>
                  </a:lnTo>
                  <a:lnTo>
                    <a:pt x="43394" y="224975"/>
                  </a:lnTo>
                  <a:lnTo>
                    <a:pt x="43230" y="224318"/>
                  </a:lnTo>
                  <a:lnTo>
                    <a:pt x="38632" y="224975"/>
                  </a:lnTo>
                  <a:lnTo>
                    <a:pt x="31815" y="197706"/>
                  </a:lnTo>
                  <a:lnTo>
                    <a:pt x="31815" y="113624"/>
                  </a:lnTo>
                  <a:lnTo>
                    <a:pt x="22725" y="106807"/>
                  </a:lnTo>
                  <a:lnTo>
                    <a:pt x="22725" y="86354"/>
                  </a:lnTo>
                  <a:lnTo>
                    <a:pt x="11363" y="74992"/>
                  </a:lnTo>
                  <a:lnTo>
                    <a:pt x="0" y="63630"/>
                  </a:lnTo>
                  <a:lnTo>
                    <a:pt x="6818" y="43177"/>
                  </a:lnTo>
                  <a:lnTo>
                    <a:pt x="11580" y="43177"/>
                  </a:lnTo>
                  <a:lnTo>
                    <a:pt x="15907" y="43177"/>
                  </a:lnTo>
                  <a:lnTo>
                    <a:pt x="22725" y="27270"/>
                  </a:lnTo>
                  <a:lnTo>
                    <a:pt x="43177" y="20453"/>
                  </a:lnTo>
                  <a:lnTo>
                    <a:pt x="49994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238;p30">
              <a:extLst>
                <a:ext uri="{FF2B5EF4-FFF2-40B4-BE49-F238E27FC236}">
                  <a16:creationId xmlns:a16="http://schemas.microsoft.com/office/drawing/2014/main" id="{2EEA47AC-3672-1979-F9E9-41D5CDC13ABA}"/>
                </a:ext>
              </a:extLst>
            </p:cNvPr>
            <p:cNvSpPr/>
            <p:nvPr/>
          </p:nvSpPr>
          <p:spPr>
            <a:xfrm>
              <a:off x="4394691" y="3615992"/>
              <a:ext cx="58193" cy="141461"/>
            </a:xfrm>
            <a:custGeom>
              <a:avLst/>
              <a:gdLst/>
              <a:ahLst/>
              <a:cxnLst/>
              <a:rect l="l" t="t" r="r" b="b"/>
              <a:pathLst>
                <a:path w="77590" h="188615" extrusionOk="0">
                  <a:moveTo>
                    <a:pt x="0" y="0"/>
                  </a:moveTo>
                  <a:lnTo>
                    <a:pt x="7143" y="0"/>
                  </a:lnTo>
                  <a:lnTo>
                    <a:pt x="38632" y="0"/>
                  </a:lnTo>
                  <a:lnTo>
                    <a:pt x="45775" y="0"/>
                  </a:lnTo>
                  <a:lnTo>
                    <a:pt x="38958" y="20452"/>
                  </a:lnTo>
                  <a:lnTo>
                    <a:pt x="50320" y="31815"/>
                  </a:lnTo>
                  <a:lnTo>
                    <a:pt x="61683" y="43177"/>
                  </a:lnTo>
                  <a:lnTo>
                    <a:pt x="61683" y="63629"/>
                  </a:lnTo>
                  <a:lnTo>
                    <a:pt x="70773" y="70447"/>
                  </a:lnTo>
                  <a:lnTo>
                    <a:pt x="66228" y="154528"/>
                  </a:lnTo>
                  <a:lnTo>
                    <a:pt x="77590" y="177253"/>
                  </a:lnTo>
                  <a:lnTo>
                    <a:pt x="50320" y="188615"/>
                  </a:lnTo>
                  <a:lnTo>
                    <a:pt x="48219" y="186514"/>
                  </a:lnTo>
                  <a:lnTo>
                    <a:pt x="43177" y="188615"/>
                  </a:lnTo>
                  <a:lnTo>
                    <a:pt x="31815" y="177253"/>
                  </a:lnTo>
                  <a:lnTo>
                    <a:pt x="22725" y="149983"/>
                  </a:lnTo>
                  <a:lnTo>
                    <a:pt x="22725" y="134076"/>
                  </a:lnTo>
                  <a:lnTo>
                    <a:pt x="27270" y="95444"/>
                  </a:lnTo>
                  <a:lnTo>
                    <a:pt x="15908" y="86354"/>
                  </a:lnTo>
                  <a:lnTo>
                    <a:pt x="15908" y="59084"/>
                  </a:lnTo>
                  <a:lnTo>
                    <a:pt x="15908" y="31815"/>
                  </a:lnTo>
                  <a:lnTo>
                    <a:pt x="0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239;p30">
              <a:extLst>
                <a:ext uri="{FF2B5EF4-FFF2-40B4-BE49-F238E27FC236}">
                  <a16:creationId xmlns:a16="http://schemas.microsoft.com/office/drawing/2014/main" id="{859F1DC9-74D2-A69A-E332-B2054DB2C422}"/>
                </a:ext>
              </a:extLst>
            </p:cNvPr>
            <p:cNvSpPr/>
            <p:nvPr/>
          </p:nvSpPr>
          <p:spPr>
            <a:xfrm>
              <a:off x="4306065" y="3615992"/>
              <a:ext cx="122795" cy="173843"/>
            </a:xfrm>
            <a:custGeom>
              <a:avLst/>
              <a:gdLst/>
              <a:ahLst/>
              <a:cxnLst/>
              <a:rect l="l" t="t" r="r" b="b"/>
              <a:pathLst>
                <a:path w="163727" h="231791" extrusionOk="0">
                  <a:moveTo>
                    <a:pt x="74992" y="0"/>
                  </a:moveTo>
                  <a:lnTo>
                    <a:pt x="75468" y="136"/>
                  </a:lnTo>
                  <a:lnTo>
                    <a:pt x="77373" y="0"/>
                  </a:lnTo>
                  <a:lnTo>
                    <a:pt x="91891" y="4148"/>
                  </a:lnTo>
                  <a:lnTo>
                    <a:pt x="102262" y="0"/>
                  </a:lnTo>
                  <a:lnTo>
                    <a:pt x="104643" y="0"/>
                  </a:lnTo>
                  <a:lnTo>
                    <a:pt x="122714" y="0"/>
                  </a:lnTo>
                  <a:lnTo>
                    <a:pt x="125095" y="0"/>
                  </a:lnTo>
                  <a:lnTo>
                    <a:pt x="120550" y="11363"/>
                  </a:lnTo>
                  <a:lnTo>
                    <a:pt x="136457" y="31815"/>
                  </a:lnTo>
                  <a:lnTo>
                    <a:pt x="136457" y="59084"/>
                  </a:lnTo>
                  <a:lnTo>
                    <a:pt x="143275" y="86354"/>
                  </a:lnTo>
                  <a:lnTo>
                    <a:pt x="147820" y="102261"/>
                  </a:lnTo>
                  <a:lnTo>
                    <a:pt x="143275" y="134075"/>
                  </a:lnTo>
                  <a:lnTo>
                    <a:pt x="147820" y="149983"/>
                  </a:lnTo>
                  <a:lnTo>
                    <a:pt x="152365" y="177252"/>
                  </a:lnTo>
                  <a:lnTo>
                    <a:pt x="163727" y="188614"/>
                  </a:lnTo>
                  <a:lnTo>
                    <a:pt x="104643" y="209067"/>
                  </a:lnTo>
                  <a:lnTo>
                    <a:pt x="84190" y="220429"/>
                  </a:lnTo>
                  <a:lnTo>
                    <a:pt x="50103" y="231791"/>
                  </a:lnTo>
                  <a:lnTo>
                    <a:pt x="48954" y="231381"/>
                  </a:lnTo>
                  <a:lnTo>
                    <a:pt x="47722" y="231791"/>
                  </a:lnTo>
                  <a:lnTo>
                    <a:pt x="15908" y="220429"/>
                  </a:lnTo>
                  <a:lnTo>
                    <a:pt x="15908" y="209067"/>
                  </a:lnTo>
                  <a:lnTo>
                    <a:pt x="0" y="177252"/>
                  </a:lnTo>
                  <a:lnTo>
                    <a:pt x="11363" y="134075"/>
                  </a:lnTo>
                  <a:lnTo>
                    <a:pt x="27270" y="106806"/>
                  </a:lnTo>
                  <a:lnTo>
                    <a:pt x="15908" y="52267"/>
                  </a:lnTo>
                  <a:lnTo>
                    <a:pt x="11363" y="27270"/>
                  </a:lnTo>
                  <a:lnTo>
                    <a:pt x="11363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240;p30">
              <a:extLst>
                <a:ext uri="{FF2B5EF4-FFF2-40B4-BE49-F238E27FC236}">
                  <a16:creationId xmlns:a16="http://schemas.microsoft.com/office/drawing/2014/main" id="{47151807-B4E8-94F6-0CEC-4ED7F12F2DC0}"/>
                </a:ext>
              </a:extLst>
            </p:cNvPr>
            <p:cNvSpPr/>
            <p:nvPr/>
          </p:nvSpPr>
          <p:spPr>
            <a:xfrm>
              <a:off x="4246412" y="3498392"/>
              <a:ext cx="214993" cy="167515"/>
            </a:xfrm>
            <a:custGeom>
              <a:avLst/>
              <a:gdLst/>
              <a:ahLst/>
              <a:cxnLst/>
              <a:rect l="l" t="t" r="r" b="b"/>
              <a:pathLst>
                <a:path w="286657" h="223353" extrusionOk="0">
                  <a:moveTo>
                    <a:pt x="181798" y="0"/>
                  </a:moveTo>
                  <a:lnTo>
                    <a:pt x="193160" y="11362"/>
                  </a:lnTo>
                  <a:lnTo>
                    <a:pt x="213613" y="6817"/>
                  </a:lnTo>
                  <a:lnTo>
                    <a:pt x="213613" y="22691"/>
                  </a:lnTo>
                  <a:lnTo>
                    <a:pt x="220756" y="21104"/>
                  </a:lnTo>
                  <a:lnTo>
                    <a:pt x="220756" y="41556"/>
                  </a:lnTo>
                  <a:lnTo>
                    <a:pt x="220756" y="51749"/>
                  </a:lnTo>
                  <a:lnTo>
                    <a:pt x="236337" y="70447"/>
                  </a:lnTo>
                  <a:lnTo>
                    <a:pt x="236337" y="76161"/>
                  </a:lnTo>
                  <a:lnTo>
                    <a:pt x="243480" y="84733"/>
                  </a:lnTo>
                  <a:lnTo>
                    <a:pt x="243480" y="88234"/>
                  </a:lnTo>
                  <a:lnTo>
                    <a:pt x="279514" y="97716"/>
                  </a:lnTo>
                  <a:lnTo>
                    <a:pt x="279514" y="110123"/>
                  </a:lnTo>
                  <a:lnTo>
                    <a:pt x="286657" y="112002"/>
                  </a:lnTo>
                  <a:lnTo>
                    <a:pt x="286657" y="132455"/>
                  </a:lnTo>
                  <a:lnTo>
                    <a:pt x="279840" y="148362"/>
                  </a:lnTo>
                  <a:lnTo>
                    <a:pt x="259388" y="148362"/>
                  </a:lnTo>
                  <a:lnTo>
                    <a:pt x="252570" y="164269"/>
                  </a:lnTo>
                  <a:lnTo>
                    <a:pt x="243480" y="171086"/>
                  </a:lnTo>
                  <a:lnTo>
                    <a:pt x="209393" y="171086"/>
                  </a:lnTo>
                  <a:lnTo>
                    <a:pt x="188941" y="164269"/>
                  </a:lnTo>
                  <a:lnTo>
                    <a:pt x="177579" y="171086"/>
                  </a:lnTo>
                  <a:lnTo>
                    <a:pt x="161671" y="171086"/>
                  </a:lnTo>
                  <a:lnTo>
                    <a:pt x="102587" y="171086"/>
                  </a:lnTo>
                  <a:lnTo>
                    <a:pt x="98042" y="191539"/>
                  </a:lnTo>
                  <a:lnTo>
                    <a:pt x="102587" y="218808"/>
                  </a:lnTo>
                  <a:lnTo>
                    <a:pt x="75317" y="214263"/>
                  </a:lnTo>
                  <a:lnTo>
                    <a:pt x="59410" y="214263"/>
                  </a:lnTo>
                  <a:lnTo>
                    <a:pt x="48048" y="223353"/>
                  </a:lnTo>
                  <a:lnTo>
                    <a:pt x="32140" y="214263"/>
                  </a:lnTo>
                  <a:lnTo>
                    <a:pt x="27595" y="202901"/>
                  </a:lnTo>
                  <a:lnTo>
                    <a:pt x="7143" y="198356"/>
                  </a:lnTo>
                  <a:lnTo>
                    <a:pt x="7143" y="185658"/>
                  </a:lnTo>
                  <a:lnTo>
                    <a:pt x="0" y="184070"/>
                  </a:lnTo>
                  <a:lnTo>
                    <a:pt x="0" y="156800"/>
                  </a:lnTo>
                  <a:lnTo>
                    <a:pt x="9090" y="145438"/>
                  </a:lnTo>
                  <a:lnTo>
                    <a:pt x="9090" y="129531"/>
                  </a:lnTo>
                  <a:lnTo>
                    <a:pt x="36360" y="97716"/>
                  </a:lnTo>
                  <a:lnTo>
                    <a:pt x="40905" y="74992"/>
                  </a:lnTo>
                  <a:lnTo>
                    <a:pt x="52267" y="65902"/>
                  </a:lnTo>
                  <a:lnTo>
                    <a:pt x="68174" y="70447"/>
                  </a:lnTo>
                  <a:lnTo>
                    <a:pt x="84082" y="59084"/>
                  </a:lnTo>
                  <a:lnTo>
                    <a:pt x="90899" y="47722"/>
                  </a:lnTo>
                  <a:lnTo>
                    <a:pt x="118169" y="38632"/>
                  </a:lnTo>
                  <a:lnTo>
                    <a:pt x="127259" y="22725"/>
                  </a:lnTo>
                  <a:lnTo>
                    <a:pt x="161346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241;p30">
              <a:extLst>
                <a:ext uri="{FF2B5EF4-FFF2-40B4-BE49-F238E27FC236}">
                  <a16:creationId xmlns:a16="http://schemas.microsoft.com/office/drawing/2014/main" id="{CD74C227-35E0-FA95-E060-0C24BDB31DA2}"/>
                </a:ext>
              </a:extLst>
            </p:cNvPr>
            <p:cNvSpPr/>
            <p:nvPr/>
          </p:nvSpPr>
          <p:spPr>
            <a:xfrm>
              <a:off x="4905998" y="2591672"/>
              <a:ext cx="59979" cy="63062"/>
            </a:xfrm>
            <a:custGeom>
              <a:avLst/>
              <a:gdLst/>
              <a:ahLst/>
              <a:cxnLst/>
              <a:rect l="l" t="t" r="r" b="b"/>
              <a:pathLst>
                <a:path w="79972" h="84082" extrusionOk="0">
                  <a:moveTo>
                    <a:pt x="27270" y="0"/>
                  </a:moveTo>
                  <a:lnTo>
                    <a:pt x="32562" y="4234"/>
                  </a:lnTo>
                  <a:lnTo>
                    <a:pt x="36795" y="0"/>
                  </a:lnTo>
                  <a:lnTo>
                    <a:pt x="48157" y="9090"/>
                  </a:lnTo>
                  <a:lnTo>
                    <a:pt x="52702" y="15908"/>
                  </a:lnTo>
                  <a:lnTo>
                    <a:pt x="64065" y="20453"/>
                  </a:lnTo>
                  <a:lnTo>
                    <a:pt x="79972" y="31815"/>
                  </a:lnTo>
                  <a:lnTo>
                    <a:pt x="75427" y="36360"/>
                  </a:lnTo>
                  <a:lnTo>
                    <a:pt x="68610" y="47722"/>
                  </a:lnTo>
                  <a:lnTo>
                    <a:pt x="59520" y="52267"/>
                  </a:lnTo>
                  <a:lnTo>
                    <a:pt x="59520" y="46997"/>
                  </a:lnTo>
                  <a:lnTo>
                    <a:pt x="59085" y="47722"/>
                  </a:lnTo>
                  <a:lnTo>
                    <a:pt x="52307" y="51111"/>
                  </a:lnTo>
                  <a:lnTo>
                    <a:pt x="36795" y="68175"/>
                  </a:lnTo>
                  <a:lnTo>
                    <a:pt x="43613" y="84082"/>
                  </a:lnTo>
                  <a:lnTo>
                    <a:pt x="32250" y="79537"/>
                  </a:lnTo>
                  <a:lnTo>
                    <a:pt x="31974" y="79151"/>
                  </a:lnTo>
                  <a:lnTo>
                    <a:pt x="34088" y="84082"/>
                  </a:lnTo>
                  <a:lnTo>
                    <a:pt x="22725" y="79537"/>
                  </a:lnTo>
                  <a:lnTo>
                    <a:pt x="11363" y="63630"/>
                  </a:lnTo>
                  <a:lnTo>
                    <a:pt x="0" y="52267"/>
                  </a:lnTo>
                  <a:lnTo>
                    <a:pt x="0" y="43177"/>
                  </a:lnTo>
                  <a:lnTo>
                    <a:pt x="6817" y="15908"/>
                  </a:lnTo>
                  <a:lnTo>
                    <a:pt x="22725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242;p30">
              <a:extLst>
                <a:ext uri="{FF2B5EF4-FFF2-40B4-BE49-F238E27FC236}">
                  <a16:creationId xmlns:a16="http://schemas.microsoft.com/office/drawing/2014/main" id="{5B456C7B-97E9-9AE5-80AC-924ECC647487}"/>
                </a:ext>
              </a:extLst>
            </p:cNvPr>
            <p:cNvSpPr/>
            <p:nvPr/>
          </p:nvSpPr>
          <p:spPr>
            <a:xfrm>
              <a:off x="4912489" y="2489410"/>
              <a:ext cx="119631" cy="149983"/>
            </a:xfrm>
            <a:custGeom>
              <a:avLst/>
              <a:gdLst/>
              <a:ahLst/>
              <a:cxnLst/>
              <a:rect l="l" t="t" r="r" b="b"/>
              <a:pathLst>
                <a:path w="159508" h="199977" extrusionOk="0">
                  <a:moveTo>
                    <a:pt x="24997" y="0"/>
                  </a:moveTo>
                  <a:lnTo>
                    <a:pt x="34522" y="0"/>
                  </a:lnTo>
                  <a:lnTo>
                    <a:pt x="47722" y="0"/>
                  </a:lnTo>
                  <a:lnTo>
                    <a:pt x="57247" y="0"/>
                  </a:lnTo>
                  <a:lnTo>
                    <a:pt x="77699" y="22725"/>
                  </a:lnTo>
                  <a:lnTo>
                    <a:pt x="77699" y="38632"/>
                  </a:lnTo>
                  <a:lnTo>
                    <a:pt x="104969" y="54539"/>
                  </a:lnTo>
                  <a:lnTo>
                    <a:pt x="104969" y="70447"/>
                  </a:lnTo>
                  <a:lnTo>
                    <a:pt x="122091" y="82432"/>
                  </a:lnTo>
                  <a:lnTo>
                    <a:pt x="127259" y="77264"/>
                  </a:lnTo>
                  <a:lnTo>
                    <a:pt x="134062" y="79985"/>
                  </a:lnTo>
                  <a:lnTo>
                    <a:pt x="136784" y="77264"/>
                  </a:lnTo>
                  <a:lnTo>
                    <a:pt x="148146" y="81809"/>
                  </a:lnTo>
                  <a:lnTo>
                    <a:pt x="136784" y="93171"/>
                  </a:lnTo>
                  <a:lnTo>
                    <a:pt x="148146" y="102261"/>
                  </a:lnTo>
                  <a:lnTo>
                    <a:pt x="136784" y="113623"/>
                  </a:lnTo>
                  <a:lnTo>
                    <a:pt x="136784" y="129531"/>
                  </a:lnTo>
                  <a:lnTo>
                    <a:pt x="159508" y="152255"/>
                  </a:lnTo>
                  <a:lnTo>
                    <a:pt x="143601" y="168163"/>
                  </a:lnTo>
                  <a:lnTo>
                    <a:pt x="136784" y="184070"/>
                  </a:lnTo>
                  <a:lnTo>
                    <a:pt x="143601" y="188615"/>
                  </a:lnTo>
                  <a:lnTo>
                    <a:pt x="136784" y="199977"/>
                  </a:lnTo>
                  <a:lnTo>
                    <a:pt x="127259" y="199977"/>
                  </a:lnTo>
                  <a:lnTo>
                    <a:pt x="120876" y="199977"/>
                  </a:lnTo>
                  <a:lnTo>
                    <a:pt x="111351" y="199977"/>
                  </a:lnTo>
                  <a:lnTo>
                    <a:pt x="104969" y="199977"/>
                  </a:lnTo>
                  <a:lnTo>
                    <a:pt x="95444" y="199977"/>
                  </a:lnTo>
                  <a:lnTo>
                    <a:pt x="99989" y="188615"/>
                  </a:lnTo>
                  <a:lnTo>
                    <a:pt x="106806" y="179525"/>
                  </a:lnTo>
                  <a:lnTo>
                    <a:pt x="99989" y="179525"/>
                  </a:lnTo>
                  <a:lnTo>
                    <a:pt x="90899" y="172708"/>
                  </a:lnTo>
                  <a:lnTo>
                    <a:pt x="84082" y="168163"/>
                  </a:lnTo>
                  <a:lnTo>
                    <a:pt x="79537" y="161345"/>
                  </a:lnTo>
                  <a:lnTo>
                    <a:pt x="74992" y="156800"/>
                  </a:lnTo>
                  <a:lnTo>
                    <a:pt x="72357" y="155044"/>
                  </a:lnTo>
                  <a:lnTo>
                    <a:pt x="68609" y="168163"/>
                  </a:lnTo>
                  <a:lnTo>
                    <a:pt x="57247" y="172708"/>
                  </a:lnTo>
                  <a:lnTo>
                    <a:pt x="61792" y="168163"/>
                  </a:lnTo>
                  <a:lnTo>
                    <a:pt x="59543" y="166556"/>
                  </a:lnTo>
                  <a:lnTo>
                    <a:pt x="59084" y="168163"/>
                  </a:lnTo>
                  <a:lnTo>
                    <a:pt x="47722" y="172708"/>
                  </a:lnTo>
                  <a:lnTo>
                    <a:pt x="52267" y="168163"/>
                  </a:lnTo>
                  <a:lnTo>
                    <a:pt x="36360" y="156800"/>
                  </a:lnTo>
                  <a:lnTo>
                    <a:pt x="24997" y="152255"/>
                  </a:lnTo>
                  <a:lnTo>
                    <a:pt x="20452" y="145438"/>
                  </a:lnTo>
                  <a:lnTo>
                    <a:pt x="9090" y="136348"/>
                  </a:lnTo>
                  <a:lnTo>
                    <a:pt x="18615" y="136348"/>
                  </a:lnTo>
                  <a:lnTo>
                    <a:pt x="20452" y="136348"/>
                  </a:lnTo>
                  <a:lnTo>
                    <a:pt x="24997" y="109078"/>
                  </a:lnTo>
                  <a:lnTo>
                    <a:pt x="9090" y="93171"/>
                  </a:lnTo>
                  <a:lnTo>
                    <a:pt x="15908" y="70447"/>
                  </a:lnTo>
                  <a:lnTo>
                    <a:pt x="14070" y="70447"/>
                  </a:lnTo>
                  <a:lnTo>
                    <a:pt x="4545" y="70447"/>
                  </a:lnTo>
                  <a:lnTo>
                    <a:pt x="15908" y="49994"/>
                  </a:lnTo>
                  <a:lnTo>
                    <a:pt x="4545" y="34087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243;p30">
              <a:extLst>
                <a:ext uri="{FF2B5EF4-FFF2-40B4-BE49-F238E27FC236}">
                  <a16:creationId xmlns:a16="http://schemas.microsoft.com/office/drawing/2014/main" id="{288D9DDD-BF45-CA5E-7B79-57159608FACD}"/>
                </a:ext>
              </a:extLst>
            </p:cNvPr>
            <p:cNvSpPr/>
            <p:nvPr/>
          </p:nvSpPr>
          <p:spPr>
            <a:xfrm>
              <a:off x="5035529" y="2049686"/>
              <a:ext cx="267827" cy="226678"/>
            </a:xfrm>
            <a:custGeom>
              <a:avLst/>
              <a:gdLst/>
              <a:ahLst/>
              <a:cxnLst/>
              <a:rect l="l" t="t" r="r" b="b"/>
              <a:pathLst>
                <a:path w="357103" h="302238" extrusionOk="0">
                  <a:moveTo>
                    <a:pt x="184079" y="0"/>
                  </a:moveTo>
                  <a:lnTo>
                    <a:pt x="188461" y="1949"/>
                  </a:lnTo>
                  <a:lnTo>
                    <a:pt x="191223" y="0"/>
                  </a:lnTo>
                  <a:lnTo>
                    <a:pt x="232133" y="18195"/>
                  </a:lnTo>
                  <a:lnTo>
                    <a:pt x="237816" y="31502"/>
                  </a:lnTo>
                  <a:lnTo>
                    <a:pt x="247701" y="27262"/>
                  </a:lnTo>
                  <a:lnTo>
                    <a:pt x="251939" y="28508"/>
                  </a:lnTo>
                  <a:lnTo>
                    <a:pt x="254845" y="27262"/>
                  </a:lnTo>
                  <a:lnTo>
                    <a:pt x="293481" y="38626"/>
                  </a:lnTo>
                  <a:cubicBezTo>
                    <a:pt x="294986" y="49235"/>
                    <a:pt x="296525" y="59843"/>
                    <a:pt x="298030" y="70452"/>
                  </a:cubicBezTo>
                  <a:lnTo>
                    <a:pt x="286656" y="86350"/>
                  </a:lnTo>
                  <a:lnTo>
                    <a:pt x="313918" y="129539"/>
                  </a:lnTo>
                  <a:lnTo>
                    <a:pt x="325292" y="140903"/>
                  </a:lnTo>
                  <a:lnTo>
                    <a:pt x="325292" y="152268"/>
                  </a:lnTo>
                  <a:lnTo>
                    <a:pt x="345730" y="161335"/>
                  </a:lnTo>
                  <a:lnTo>
                    <a:pt x="357103" y="179530"/>
                  </a:lnTo>
                  <a:lnTo>
                    <a:pt x="345730" y="195427"/>
                  </a:lnTo>
                  <a:lnTo>
                    <a:pt x="335336" y="202923"/>
                  </a:lnTo>
                  <a:lnTo>
                    <a:pt x="329159" y="202225"/>
                  </a:lnTo>
                  <a:lnTo>
                    <a:pt x="328192" y="202923"/>
                  </a:lnTo>
                  <a:lnTo>
                    <a:pt x="310162" y="200887"/>
                  </a:lnTo>
                  <a:lnTo>
                    <a:pt x="316403" y="207940"/>
                  </a:lnTo>
                  <a:cubicBezTo>
                    <a:pt x="319544" y="210592"/>
                    <a:pt x="322685" y="213244"/>
                    <a:pt x="323437" y="215889"/>
                  </a:cubicBezTo>
                  <a:cubicBezTo>
                    <a:pt x="327217" y="228764"/>
                    <a:pt x="321512" y="241639"/>
                    <a:pt x="325292" y="254515"/>
                  </a:cubicBezTo>
                  <a:lnTo>
                    <a:pt x="293481" y="259048"/>
                  </a:lnTo>
                  <a:lnTo>
                    <a:pt x="282107" y="274976"/>
                  </a:lnTo>
                  <a:lnTo>
                    <a:pt x="282107" y="302238"/>
                  </a:lnTo>
                  <a:lnTo>
                    <a:pt x="274963" y="300200"/>
                  </a:lnTo>
                  <a:lnTo>
                    <a:pt x="274963" y="302238"/>
                  </a:lnTo>
                  <a:lnTo>
                    <a:pt x="259075" y="297705"/>
                  </a:lnTo>
                  <a:lnTo>
                    <a:pt x="232133" y="297705"/>
                  </a:lnTo>
                  <a:lnTo>
                    <a:pt x="224989" y="297705"/>
                  </a:lnTo>
                  <a:lnTo>
                    <a:pt x="218488" y="289585"/>
                  </a:lnTo>
                  <a:lnTo>
                    <a:pt x="207111" y="297705"/>
                  </a:lnTo>
                  <a:lnTo>
                    <a:pt x="204139" y="294727"/>
                  </a:lnTo>
                  <a:lnTo>
                    <a:pt x="199967" y="297705"/>
                  </a:lnTo>
                  <a:lnTo>
                    <a:pt x="188628" y="286340"/>
                  </a:lnTo>
                  <a:lnTo>
                    <a:pt x="168475" y="286340"/>
                  </a:lnTo>
                  <a:lnTo>
                    <a:pt x="161331" y="286340"/>
                  </a:lnTo>
                  <a:lnTo>
                    <a:pt x="118181" y="274976"/>
                  </a:lnTo>
                  <a:lnTo>
                    <a:pt x="81821" y="270412"/>
                  </a:lnTo>
                  <a:lnTo>
                    <a:pt x="61668" y="270412"/>
                  </a:lnTo>
                  <a:lnTo>
                    <a:pt x="38956" y="286340"/>
                  </a:lnTo>
                  <a:lnTo>
                    <a:pt x="31812" y="286340"/>
                  </a:lnTo>
                  <a:lnTo>
                    <a:pt x="23067" y="286340"/>
                  </a:lnTo>
                  <a:lnTo>
                    <a:pt x="15923" y="286340"/>
                  </a:lnTo>
                  <a:cubicBezTo>
                    <a:pt x="14419" y="277243"/>
                    <a:pt x="12879" y="268146"/>
                    <a:pt x="11374" y="259048"/>
                  </a:cubicBezTo>
                  <a:cubicBezTo>
                    <a:pt x="7594" y="249951"/>
                    <a:pt x="3779" y="240884"/>
                    <a:pt x="0" y="231786"/>
                  </a:cubicBezTo>
                  <a:lnTo>
                    <a:pt x="27262" y="220422"/>
                  </a:lnTo>
                  <a:lnTo>
                    <a:pt x="27262" y="195427"/>
                  </a:lnTo>
                  <a:lnTo>
                    <a:pt x="15923" y="172699"/>
                  </a:lnTo>
                  <a:cubicBezTo>
                    <a:pt x="14419" y="163602"/>
                    <a:pt x="12879" y="154534"/>
                    <a:pt x="11374" y="145437"/>
                  </a:cubicBezTo>
                  <a:lnTo>
                    <a:pt x="18518" y="145437"/>
                  </a:lnTo>
                  <a:lnTo>
                    <a:pt x="47735" y="145437"/>
                  </a:lnTo>
                  <a:lnTo>
                    <a:pt x="86370" y="124976"/>
                  </a:lnTo>
                  <a:lnTo>
                    <a:pt x="97709" y="86350"/>
                  </a:lnTo>
                  <a:lnTo>
                    <a:pt x="129520" y="65888"/>
                  </a:lnTo>
                  <a:cubicBezTo>
                    <a:pt x="128015" y="56791"/>
                    <a:pt x="126475" y="47724"/>
                    <a:pt x="124971" y="38626"/>
                  </a:cubicBezTo>
                  <a:lnTo>
                    <a:pt x="145443" y="272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244;p30">
              <a:extLst>
                <a:ext uri="{FF2B5EF4-FFF2-40B4-BE49-F238E27FC236}">
                  <a16:creationId xmlns:a16="http://schemas.microsoft.com/office/drawing/2014/main" id="{C486DA8F-992F-28FF-0920-DF63ECD83589}"/>
                </a:ext>
              </a:extLst>
            </p:cNvPr>
            <p:cNvSpPr/>
            <p:nvPr/>
          </p:nvSpPr>
          <p:spPr>
            <a:xfrm>
              <a:off x="5132678" y="2395589"/>
              <a:ext cx="95606" cy="122795"/>
            </a:xfrm>
            <a:custGeom>
              <a:avLst/>
              <a:gdLst/>
              <a:ahLst/>
              <a:cxnLst/>
              <a:rect l="l" t="t" r="r" b="b"/>
              <a:pathLst>
                <a:path w="127475" h="163727" extrusionOk="0">
                  <a:moveTo>
                    <a:pt x="36577" y="0"/>
                  </a:moveTo>
                  <a:lnTo>
                    <a:pt x="63846" y="15907"/>
                  </a:lnTo>
                  <a:lnTo>
                    <a:pt x="79754" y="20452"/>
                  </a:lnTo>
                  <a:lnTo>
                    <a:pt x="95661" y="31815"/>
                  </a:lnTo>
                  <a:lnTo>
                    <a:pt x="91116" y="54540"/>
                  </a:lnTo>
                  <a:lnTo>
                    <a:pt x="107023" y="59085"/>
                  </a:lnTo>
                  <a:lnTo>
                    <a:pt x="111568" y="86354"/>
                  </a:lnTo>
                  <a:lnTo>
                    <a:pt x="122930" y="97717"/>
                  </a:lnTo>
                  <a:lnTo>
                    <a:pt x="122930" y="102262"/>
                  </a:lnTo>
                  <a:lnTo>
                    <a:pt x="127475" y="106807"/>
                  </a:lnTo>
                  <a:lnTo>
                    <a:pt x="118385" y="113624"/>
                  </a:lnTo>
                  <a:lnTo>
                    <a:pt x="116798" y="113624"/>
                  </a:lnTo>
                  <a:lnTo>
                    <a:pt x="113623" y="116005"/>
                  </a:lnTo>
                  <a:lnTo>
                    <a:pt x="90899" y="116005"/>
                  </a:lnTo>
                  <a:lnTo>
                    <a:pt x="86354" y="109188"/>
                  </a:lnTo>
                  <a:lnTo>
                    <a:pt x="85727" y="109188"/>
                  </a:lnTo>
                  <a:lnTo>
                    <a:pt x="91116" y="118169"/>
                  </a:lnTo>
                  <a:lnTo>
                    <a:pt x="79754" y="134076"/>
                  </a:lnTo>
                  <a:lnTo>
                    <a:pt x="68391" y="156801"/>
                  </a:lnTo>
                  <a:lnTo>
                    <a:pt x="63846" y="161346"/>
                  </a:lnTo>
                  <a:lnTo>
                    <a:pt x="63146" y="159665"/>
                  </a:lnTo>
                  <a:lnTo>
                    <a:pt x="59084" y="163727"/>
                  </a:lnTo>
                  <a:lnTo>
                    <a:pt x="47722" y="136457"/>
                  </a:lnTo>
                  <a:lnTo>
                    <a:pt x="54539" y="116005"/>
                  </a:lnTo>
                  <a:lnTo>
                    <a:pt x="54539" y="88735"/>
                  </a:lnTo>
                  <a:lnTo>
                    <a:pt x="31815" y="61466"/>
                  </a:lnTo>
                  <a:lnTo>
                    <a:pt x="20452" y="41013"/>
                  </a:lnTo>
                  <a:lnTo>
                    <a:pt x="4545" y="22833"/>
                  </a:lnTo>
                  <a:lnTo>
                    <a:pt x="0" y="18288"/>
                  </a:lnTo>
                  <a:lnTo>
                    <a:pt x="4545" y="6926"/>
                  </a:lnTo>
                  <a:lnTo>
                    <a:pt x="8627" y="6246"/>
                  </a:lnTo>
                  <a:lnTo>
                    <a:pt x="930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245;p30">
              <a:extLst>
                <a:ext uri="{FF2B5EF4-FFF2-40B4-BE49-F238E27FC236}">
                  <a16:creationId xmlns:a16="http://schemas.microsoft.com/office/drawing/2014/main" id="{3E11549D-18F9-FC8E-4DD6-A5D92CD8DE69}"/>
                </a:ext>
              </a:extLst>
            </p:cNvPr>
            <p:cNvSpPr/>
            <p:nvPr/>
          </p:nvSpPr>
          <p:spPr>
            <a:xfrm>
              <a:off x="4953639" y="2405733"/>
              <a:ext cx="259144" cy="180824"/>
            </a:xfrm>
            <a:custGeom>
              <a:avLst/>
              <a:gdLst/>
              <a:ahLst/>
              <a:cxnLst/>
              <a:rect l="l" t="t" r="r" b="b"/>
              <a:pathLst>
                <a:path w="345525" h="241098" extrusionOk="0">
                  <a:moveTo>
                    <a:pt x="220430" y="0"/>
                  </a:moveTo>
                  <a:lnTo>
                    <a:pt x="231792" y="0"/>
                  </a:lnTo>
                  <a:lnTo>
                    <a:pt x="240882" y="4545"/>
                  </a:lnTo>
                  <a:lnTo>
                    <a:pt x="256789" y="22725"/>
                  </a:lnTo>
                  <a:lnTo>
                    <a:pt x="268152" y="43177"/>
                  </a:lnTo>
                  <a:lnTo>
                    <a:pt x="290876" y="74991"/>
                  </a:lnTo>
                  <a:lnTo>
                    <a:pt x="290876" y="76419"/>
                  </a:lnTo>
                  <a:lnTo>
                    <a:pt x="293258" y="79753"/>
                  </a:lnTo>
                  <a:lnTo>
                    <a:pt x="293258" y="102478"/>
                  </a:lnTo>
                  <a:lnTo>
                    <a:pt x="286441" y="122930"/>
                  </a:lnTo>
                  <a:lnTo>
                    <a:pt x="292138" y="145718"/>
                  </a:lnTo>
                  <a:lnTo>
                    <a:pt x="311329" y="149983"/>
                  </a:lnTo>
                  <a:lnTo>
                    <a:pt x="327236" y="145438"/>
                  </a:lnTo>
                  <a:lnTo>
                    <a:pt x="343143" y="156800"/>
                  </a:lnTo>
                  <a:lnTo>
                    <a:pt x="343143" y="159860"/>
                  </a:lnTo>
                  <a:lnTo>
                    <a:pt x="345525" y="161562"/>
                  </a:lnTo>
                  <a:lnTo>
                    <a:pt x="345525" y="170652"/>
                  </a:lnTo>
                  <a:lnTo>
                    <a:pt x="329618" y="182014"/>
                  </a:lnTo>
                  <a:lnTo>
                    <a:pt x="318256" y="177469"/>
                  </a:lnTo>
                  <a:lnTo>
                    <a:pt x="309166" y="241098"/>
                  </a:lnTo>
                  <a:lnTo>
                    <a:pt x="286441" y="236553"/>
                  </a:lnTo>
                  <a:lnTo>
                    <a:pt x="259171" y="213829"/>
                  </a:lnTo>
                  <a:lnTo>
                    <a:pt x="215994" y="232008"/>
                  </a:lnTo>
                  <a:lnTo>
                    <a:pt x="195542" y="241098"/>
                  </a:lnTo>
                  <a:lnTo>
                    <a:pt x="141003" y="241098"/>
                  </a:lnTo>
                  <a:lnTo>
                    <a:pt x="116006" y="232008"/>
                  </a:lnTo>
                  <a:lnTo>
                    <a:pt x="104643" y="236553"/>
                  </a:lnTo>
                  <a:lnTo>
                    <a:pt x="102262" y="231791"/>
                  </a:lnTo>
                  <a:lnTo>
                    <a:pt x="102261" y="231791"/>
                  </a:lnTo>
                  <a:lnTo>
                    <a:pt x="93280" y="213827"/>
                  </a:lnTo>
                  <a:lnTo>
                    <a:pt x="81919" y="204739"/>
                  </a:lnTo>
                  <a:lnTo>
                    <a:pt x="83959" y="203514"/>
                  </a:lnTo>
                  <a:lnTo>
                    <a:pt x="79537" y="199977"/>
                  </a:lnTo>
                  <a:lnTo>
                    <a:pt x="87090" y="195445"/>
                  </a:lnTo>
                  <a:lnTo>
                    <a:pt x="81919" y="193376"/>
                  </a:lnTo>
                  <a:lnTo>
                    <a:pt x="72829" y="204739"/>
                  </a:lnTo>
                  <a:lnTo>
                    <a:pt x="50104" y="188832"/>
                  </a:lnTo>
                  <a:lnTo>
                    <a:pt x="50104" y="185737"/>
                  </a:lnTo>
                  <a:lnTo>
                    <a:pt x="47722" y="184070"/>
                  </a:lnTo>
                  <a:lnTo>
                    <a:pt x="47722" y="164717"/>
                  </a:lnTo>
                  <a:lnTo>
                    <a:pt x="22834" y="150200"/>
                  </a:lnTo>
                  <a:lnTo>
                    <a:pt x="22834" y="146827"/>
                  </a:lnTo>
                  <a:lnTo>
                    <a:pt x="20452" y="145438"/>
                  </a:lnTo>
                  <a:lnTo>
                    <a:pt x="20452" y="132440"/>
                  </a:lnTo>
                  <a:lnTo>
                    <a:pt x="2382" y="118385"/>
                  </a:lnTo>
                  <a:lnTo>
                    <a:pt x="4818" y="117370"/>
                  </a:lnTo>
                  <a:lnTo>
                    <a:pt x="0" y="113623"/>
                  </a:lnTo>
                  <a:lnTo>
                    <a:pt x="27270" y="102261"/>
                  </a:lnTo>
                  <a:lnTo>
                    <a:pt x="52267" y="63629"/>
                  </a:lnTo>
                  <a:lnTo>
                    <a:pt x="63629" y="27270"/>
                  </a:lnTo>
                  <a:lnTo>
                    <a:pt x="90899" y="15907"/>
                  </a:lnTo>
                  <a:lnTo>
                    <a:pt x="106806" y="4545"/>
                  </a:lnTo>
                  <a:lnTo>
                    <a:pt x="129531" y="11362"/>
                  </a:lnTo>
                  <a:lnTo>
                    <a:pt x="149983" y="11362"/>
                  </a:lnTo>
                  <a:lnTo>
                    <a:pt x="165891" y="27270"/>
                  </a:lnTo>
                  <a:lnTo>
                    <a:pt x="181798" y="15907"/>
                  </a:lnTo>
                  <a:lnTo>
                    <a:pt x="209068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246;p30">
              <a:extLst>
                <a:ext uri="{FF2B5EF4-FFF2-40B4-BE49-F238E27FC236}">
                  <a16:creationId xmlns:a16="http://schemas.microsoft.com/office/drawing/2014/main" id="{D6B426C8-F637-7BA9-D27A-1CB864922FBB}"/>
                </a:ext>
              </a:extLst>
            </p:cNvPr>
            <p:cNvSpPr/>
            <p:nvPr/>
          </p:nvSpPr>
          <p:spPr>
            <a:xfrm>
              <a:off x="4784990" y="2114449"/>
              <a:ext cx="279758" cy="262633"/>
            </a:xfrm>
            <a:custGeom>
              <a:avLst/>
              <a:gdLst/>
              <a:ahLst/>
              <a:cxnLst/>
              <a:rect l="l" t="t" r="r" b="b"/>
              <a:pathLst>
                <a:path w="373011" h="350178" extrusionOk="0">
                  <a:moveTo>
                    <a:pt x="129531" y="0"/>
                  </a:moveTo>
                  <a:lnTo>
                    <a:pt x="133947" y="1299"/>
                  </a:lnTo>
                  <a:lnTo>
                    <a:pt x="136675" y="0"/>
                  </a:lnTo>
                  <a:lnTo>
                    <a:pt x="175307" y="11362"/>
                  </a:lnTo>
                  <a:lnTo>
                    <a:pt x="175307" y="16125"/>
                  </a:lnTo>
                  <a:lnTo>
                    <a:pt x="175307" y="27270"/>
                  </a:lnTo>
                  <a:lnTo>
                    <a:pt x="204522" y="27270"/>
                  </a:lnTo>
                  <a:lnTo>
                    <a:pt x="211666" y="27270"/>
                  </a:lnTo>
                  <a:lnTo>
                    <a:pt x="254843" y="34087"/>
                  </a:lnTo>
                  <a:lnTo>
                    <a:pt x="318145" y="34087"/>
                  </a:lnTo>
                  <a:lnTo>
                    <a:pt x="325289" y="34087"/>
                  </a:lnTo>
                  <a:lnTo>
                    <a:pt x="348014" y="43177"/>
                  </a:lnTo>
                  <a:lnTo>
                    <a:pt x="352559" y="59084"/>
                  </a:lnTo>
                  <a:lnTo>
                    <a:pt x="352559" y="63847"/>
                  </a:lnTo>
                  <a:lnTo>
                    <a:pt x="352559" y="86354"/>
                  </a:lnTo>
                  <a:lnTo>
                    <a:pt x="363921" y="109079"/>
                  </a:lnTo>
                  <a:lnTo>
                    <a:pt x="363921" y="113842"/>
                  </a:lnTo>
                  <a:lnTo>
                    <a:pt x="363921" y="134076"/>
                  </a:lnTo>
                  <a:lnTo>
                    <a:pt x="363921" y="138839"/>
                  </a:lnTo>
                  <a:lnTo>
                    <a:pt x="342840" y="149380"/>
                  </a:lnTo>
                  <a:lnTo>
                    <a:pt x="352559" y="172708"/>
                  </a:lnTo>
                  <a:lnTo>
                    <a:pt x="352559" y="177471"/>
                  </a:lnTo>
                  <a:lnTo>
                    <a:pt x="352559" y="199977"/>
                  </a:lnTo>
                  <a:lnTo>
                    <a:pt x="373011" y="254516"/>
                  </a:lnTo>
                  <a:lnTo>
                    <a:pt x="372239" y="257219"/>
                  </a:lnTo>
                  <a:lnTo>
                    <a:pt x="373011" y="259279"/>
                  </a:lnTo>
                  <a:lnTo>
                    <a:pt x="368466" y="275187"/>
                  </a:lnTo>
                  <a:lnTo>
                    <a:pt x="352559" y="279732"/>
                  </a:lnTo>
                  <a:lnTo>
                    <a:pt x="321478" y="326354"/>
                  </a:lnTo>
                  <a:lnTo>
                    <a:pt x="325289" y="345415"/>
                  </a:lnTo>
                  <a:lnTo>
                    <a:pt x="324337" y="345415"/>
                  </a:lnTo>
                  <a:lnTo>
                    <a:pt x="325289" y="350178"/>
                  </a:lnTo>
                  <a:lnTo>
                    <a:pt x="320745" y="350178"/>
                  </a:lnTo>
                  <a:lnTo>
                    <a:pt x="317799" y="348445"/>
                  </a:lnTo>
                  <a:lnTo>
                    <a:pt x="318145" y="350178"/>
                  </a:lnTo>
                  <a:lnTo>
                    <a:pt x="313601" y="350178"/>
                  </a:lnTo>
                  <a:lnTo>
                    <a:pt x="277099" y="328707"/>
                  </a:lnTo>
                  <a:lnTo>
                    <a:pt x="254843" y="334271"/>
                  </a:lnTo>
                  <a:lnTo>
                    <a:pt x="252211" y="333143"/>
                  </a:lnTo>
                  <a:lnTo>
                    <a:pt x="247699" y="334271"/>
                  </a:lnTo>
                  <a:lnTo>
                    <a:pt x="235825" y="329182"/>
                  </a:lnTo>
                  <a:lnTo>
                    <a:pt x="218484" y="338816"/>
                  </a:lnTo>
                  <a:lnTo>
                    <a:pt x="215932" y="336264"/>
                  </a:lnTo>
                  <a:lnTo>
                    <a:pt x="211340" y="338816"/>
                  </a:lnTo>
                  <a:lnTo>
                    <a:pt x="197020" y="324496"/>
                  </a:lnTo>
                  <a:lnTo>
                    <a:pt x="186669" y="327453"/>
                  </a:lnTo>
                  <a:lnTo>
                    <a:pt x="184526" y="326025"/>
                  </a:lnTo>
                  <a:lnTo>
                    <a:pt x="179525" y="327453"/>
                  </a:lnTo>
                  <a:lnTo>
                    <a:pt x="172708" y="322909"/>
                  </a:lnTo>
                  <a:lnTo>
                    <a:pt x="156800" y="295639"/>
                  </a:lnTo>
                  <a:lnTo>
                    <a:pt x="136675" y="295639"/>
                  </a:lnTo>
                  <a:lnTo>
                    <a:pt x="129531" y="295639"/>
                  </a:lnTo>
                  <a:lnTo>
                    <a:pt x="129531" y="290876"/>
                  </a:lnTo>
                  <a:lnTo>
                    <a:pt x="129531" y="275187"/>
                  </a:lnTo>
                  <a:lnTo>
                    <a:pt x="108929" y="270036"/>
                  </a:lnTo>
                  <a:lnTo>
                    <a:pt x="104860" y="284277"/>
                  </a:lnTo>
                  <a:lnTo>
                    <a:pt x="98521" y="281459"/>
                  </a:lnTo>
                  <a:lnTo>
                    <a:pt x="97716" y="284277"/>
                  </a:lnTo>
                  <a:lnTo>
                    <a:pt x="77264" y="275187"/>
                  </a:lnTo>
                  <a:lnTo>
                    <a:pt x="78472" y="270961"/>
                  </a:lnTo>
                  <a:lnTo>
                    <a:pt x="77264" y="270424"/>
                  </a:lnTo>
                  <a:lnTo>
                    <a:pt x="80527" y="259004"/>
                  </a:lnTo>
                  <a:lnTo>
                    <a:pt x="49994" y="252462"/>
                  </a:lnTo>
                  <a:lnTo>
                    <a:pt x="34087" y="232010"/>
                  </a:lnTo>
                  <a:lnTo>
                    <a:pt x="18180" y="193378"/>
                  </a:lnTo>
                  <a:lnTo>
                    <a:pt x="18984" y="190566"/>
                  </a:lnTo>
                  <a:lnTo>
                    <a:pt x="18180" y="188615"/>
                  </a:lnTo>
                  <a:lnTo>
                    <a:pt x="21969" y="175354"/>
                  </a:lnTo>
                  <a:lnTo>
                    <a:pt x="11363" y="145656"/>
                  </a:lnTo>
                  <a:lnTo>
                    <a:pt x="0" y="122931"/>
                  </a:lnTo>
                  <a:lnTo>
                    <a:pt x="1254" y="120675"/>
                  </a:lnTo>
                  <a:lnTo>
                    <a:pt x="0" y="118168"/>
                  </a:lnTo>
                  <a:lnTo>
                    <a:pt x="10229" y="99757"/>
                  </a:lnTo>
                  <a:lnTo>
                    <a:pt x="0" y="75210"/>
                  </a:lnTo>
                  <a:lnTo>
                    <a:pt x="1444" y="73911"/>
                  </a:lnTo>
                  <a:lnTo>
                    <a:pt x="0" y="70447"/>
                  </a:lnTo>
                  <a:lnTo>
                    <a:pt x="22725" y="49994"/>
                  </a:lnTo>
                  <a:lnTo>
                    <a:pt x="81809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247;p30">
              <a:extLst>
                <a:ext uri="{FF2B5EF4-FFF2-40B4-BE49-F238E27FC236}">
                  <a16:creationId xmlns:a16="http://schemas.microsoft.com/office/drawing/2014/main" id="{45E911C6-33BB-6DB0-29F1-CFEB88E99CCF}"/>
                </a:ext>
              </a:extLst>
            </p:cNvPr>
            <p:cNvSpPr/>
            <p:nvPr/>
          </p:nvSpPr>
          <p:spPr>
            <a:xfrm>
              <a:off x="4268488" y="2279775"/>
              <a:ext cx="356453" cy="356210"/>
            </a:xfrm>
            <a:custGeom>
              <a:avLst/>
              <a:gdLst/>
              <a:ahLst/>
              <a:cxnLst/>
              <a:rect l="l" t="t" r="r" b="b"/>
              <a:pathLst>
                <a:path w="475271" h="474946" extrusionOk="0">
                  <a:moveTo>
                    <a:pt x="263606" y="0"/>
                  </a:moveTo>
                  <a:lnTo>
                    <a:pt x="264121" y="3093"/>
                  </a:lnTo>
                  <a:lnTo>
                    <a:pt x="270750" y="0"/>
                  </a:lnTo>
                  <a:lnTo>
                    <a:pt x="275295" y="27270"/>
                  </a:lnTo>
                  <a:lnTo>
                    <a:pt x="284058" y="27270"/>
                  </a:lnTo>
                  <a:lnTo>
                    <a:pt x="291202" y="27270"/>
                  </a:lnTo>
                  <a:lnTo>
                    <a:pt x="307109" y="49994"/>
                  </a:lnTo>
                  <a:lnTo>
                    <a:pt x="332681" y="73435"/>
                  </a:lnTo>
                  <a:lnTo>
                    <a:pt x="343142" y="70447"/>
                  </a:lnTo>
                  <a:lnTo>
                    <a:pt x="344928" y="71978"/>
                  </a:lnTo>
                  <a:lnTo>
                    <a:pt x="350286" y="70447"/>
                  </a:lnTo>
                  <a:lnTo>
                    <a:pt x="382100" y="97716"/>
                  </a:lnTo>
                  <a:lnTo>
                    <a:pt x="393463" y="102261"/>
                  </a:lnTo>
                  <a:lnTo>
                    <a:pt x="397681" y="102261"/>
                  </a:lnTo>
                  <a:lnTo>
                    <a:pt x="404825" y="102261"/>
                  </a:lnTo>
                  <a:lnTo>
                    <a:pt x="420732" y="113624"/>
                  </a:lnTo>
                  <a:lnTo>
                    <a:pt x="475271" y="124986"/>
                  </a:lnTo>
                  <a:lnTo>
                    <a:pt x="452547" y="161345"/>
                  </a:lnTo>
                  <a:lnTo>
                    <a:pt x="448002" y="204522"/>
                  </a:lnTo>
                  <a:lnTo>
                    <a:pt x="436639" y="211340"/>
                  </a:lnTo>
                  <a:lnTo>
                    <a:pt x="432472" y="209554"/>
                  </a:lnTo>
                  <a:lnTo>
                    <a:pt x="429495" y="211340"/>
                  </a:lnTo>
                  <a:lnTo>
                    <a:pt x="421729" y="208011"/>
                  </a:lnTo>
                  <a:lnTo>
                    <a:pt x="425277" y="220430"/>
                  </a:lnTo>
                  <a:lnTo>
                    <a:pt x="398008" y="247699"/>
                  </a:lnTo>
                  <a:lnTo>
                    <a:pt x="398008" y="269866"/>
                  </a:lnTo>
                  <a:lnTo>
                    <a:pt x="406771" y="263607"/>
                  </a:lnTo>
                  <a:lnTo>
                    <a:pt x="408409" y="267539"/>
                  </a:lnTo>
                  <a:lnTo>
                    <a:pt x="413915" y="263607"/>
                  </a:lnTo>
                  <a:lnTo>
                    <a:pt x="425277" y="290876"/>
                  </a:lnTo>
                  <a:lnTo>
                    <a:pt x="425277" y="302239"/>
                  </a:lnTo>
                  <a:lnTo>
                    <a:pt x="436639" y="322691"/>
                  </a:lnTo>
                  <a:lnTo>
                    <a:pt x="425277" y="338598"/>
                  </a:lnTo>
                  <a:lnTo>
                    <a:pt x="432094" y="381775"/>
                  </a:lnTo>
                  <a:lnTo>
                    <a:pt x="445403" y="381775"/>
                  </a:lnTo>
                  <a:lnTo>
                    <a:pt x="452547" y="381775"/>
                  </a:lnTo>
                  <a:lnTo>
                    <a:pt x="448002" y="409045"/>
                  </a:lnTo>
                  <a:lnTo>
                    <a:pt x="413915" y="436314"/>
                  </a:lnTo>
                  <a:lnTo>
                    <a:pt x="408002" y="435329"/>
                  </a:lnTo>
                  <a:lnTo>
                    <a:pt x="406771" y="436314"/>
                  </a:lnTo>
                  <a:lnTo>
                    <a:pt x="342566" y="425613"/>
                  </a:lnTo>
                  <a:lnTo>
                    <a:pt x="291202" y="436314"/>
                  </a:lnTo>
                  <a:lnTo>
                    <a:pt x="286657" y="468129"/>
                  </a:lnTo>
                  <a:lnTo>
                    <a:pt x="243480" y="474946"/>
                  </a:lnTo>
                  <a:lnTo>
                    <a:pt x="241832" y="474078"/>
                  </a:lnTo>
                  <a:lnTo>
                    <a:pt x="236336" y="474946"/>
                  </a:lnTo>
                  <a:lnTo>
                    <a:pt x="197840" y="454685"/>
                  </a:lnTo>
                  <a:lnTo>
                    <a:pt x="188941" y="463584"/>
                  </a:lnTo>
                  <a:lnTo>
                    <a:pt x="183540" y="461841"/>
                  </a:lnTo>
                  <a:lnTo>
                    <a:pt x="181797" y="463584"/>
                  </a:lnTo>
                  <a:lnTo>
                    <a:pt x="111351" y="440859"/>
                  </a:lnTo>
                  <a:lnTo>
                    <a:pt x="95444" y="420407"/>
                  </a:lnTo>
                  <a:lnTo>
                    <a:pt x="118168" y="388592"/>
                  </a:lnTo>
                  <a:lnTo>
                    <a:pt x="122713" y="286331"/>
                  </a:lnTo>
                  <a:lnTo>
                    <a:pt x="86354" y="231792"/>
                  </a:lnTo>
                  <a:lnTo>
                    <a:pt x="59084" y="204522"/>
                  </a:lnTo>
                  <a:lnTo>
                    <a:pt x="4545" y="184070"/>
                  </a:lnTo>
                  <a:lnTo>
                    <a:pt x="0" y="140893"/>
                  </a:lnTo>
                  <a:lnTo>
                    <a:pt x="47722" y="136348"/>
                  </a:lnTo>
                  <a:lnTo>
                    <a:pt x="50453" y="136769"/>
                  </a:lnTo>
                  <a:lnTo>
                    <a:pt x="54866" y="136348"/>
                  </a:lnTo>
                  <a:lnTo>
                    <a:pt x="106604" y="144308"/>
                  </a:lnTo>
                  <a:lnTo>
                    <a:pt x="95444" y="81809"/>
                  </a:lnTo>
                  <a:lnTo>
                    <a:pt x="103778" y="88477"/>
                  </a:lnTo>
                  <a:lnTo>
                    <a:pt x="102588" y="81809"/>
                  </a:lnTo>
                  <a:lnTo>
                    <a:pt x="134013" y="106949"/>
                  </a:lnTo>
                  <a:lnTo>
                    <a:pt x="220429" y="65902"/>
                  </a:lnTo>
                  <a:lnTo>
                    <a:pt x="229519" y="1590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248;p30">
              <a:extLst>
                <a:ext uri="{FF2B5EF4-FFF2-40B4-BE49-F238E27FC236}">
                  <a16:creationId xmlns:a16="http://schemas.microsoft.com/office/drawing/2014/main" id="{10D37E83-2DC6-30E2-4F1F-D1DE839FA38B}"/>
                </a:ext>
              </a:extLst>
            </p:cNvPr>
            <p:cNvSpPr/>
            <p:nvPr/>
          </p:nvSpPr>
          <p:spPr>
            <a:xfrm>
              <a:off x="4486726" y="2179216"/>
              <a:ext cx="111143" cy="122551"/>
            </a:xfrm>
            <a:custGeom>
              <a:avLst/>
              <a:gdLst/>
              <a:ahLst/>
              <a:cxnLst/>
              <a:rect l="l" t="t" r="r" b="b"/>
              <a:pathLst>
                <a:path w="148190" h="163402" extrusionOk="0">
                  <a:moveTo>
                    <a:pt x="102261" y="0"/>
                  </a:moveTo>
                  <a:lnTo>
                    <a:pt x="129531" y="0"/>
                  </a:lnTo>
                  <a:lnTo>
                    <a:pt x="132831" y="6601"/>
                  </a:lnTo>
                  <a:lnTo>
                    <a:pt x="136828" y="6601"/>
                  </a:lnTo>
                  <a:lnTo>
                    <a:pt x="148190" y="29326"/>
                  </a:lnTo>
                  <a:lnTo>
                    <a:pt x="136828" y="81593"/>
                  </a:lnTo>
                  <a:lnTo>
                    <a:pt x="125466" y="104318"/>
                  </a:lnTo>
                  <a:lnTo>
                    <a:pt x="105013" y="104318"/>
                  </a:lnTo>
                  <a:lnTo>
                    <a:pt x="109558" y="163402"/>
                  </a:lnTo>
                  <a:lnTo>
                    <a:pt x="93651" y="152040"/>
                  </a:lnTo>
                  <a:lnTo>
                    <a:pt x="88790" y="147179"/>
                  </a:lnTo>
                  <a:lnTo>
                    <a:pt x="86354" y="145439"/>
                  </a:lnTo>
                  <a:lnTo>
                    <a:pt x="65917" y="125002"/>
                  </a:lnTo>
                  <a:lnTo>
                    <a:pt x="34567" y="140677"/>
                  </a:lnTo>
                  <a:lnTo>
                    <a:pt x="7297" y="136132"/>
                  </a:lnTo>
                  <a:lnTo>
                    <a:pt x="13510" y="131783"/>
                  </a:lnTo>
                  <a:lnTo>
                    <a:pt x="0" y="129531"/>
                  </a:lnTo>
                  <a:lnTo>
                    <a:pt x="22725" y="113624"/>
                  </a:lnTo>
                  <a:lnTo>
                    <a:pt x="54539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249;p30">
              <a:extLst>
                <a:ext uri="{FF2B5EF4-FFF2-40B4-BE49-F238E27FC236}">
                  <a16:creationId xmlns:a16="http://schemas.microsoft.com/office/drawing/2014/main" id="{F48246F7-07C9-19C0-26BD-1FB72D7A6719}"/>
                </a:ext>
              </a:extLst>
            </p:cNvPr>
            <p:cNvSpPr/>
            <p:nvPr/>
          </p:nvSpPr>
          <p:spPr>
            <a:xfrm>
              <a:off x="4563423" y="2426348"/>
              <a:ext cx="121010" cy="87249"/>
            </a:xfrm>
            <a:custGeom>
              <a:avLst/>
              <a:gdLst/>
              <a:ahLst/>
              <a:cxnLst/>
              <a:rect l="l" t="t" r="r" b="b"/>
              <a:pathLst>
                <a:path w="161346" h="116332" extrusionOk="0">
                  <a:moveTo>
                    <a:pt x="93172" y="0"/>
                  </a:moveTo>
                  <a:lnTo>
                    <a:pt x="129532" y="15908"/>
                  </a:lnTo>
                  <a:lnTo>
                    <a:pt x="129532" y="20453"/>
                  </a:lnTo>
                  <a:lnTo>
                    <a:pt x="128267" y="24879"/>
                  </a:lnTo>
                  <a:lnTo>
                    <a:pt x="129532" y="25433"/>
                  </a:lnTo>
                  <a:lnTo>
                    <a:pt x="129532" y="29978"/>
                  </a:lnTo>
                  <a:lnTo>
                    <a:pt x="127335" y="37665"/>
                  </a:lnTo>
                  <a:lnTo>
                    <a:pt x="145439" y="47722"/>
                  </a:lnTo>
                  <a:lnTo>
                    <a:pt x="161346" y="47722"/>
                  </a:lnTo>
                  <a:lnTo>
                    <a:pt x="159230" y="57247"/>
                  </a:lnTo>
                  <a:lnTo>
                    <a:pt x="161346" y="57247"/>
                  </a:lnTo>
                  <a:lnTo>
                    <a:pt x="156801" y="77700"/>
                  </a:lnTo>
                  <a:lnTo>
                    <a:pt x="145439" y="89062"/>
                  </a:lnTo>
                  <a:lnTo>
                    <a:pt x="113624" y="77700"/>
                  </a:lnTo>
                  <a:lnTo>
                    <a:pt x="109079" y="104970"/>
                  </a:lnTo>
                  <a:lnTo>
                    <a:pt x="93172" y="104970"/>
                  </a:lnTo>
                  <a:lnTo>
                    <a:pt x="81809" y="93607"/>
                  </a:lnTo>
                  <a:lnTo>
                    <a:pt x="65902" y="111787"/>
                  </a:lnTo>
                  <a:lnTo>
                    <a:pt x="43177" y="116332"/>
                  </a:lnTo>
                  <a:lnTo>
                    <a:pt x="27270" y="104970"/>
                  </a:lnTo>
                  <a:lnTo>
                    <a:pt x="15908" y="77700"/>
                  </a:lnTo>
                  <a:lnTo>
                    <a:pt x="0" y="89062"/>
                  </a:lnTo>
                  <a:lnTo>
                    <a:pt x="0" y="79537"/>
                  </a:lnTo>
                  <a:lnTo>
                    <a:pt x="0" y="61792"/>
                  </a:lnTo>
                  <a:lnTo>
                    <a:pt x="0" y="52267"/>
                  </a:lnTo>
                  <a:lnTo>
                    <a:pt x="27270" y="24998"/>
                  </a:lnTo>
                  <a:lnTo>
                    <a:pt x="27270" y="18615"/>
                  </a:lnTo>
                  <a:lnTo>
                    <a:pt x="27270" y="9090"/>
                  </a:lnTo>
                  <a:lnTo>
                    <a:pt x="43177" y="15908"/>
                  </a:lnTo>
                  <a:lnTo>
                    <a:pt x="54540" y="9090"/>
                  </a:lnTo>
                  <a:lnTo>
                    <a:pt x="81809" y="909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250;p30">
              <a:extLst>
                <a:ext uri="{FF2B5EF4-FFF2-40B4-BE49-F238E27FC236}">
                  <a16:creationId xmlns:a16="http://schemas.microsoft.com/office/drawing/2014/main" id="{2475692B-CF63-3E93-0025-7B9D154C257C}"/>
                </a:ext>
              </a:extLst>
            </p:cNvPr>
            <p:cNvSpPr/>
            <p:nvPr/>
          </p:nvSpPr>
          <p:spPr>
            <a:xfrm>
              <a:off x="4979287" y="2039296"/>
              <a:ext cx="153392" cy="119467"/>
            </a:xfrm>
            <a:custGeom>
              <a:avLst/>
              <a:gdLst/>
              <a:ahLst/>
              <a:cxnLst/>
              <a:rect l="l" t="t" r="r" b="b"/>
              <a:pathLst>
                <a:path w="204522" h="159290" extrusionOk="0">
                  <a:moveTo>
                    <a:pt x="43177" y="0"/>
                  </a:moveTo>
                  <a:lnTo>
                    <a:pt x="102261" y="4545"/>
                  </a:lnTo>
                  <a:lnTo>
                    <a:pt x="140893" y="0"/>
                  </a:lnTo>
                  <a:lnTo>
                    <a:pt x="145438" y="15907"/>
                  </a:lnTo>
                  <a:lnTo>
                    <a:pt x="161345" y="15907"/>
                  </a:lnTo>
                  <a:lnTo>
                    <a:pt x="199977" y="47722"/>
                  </a:lnTo>
                  <a:lnTo>
                    <a:pt x="204522" y="74992"/>
                  </a:lnTo>
                  <a:lnTo>
                    <a:pt x="203805" y="75452"/>
                  </a:lnTo>
                  <a:lnTo>
                    <a:pt x="204522" y="79754"/>
                  </a:lnTo>
                  <a:lnTo>
                    <a:pt x="172708" y="100206"/>
                  </a:lnTo>
                  <a:lnTo>
                    <a:pt x="161345" y="138838"/>
                  </a:lnTo>
                  <a:lnTo>
                    <a:pt x="122713" y="159290"/>
                  </a:lnTo>
                  <a:lnTo>
                    <a:pt x="86354" y="159290"/>
                  </a:lnTo>
                  <a:lnTo>
                    <a:pt x="81809" y="143383"/>
                  </a:lnTo>
                  <a:lnTo>
                    <a:pt x="59084" y="134293"/>
                  </a:lnTo>
                  <a:lnTo>
                    <a:pt x="59084" y="129531"/>
                  </a:lnTo>
                  <a:lnTo>
                    <a:pt x="59084" y="116113"/>
                  </a:lnTo>
                  <a:lnTo>
                    <a:pt x="59084" y="111351"/>
                  </a:lnTo>
                  <a:lnTo>
                    <a:pt x="59084" y="100206"/>
                  </a:lnTo>
                  <a:lnTo>
                    <a:pt x="43177" y="91116"/>
                  </a:lnTo>
                  <a:lnTo>
                    <a:pt x="4545" y="79754"/>
                  </a:lnTo>
                  <a:lnTo>
                    <a:pt x="0" y="25214"/>
                  </a:lnTo>
                  <a:lnTo>
                    <a:pt x="382" y="25034"/>
                  </a:lnTo>
                  <a:lnTo>
                    <a:pt x="0" y="204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251;p30">
              <a:extLst>
                <a:ext uri="{FF2B5EF4-FFF2-40B4-BE49-F238E27FC236}">
                  <a16:creationId xmlns:a16="http://schemas.microsoft.com/office/drawing/2014/main" id="{34E5EBC4-F765-35EC-6778-05318A06137A}"/>
                </a:ext>
              </a:extLst>
            </p:cNvPr>
            <p:cNvSpPr/>
            <p:nvPr/>
          </p:nvSpPr>
          <p:spPr>
            <a:xfrm>
              <a:off x="4157786" y="2821760"/>
              <a:ext cx="570957" cy="573070"/>
            </a:xfrm>
            <a:custGeom>
              <a:avLst/>
              <a:gdLst/>
              <a:ahLst/>
              <a:cxnLst/>
              <a:rect l="l" t="t" r="r" b="b"/>
              <a:pathLst>
                <a:path w="761276" h="764093" extrusionOk="0">
                  <a:moveTo>
                    <a:pt x="547664" y="0"/>
                  </a:moveTo>
                  <a:lnTo>
                    <a:pt x="590841" y="0"/>
                  </a:lnTo>
                  <a:lnTo>
                    <a:pt x="599931" y="9090"/>
                  </a:lnTo>
                  <a:lnTo>
                    <a:pt x="627201" y="9090"/>
                  </a:lnTo>
                  <a:lnTo>
                    <a:pt x="624819" y="20997"/>
                  </a:lnTo>
                  <a:lnTo>
                    <a:pt x="627201" y="20997"/>
                  </a:lnTo>
                  <a:lnTo>
                    <a:pt x="623477" y="39616"/>
                  </a:lnTo>
                  <a:lnTo>
                    <a:pt x="627201" y="74991"/>
                  </a:lnTo>
                  <a:lnTo>
                    <a:pt x="626319" y="78519"/>
                  </a:lnTo>
                  <a:lnTo>
                    <a:pt x="627201" y="86898"/>
                  </a:lnTo>
                  <a:lnTo>
                    <a:pt x="618111" y="123258"/>
                  </a:lnTo>
                  <a:lnTo>
                    <a:pt x="596838" y="148785"/>
                  </a:lnTo>
                  <a:lnTo>
                    <a:pt x="599931" y="170435"/>
                  </a:lnTo>
                  <a:lnTo>
                    <a:pt x="627201" y="197705"/>
                  </a:lnTo>
                  <a:lnTo>
                    <a:pt x="627201" y="209067"/>
                  </a:lnTo>
                  <a:lnTo>
                    <a:pt x="654470" y="224974"/>
                  </a:lnTo>
                  <a:lnTo>
                    <a:pt x="665833" y="299966"/>
                  </a:lnTo>
                  <a:lnTo>
                    <a:pt x="681740" y="338597"/>
                  </a:lnTo>
                  <a:lnTo>
                    <a:pt x="681740" y="350504"/>
                  </a:lnTo>
                  <a:lnTo>
                    <a:pt x="681740" y="359050"/>
                  </a:lnTo>
                  <a:lnTo>
                    <a:pt x="681740" y="370957"/>
                  </a:lnTo>
                  <a:lnTo>
                    <a:pt x="677195" y="402771"/>
                  </a:lnTo>
                  <a:lnTo>
                    <a:pt x="677195" y="406771"/>
                  </a:lnTo>
                  <a:lnTo>
                    <a:pt x="677195" y="418678"/>
                  </a:lnTo>
                  <a:lnTo>
                    <a:pt x="672001" y="435991"/>
                  </a:lnTo>
                  <a:lnTo>
                    <a:pt x="677195" y="456766"/>
                  </a:lnTo>
                  <a:lnTo>
                    <a:pt x="674753" y="458903"/>
                  </a:lnTo>
                  <a:lnTo>
                    <a:pt x="677195" y="468673"/>
                  </a:lnTo>
                  <a:lnTo>
                    <a:pt x="664249" y="480001"/>
                  </a:lnTo>
                  <a:lnTo>
                    <a:pt x="681740" y="504488"/>
                  </a:lnTo>
                  <a:lnTo>
                    <a:pt x="686285" y="520395"/>
                  </a:lnTo>
                  <a:lnTo>
                    <a:pt x="697647" y="543119"/>
                  </a:lnTo>
                  <a:lnTo>
                    <a:pt x="713554" y="536302"/>
                  </a:lnTo>
                  <a:lnTo>
                    <a:pt x="745369" y="552209"/>
                  </a:lnTo>
                  <a:lnTo>
                    <a:pt x="761276" y="579479"/>
                  </a:lnTo>
                  <a:lnTo>
                    <a:pt x="756107" y="582525"/>
                  </a:lnTo>
                  <a:lnTo>
                    <a:pt x="761276" y="591386"/>
                  </a:lnTo>
                  <a:lnTo>
                    <a:pt x="634018" y="666377"/>
                  </a:lnTo>
                  <a:lnTo>
                    <a:pt x="531757" y="748186"/>
                  </a:lnTo>
                  <a:lnTo>
                    <a:pt x="477218" y="759548"/>
                  </a:lnTo>
                  <a:lnTo>
                    <a:pt x="434041" y="764093"/>
                  </a:lnTo>
                  <a:lnTo>
                    <a:pt x="434041" y="752186"/>
                  </a:lnTo>
                  <a:lnTo>
                    <a:pt x="434041" y="741369"/>
                  </a:lnTo>
                  <a:lnTo>
                    <a:pt x="418134" y="736824"/>
                  </a:lnTo>
                  <a:lnTo>
                    <a:pt x="397682" y="720916"/>
                  </a:lnTo>
                  <a:lnTo>
                    <a:pt x="386319" y="705009"/>
                  </a:lnTo>
                  <a:lnTo>
                    <a:pt x="261334" y="618655"/>
                  </a:lnTo>
                  <a:lnTo>
                    <a:pt x="138621" y="532302"/>
                  </a:lnTo>
                  <a:lnTo>
                    <a:pt x="0" y="430041"/>
                  </a:lnTo>
                  <a:lnTo>
                    <a:pt x="0" y="425496"/>
                  </a:lnTo>
                  <a:lnTo>
                    <a:pt x="0" y="418678"/>
                  </a:lnTo>
                  <a:lnTo>
                    <a:pt x="0" y="418134"/>
                  </a:lnTo>
                  <a:lnTo>
                    <a:pt x="0" y="413589"/>
                  </a:lnTo>
                  <a:lnTo>
                    <a:pt x="0" y="406771"/>
                  </a:lnTo>
                  <a:lnTo>
                    <a:pt x="0" y="370957"/>
                  </a:lnTo>
                  <a:lnTo>
                    <a:pt x="0" y="359050"/>
                  </a:lnTo>
                  <a:lnTo>
                    <a:pt x="59084" y="331780"/>
                  </a:lnTo>
                  <a:lnTo>
                    <a:pt x="95444" y="322690"/>
                  </a:lnTo>
                  <a:lnTo>
                    <a:pt x="127258" y="315873"/>
                  </a:lnTo>
                  <a:lnTo>
                    <a:pt x="138621" y="288603"/>
                  </a:lnTo>
                  <a:lnTo>
                    <a:pt x="181797" y="272696"/>
                  </a:lnTo>
                  <a:lnTo>
                    <a:pt x="181797" y="257333"/>
                  </a:lnTo>
                  <a:lnTo>
                    <a:pt x="181797" y="245426"/>
                  </a:lnTo>
                  <a:lnTo>
                    <a:pt x="209067" y="240881"/>
                  </a:lnTo>
                  <a:lnTo>
                    <a:pt x="224974" y="224974"/>
                  </a:lnTo>
                  <a:lnTo>
                    <a:pt x="272696" y="220429"/>
                  </a:lnTo>
                  <a:lnTo>
                    <a:pt x="276324" y="208336"/>
                  </a:lnTo>
                  <a:lnTo>
                    <a:pt x="268151" y="205067"/>
                  </a:lnTo>
                  <a:lnTo>
                    <a:pt x="256789" y="155072"/>
                  </a:lnTo>
                  <a:lnTo>
                    <a:pt x="252244" y="130075"/>
                  </a:lnTo>
                  <a:lnTo>
                    <a:pt x="240882" y="102806"/>
                  </a:lnTo>
                  <a:lnTo>
                    <a:pt x="244537" y="99672"/>
                  </a:lnTo>
                  <a:lnTo>
                    <a:pt x="240882" y="90899"/>
                  </a:lnTo>
                  <a:lnTo>
                    <a:pt x="272696" y="63629"/>
                  </a:lnTo>
                  <a:lnTo>
                    <a:pt x="315873" y="59084"/>
                  </a:lnTo>
                  <a:lnTo>
                    <a:pt x="338598" y="36360"/>
                  </a:lnTo>
                  <a:lnTo>
                    <a:pt x="374957" y="24997"/>
                  </a:lnTo>
                  <a:lnTo>
                    <a:pt x="434041" y="15907"/>
                  </a:lnTo>
                  <a:lnTo>
                    <a:pt x="497670" y="9090"/>
                  </a:lnTo>
                  <a:lnTo>
                    <a:pt x="515850" y="204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252;p30">
              <a:extLst>
                <a:ext uri="{FF2B5EF4-FFF2-40B4-BE49-F238E27FC236}">
                  <a16:creationId xmlns:a16="http://schemas.microsoft.com/office/drawing/2014/main" id="{75A68E29-F59A-DB77-DEBE-86B2FD0EDA4C}"/>
                </a:ext>
              </a:extLst>
            </p:cNvPr>
            <p:cNvSpPr/>
            <p:nvPr/>
          </p:nvSpPr>
          <p:spPr>
            <a:xfrm>
              <a:off x="4031665" y="3639853"/>
              <a:ext cx="88789" cy="92035"/>
            </a:xfrm>
            <a:custGeom>
              <a:avLst/>
              <a:gdLst/>
              <a:ahLst/>
              <a:cxnLst/>
              <a:rect l="l" t="t" r="r" b="b"/>
              <a:pathLst>
                <a:path w="118385" h="122713" extrusionOk="0">
                  <a:moveTo>
                    <a:pt x="47722" y="0"/>
                  </a:moveTo>
                  <a:lnTo>
                    <a:pt x="52484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91116" y="15907"/>
                  </a:lnTo>
                  <a:lnTo>
                    <a:pt x="102478" y="31815"/>
                  </a:lnTo>
                  <a:lnTo>
                    <a:pt x="95661" y="43177"/>
                  </a:lnTo>
                  <a:lnTo>
                    <a:pt x="107023" y="54539"/>
                  </a:lnTo>
                  <a:lnTo>
                    <a:pt x="107023" y="63629"/>
                  </a:lnTo>
                  <a:lnTo>
                    <a:pt x="113623" y="63629"/>
                  </a:lnTo>
                  <a:lnTo>
                    <a:pt x="118385" y="63629"/>
                  </a:lnTo>
                  <a:lnTo>
                    <a:pt x="95661" y="81809"/>
                  </a:lnTo>
                  <a:lnTo>
                    <a:pt x="79753" y="102261"/>
                  </a:lnTo>
                  <a:lnTo>
                    <a:pt x="79753" y="113623"/>
                  </a:lnTo>
                  <a:lnTo>
                    <a:pt x="70664" y="122713"/>
                  </a:lnTo>
                  <a:lnTo>
                    <a:pt x="65902" y="122713"/>
                  </a:lnTo>
                  <a:lnTo>
                    <a:pt x="59301" y="122713"/>
                  </a:lnTo>
                  <a:lnTo>
                    <a:pt x="54539" y="122713"/>
                  </a:lnTo>
                  <a:lnTo>
                    <a:pt x="27270" y="106806"/>
                  </a:lnTo>
                  <a:lnTo>
                    <a:pt x="11363" y="86354"/>
                  </a:lnTo>
                  <a:lnTo>
                    <a:pt x="6818" y="74992"/>
                  </a:lnTo>
                  <a:lnTo>
                    <a:pt x="0" y="43177"/>
                  </a:lnTo>
                  <a:lnTo>
                    <a:pt x="15907" y="31815"/>
                  </a:lnTo>
                  <a:lnTo>
                    <a:pt x="22725" y="20452"/>
                  </a:lnTo>
                  <a:lnTo>
                    <a:pt x="27270" y="11363"/>
                  </a:lnTo>
                  <a:lnTo>
                    <a:pt x="32032" y="11363"/>
                  </a:lnTo>
                  <a:lnTo>
                    <a:pt x="38632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253;p30">
              <a:extLst>
                <a:ext uri="{FF2B5EF4-FFF2-40B4-BE49-F238E27FC236}">
                  <a16:creationId xmlns:a16="http://schemas.microsoft.com/office/drawing/2014/main" id="{DCA343F5-9A08-63AE-8E7D-B26B0A24161D}"/>
                </a:ext>
              </a:extLst>
            </p:cNvPr>
            <p:cNvSpPr/>
            <p:nvPr/>
          </p:nvSpPr>
          <p:spPr>
            <a:xfrm>
              <a:off x="3978830" y="3571678"/>
              <a:ext cx="206389" cy="151850"/>
            </a:xfrm>
            <a:custGeom>
              <a:avLst/>
              <a:gdLst/>
              <a:ahLst/>
              <a:cxnLst/>
              <a:rect l="l" t="t" r="r" b="b"/>
              <a:pathLst>
                <a:path w="275186" h="202467" extrusionOk="0">
                  <a:moveTo>
                    <a:pt x="54540" y="0"/>
                  </a:moveTo>
                  <a:lnTo>
                    <a:pt x="70447" y="0"/>
                  </a:lnTo>
                  <a:lnTo>
                    <a:pt x="97716" y="11363"/>
                  </a:lnTo>
                  <a:lnTo>
                    <a:pt x="102261" y="11363"/>
                  </a:lnTo>
                  <a:lnTo>
                    <a:pt x="109079" y="4545"/>
                  </a:lnTo>
                  <a:lnTo>
                    <a:pt x="129531" y="4545"/>
                  </a:lnTo>
                  <a:lnTo>
                    <a:pt x="136348" y="4545"/>
                  </a:lnTo>
                  <a:lnTo>
                    <a:pt x="136348" y="9307"/>
                  </a:lnTo>
                  <a:lnTo>
                    <a:pt x="141110" y="9307"/>
                  </a:lnTo>
                  <a:lnTo>
                    <a:pt x="141110" y="15908"/>
                  </a:lnTo>
                  <a:lnTo>
                    <a:pt x="152256" y="15908"/>
                  </a:lnTo>
                  <a:lnTo>
                    <a:pt x="156801" y="15908"/>
                  </a:lnTo>
                  <a:lnTo>
                    <a:pt x="168163" y="27270"/>
                  </a:lnTo>
                  <a:lnTo>
                    <a:pt x="184070" y="27270"/>
                  </a:lnTo>
                  <a:lnTo>
                    <a:pt x="195433" y="20452"/>
                  </a:lnTo>
                  <a:lnTo>
                    <a:pt x="204523" y="15908"/>
                  </a:lnTo>
                  <a:lnTo>
                    <a:pt x="215885" y="11363"/>
                  </a:lnTo>
                  <a:lnTo>
                    <a:pt x="220430" y="11363"/>
                  </a:lnTo>
                  <a:lnTo>
                    <a:pt x="227247" y="15908"/>
                  </a:lnTo>
                  <a:lnTo>
                    <a:pt x="228113" y="18072"/>
                  </a:lnTo>
                  <a:lnTo>
                    <a:pt x="232009" y="20670"/>
                  </a:lnTo>
                  <a:lnTo>
                    <a:pt x="236554" y="32032"/>
                  </a:lnTo>
                  <a:lnTo>
                    <a:pt x="252462" y="52484"/>
                  </a:lnTo>
                  <a:lnTo>
                    <a:pt x="247917" y="57029"/>
                  </a:lnTo>
                  <a:lnTo>
                    <a:pt x="245277" y="63629"/>
                  </a:lnTo>
                  <a:lnTo>
                    <a:pt x="247700" y="63629"/>
                  </a:lnTo>
                  <a:lnTo>
                    <a:pt x="254517" y="63629"/>
                  </a:lnTo>
                  <a:lnTo>
                    <a:pt x="252476" y="68391"/>
                  </a:lnTo>
                  <a:lnTo>
                    <a:pt x="259279" y="68391"/>
                  </a:lnTo>
                  <a:lnTo>
                    <a:pt x="252908" y="83257"/>
                  </a:lnTo>
                  <a:lnTo>
                    <a:pt x="263607" y="90899"/>
                  </a:lnTo>
                  <a:lnTo>
                    <a:pt x="261702" y="90899"/>
                  </a:lnTo>
                  <a:lnTo>
                    <a:pt x="268369" y="95661"/>
                  </a:lnTo>
                  <a:lnTo>
                    <a:pt x="259279" y="95661"/>
                  </a:lnTo>
                  <a:lnTo>
                    <a:pt x="259279" y="111568"/>
                  </a:lnTo>
                  <a:lnTo>
                    <a:pt x="263824" y="122931"/>
                  </a:lnTo>
                  <a:lnTo>
                    <a:pt x="275186" y="154745"/>
                  </a:lnTo>
                  <a:lnTo>
                    <a:pt x="259279" y="159290"/>
                  </a:lnTo>
                  <a:lnTo>
                    <a:pt x="259279" y="166108"/>
                  </a:lnTo>
                  <a:lnTo>
                    <a:pt x="259279" y="170653"/>
                  </a:lnTo>
                  <a:lnTo>
                    <a:pt x="259279" y="186560"/>
                  </a:lnTo>
                  <a:lnTo>
                    <a:pt x="252462" y="186560"/>
                  </a:lnTo>
                  <a:lnTo>
                    <a:pt x="243372" y="186560"/>
                  </a:lnTo>
                  <a:lnTo>
                    <a:pt x="232009" y="202467"/>
                  </a:lnTo>
                  <a:lnTo>
                    <a:pt x="220647" y="202467"/>
                  </a:lnTo>
                  <a:lnTo>
                    <a:pt x="218266" y="197705"/>
                  </a:lnTo>
                  <a:lnTo>
                    <a:pt x="215885" y="197705"/>
                  </a:lnTo>
                  <a:lnTo>
                    <a:pt x="211340" y="188615"/>
                  </a:lnTo>
                  <a:lnTo>
                    <a:pt x="211340" y="172708"/>
                  </a:lnTo>
                  <a:lnTo>
                    <a:pt x="202756" y="155539"/>
                  </a:lnTo>
                  <a:lnTo>
                    <a:pt x="193377" y="159290"/>
                  </a:lnTo>
                  <a:lnTo>
                    <a:pt x="188832" y="159290"/>
                  </a:lnTo>
                  <a:lnTo>
                    <a:pt x="177470" y="166108"/>
                  </a:lnTo>
                  <a:lnTo>
                    <a:pt x="177470" y="158488"/>
                  </a:lnTo>
                  <a:lnTo>
                    <a:pt x="172708" y="161346"/>
                  </a:lnTo>
                  <a:lnTo>
                    <a:pt x="172708" y="145438"/>
                  </a:lnTo>
                  <a:lnTo>
                    <a:pt x="166108" y="138838"/>
                  </a:lnTo>
                  <a:lnTo>
                    <a:pt x="166108" y="138838"/>
                  </a:lnTo>
                  <a:lnTo>
                    <a:pt x="161346" y="134076"/>
                  </a:lnTo>
                  <a:lnTo>
                    <a:pt x="168163" y="122714"/>
                  </a:lnTo>
                  <a:lnTo>
                    <a:pt x="156801" y="106807"/>
                  </a:lnTo>
                  <a:lnTo>
                    <a:pt x="150200" y="100206"/>
                  </a:lnTo>
                  <a:lnTo>
                    <a:pt x="122931" y="100206"/>
                  </a:lnTo>
                  <a:lnTo>
                    <a:pt x="113841" y="107023"/>
                  </a:lnTo>
                  <a:lnTo>
                    <a:pt x="102478" y="107023"/>
                  </a:lnTo>
                  <a:lnTo>
                    <a:pt x="97934" y="116113"/>
                  </a:lnTo>
                  <a:lnTo>
                    <a:pt x="91116" y="127476"/>
                  </a:lnTo>
                  <a:lnTo>
                    <a:pt x="75209" y="143383"/>
                  </a:lnTo>
                  <a:lnTo>
                    <a:pt x="71042" y="138026"/>
                  </a:lnTo>
                  <a:lnTo>
                    <a:pt x="70447" y="138621"/>
                  </a:lnTo>
                  <a:lnTo>
                    <a:pt x="54540" y="118169"/>
                  </a:lnTo>
                  <a:lnTo>
                    <a:pt x="43394" y="107023"/>
                  </a:lnTo>
                  <a:lnTo>
                    <a:pt x="32032" y="100206"/>
                  </a:lnTo>
                  <a:lnTo>
                    <a:pt x="22942" y="95661"/>
                  </a:lnTo>
                  <a:lnTo>
                    <a:pt x="22942" y="93280"/>
                  </a:lnTo>
                  <a:lnTo>
                    <a:pt x="18180" y="90899"/>
                  </a:lnTo>
                  <a:lnTo>
                    <a:pt x="18180" y="70447"/>
                  </a:lnTo>
                  <a:lnTo>
                    <a:pt x="16125" y="68391"/>
                  </a:lnTo>
                  <a:lnTo>
                    <a:pt x="4762" y="63847"/>
                  </a:lnTo>
                  <a:lnTo>
                    <a:pt x="7003" y="61886"/>
                  </a:lnTo>
                  <a:lnTo>
                    <a:pt x="0" y="59085"/>
                  </a:lnTo>
                  <a:lnTo>
                    <a:pt x="18180" y="43177"/>
                  </a:lnTo>
                  <a:lnTo>
                    <a:pt x="27270" y="43177"/>
                  </a:lnTo>
                  <a:lnTo>
                    <a:pt x="38632" y="31815"/>
                  </a:lnTo>
                  <a:lnTo>
                    <a:pt x="43177" y="31815"/>
                  </a:lnTo>
                  <a:lnTo>
                    <a:pt x="49995" y="27270"/>
                  </a:lnTo>
                  <a:lnTo>
                    <a:pt x="49995" y="15908"/>
                  </a:lnTo>
                  <a:lnTo>
                    <a:pt x="49995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254;p30">
              <a:extLst>
                <a:ext uri="{FF2B5EF4-FFF2-40B4-BE49-F238E27FC236}">
                  <a16:creationId xmlns:a16="http://schemas.microsoft.com/office/drawing/2014/main" id="{80D0DF2F-224F-BF4E-41DF-2AF598658875}"/>
                </a:ext>
              </a:extLst>
            </p:cNvPr>
            <p:cNvSpPr/>
            <p:nvPr/>
          </p:nvSpPr>
          <p:spPr>
            <a:xfrm>
              <a:off x="3927698" y="2869482"/>
              <a:ext cx="439967" cy="455388"/>
            </a:xfrm>
            <a:custGeom>
              <a:avLst/>
              <a:gdLst/>
              <a:ahLst/>
              <a:cxnLst/>
              <a:rect l="l" t="t" r="r" b="b"/>
              <a:pathLst>
                <a:path w="586622" h="607184" extrusionOk="0">
                  <a:moveTo>
                    <a:pt x="406772" y="0"/>
                  </a:moveTo>
                  <a:lnTo>
                    <a:pt x="434041" y="0"/>
                  </a:lnTo>
                  <a:lnTo>
                    <a:pt x="456766" y="15907"/>
                  </a:lnTo>
                  <a:lnTo>
                    <a:pt x="493126" y="15907"/>
                  </a:lnTo>
                  <a:lnTo>
                    <a:pt x="531757" y="27270"/>
                  </a:lnTo>
                  <a:lnTo>
                    <a:pt x="547665" y="27270"/>
                  </a:lnTo>
                  <a:lnTo>
                    <a:pt x="551634" y="36795"/>
                  </a:lnTo>
                  <a:lnTo>
                    <a:pt x="554808" y="36795"/>
                  </a:lnTo>
                  <a:lnTo>
                    <a:pt x="566170" y="64064"/>
                  </a:lnTo>
                  <a:lnTo>
                    <a:pt x="570715" y="89061"/>
                  </a:lnTo>
                  <a:lnTo>
                    <a:pt x="582077" y="139056"/>
                  </a:lnTo>
                  <a:lnTo>
                    <a:pt x="586622" y="143601"/>
                  </a:lnTo>
                  <a:lnTo>
                    <a:pt x="582077" y="166325"/>
                  </a:lnTo>
                  <a:lnTo>
                    <a:pt x="532083" y="170870"/>
                  </a:lnTo>
                  <a:lnTo>
                    <a:pt x="516176" y="186778"/>
                  </a:lnTo>
                  <a:lnTo>
                    <a:pt x="495724" y="191323"/>
                  </a:lnTo>
                  <a:lnTo>
                    <a:pt x="495724" y="218592"/>
                  </a:lnTo>
                  <a:lnTo>
                    <a:pt x="452547" y="234499"/>
                  </a:lnTo>
                  <a:lnTo>
                    <a:pt x="441184" y="261769"/>
                  </a:lnTo>
                  <a:lnTo>
                    <a:pt x="409370" y="273131"/>
                  </a:lnTo>
                  <a:lnTo>
                    <a:pt x="373010" y="277676"/>
                  </a:lnTo>
                  <a:lnTo>
                    <a:pt x="313926" y="304946"/>
                  </a:lnTo>
                  <a:lnTo>
                    <a:pt x="313926" y="359485"/>
                  </a:lnTo>
                  <a:lnTo>
                    <a:pt x="307109" y="359485"/>
                  </a:lnTo>
                  <a:lnTo>
                    <a:pt x="307109" y="379937"/>
                  </a:lnTo>
                  <a:lnTo>
                    <a:pt x="286657" y="379937"/>
                  </a:lnTo>
                  <a:lnTo>
                    <a:pt x="275294" y="391300"/>
                  </a:lnTo>
                  <a:lnTo>
                    <a:pt x="259387" y="391300"/>
                  </a:lnTo>
                  <a:lnTo>
                    <a:pt x="243480" y="386755"/>
                  </a:lnTo>
                  <a:lnTo>
                    <a:pt x="211665" y="391300"/>
                  </a:lnTo>
                  <a:lnTo>
                    <a:pt x="200303" y="423114"/>
                  </a:lnTo>
                  <a:lnTo>
                    <a:pt x="188941" y="423114"/>
                  </a:lnTo>
                  <a:lnTo>
                    <a:pt x="173033" y="470836"/>
                  </a:lnTo>
                  <a:lnTo>
                    <a:pt x="118494" y="520830"/>
                  </a:lnTo>
                  <a:lnTo>
                    <a:pt x="109404" y="573097"/>
                  </a:lnTo>
                  <a:lnTo>
                    <a:pt x="93497" y="591277"/>
                  </a:lnTo>
                  <a:lnTo>
                    <a:pt x="86680" y="607184"/>
                  </a:lnTo>
                  <a:lnTo>
                    <a:pt x="7143" y="607184"/>
                  </a:lnTo>
                  <a:lnTo>
                    <a:pt x="7143" y="597659"/>
                  </a:lnTo>
                  <a:lnTo>
                    <a:pt x="0" y="597659"/>
                  </a:lnTo>
                  <a:lnTo>
                    <a:pt x="0" y="581752"/>
                  </a:lnTo>
                  <a:lnTo>
                    <a:pt x="15908" y="570390"/>
                  </a:lnTo>
                  <a:lnTo>
                    <a:pt x="27270" y="547665"/>
                  </a:lnTo>
                  <a:lnTo>
                    <a:pt x="27270" y="538575"/>
                  </a:lnTo>
                  <a:lnTo>
                    <a:pt x="36360" y="511305"/>
                  </a:lnTo>
                  <a:lnTo>
                    <a:pt x="59084" y="484036"/>
                  </a:lnTo>
                  <a:lnTo>
                    <a:pt x="68174" y="472674"/>
                  </a:lnTo>
                  <a:lnTo>
                    <a:pt x="79537" y="452221"/>
                  </a:lnTo>
                  <a:lnTo>
                    <a:pt x="79537" y="429497"/>
                  </a:lnTo>
                  <a:lnTo>
                    <a:pt x="95444" y="402227"/>
                  </a:lnTo>
                  <a:lnTo>
                    <a:pt x="118169" y="393137"/>
                  </a:lnTo>
                  <a:lnTo>
                    <a:pt x="138621" y="349960"/>
                  </a:lnTo>
                  <a:lnTo>
                    <a:pt x="161345" y="334053"/>
                  </a:lnTo>
                  <a:lnTo>
                    <a:pt x="193160" y="327235"/>
                  </a:lnTo>
                  <a:lnTo>
                    <a:pt x="224974" y="299966"/>
                  </a:lnTo>
                  <a:lnTo>
                    <a:pt x="240882" y="290876"/>
                  </a:lnTo>
                  <a:lnTo>
                    <a:pt x="272696" y="252244"/>
                  </a:lnTo>
                  <a:lnTo>
                    <a:pt x="263606" y="199977"/>
                  </a:lnTo>
                  <a:lnTo>
                    <a:pt x="279514" y="161345"/>
                  </a:lnTo>
                  <a:lnTo>
                    <a:pt x="284059" y="138621"/>
                  </a:lnTo>
                  <a:lnTo>
                    <a:pt x="306783" y="113624"/>
                  </a:lnTo>
                  <a:lnTo>
                    <a:pt x="343143" y="90899"/>
                  </a:lnTo>
                  <a:lnTo>
                    <a:pt x="370412" y="70447"/>
                  </a:lnTo>
                  <a:lnTo>
                    <a:pt x="397682" y="2727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255;p30">
              <a:extLst>
                <a:ext uri="{FF2B5EF4-FFF2-40B4-BE49-F238E27FC236}">
                  <a16:creationId xmlns:a16="http://schemas.microsoft.com/office/drawing/2014/main" id="{30EDFAD9-BE38-0BB6-205B-295B7D8BACCB}"/>
                </a:ext>
              </a:extLst>
            </p:cNvPr>
            <p:cNvSpPr/>
            <p:nvPr/>
          </p:nvSpPr>
          <p:spPr>
            <a:xfrm>
              <a:off x="4053494" y="3212057"/>
              <a:ext cx="462205" cy="431364"/>
            </a:xfrm>
            <a:custGeom>
              <a:avLst/>
              <a:gdLst/>
              <a:ahLst/>
              <a:cxnLst/>
              <a:rect l="l" t="t" r="r" b="b"/>
              <a:pathLst>
                <a:path w="616273" h="575152" extrusionOk="0">
                  <a:moveTo>
                    <a:pt x="218592" y="0"/>
                  </a:moveTo>
                  <a:lnTo>
                    <a:pt x="277676" y="0"/>
                  </a:lnTo>
                  <a:lnTo>
                    <a:pt x="400389" y="86354"/>
                  </a:lnTo>
                  <a:lnTo>
                    <a:pt x="525375" y="172708"/>
                  </a:lnTo>
                  <a:lnTo>
                    <a:pt x="536737" y="188615"/>
                  </a:lnTo>
                  <a:lnTo>
                    <a:pt x="557189" y="204522"/>
                  </a:lnTo>
                  <a:lnTo>
                    <a:pt x="573096" y="209067"/>
                  </a:lnTo>
                  <a:lnTo>
                    <a:pt x="573096" y="213830"/>
                  </a:lnTo>
                  <a:lnTo>
                    <a:pt x="573096" y="231792"/>
                  </a:lnTo>
                  <a:lnTo>
                    <a:pt x="616273" y="231792"/>
                  </a:lnTo>
                  <a:lnTo>
                    <a:pt x="616273" y="236555"/>
                  </a:lnTo>
                  <a:lnTo>
                    <a:pt x="616273" y="318145"/>
                  </a:lnTo>
                  <a:lnTo>
                    <a:pt x="616273" y="322908"/>
                  </a:lnTo>
                  <a:lnTo>
                    <a:pt x="595821" y="350178"/>
                  </a:lnTo>
                  <a:lnTo>
                    <a:pt x="589004" y="370630"/>
                  </a:lnTo>
                  <a:lnTo>
                    <a:pt x="557189" y="375175"/>
                  </a:lnTo>
                  <a:lnTo>
                    <a:pt x="509467" y="381993"/>
                  </a:lnTo>
                  <a:lnTo>
                    <a:pt x="493560" y="393355"/>
                  </a:lnTo>
                  <a:lnTo>
                    <a:pt x="484035" y="393355"/>
                  </a:lnTo>
                  <a:lnTo>
                    <a:pt x="470836" y="393355"/>
                  </a:lnTo>
                  <a:lnTo>
                    <a:pt x="450383" y="397900"/>
                  </a:lnTo>
                  <a:lnTo>
                    <a:pt x="448651" y="396168"/>
                  </a:lnTo>
                  <a:lnTo>
                    <a:pt x="440858" y="397900"/>
                  </a:lnTo>
                  <a:lnTo>
                    <a:pt x="431877" y="388919"/>
                  </a:lnTo>
                  <a:lnTo>
                    <a:pt x="418569" y="393355"/>
                  </a:lnTo>
                  <a:lnTo>
                    <a:pt x="384482" y="409262"/>
                  </a:lnTo>
                  <a:lnTo>
                    <a:pt x="375392" y="425169"/>
                  </a:lnTo>
                  <a:lnTo>
                    <a:pt x="348122" y="434259"/>
                  </a:lnTo>
                  <a:lnTo>
                    <a:pt x="341305" y="445622"/>
                  </a:lnTo>
                  <a:lnTo>
                    <a:pt x="325398" y="456984"/>
                  </a:lnTo>
                  <a:lnTo>
                    <a:pt x="318594" y="455040"/>
                  </a:lnTo>
                  <a:lnTo>
                    <a:pt x="315873" y="456984"/>
                  </a:lnTo>
                  <a:lnTo>
                    <a:pt x="306984" y="454445"/>
                  </a:lnTo>
                  <a:lnTo>
                    <a:pt x="298128" y="461529"/>
                  </a:lnTo>
                  <a:lnTo>
                    <a:pt x="293583" y="484254"/>
                  </a:lnTo>
                  <a:lnTo>
                    <a:pt x="266314" y="516068"/>
                  </a:lnTo>
                  <a:lnTo>
                    <a:pt x="266314" y="522667"/>
                  </a:lnTo>
                  <a:lnTo>
                    <a:pt x="266314" y="527430"/>
                  </a:lnTo>
                  <a:lnTo>
                    <a:pt x="257224" y="543338"/>
                  </a:lnTo>
                  <a:lnTo>
                    <a:pt x="257224" y="559027"/>
                  </a:lnTo>
                  <a:lnTo>
                    <a:pt x="257224" y="563790"/>
                  </a:lnTo>
                  <a:lnTo>
                    <a:pt x="239044" y="570607"/>
                  </a:lnTo>
                  <a:lnTo>
                    <a:pt x="234499" y="575152"/>
                  </a:lnTo>
                  <a:lnTo>
                    <a:pt x="232844" y="569360"/>
                  </a:lnTo>
                  <a:lnTo>
                    <a:pt x="229519" y="570607"/>
                  </a:lnTo>
                  <a:lnTo>
                    <a:pt x="224974" y="575152"/>
                  </a:lnTo>
                  <a:lnTo>
                    <a:pt x="221406" y="562664"/>
                  </a:lnTo>
                  <a:lnTo>
                    <a:pt x="218592" y="563790"/>
                  </a:lnTo>
                  <a:lnTo>
                    <a:pt x="214047" y="563790"/>
                  </a:lnTo>
                  <a:lnTo>
                    <a:pt x="202685" y="575152"/>
                  </a:lnTo>
                  <a:lnTo>
                    <a:pt x="193160" y="575152"/>
                  </a:lnTo>
                  <a:lnTo>
                    <a:pt x="175415" y="575152"/>
                  </a:lnTo>
                  <a:lnTo>
                    <a:pt x="165890" y="575152"/>
                  </a:lnTo>
                  <a:lnTo>
                    <a:pt x="161345" y="570607"/>
                  </a:lnTo>
                  <a:lnTo>
                    <a:pt x="154528" y="570607"/>
                  </a:lnTo>
                  <a:lnTo>
                    <a:pt x="138621" y="563790"/>
                  </a:lnTo>
                  <a:lnTo>
                    <a:pt x="140345" y="559767"/>
                  </a:lnTo>
                  <a:lnTo>
                    <a:pt x="138621" y="559028"/>
                  </a:lnTo>
                  <a:lnTo>
                    <a:pt x="143397" y="547883"/>
                  </a:lnTo>
                  <a:lnTo>
                    <a:pt x="139056" y="547883"/>
                  </a:lnTo>
                  <a:lnTo>
                    <a:pt x="138621" y="547883"/>
                  </a:lnTo>
                  <a:lnTo>
                    <a:pt x="129531" y="547883"/>
                  </a:lnTo>
                  <a:lnTo>
                    <a:pt x="131436" y="543121"/>
                  </a:lnTo>
                  <a:lnTo>
                    <a:pt x="129531" y="543121"/>
                  </a:lnTo>
                  <a:lnTo>
                    <a:pt x="134076" y="531758"/>
                  </a:lnTo>
                  <a:lnTo>
                    <a:pt x="137034" y="525843"/>
                  </a:lnTo>
                  <a:lnTo>
                    <a:pt x="122713" y="511523"/>
                  </a:lnTo>
                  <a:lnTo>
                    <a:pt x="118168" y="500161"/>
                  </a:lnTo>
                  <a:lnTo>
                    <a:pt x="113219" y="496861"/>
                  </a:lnTo>
                  <a:lnTo>
                    <a:pt x="104969" y="500161"/>
                  </a:lnTo>
                  <a:lnTo>
                    <a:pt x="95879" y="504706"/>
                  </a:lnTo>
                  <a:lnTo>
                    <a:pt x="84517" y="511523"/>
                  </a:lnTo>
                  <a:lnTo>
                    <a:pt x="74992" y="511523"/>
                  </a:lnTo>
                  <a:lnTo>
                    <a:pt x="68609" y="511523"/>
                  </a:lnTo>
                  <a:lnTo>
                    <a:pt x="59084" y="511523"/>
                  </a:lnTo>
                  <a:lnTo>
                    <a:pt x="47722" y="500161"/>
                  </a:lnTo>
                  <a:lnTo>
                    <a:pt x="43177" y="500161"/>
                  </a:lnTo>
                  <a:lnTo>
                    <a:pt x="41340" y="500161"/>
                  </a:lnTo>
                  <a:lnTo>
                    <a:pt x="36795" y="500161"/>
                  </a:lnTo>
                  <a:lnTo>
                    <a:pt x="31815" y="500161"/>
                  </a:lnTo>
                  <a:lnTo>
                    <a:pt x="27270" y="500161"/>
                  </a:lnTo>
                  <a:lnTo>
                    <a:pt x="27270" y="495399"/>
                  </a:lnTo>
                  <a:lnTo>
                    <a:pt x="27270" y="495399"/>
                  </a:lnTo>
                  <a:lnTo>
                    <a:pt x="27270" y="484037"/>
                  </a:lnTo>
                  <a:lnTo>
                    <a:pt x="27270" y="477435"/>
                  </a:lnTo>
                  <a:lnTo>
                    <a:pt x="20452" y="461529"/>
                  </a:lnTo>
                  <a:lnTo>
                    <a:pt x="9090" y="452439"/>
                  </a:lnTo>
                  <a:lnTo>
                    <a:pt x="4545" y="429714"/>
                  </a:lnTo>
                  <a:lnTo>
                    <a:pt x="0" y="409262"/>
                  </a:lnTo>
                  <a:lnTo>
                    <a:pt x="828" y="408227"/>
                  </a:lnTo>
                  <a:lnTo>
                    <a:pt x="0" y="404500"/>
                  </a:lnTo>
                  <a:lnTo>
                    <a:pt x="9090" y="393138"/>
                  </a:lnTo>
                  <a:lnTo>
                    <a:pt x="20452" y="377231"/>
                  </a:lnTo>
                  <a:lnTo>
                    <a:pt x="31815" y="370413"/>
                  </a:lnTo>
                  <a:lnTo>
                    <a:pt x="36760" y="373161"/>
                  </a:lnTo>
                  <a:lnTo>
                    <a:pt x="41340" y="370412"/>
                  </a:lnTo>
                  <a:lnTo>
                    <a:pt x="59595" y="380554"/>
                  </a:lnTo>
                  <a:lnTo>
                    <a:pt x="79537" y="377231"/>
                  </a:lnTo>
                  <a:lnTo>
                    <a:pt x="89059" y="377231"/>
                  </a:lnTo>
                  <a:lnTo>
                    <a:pt x="89062" y="377230"/>
                  </a:lnTo>
                  <a:lnTo>
                    <a:pt x="90899" y="377230"/>
                  </a:lnTo>
                  <a:lnTo>
                    <a:pt x="95444" y="370413"/>
                  </a:lnTo>
                  <a:lnTo>
                    <a:pt x="104969" y="370413"/>
                  </a:lnTo>
                  <a:lnTo>
                    <a:pt x="104969" y="370412"/>
                  </a:lnTo>
                  <a:lnTo>
                    <a:pt x="247699" y="370412"/>
                  </a:lnTo>
                  <a:lnTo>
                    <a:pt x="251564" y="349157"/>
                  </a:lnTo>
                  <a:lnTo>
                    <a:pt x="247699" y="343361"/>
                  </a:lnTo>
                  <a:lnTo>
                    <a:pt x="229519" y="177471"/>
                  </a:lnTo>
                  <a:lnTo>
                    <a:pt x="209067" y="4763"/>
                  </a:lnTo>
                  <a:lnTo>
                    <a:pt x="209631" y="4763"/>
                  </a:lnTo>
                  <a:lnTo>
                    <a:pt x="209067" y="1"/>
                  </a:lnTo>
                  <a:lnTo>
                    <a:pt x="218592" y="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256;p30">
              <a:extLst>
                <a:ext uri="{FF2B5EF4-FFF2-40B4-BE49-F238E27FC236}">
                  <a16:creationId xmlns:a16="http://schemas.microsoft.com/office/drawing/2014/main" id="{53405D12-AFEB-A3A5-35A8-9CE8BC9C181C}"/>
                </a:ext>
              </a:extLst>
            </p:cNvPr>
            <p:cNvSpPr/>
            <p:nvPr/>
          </p:nvSpPr>
          <p:spPr>
            <a:xfrm>
              <a:off x="4406622" y="3252801"/>
              <a:ext cx="438344" cy="353289"/>
            </a:xfrm>
            <a:custGeom>
              <a:avLst/>
              <a:gdLst/>
              <a:ahLst/>
              <a:cxnLst/>
              <a:rect l="l" t="t" r="r" b="b"/>
              <a:pathLst>
                <a:path w="584459" h="471052" extrusionOk="0">
                  <a:moveTo>
                    <a:pt x="429496" y="0"/>
                  </a:moveTo>
                  <a:lnTo>
                    <a:pt x="488581" y="22725"/>
                  </a:lnTo>
                  <a:lnTo>
                    <a:pt x="495332" y="28801"/>
                  </a:lnTo>
                  <a:lnTo>
                    <a:pt x="498106" y="29868"/>
                  </a:lnTo>
                  <a:lnTo>
                    <a:pt x="512157" y="42514"/>
                  </a:lnTo>
                  <a:lnTo>
                    <a:pt x="531757" y="27270"/>
                  </a:lnTo>
                  <a:lnTo>
                    <a:pt x="534192" y="39928"/>
                  </a:lnTo>
                  <a:lnTo>
                    <a:pt x="541282" y="34413"/>
                  </a:lnTo>
                  <a:lnTo>
                    <a:pt x="552645" y="93497"/>
                  </a:lnTo>
                  <a:lnTo>
                    <a:pt x="564007" y="104859"/>
                  </a:lnTo>
                  <a:lnTo>
                    <a:pt x="568430" y="120340"/>
                  </a:lnTo>
                  <a:lnTo>
                    <a:pt x="574934" y="124986"/>
                  </a:lnTo>
                  <a:lnTo>
                    <a:pt x="574796" y="125227"/>
                  </a:lnTo>
                  <a:lnTo>
                    <a:pt x="584459" y="132129"/>
                  </a:lnTo>
                  <a:lnTo>
                    <a:pt x="581561" y="137201"/>
                  </a:lnTo>
                  <a:lnTo>
                    <a:pt x="584459" y="139272"/>
                  </a:lnTo>
                  <a:lnTo>
                    <a:pt x="575369" y="155179"/>
                  </a:lnTo>
                  <a:lnTo>
                    <a:pt x="557190" y="234716"/>
                  </a:lnTo>
                  <a:lnTo>
                    <a:pt x="557190" y="277567"/>
                  </a:lnTo>
                  <a:lnTo>
                    <a:pt x="557190" y="284710"/>
                  </a:lnTo>
                  <a:lnTo>
                    <a:pt x="509468" y="321069"/>
                  </a:lnTo>
                  <a:lnTo>
                    <a:pt x="495575" y="362748"/>
                  </a:lnTo>
                  <a:lnTo>
                    <a:pt x="499943" y="365868"/>
                  </a:lnTo>
                  <a:lnTo>
                    <a:pt x="499943" y="366207"/>
                  </a:lnTo>
                  <a:lnTo>
                    <a:pt x="509468" y="373011"/>
                  </a:lnTo>
                  <a:lnTo>
                    <a:pt x="509468" y="380154"/>
                  </a:lnTo>
                  <a:lnTo>
                    <a:pt x="509468" y="393137"/>
                  </a:lnTo>
                  <a:lnTo>
                    <a:pt x="522668" y="393137"/>
                  </a:lnTo>
                  <a:lnTo>
                    <a:pt x="522668" y="400280"/>
                  </a:lnTo>
                  <a:lnTo>
                    <a:pt x="532193" y="400280"/>
                  </a:lnTo>
                  <a:lnTo>
                    <a:pt x="532193" y="407423"/>
                  </a:lnTo>
                  <a:lnTo>
                    <a:pt x="532193" y="420732"/>
                  </a:lnTo>
                  <a:lnTo>
                    <a:pt x="532193" y="427875"/>
                  </a:lnTo>
                  <a:lnTo>
                    <a:pt x="520830" y="427875"/>
                  </a:lnTo>
                  <a:lnTo>
                    <a:pt x="520830" y="432095"/>
                  </a:lnTo>
                  <a:lnTo>
                    <a:pt x="520830" y="439238"/>
                  </a:lnTo>
                  <a:lnTo>
                    <a:pt x="514013" y="439238"/>
                  </a:lnTo>
                  <a:lnTo>
                    <a:pt x="509877" y="432095"/>
                  </a:lnTo>
                  <a:lnTo>
                    <a:pt x="504488" y="432095"/>
                  </a:lnTo>
                  <a:lnTo>
                    <a:pt x="483626" y="396061"/>
                  </a:lnTo>
                  <a:lnTo>
                    <a:pt x="477653" y="396061"/>
                  </a:lnTo>
                  <a:lnTo>
                    <a:pt x="450384" y="418785"/>
                  </a:lnTo>
                  <a:lnTo>
                    <a:pt x="418569" y="407423"/>
                  </a:lnTo>
                  <a:lnTo>
                    <a:pt x="395845" y="407423"/>
                  </a:lnTo>
                  <a:lnTo>
                    <a:pt x="391300" y="411968"/>
                  </a:lnTo>
                  <a:lnTo>
                    <a:pt x="370847" y="411968"/>
                  </a:lnTo>
                  <a:lnTo>
                    <a:pt x="348123" y="427875"/>
                  </a:lnTo>
                  <a:lnTo>
                    <a:pt x="327671" y="427875"/>
                  </a:lnTo>
                  <a:lnTo>
                    <a:pt x="284494" y="407423"/>
                  </a:lnTo>
                  <a:lnTo>
                    <a:pt x="268586" y="418785"/>
                  </a:lnTo>
                  <a:lnTo>
                    <a:pt x="245862" y="418785"/>
                  </a:lnTo>
                  <a:lnTo>
                    <a:pt x="240760" y="411642"/>
                  </a:lnTo>
                  <a:lnTo>
                    <a:pt x="236337" y="411642"/>
                  </a:lnTo>
                  <a:lnTo>
                    <a:pt x="227619" y="399438"/>
                  </a:lnTo>
                  <a:lnTo>
                    <a:pt x="198140" y="384698"/>
                  </a:lnTo>
                  <a:lnTo>
                    <a:pt x="154963" y="391516"/>
                  </a:lnTo>
                  <a:lnTo>
                    <a:pt x="143601" y="402878"/>
                  </a:lnTo>
                  <a:lnTo>
                    <a:pt x="139056" y="423330"/>
                  </a:lnTo>
                  <a:lnTo>
                    <a:pt x="134511" y="434693"/>
                  </a:lnTo>
                  <a:lnTo>
                    <a:pt x="127693" y="471052"/>
                  </a:lnTo>
                  <a:lnTo>
                    <a:pt x="118168" y="463909"/>
                  </a:lnTo>
                  <a:lnTo>
                    <a:pt x="118168" y="463909"/>
                  </a:lnTo>
                  <a:lnTo>
                    <a:pt x="100423" y="450600"/>
                  </a:lnTo>
                  <a:lnTo>
                    <a:pt x="84517" y="450600"/>
                  </a:lnTo>
                  <a:lnTo>
                    <a:pt x="75427" y="461962"/>
                  </a:lnTo>
                  <a:lnTo>
                    <a:pt x="75427" y="454819"/>
                  </a:lnTo>
                  <a:lnTo>
                    <a:pt x="75427" y="443457"/>
                  </a:lnTo>
                  <a:lnTo>
                    <a:pt x="74992" y="443457"/>
                  </a:lnTo>
                  <a:lnTo>
                    <a:pt x="65902" y="454819"/>
                  </a:lnTo>
                  <a:lnTo>
                    <a:pt x="65902" y="433189"/>
                  </a:lnTo>
                  <a:lnTo>
                    <a:pt x="32250" y="427875"/>
                  </a:lnTo>
                  <a:lnTo>
                    <a:pt x="32250" y="422236"/>
                  </a:lnTo>
                  <a:lnTo>
                    <a:pt x="22725" y="420732"/>
                  </a:lnTo>
                  <a:lnTo>
                    <a:pt x="22725" y="400280"/>
                  </a:lnTo>
                  <a:lnTo>
                    <a:pt x="0" y="377555"/>
                  </a:lnTo>
                  <a:lnTo>
                    <a:pt x="0" y="370412"/>
                  </a:lnTo>
                  <a:lnTo>
                    <a:pt x="0" y="357103"/>
                  </a:lnTo>
                  <a:lnTo>
                    <a:pt x="0" y="349960"/>
                  </a:lnTo>
                  <a:lnTo>
                    <a:pt x="0" y="341196"/>
                  </a:lnTo>
                  <a:lnTo>
                    <a:pt x="0" y="334053"/>
                  </a:lnTo>
                  <a:lnTo>
                    <a:pt x="22725" y="334053"/>
                  </a:lnTo>
                  <a:lnTo>
                    <a:pt x="38632" y="318146"/>
                  </a:lnTo>
                  <a:lnTo>
                    <a:pt x="86354" y="318146"/>
                  </a:lnTo>
                  <a:lnTo>
                    <a:pt x="118168" y="311328"/>
                  </a:lnTo>
                  <a:lnTo>
                    <a:pt x="124986" y="286331"/>
                  </a:lnTo>
                  <a:lnTo>
                    <a:pt x="145438" y="259062"/>
                  </a:lnTo>
                  <a:lnTo>
                    <a:pt x="145438" y="179851"/>
                  </a:lnTo>
                  <a:lnTo>
                    <a:pt x="145438" y="172708"/>
                  </a:lnTo>
                  <a:lnTo>
                    <a:pt x="193160" y="156801"/>
                  </a:lnTo>
                  <a:lnTo>
                    <a:pt x="302238" y="8180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257;p30">
              <a:extLst>
                <a:ext uri="{FF2B5EF4-FFF2-40B4-BE49-F238E27FC236}">
                  <a16:creationId xmlns:a16="http://schemas.microsoft.com/office/drawing/2014/main" id="{B0FCC58C-E1B9-2F50-B236-5DD68DD58060}"/>
                </a:ext>
              </a:extLst>
            </p:cNvPr>
            <p:cNvSpPr/>
            <p:nvPr/>
          </p:nvSpPr>
          <p:spPr>
            <a:xfrm>
              <a:off x="2664771" y="4459650"/>
              <a:ext cx="242619" cy="245174"/>
            </a:xfrm>
            <a:custGeom>
              <a:avLst/>
              <a:gdLst/>
              <a:ahLst/>
              <a:cxnLst/>
              <a:rect l="l" t="t" r="r" b="b"/>
              <a:pathLst>
                <a:path w="226218" h="228600" extrusionOk="0">
                  <a:moveTo>
                    <a:pt x="68263" y="0"/>
                  </a:moveTo>
                  <a:lnTo>
                    <a:pt x="75406" y="0"/>
                  </a:lnTo>
                  <a:lnTo>
                    <a:pt x="93663" y="0"/>
                  </a:lnTo>
                  <a:lnTo>
                    <a:pt x="100806" y="0"/>
                  </a:lnTo>
                  <a:lnTo>
                    <a:pt x="124618" y="14288"/>
                  </a:lnTo>
                  <a:lnTo>
                    <a:pt x="124618" y="22225"/>
                  </a:lnTo>
                  <a:lnTo>
                    <a:pt x="130968" y="36513"/>
                  </a:lnTo>
                  <a:lnTo>
                    <a:pt x="130968" y="74613"/>
                  </a:lnTo>
                  <a:lnTo>
                    <a:pt x="152896" y="81062"/>
                  </a:lnTo>
                  <a:lnTo>
                    <a:pt x="161925" y="74613"/>
                  </a:lnTo>
                  <a:lnTo>
                    <a:pt x="166127" y="76714"/>
                  </a:lnTo>
                  <a:lnTo>
                    <a:pt x="169068" y="74613"/>
                  </a:lnTo>
                  <a:lnTo>
                    <a:pt x="184943" y="82550"/>
                  </a:lnTo>
                  <a:lnTo>
                    <a:pt x="191293" y="88900"/>
                  </a:lnTo>
                  <a:lnTo>
                    <a:pt x="191293" y="115888"/>
                  </a:lnTo>
                  <a:lnTo>
                    <a:pt x="195969" y="126798"/>
                  </a:lnTo>
                  <a:lnTo>
                    <a:pt x="206375" y="123825"/>
                  </a:lnTo>
                  <a:lnTo>
                    <a:pt x="210185" y="124778"/>
                  </a:lnTo>
                  <a:lnTo>
                    <a:pt x="213518" y="123825"/>
                  </a:lnTo>
                  <a:lnTo>
                    <a:pt x="226218" y="127000"/>
                  </a:lnTo>
                  <a:lnTo>
                    <a:pt x="226218" y="146050"/>
                  </a:lnTo>
                  <a:lnTo>
                    <a:pt x="221456" y="160338"/>
                  </a:lnTo>
                  <a:lnTo>
                    <a:pt x="213518" y="176213"/>
                  </a:lnTo>
                  <a:lnTo>
                    <a:pt x="210343" y="201613"/>
                  </a:lnTo>
                  <a:lnTo>
                    <a:pt x="188118" y="225425"/>
                  </a:lnTo>
                  <a:lnTo>
                    <a:pt x="169068" y="228600"/>
                  </a:lnTo>
                  <a:lnTo>
                    <a:pt x="164690" y="228139"/>
                  </a:lnTo>
                  <a:lnTo>
                    <a:pt x="161925" y="228600"/>
                  </a:lnTo>
                  <a:lnTo>
                    <a:pt x="131763" y="225425"/>
                  </a:lnTo>
                  <a:lnTo>
                    <a:pt x="106363" y="217488"/>
                  </a:lnTo>
                  <a:lnTo>
                    <a:pt x="131763" y="171450"/>
                  </a:lnTo>
                  <a:lnTo>
                    <a:pt x="128588" y="160338"/>
                  </a:lnTo>
                  <a:lnTo>
                    <a:pt x="101600" y="149225"/>
                  </a:lnTo>
                  <a:lnTo>
                    <a:pt x="68263" y="130175"/>
                  </a:lnTo>
                  <a:lnTo>
                    <a:pt x="49213" y="123825"/>
                  </a:lnTo>
                  <a:lnTo>
                    <a:pt x="0" y="82550"/>
                  </a:lnTo>
                  <a:lnTo>
                    <a:pt x="11113" y="47625"/>
                  </a:lnTo>
                  <a:lnTo>
                    <a:pt x="11113" y="33338"/>
                  </a:lnTo>
                  <a:lnTo>
                    <a:pt x="23813" y="635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258;p30">
              <a:extLst>
                <a:ext uri="{FF2B5EF4-FFF2-40B4-BE49-F238E27FC236}">
                  <a16:creationId xmlns:a16="http://schemas.microsoft.com/office/drawing/2014/main" id="{4B9E7822-285F-0FE9-7817-20F14305BEDE}"/>
                </a:ext>
              </a:extLst>
            </p:cNvPr>
            <p:cNvSpPr/>
            <p:nvPr/>
          </p:nvSpPr>
          <p:spPr>
            <a:xfrm>
              <a:off x="4938382" y="2099112"/>
              <a:ext cx="88627" cy="40904"/>
            </a:xfrm>
            <a:custGeom>
              <a:avLst/>
              <a:gdLst/>
              <a:ahLst/>
              <a:cxnLst/>
              <a:rect l="l" t="t" r="r" b="b"/>
              <a:pathLst>
                <a:path w="52" h="24" extrusionOk="0">
                  <a:moveTo>
                    <a:pt x="43" y="5"/>
                  </a:moveTo>
                  <a:lnTo>
                    <a:pt x="26" y="0"/>
                  </a:lnTo>
                  <a:lnTo>
                    <a:pt x="5" y="9"/>
                  </a:lnTo>
                  <a:lnTo>
                    <a:pt x="0" y="21"/>
                  </a:lnTo>
                  <a:lnTo>
                    <a:pt x="19" y="24"/>
                  </a:lnTo>
                  <a:lnTo>
                    <a:pt x="50" y="24"/>
                  </a:lnTo>
                  <a:lnTo>
                    <a:pt x="50" y="16"/>
                  </a:lnTo>
                  <a:lnTo>
                    <a:pt x="52" y="9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259;p30">
              <a:extLst>
                <a:ext uri="{FF2B5EF4-FFF2-40B4-BE49-F238E27FC236}">
                  <a16:creationId xmlns:a16="http://schemas.microsoft.com/office/drawing/2014/main" id="{5011C90A-9010-E682-0FD0-668C3206C720}"/>
                </a:ext>
              </a:extLst>
            </p:cNvPr>
            <p:cNvSpPr/>
            <p:nvPr/>
          </p:nvSpPr>
          <p:spPr>
            <a:xfrm>
              <a:off x="4931565" y="2624055"/>
              <a:ext cx="47723" cy="112487"/>
            </a:xfrm>
            <a:custGeom>
              <a:avLst/>
              <a:gdLst/>
              <a:ahLst/>
              <a:cxnLst/>
              <a:rect l="l" t="t" r="r" b="b"/>
              <a:pathLst>
                <a:path w="28" h="66" extrusionOk="0">
                  <a:moveTo>
                    <a:pt x="7" y="0"/>
                  </a:moveTo>
                  <a:lnTo>
                    <a:pt x="7" y="0"/>
                  </a:lnTo>
                  <a:lnTo>
                    <a:pt x="7" y="4"/>
                  </a:lnTo>
                  <a:lnTo>
                    <a:pt x="11" y="2"/>
                  </a:lnTo>
                  <a:lnTo>
                    <a:pt x="14" y="9"/>
                  </a:lnTo>
                  <a:lnTo>
                    <a:pt x="19" y="9"/>
                  </a:lnTo>
                  <a:lnTo>
                    <a:pt x="21" y="18"/>
                  </a:lnTo>
                  <a:lnTo>
                    <a:pt x="19" y="26"/>
                  </a:lnTo>
                  <a:lnTo>
                    <a:pt x="21" y="35"/>
                  </a:lnTo>
                  <a:lnTo>
                    <a:pt x="28" y="40"/>
                  </a:lnTo>
                  <a:lnTo>
                    <a:pt x="28" y="45"/>
                  </a:lnTo>
                  <a:lnTo>
                    <a:pt x="21" y="49"/>
                  </a:lnTo>
                  <a:lnTo>
                    <a:pt x="21" y="56"/>
                  </a:lnTo>
                  <a:lnTo>
                    <a:pt x="11" y="66"/>
                  </a:lnTo>
                  <a:lnTo>
                    <a:pt x="9" y="63"/>
                  </a:lnTo>
                  <a:lnTo>
                    <a:pt x="9" y="59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260;p30">
              <a:extLst>
                <a:ext uri="{FF2B5EF4-FFF2-40B4-BE49-F238E27FC236}">
                  <a16:creationId xmlns:a16="http://schemas.microsoft.com/office/drawing/2014/main" id="{83C3FD8D-6B2A-A949-B4D2-F2CAB90D568B}"/>
                </a:ext>
              </a:extLst>
            </p:cNvPr>
            <p:cNvSpPr/>
            <p:nvPr/>
          </p:nvSpPr>
          <p:spPr>
            <a:xfrm>
              <a:off x="2371623" y="4531234"/>
              <a:ext cx="543691" cy="1210096"/>
            </a:xfrm>
            <a:custGeom>
              <a:avLst/>
              <a:gdLst/>
              <a:ahLst/>
              <a:cxnLst/>
              <a:rect l="l" t="t" r="r" b="b"/>
              <a:pathLst>
                <a:path w="319" h="710" extrusionOk="0">
                  <a:moveTo>
                    <a:pt x="127" y="710"/>
                  </a:moveTo>
                  <a:lnTo>
                    <a:pt x="127" y="710"/>
                  </a:lnTo>
                  <a:lnTo>
                    <a:pt x="113" y="710"/>
                  </a:lnTo>
                  <a:lnTo>
                    <a:pt x="104" y="701"/>
                  </a:lnTo>
                  <a:lnTo>
                    <a:pt x="94" y="701"/>
                  </a:lnTo>
                  <a:lnTo>
                    <a:pt x="78" y="701"/>
                  </a:lnTo>
                  <a:lnTo>
                    <a:pt x="78" y="639"/>
                  </a:lnTo>
                  <a:lnTo>
                    <a:pt x="82" y="651"/>
                  </a:lnTo>
                  <a:lnTo>
                    <a:pt x="92" y="672"/>
                  </a:lnTo>
                  <a:lnTo>
                    <a:pt x="113" y="689"/>
                  </a:lnTo>
                  <a:lnTo>
                    <a:pt x="134" y="694"/>
                  </a:lnTo>
                  <a:lnTo>
                    <a:pt x="127" y="710"/>
                  </a:lnTo>
                  <a:close/>
                  <a:moveTo>
                    <a:pt x="137" y="5"/>
                  </a:moveTo>
                  <a:lnTo>
                    <a:pt x="137" y="5"/>
                  </a:lnTo>
                  <a:lnTo>
                    <a:pt x="146" y="17"/>
                  </a:lnTo>
                  <a:lnTo>
                    <a:pt x="151" y="5"/>
                  </a:lnTo>
                  <a:lnTo>
                    <a:pt x="170" y="5"/>
                  </a:lnTo>
                  <a:lnTo>
                    <a:pt x="172" y="7"/>
                  </a:lnTo>
                  <a:lnTo>
                    <a:pt x="203" y="36"/>
                  </a:lnTo>
                  <a:lnTo>
                    <a:pt x="217" y="40"/>
                  </a:lnTo>
                  <a:lnTo>
                    <a:pt x="236" y="52"/>
                  </a:lnTo>
                  <a:lnTo>
                    <a:pt x="253" y="59"/>
                  </a:lnTo>
                  <a:lnTo>
                    <a:pt x="255" y="66"/>
                  </a:lnTo>
                  <a:lnTo>
                    <a:pt x="239" y="95"/>
                  </a:lnTo>
                  <a:lnTo>
                    <a:pt x="255" y="100"/>
                  </a:lnTo>
                  <a:lnTo>
                    <a:pt x="274" y="102"/>
                  </a:lnTo>
                  <a:lnTo>
                    <a:pt x="286" y="100"/>
                  </a:lnTo>
                  <a:lnTo>
                    <a:pt x="300" y="85"/>
                  </a:lnTo>
                  <a:lnTo>
                    <a:pt x="305" y="69"/>
                  </a:lnTo>
                  <a:lnTo>
                    <a:pt x="312" y="66"/>
                  </a:lnTo>
                  <a:lnTo>
                    <a:pt x="319" y="76"/>
                  </a:lnTo>
                  <a:lnTo>
                    <a:pt x="319" y="90"/>
                  </a:lnTo>
                  <a:lnTo>
                    <a:pt x="307" y="102"/>
                  </a:lnTo>
                  <a:lnTo>
                    <a:pt x="295" y="109"/>
                  </a:lnTo>
                  <a:lnTo>
                    <a:pt x="276" y="126"/>
                  </a:lnTo>
                  <a:lnTo>
                    <a:pt x="255" y="149"/>
                  </a:lnTo>
                  <a:lnTo>
                    <a:pt x="253" y="166"/>
                  </a:lnTo>
                  <a:lnTo>
                    <a:pt x="248" y="185"/>
                  </a:lnTo>
                  <a:lnTo>
                    <a:pt x="248" y="204"/>
                  </a:lnTo>
                  <a:lnTo>
                    <a:pt x="243" y="208"/>
                  </a:lnTo>
                  <a:lnTo>
                    <a:pt x="243" y="220"/>
                  </a:lnTo>
                  <a:lnTo>
                    <a:pt x="241" y="232"/>
                  </a:lnTo>
                  <a:lnTo>
                    <a:pt x="262" y="249"/>
                  </a:lnTo>
                  <a:lnTo>
                    <a:pt x="260" y="260"/>
                  </a:lnTo>
                  <a:lnTo>
                    <a:pt x="269" y="270"/>
                  </a:lnTo>
                  <a:lnTo>
                    <a:pt x="269" y="279"/>
                  </a:lnTo>
                  <a:lnTo>
                    <a:pt x="253" y="305"/>
                  </a:lnTo>
                  <a:lnTo>
                    <a:pt x="229" y="317"/>
                  </a:lnTo>
                  <a:lnTo>
                    <a:pt x="196" y="322"/>
                  </a:lnTo>
                  <a:lnTo>
                    <a:pt x="179" y="320"/>
                  </a:lnTo>
                  <a:lnTo>
                    <a:pt x="182" y="331"/>
                  </a:lnTo>
                  <a:lnTo>
                    <a:pt x="179" y="346"/>
                  </a:lnTo>
                  <a:lnTo>
                    <a:pt x="182" y="358"/>
                  </a:lnTo>
                  <a:lnTo>
                    <a:pt x="172" y="365"/>
                  </a:lnTo>
                  <a:lnTo>
                    <a:pt x="156" y="367"/>
                  </a:lnTo>
                  <a:lnTo>
                    <a:pt x="139" y="360"/>
                  </a:lnTo>
                  <a:lnTo>
                    <a:pt x="134" y="365"/>
                  </a:lnTo>
                  <a:lnTo>
                    <a:pt x="137" y="388"/>
                  </a:lnTo>
                  <a:lnTo>
                    <a:pt x="149" y="393"/>
                  </a:lnTo>
                  <a:lnTo>
                    <a:pt x="156" y="386"/>
                  </a:lnTo>
                  <a:lnTo>
                    <a:pt x="161" y="398"/>
                  </a:lnTo>
                  <a:lnTo>
                    <a:pt x="146" y="405"/>
                  </a:lnTo>
                  <a:lnTo>
                    <a:pt x="132" y="419"/>
                  </a:lnTo>
                  <a:lnTo>
                    <a:pt x="130" y="440"/>
                  </a:lnTo>
                  <a:lnTo>
                    <a:pt x="127" y="452"/>
                  </a:lnTo>
                  <a:lnTo>
                    <a:pt x="111" y="452"/>
                  </a:lnTo>
                  <a:lnTo>
                    <a:pt x="99" y="464"/>
                  </a:lnTo>
                  <a:lnTo>
                    <a:pt x="94" y="483"/>
                  </a:lnTo>
                  <a:lnTo>
                    <a:pt x="111" y="500"/>
                  </a:lnTo>
                  <a:lnTo>
                    <a:pt x="125" y="504"/>
                  </a:lnTo>
                  <a:lnTo>
                    <a:pt x="120" y="526"/>
                  </a:lnTo>
                  <a:lnTo>
                    <a:pt x="101" y="540"/>
                  </a:lnTo>
                  <a:lnTo>
                    <a:pt x="90" y="568"/>
                  </a:lnTo>
                  <a:lnTo>
                    <a:pt x="75" y="578"/>
                  </a:lnTo>
                  <a:lnTo>
                    <a:pt x="68" y="589"/>
                  </a:lnTo>
                  <a:lnTo>
                    <a:pt x="73" y="618"/>
                  </a:lnTo>
                  <a:lnTo>
                    <a:pt x="85" y="632"/>
                  </a:lnTo>
                  <a:lnTo>
                    <a:pt x="78" y="630"/>
                  </a:lnTo>
                  <a:lnTo>
                    <a:pt x="64" y="627"/>
                  </a:lnTo>
                  <a:lnTo>
                    <a:pt x="23" y="623"/>
                  </a:lnTo>
                  <a:lnTo>
                    <a:pt x="16" y="608"/>
                  </a:lnTo>
                  <a:lnTo>
                    <a:pt x="16" y="589"/>
                  </a:lnTo>
                  <a:lnTo>
                    <a:pt x="7" y="589"/>
                  </a:lnTo>
                  <a:lnTo>
                    <a:pt x="2" y="580"/>
                  </a:lnTo>
                  <a:lnTo>
                    <a:pt x="0" y="554"/>
                  </a:lnTo>
                  <a:lnTo>
                    <a:pt x="12" y="545"/>
                  </a:lnTo>
                  <a:lnTo>
                    <a:pt x="16" y="528"/>
                  </a:lnTo>
                  <a:lnTo>
                    <a:pt x="16" y="516"/>
                  </a:lnTo>
                  <a:lnTo>
                    <a:pt x="23" y="497"/>
                  </a:lnTo>
                  <a:lnTo>
                    <a:pt x="30" y="464"/>
                  </a:lnTo>
                  <a:lnTo>
                    <a:pt x="28" y="452"/>
                  </a:lnTo>
                  <a:lnTo>
                    <a:pt x="35" y="447"/>
                  </a:lnTo>
                  <a:lnTo>
                    <a:pt x="33" y="438"/>
                  </a:lnTo>
                  <a:lnTo>
                    <a:pt x="26" y="436"/>
                  </a:lnTo>
                  <a:lnTo>
                    <a:pt x="30" y="424"/>
                  </a:lnTo>
                  <a:lnTo>
                    <a:pt x="23" y="417"/>
                  </a:lnTo>
                  <a:lnTo>
                    <a:pt x="21" y="391"/>
                  </a:lnTo>
                  <a:lnTo>
                    <a:pt x="26" y="388"/>
                  </a:lnTo>
                  <a:lnTo>
                    <a:pt x="23" y="360"/>
                  </a:lnTo>
                  <a:lnTo>
                    <a:pt x="28" y="339"/>
                  </a:lnTo>
                  <a:lnTo>
                    <a:pt x="33" y="320"/>
                  </a:lnTo>
                  <a:lnTo>
                    <a:pt x="42" y="315"/>
                  </a:lnTo>
                  <a:lnTo>
                    <a:pt x="38" y="294"/>
                  </a:lnTo>
                  <a:lnTo>
                    <a:pt x="38" y="275"/>
                  </a:lnTo>
                  <a:lnTo>
                    <a:pt x="49" y="263"/>
                  </a:lnTo>
                  <a:lnTo>
                    <a:pt x="49" y="246"/>
                  </a:lnTo>
                  <a:lnTo>
                    <a:pt x="59" y="227"/>
                  </a:lnTo>
                  <a:lnTo>
                    <a:pt x="59" y="208"/>
                  </a:lnTo>
                  <a:lnTo>
                    <a:pt x="54" y="206"/>
                  </a:lnTo>
                  <a:lnTo>
                    <a:pt x="47" y="173"/>
                  </a:lnTo>
                  <a:lnTo>
                    <a:pt x="56" y="152"/>
                  </a:lnTo>
                  <a:lnTo>
                    <a:pt x="54" y="135"/>
                  </a:lnTo>
                  <a:lnTo>
                    <a:pt x="61" y="118"/>
                  </a:lnTo>
                  <a:lnTo>
                    <a:pt x="71" y="102"/>
                  </a:lnTo>
                  <a:lnTo>
                    <a:pt x="82" y="90"/>
                  </a:lnTo>
                  <a:lnTo>
                    <a:pt x="78" y="83"/>
                  </a:lnTo>
                  <a:lnTo>
                    <a:pt x="80" y="78"/>
                  </a:lnTo>
                  <a:lnTo>
                    <a:pt x="80" y="47"/>
                  </a:lnTo>
                  <a:lnTo>
                    <a:pt x="99" y="40"/>
                  </a:lnTo>
                  <a:lnTo>
                    <a:pt x="104" y="21"/>
                  </a:lnTo>
                  <a:lnTo>
                    <a:pt x="101" y="17"/>
                  </a:lnTo>
                  <a:lnTo>
                    <a:pt x="116" y="0"/>
                  </a:lnTo>
                  <a:lnTo>
                    <a:pt x="137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261;p30">
              <a:extLst>
                <a:ext uri="{FF2B5EF4-FFF2-40B4-BE49-F238E27FC236}">
                  <a16:creationId xmlns:a16="http://schemas.microsoft.com/office/drawing/2014/main" id="{7C8507A0-4174-9665-4FE7-68EE1872570F}"/>
                </a:ext>
              </a:extLst>
            </p:cNvPr>
            <p:cNvSpPr/>
            <p:nvPr/>
          </p:nvSpPr>
          <p:spPr>
            <a:xfrm>
              <a:off x="7523888" y="4215927"/>
              <a:ext cx="1111239" cy="1032844"/>
            </a:xfrm>
            <a:custGeom>
              <a:avLst/>
              <a:gdLst/>
              <a:ahLst/>
              <a:cxnLst/>
              <a:rect l="l" t="t" r="r" b="b"/>
              <a:pathLst>
                <a:path w="652" h="606" extrusionOk="0">
                  <a:moveTo>
                    <a:pt x="520" y="545"/>
                  </a:moveTo>
                  <a:lnTo>
                    <a:pt x="520" y="545"/>
                  </a:lnTo>
                  <a:lnTo>
                    <a:pt x="536" y="552"/>
                  </a:lnTo>
                  <a:lnTo>
                    <a:pt x="544" y="550"/>
                  </a:lnTo>
                  <a:lnTo>
                    <a:pt x="558" y="547"/>
                  </a:lnTo>
                  <a:lnTo>
                    <a:pt x="565" y="547"/>
                  </a:lnTo>
                  <a:lnTo>
                    <a:pt x="567" y="573"/>
                  </a:lnTo>
                  <a:lnTo>
                    <a:pt x="562" y="580"/>
                  </a:lnTo>
                  <a:lnTo>
                    <a:pt x="560" y="597"/>
                  </a:lnTo>
                  <a:lnTo>
                    <a:pt x="555" y="592"/>
                  </a:lnTo>
                  <a:lnTo>
                    <a:pt x="544" y="606"/>
                  </a:lnTo>
                  <a:lnTo>
                    <a:pt x="539" y="606"/>
                  </a:lnTo>
                  <a:lnTo>
                    <a:pt x="529" y="606"/>
                  </a:lnTo>
                  <a:lnTo>
                    <a:pt x="520" y="587"/>
                  </a:lnTo>
                  <a:lnTo>
                    <a:pt x="518" y="573"/>
                  </a:lnTo>
                  <a:lnTo>
                    <a:pt x="508" y="554"/>
                  </a:lnTo>
                  <a:lnTo>
                    <a:pt x="508" y="545"/>
                  </a:lnTo>
                  <a:lnTo>
                    <a:pt x="520" y="545"/>
                  </a:lnTo>
                  <a:close/>
                  <a:moveTo>
                    <a:pt x="489" y="50"/>
                  </a:moveTo>
                  <a:lnTo>
                    <a:pt x="489" y="50"/>
                  </a:lnTo>
                  <a:lnTo>
                    <a:pt x="496" y="62"/>
                  </a:lnTo>
                  <a:lnTo>
                    <a:pt x="506" y="57"/>
                  </a:lnTo>
                  <a:lnTo>
                    <a:pt x="510" y="64"/>
                  </a:lnTo>
                  <a:lnTo>
                    <a:pt x="520" y="69"/>
                  </a:lnTo>
                  <a:lnTo>
                    <a:pt x="518" y="79"/>
                  </a:lnTo>
                  <a:lnTo>
                    <a:pt x="520" y="93"/>
                  </a:lnTo>
                  <a:lnTo>
                    <a:pt x="522" y="100"/>
                  </a:lnTo>
                  <a:lnTo>
                    <a:pt x="527" y="102"/>
                  </a:lnTo>
                  <a:lnTo>
                    <a:pt x="532" y="116"/>
                  </a:lnTo>
                  <a:lnTo>
                    <a:pt x="532" y="126"/>
                  </a:lnTo>
                  <a:lnTo>
                    <a:pt x="536" y="138"/>
                  </a:lnTo>
                  <a:lnTo>
                    <a:pt x="553" y="145"/>
                  </a:lnTo>
                  <a:lnTo>
                    <a:pt x="565" y="154"/>
                  </a:lnTo>
                  <a:lnTo>
                    <a:pt x="577" y="161"/>
                  </a:lnTo>
                  <a:lnTo>
                    <a:pt x="574" y="166"/>
                  </a:lnTo>
                  <a:lnTo>
                    <a:pt x="584" y="176"/>
                  </a:lnTo>
                  <a:lnTo>
                    <a:pt x="588" y="195"/>
                  </a:lnTo>
                  <a:lnTo>
                    <a:pt x="596" y="192"/>
                  </a:lnTo>
                  <a:lnTo>
                    <a:pt x="603" y="199"/>
                  </a:lnTo>
                  <a:lnTo>
                    <a:pt x="605" y="197"/>
                  </a:lnTo>
                  <a:lnTo>
                    <a:pt x="610" y="214"/>
                  </a:lnTo>
                  <a:lnTo>
                    <a:pt x="619" y="225"/>
                  </a:lnTo>
                  <a:lnTo>
                    <a:pt x="629" y="232"/>
                  </a:lnTo>
                  <a:lnTo>
                    <a:pt x="641" y="247"/>
                  </a:lnTo>
                  <a:lnTo>
                    <a:pt x="645" y="261"/>
                  </a:lnTo>
                  <a:lnTo>
                    <a:pt x="645" y="270"/>
                  </a:lnTo>
                  <a:lnTo>
                    <a:pt x="645" y="282"/>
                  </a:lnTo>
                  <a:lnTo>
                    <a:pt x="652" y="296"/>
                  </a:lnTo>
                  <a:lnTo>
                    <a:pt x="650" y="313"/>
                  </a:lnTo>
                  <a:lnTo>
                    <a:pt x="648" y="322"/>
                  </a:lnTo>
                  <a:lnTo>
                    <a:pt x="645" y="339"/>
                  </a:lnTo>
                  <a:lnTo>
                    <a:pt x="645" y="348"/>
                  </a:lnTo>
                  <a:lnTo>
                    <a:pt x="641" y="363"/>
                  </a:lnTo>
                  <a:lnTo>
                    <a:pt x="633" y="382"/>
                  </a:lnTo>
                  <a:lnTo>
                    <a:pt x="622" y="389"/>
                  </a:lnTo>
                  <a:lnTo>
                    <a:pt x="617" y="405"/>
                  </a:lnTo>
                  <a:lnTo>
                    <a:pt x="610" y="415"/>
                  </a:lnTo>
                  <a:lnTo>
                    <a:pt x="605" y="431"/>
                  </a:lnTo>
                  <a:lnTo>
                    <a:pt x="598" y="441"/>
                  </a:lnTo>
                  <a:lnTo>
                    <a:pt x="596" y="455"/>
                  </a:lnTo>
                  <a:lnTo>
                    <a:pt x="593" y="469"/>
                  </a:lnTo>
                  <a:lnTo>
                    <a:pt x="593" y="476"/>
                  </a:lnTo>
                  <a:lnTo>
                    <a:pt x="584" y="483"/>
                  </a:lnTo>
                  <a:lnTo>
                    <a:pt x="567" y="483"/>
                  </a:lnTo>
                  <a:lnTo>
                    <a:pt x="551" y="493"/>
                  </a:lnTo>
                  <a:lnTo>
                    <a:pt x="544" y="500"/>
                  </a:lnTo>
                  <a:lnTo>
                    <a:pt x="534" y="509"/>
                  </a:lnTo>
                  <a:lnTo>
                    <a:pt x="520" y="500"/>
                  </a:lnTo>
                  <a:lnTo>
                    <a:pt x="510" y="495"/>
                  </a:lnTo>
                  <a:lnTo>
                    <a:pt x="513" y="486"/>
                  </a:lnTo>
                  <a:lnTo>
                    <a:pt x="506" y="490"/>
                  </a:lnTo>
                  <a:lnTo>
                    <a:pt x="492" y="505"/>
                  </a:lnTo>
                  <a:lnTo>
                    <a:pt x="477" y="498"/>
                  </a:lnTo>
                  <a:lnTo>
                    <a:pt x="468" y="495"/>
                  </a:lnTo>
                  <a:lnTo>
                    <a:pt x="458" y="493"/>
                  </a:lnTo>
                  <a:lnTo>
                    <a:pt x="442" y="488"/>
                  </a:lnTo>
                  <a:lnTo>
                    <a:pt x="432" y="474"/>
                  </a:lnTo>
                  <a:lnTo>
                    <a:pt x="430" y="460"/>
                  </a:lnTo>
                  <a:lnTo>
                    <a:pt x="425" y="450"/>
                  </a:lnTo>
                  <a:lnTo>
                    <a:pt x="418" y="443"/>
                  </a:lnTo>
                  <a:lnTo>
                    <a:pt x="402" y="441"/>
                  </a:lnTo>
                  <a:lnTo>
                    <a:pt x="406" y="429"/>
                  </a:lnTo>
                  <a:lnTo>
                    <a:pt x="402" y="415"/>
                  </a:lnTo>
                  <a:lnTo>
                    <a:pt x="395" y="429"/>
                  </a:lnTo>
                  <a:lnTo>
                    <a:pt x="380" y="431"/>
                  </a:lnTo>
                  <a:lnTo>
                    <a:pt x="390" y="422"/>
                  </a:lnTo>
                  <a:lnTo>
                    <a:pt x="392" y="410"/>
                  </a:lnTo>
                  <a:lnTo>
                    <a:pt x="397" y="401"/>
                  </a:lnTo>
                  <a:lnTo>
                    <a:pt x="397" y="386"/>
                  </a:lnTo>
                  <a:lnTo>
                    <a:pt x="383" y="403"/>
                  </a:lnTo>
                  <a:lnTo>
                    <a:pt x="373" y="410"/>
                  </a:lnTo>
                  <a:lnTo>
                    <a:pt x="369" y="427"/>
                  </a:lnTo>
                  <a:lnTo>
                    <a:pt x="354" y="417"/>
                  </a:lnTo>
                  <a:lnTo>
                    <a:pt x="354" y="408"/>
                  </a:lnTo>
                  <a:lnTo>
                    <a:pt x="345" y="393"/>
                  </a:lnTo>
                  <a:lnTo>
                    <a:pt x="338" y="386"/>
                  </a:lnTo>
                  <a:lnTo>
                    <a:pt x="340" y="382"/>
                  </a:lnTo>
                  <a:lnTo>
                    <a:pt x="319" y="370"/>
                  </a:lnTo>
                  <a:lnTo>
                    <a:pt x="307" y="370"/>
                  </a:lnTo>
                  <a:lnTo>
                    <a:pt x="290" y="360"/>
                  </a:lnTo>
                  <a:lnTo>
                    <a:pt x="262" y="363"/>
                  </a:lnTo>
                  <a:lnTo>
                    <a:pt x="241" y="370"/>
                  </a:lnTo>
                  <a:lnTo>
                    <a:pt x="224" y="374"/>
                  </a:lnTo>
                  <a:lnTo>
                    <a:pt x="208" y="374"/>
                  </a:lnTo>
                  <a:lnTo>
                    <a:pt x="191" y="384"/>
                  </a:lnTo>
                  <a:lnTo>
                    <a:pt x="177" y="389"/>
                  </a:lnTo>
                  <a:lnTo>
                    <a:pt x="175" y="398"/>
                  </a:lnTo>
                  <a:lnTo>
                    <a:pt x="167" y="405"/>
                  </a:lnTo>
                  <a:lnTo>
                    <a:pt x="153" y="408"/>
                  </a:lnTo>
                  <a:lnTo>
                    <a:pt x="144" y="408"/>
                  </a:lnTo>
                  <a:lnTo>
                    <a:pt x="130" y="405"/>
                  </a:lnTo>
                  <a:lnTo>
                    <a:pt x="118" y="408"/>
                  </a:lnTo>
                  <a:lnTo>
                    <a:pt x="106" y="408"/>
                  </a:lnTo>
                  <a:lnTo>
                    <a:pt x="97" y="417"/>
                  </a:lnTo>
                  <a:lnTo>
                    <a:pt x="92" y="417"/>
                  </a:lnTo>
                  <a:lnTo>
                    <a:pt x="85" y="422"/>
                  </a:lnTo>
                  <a:lnTo>
                    <a:pt x="75" y="429"/>
                  </a:lnTo>
                  <a:lnTo>
                    <a:pt x="63" y="429"/>
                  </a:lnTo>
                  <a:lnTo>
                    <a:pt x="54" y="429"/>
                  </a:lnTo>
                  <a:lnTo>
                    <a:pt x="35" y="415"/>
                  </a:lnTo>
                  <a:lnTo>
                    <a:pt x="28" y="412"/>
                  </a:lnTo>
                  <a:lnTo>
                    <a:pt x="28" y="401"/>
                  </a:lnTo>
                  <a:lnTo>
                    <a:pt x="35" y="398"/>
                  </a:lnTo>
                  <a:lnTo>
                    <a:pt x="37" y="393"/>
                  </a:lnTo>
                  <a:lnTo>
                    <a:pt x="37" y="386"/>
                  </a:lnTo>
                  <a:lnTo>
                    <a:pt x="40" y="374"/>
                  </a:lnTo>
                  <a:lnTo>
                    <a:pt x="37" y="363"/>
                  </a:lnTo>
                  <a:lnTo>
                    <a:pt x="30" y="344"/>
                  </a:lnTo>
                  <a:lnTo>
                    <a:pt x="28" y="332"/>
                  </a:lnTo>
                  <a:lnTo>
                    <a:pt x="28" y="322"/>
                  </a:lnTo>
                  <a:lnTo>
                    <a:pt x="21" y="311"/>
                  </a:lnTo>
                  <a:lnTo>
                    <a:pt x="21" y="306"/>
                  </a:lnTo>
                  <a:lnTo>
                    <a:pt x="14" y="299"/>
                  </a:lnTo>
                  <a:lnTo>
                    <a:pt x="11" y="285"/>
                  </a:lnTo>
                  <a:lnTo>
                    <a:pt x="2" y="268"/>
                  </a:lnTo>
                  <a:lnTo>
                    <a:pt x="0" y="261"/>
                  </a:lnTo>
                  <a:lnTo>
                    <a:pt x="7" y="268"/>
                  </a:lnTo>
                  <a:lnTo>
                    <a:pt x="2" y="254"/>
                  </a:lnTo>
                  <a:lnTo>
                    <a:pt x="9" y="258"/>
                  </a:lnTo>
                  <a:lnTo>
                    <a:pt x="14" y="266"/>
                  </a:lnTo>
                  <a:lnTo>
                    <a:pt x="14" y="256"/>
                  </a:lnTo>
                  <a:lnTo>
                    <a:pt x="7" y="242"/>
                  </a:lnTo>
                  <a:lnTo>
                    <a:pt x="4" y="237"/>
                  </a:lnTo>
                  <a:lnTo>
                    <a:pt x="2" y="230"/>
                  </a:lnTo>
                  <a:lnTo>
                    <a:pt x="2" y="221"/>
                  </a:lnTo>
                  <a:lnTo>
                    <a:pt x="7" y="216"/>
                  </a:lnTo>
                  <a:lnTo>
                    <a:pt x="9" y="206"/>
                  </a:lnTo>
                  <a:lnTo>
                    <a:pt x="7" y="197"/>
                  </a:lnTo>
                  <a:lnTo>
                    <a:pt x="14" y="185"/>
                  </a:lnTo>
                  <a:lnTo>
                    <a:pt x="14" y="199"/>
                  </a:lnTo>
                  <a:lnTo>
                    <a:pt x="21" y="185"/>
                  </a:lnTo>
                  <a:lnTo>
                    <a:pt x="35" y="180"/>
                  </a:lnTo>
                  <a:lnTo>
                    <a:pt x="42" y="173"/>
                  </a:lnTo>
                  <a:lnTo>
                    <a:pt x="54" y="166"/>
                  </a:lnTo>
                  <a:lnTo>
                    <a:pt x="63" y="166"/>
                  </a:lnTo>
                  <a:lnTo>
                    <a:pt x="66" y="166"/>
                  </a:lnTo>
                  <a:lnTo>
                    <a:pt x="80" y="161"/>
                  </a:lnTo>
                  <a:lnTo>
                    <a:pt x="89" y="159"/>
                  </a:lnTo>
                  <a:lnTo>
                    <a:pt x="92" y="154"/>
                  </a:lnTo>
                  <a:lnTo>
                    <a:pt x="97" y="154"/>
                  </a:lnTo>
                  <a:lnTo>
                    <a:pt x="106" y="154"/>
                  </a:lnTo>
                  <a:lnTo>
                    <a:pt x="123" y="150"/>
                  </a:lnTo>
                  <a:lnTo>
                    <a:pt x="130" y="143"/>
                  </a:lnTo>
                  <a:lnTo>
                    <a:pt x="134" y="133"/>
                  </a:lnTo>
                  <a:lnTo>
                    <a:pt x="144" y="124"/>
                  </a:lnTo>
                  <a:lnTo>
                    <a:pt x="146" y="116"/>
                  </a:lnTo>
                  <a:lnTo>
                    <a:pt x="146" y="107"/>
                  </a:lnTo>
                  <a:lnTo>
                    <a:pt x="158" y="93"/>
                  </a:lnTo>
                  <a:lnTo>
                    <a:pt x="163" y="107"/>
                  </a:lnTo>
                  <a:lnTo>
                    <a:pt x="170" y="105"/>
                  </a:lnTo>
                  <a:lnTo>
                    <a:pt x="165" y="98"/>
                  </a:lnTo>
                  <a:lnTo>
                    <a:pt x="170" y="88"/>
                  </a:lnTo>
                  <a:lnTo>
                    <a:pt x="177" y="93"/>
                  </a:lnTo>
                  <a:lnTo>
                    <a:pt x="179" y="81"/>
                  </a:lnTo>
                  <a:lnTo>
                    <a:pt x="189" y="71"/>
                  </a:lnTo>
                  <a:lnTo>
                    <a:pt x="191" y="64"/>
                  </a:lnTo>
                  <a:lnTo>
                    <a:pt x="201" y="62"/>
                  </a:lnTo>
                  <a:lnTo>
                    <a:pt x="201" y="57"/>
                  </a:lnTo>
                  <a:lnTo>
                    <a:pt x="208" y="60"/>
                  </a:lnTo>
                  <a:lnTo>
                    <a:pt x="208" y="55"/>
                  </a:lnTo>
                  <a:lnTo>
                    <a:pt x="215" y="53"/>
                  </a:lnTo>
                  <a:lnTo>
                    <a:pt x="222" y="50"/>
                  </a:lnTo>
                  <a:lnTo>
                    <a:pt x="234" y="60"/>
                  </a:lnTo>
                  <a:lnTo>
                    <a:pt x="243" y="69"/>
                  </a:lnTo>
                  <a:lnTo>
                    <a:pt x="255" y="69"/>
                  </a:lnTo>
                  <a:lnTo>
                    <a:pt x="264" y="69"/>
                  </a:lnTo>
                  <a:lnTo>
                    <a:pt x="260" y="62"/>
                  </a:lnTo>
                  <a:lnTo>
                    <a:pt x="269" y="48"/>
                  </a:lnTo>
                  <a:lnTo>
                    <a:pt x="276" y="43"/>
                  </a:lnTo>
                  <a:lnTo>
                    <a:pt x="274" y="38"/>
                  </a:lnTo>
                  <a:lnTo>
                    <a:pt x="281" y="29"/>
                  </a:lnTo>
                  <a:lnTo>
                    <a:pt x="290" y="24"/>
                  </a:lnTo>
                  <a:lnTo>
                    <a:pt x="298" y="27"/>
                  </a:lnTo>
                  <a:lnTo>
                    <a:pt x="312" y="22"/>
                  </a:lnTo>
                  <a:lnTo>
                    <a:pt x="312" y="15"/>
                  </a:lnTo>
                  <a:lnTo>
                    <a:pt x="300" y="10"/>
                  </a:lnTo>
                  <a:lnTo>
                    <a:pt x="309" y="8"/>
                  </a:lnTo>
                  <a:lnTo>
                    <a:pt x="319" y="10"/>
                  </a:lnTo>
                  <a:lnTo>
                    <a:pt x="328" y="17"/>
                  </a:lnTo>
                  <a:lnTo>
                    <a:pt x="343" y="22"/>
                  </a:lnTo>
                  <a:lnTo>
                    <a:pt x="345" y="19"/>
                  </a:lnTo>
                  <a:lnTo>
                    <a:pt x="357" y="24"/>
                  </a:lnTo>
                  <a:lnTo>
                    <a:pt x="366" y="19"/>
                  </a:lnTo>
                  <a:lnTo>
                    <a:pt x="371" y="22"/>
                  </a:lnTo>
                  <a:lnTo>
                    <a:pt x="376" y="19"/>
                  </a:lnTo>
                  <a:lnTo>
                    <a:pt x="383" y="27"/>
                  </a:lnTo>
                  <a:lnTo>
                    <a:pt x="378" y="36"/>
                  </a:lnTo>
                  <a:lnTo>
                    <a:pt x="371" y="43"/>
                  </a:lnTo>
                  <a:lnTo>
                    <a:pt x="366" y="43"/>
                  </a:lnTo>
                  <a:lnTo>
                    <a:pt x="369" y="50"/>
                  </a:lnTo>
                  <a:lnTo>
                    <a:pt x="364" y="57"/>
                  </a:lnTo>
                  <a:lnTo>
                    <a:pt x="359" y="64"/>
                  </a:lnTo>
                  <a:lnTo>
                    <a:pt x="359" y="71"/>
                  </a:lnTo>
                  <a:lnTo>
                    <a:pt x="371" y="81"/>
                  </a:lnTo>
                  <a:lnTo>
                    <a:pt x="385" y="86"/>
                  </a:lnTo>
                  <a:lnTo>
                    <a:pt x="392" y="90"/>
                  </a:lnTo>
                  <a:lnTo>
                    <a:pt x="404" y="100"/>
                  </a:lnTo>
                  <a:lnTo>
                    <a:pt x="409" y="100"/>
                  </a:lnTo>
                  <a:lnTo>
                    <a:pt x="418" y="105"/>
                  </a:lnTo>
                  <a:lnTo>
                    <a:pt x="421" y="109"/>
                  </a:lnTo>
                  <a:lnTo>
                    <a:pt x="435" y="116"/>
                  </a:lnTo>
                  <a:lnTo>
                    <a:pt x="447" y="109"/>
                  </a:lnTo>
                  <a:lnTo>
                    <a:pt x="449" y="102"/>
                  </a:lnTo>
                  <a:lnTo>
                    <a:pt x="454" y="93"/>
                  </a:lnTo>
                  <a:lnTo>
                    <a:pt x="454" y="83"/>
                  </a:lnTo>
                  <a:lnTo>
                    <a:pt x="458" y="71"/>
                  </a:lnTo>
                  <a:lnTo>
                    <a:pt x="456" y="62"/>
                  </a:lnTo>
                  <a:lnTo>
                    <a:pt x="458" y="60"/>
                  </a:lnTo>
                  <a:lnTo>
                    <a:pt x="456" y="48"/>
                  </a:lnTo>
                  <a:lnTo>
                    <a:pt x="458" y="36"/>
                  </a:lnTo>
                  <a:lnTo>
                    <a:pt x="463" y="34"/>
                  </a:lnTo>
                  <a:lnTo>
                    <a:pt x="458" y="27"/>
                  </a:lnTo>
                  <a:lnTo>
                    <a:pt x="463" y="19"/>
                  </a:lnTo>
                  <a:lnTo>
                    <a:pt x="468" y="10"/>
                  </a:lnTo>
                  <a:lnTo>
                    <a:pt x="468" y="5"/>
                  </a:lnTo>
                  <a:lnTo>
                    <a:pt x="473" y="0"/>
                  </a:lnTo>
                  <a:lnTo>
                    <a:pt x="477" y="8"/>
                  </a:lnTo>
                  <a:lnTo>
                    <a:pt x="480" y="17"/>
                  </a:lnTo>
                  <a:lnTo>
                    <a:pt x="482" y="19"/>
                  </a:lnTo>
                  <a:lnTo>
                    <a:pt x="482" y="27"/>
                  </a:lnTo>
                  <a:lnTo>
                    <a:pt x="489" y="34"/>
                  </a:lnTo>
                  <a:lnTo>
                    <a:pt x="489" y="43"/>
                  </a:lnTo>
                  <a:lnTo>
                    <a:pt x="489" y="5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262;p30">
              <a:extLst>
                <a:ext uri="{FF2B5EF4-FFF2-40B4-BE49-F238E27FC236}">
                  <a16:creationId xmlns:a16="http://schemas.microsoft.com/office/drawing/2014/main" id="{380CAE92-0297-0939-BCC7-1057A0B08BC6}"/>
                </a:ext>
              </a:extLst>
            </p:cNvPr>
            <p:cNvSpPr/>
            <p:nvPr/>
          </p:nvSpPr>
          <p:spPr>
            <a:xfrm>
              <a:off x="4657162" y="2373514"/>
              <a:ext cx="209637" cy="103966"/>
            </a:xfrm>
            <a:custGeom>
              <a:avLst/>
              <a:gdLst/>
              <a:ahLst/>
              <a:cxnLst/>
              <a:rect l="l" t="t" r="r" b="b"/>
              <a:pathLst>
                <a:path w="123" h="61" extrusionOk="0">
                  <a:moveTo>
                    <a:pt x="94" y="0"/>
                  </a:moveTo>
                  <a:lnTo>
                    <a:pt x="94" y="0"/>
                  </a:lnTo>
                  <a:lnTo>
                    <a:pt x="109" y="7"/>
                  </a:lnTo>
                  <a:lnTo>
                    <a:pt x="113" y="7"/>
                  </a:lnTo>
                  <a:lnTo>
                    <a:pt x="123" y="12"/>
                  </a:lnTo>
                  <a:lnTo>
                    <a:pt x="120" y="14"/>
                  </a:lnTo>
                  <a:lnTo>
                    <a:pt x="123" y="23"/>
                  </a:lnTo>
                  <a:lnTo>
                    <a:pt x="120" y="33"/>
                  </a:lnTo>
                  <a:lnTo>
                    <a:pt x="113" y="33"/>
                  </a:lnTo>
                  <a:lnTo>
                    <a:pt x="116" y="38"/>
                  </a:lnTo>
                  <a:lnTo>
                    <a:pt x="111" y="52"/>
                  </a:lnTo>
                  <a:lnTo>
                    <a:pt x="106" y="57"/>
                  </a:lnTo>
                  <a:lnTo>
                    <a:pt x="92" y="57"/>
                  </a:lnTo>
                  <a:lnTo>
                    <a:pt x="85" y="61"/>
                  </a:lnTo>
                  <a:lnTo>
                    <a:pt x="71" y="61"/>
                  </a:lnTo>
                  <a:lnTo>
                    <a:pt x="47" y="54"/>
                  </a:lnTo>
                  <a:lnTo>
                    <a:pt x="45" y="47"/>
                  </a:lnTo>
                  <a:lnTo>
                    <a:pt x="28" y="52"/>
                  </a:lnTo>
                  <a:lnTo>
                    <a:pt x="26" y="57"/>
                  </a:lnTo>
                  <a:lnTo>
                    <a:pt x="16" y="52"/>
                  </a:lnTo>
                  <a:lnTo>
                    <a:pt x="9" y="52"/>
                  </a:lnTo>
                  <a:lnTo>
                    <a:pt x="0" y="47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7" y="35"/>
                  </a:lnTo>
                  <a:lnTo>
                    <a:pt x="16" y="42"/>
                  </a:lnTo>
                  <a:lnTo>
                    <a:pt x="19" y="35"/>
                  </a:lnTo>
                  <a:lnTo>
                    <a:pt x="33" y="38"/>
                  </a:lnTo>
                  <a:lnTo>
                    <a:pt x="45" y="33"/>
                  </a:lnTo>
                  <a:lnTo>
                    <a:pt x="52" y="33"/>
                  </a:lnTo>
                  <a:lnTo>
                    <a:pt x="57" y="38"/>
                  </a:lnTo>
                  <a:lnTo>
                    <a:pt x="59" y="35"/>
                  </a:lnTo>
                  <a:lnTo>
                    <a:pt x="57" y="19"/>
                  </a:lnTo>
                  <a:lnTo>
                    <a:pt x="61" y="14"/>
                  </a:lnTo>
                  <a:lnTo>
                    <a:pt x="68" y="5"/>
                  </a:lnTo>
                  <a:lnTo>
                    <a:pt x="80" y="12"/>
                  </a:lnTo>
                  <a:lnTo>
                    <a:pt x="90" y="2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263;p30">
              <a:extLst>
                <a:ext uri="{FF2B5EF4-FFF2-40B4-BE49-F238E27FC236}">
                  <a16:creationId xmlns:a16="http://schemas.microsoft.com/office/drawing/2014/main" id="{BCE3F955-0C0E-5B24-7AFD-D947A91A471F}"/>
                </a:ext>
              </a:extLst>
            </p:cNvPr>
            <p:cNvSpPr/>
            <p:nvPr/>
          </p:nvSpPr>
          <p:spPr>
            <a:xfrm>
              <a:off x="4467980" y="2267843"/>
              <a:ext cx="95444" cy="85217"/>
            </a:xfrm>
            <a:custGeom>
              <a:avLst/>
              <a:gdLst/>
              <a:ahLst/>
              <a:cxnLst/>
              <a:rect l="l" t="t" r="r" b="b"/>
              <a:pathLst>
                <a:path w="56" h="50" extrusionOk="0">
                  <a:moveTo>
                    <a:pt x="40" y="0"/>
                  </a:moveTo>
                  <a:lnTo>
                    <a:pt x="40" y="0"/>
                  </a:lnTo>
                  <a:lnTo>
                    <a:pt x="49" y="12"/>
                  </a:lnTo>
                  <a:lnTo>
                    <a:pt x="56" y="17"/>
                  </a:lnTo>
                  <a:lnTo>
                    <a:pt x="56" y="36"/>
                  </a:lnTo>
                  <a:lnTo>
                    <a:pt x="52" y="36"/>
                  </a:lnTo>
                  <a:lnTo>
                    <a:pt x="49" y="50"/>
                  </a:lnTo>
                  <a:lnTo>
                    <a:pt x="35" y="38"/>
                  </a:lnTo>
                  <a:lnTo>
                    <a:pt x="28" y="40"/>
                  </a:lnTo>
                  <a:lnTo>
                    <a:pt x="16" y="29"/>
                  </a:lnTo>
                  <a:lnTo>
                    <a:pt x="9" y="19"/>
                  </a:lnTo>
                  <a:lnTo>
                    <a:pt x="2" y="19"/>
                  </a:lnTo>
                  <a:lnTo>
                    <a:pt x="0" y="10"/>
                  </a:lnTo>
                  <a:lnTo>
                    <a:pt x="11" y="5"/>
                  </a:lnTo>
                  <a:lnTo>
                    <a:pt x="23" y="7"/>
                  </a:lnTo>
                  <a:lnTo>
                    <a:pt x="4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264;p30">
              <a:extLst>
                <a:ext uri="{FF2B5EF4-FFF2-40B4-BE49-F238E27FC236}">
                  <a16:creationId xmlns:a16="http://schemas.microsoft.com/office/drawing/2014/main" id="{0F6CA30A-75BB-35CA-4B68-99AD44483A18}"/>
                </a:ext>
              </a:extLst>
            </p:cNvPr>
            <p:cNvSpPr/>
            <p:nvPr/>
          </p:nvSpPr>
          <p:spPr>
            <a:xfrm>
              <a:off x="5015077" y="2566107"/>
              <a:ext cx="170436" cy="109080"/>
            </a:xfrm>
            <a:custGeom>
              <a:avLst/>
              <a:gdLst/>
              <a:ahLst/>
              <a:cxnLst/>
              <a:rect l="l" t="t" r="r" b="b"/>
              <a:pathLst>
                <a:path w="100" h="64" extrusionOk="0">
                  <a:moveTo>
                    <a:pt x="5" y="0"/>
                  </a:moveTo>
                  <a:lnTo>
                    <a:pt x="5" y="0"/>
                  </a:lnTo>
                  <a:lnTo>
                    <a:pt x="10" y="10"/>
                  </a:lnTo>
                  <a:lnTo>
                    <a:pt x="15" y="8"/>
                  </a:lnTo>
                  <a:lnTo>
                    <a:pt x="26" y="10"/>
                  </a:lnTo>
                  <a:lnTo>
                    <a:pt x="50" y="12"/>
                  </a:lnTo>
                  <a:lnTo>
                    <a:pt x="59" y="8"/>
                  </a:lnTo>
                  <a:lnTo>
                    <a:pt x="78" y="0"/>
                  </a:lnTo>
                  <a:lnTo>
                    <a:pt x="90" y="10"/>
                  </a:lnTo>
                  <a:lnTo>
                    <a:pt x="100" y="12"/>
                  </a:lnTo>
                  <a:lnTo>
                    <a:pt x="90" y="22"/>
                  </a:lnTo>
                  <a:lnTo>
                    <a:pt x="85" y="36"/>
                  </a:lnTo>
                  <a:lnTo>
                    <a:pt x="90" y="48"/>
                  </a:lnTo>
                  <a:lnTo>
                    <a:pt x="76" y="45"/>
                  </a:lnTo>
                  <a:lnTo>
                    <a:pt x="59" y="52"/>
                  </a:lnTo>
                  <a:lnTo>
                    <a:pt x="59" y="62"/>
                  </a:lnTo>
                  <a:lnTo>
                    <a:pt x="45" y="64"/>
                  </a:lnTo>
                  <a:lnTo>
                    <a:pt x="33" y="57"/>
                  </a:lnTo>
                  <a:lnTo>
                    <a:pt x="22" y="62"/>
                  </a:lnTo>
                  <a:lnTo>
                    <a:pt x="10" y="62"/>
                  </a:lnTo>
                  <a:lnTo>
                    <a:pt x="7" y="48"/>
                  </a:lnTo>
                  <a:lnTo>
                    <a:pt x="0" y="43"/>
                  </a:lnTo>
                  <a:lnTo>
                    <a:pt x="3" y="38"/>
                  </a:lnTo>
                  <a:lnTo>
                    <a:pt x="0" y="36"/>
                  </a:lnTo>
                  <a:lnTo>
                    <a:pt x="3" y="29"/>
                  </a:lnTo>
                  <a:lnTo>
                    <a:pt x="10" y="22"/>
                  </a:lnTo>
                  <a:lnTo>
                    <a:pt x="0" y="1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265;p30">
              <a:extLst>
                <a:ext uri="{FF2B5EF4-FFF2-40B4-BE49-F238E27FC236}">
                  <a16:creationId xmlns:a16="http://schemas.microsoft.com/office/drawing/2014/main" id="{7B9961FC-573E-94A7-1841-BB4C5FBC57AF}"/>
                </a:ext>
              </a:extLst>
            </p:cNvPr>
            <p:cNvSpPr/>
            <p:nvPr/>
          </p:nvSpPr>
          <p:spPr>
            <a:xfrm>
              <a:off x="2218231" y="3152406"/>
              <a:ext cx="52835" cy="95444"/>
            </a:xfrm>
            <a:custGeom>
              <a:avLst/>
              <a:gdLst/>
              <a:ahLst/>
              <a:cxnLst/>
              <a:rect l="l" t="t" r="r" b="b"/>
              <a:pathLst>
                <a:path w="31" h="56" extrusionOk="0">
                  <a:moveTo>
                    <a:pt x="23" y="56"/>
                  </a:moveTo>
                  <a:lnTo>
                    <a:pt x="23" y="56"/>
                  </a:lnTo>
                  <a:lnTo>
                    <a:pt x="19" y="56"/>
                  </a:lnTo>
                  <a:lnTo>
                    <a:pt x="14" y="47"/>
                  </a:lnTo>
                  <a:lnTo>
                    <a:pt x="9" y="42"/>
                  </a:lnTo>
                  <a:lnTo>
                    <a:pt x="12" y="30"/>
                  </a:lnTo>
                  <a:lnTo>
                    <a:pt x="16" y="33"/>
                  </a:lnTo>
                  <a:lnTo>
                    <a:pt x="23" y="47"/>
                  </a:lnTo>
                  <a:lnTo>
                    <a:pt x="23" y="56"/>
                  </a:lnTo>
                  <a:close/>
                  <a:moveTo>
                    <a:pt x="19" y="7"/>
                  </a:moveTo>
                  <a:lnTo>
                    <a:pt x="19" y="7"/>
                  </a:lnTo>
                  <a:lnTo>
                    <a:pt x="0" y="9"/>
                  </a:lnTo>
                  <a:lnTo>
                    <a:pt x="0" y="2"/>
                  </a:lnTo>
                  <a:lnTo>
                    <a:pt x="7" y="2"/>
                  </a:lnTo>
                  <a:lnTo>
                    <a:pt x="16" y="2"/>
                  </a:lnTo>
                  <a:lnTo>
                    <a:pt x="19" y="7"/>
                  </a:lnTo>
                  <a:close/>
                  <a:moveTo>
                    <a:pt x="31" y="7"/>
                  </a:moveTo>
                  <a:lnTo>
                    <a:pt x="31" y="7"/>
                  </a:lnTo>
                  <a:lnTo>
                    <a:pt x="28" y="19"/>
                  </a:lnTo>
                  <a:lnTo>
                    <a:pt x="26" y="16"/>
                  </a:lnTo>
                  <a:lnTo>
                    <a:pt x="26" y="7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31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266;p30">
              <a:extLst>
                <a:ext uri="{FF2B5EF4-FFF2-40B4-BE49-F238E27FC236}">
                  <a16:creationId xmlns:a16="http://schemas.microsoft.com/office/drawing/2014/main" id="{3A442CAD-6A21-C639-2CB5-BBEEF96B2E18}"/>
                </a:ext>
              </a:extLst>
            </p:cNvPr>
            <p:cNvSpPr/>
            <p:nvPr/>
          </p:nvSpPr>
          <p:spPr>
            <a:xfrm>
              <a:off x="4831007" y="2526907"/>
              <a:ext cx="107376" cy="97149"/>
            </a:xfrm>
            <a:custGeom>
              <a:avLst/>
              <a:gdLst/>
              <a:ahLst/>
              <a:cxnLst/>
              <a:rect l="l" t="t" r="r" b="b"/>
              <a:pathLst>
                <a:path w="63" h="57" extrusionOk="0">
                  <a:moveTo>
                    <a:pt x="21" y="0"/>
                  </a:moveTo>
                  <a:lnTo>
                    <a:pt x="21" y="0"/>
                  </a:lnTo>
                  <a:lnTo>
                    <a:pt x="35" y="4"/>
                  </a:lnTo>
                  <a:lnTo>
                    <a:pt x="44" y="4"/>
                  </a:lnTo>
                  <a:lnTo>
                    <a:pt x="52" y="9"/>
                  </a:lnTo>
                  <a:lnTo>
                    <a:pt x="59" y="9"/>
                  </a:lnTo>
                  <a:lnTo>
                    <a:pt x="54" y="19"/>
                  </a:lnTo>
                  <a:lnTo>
                    <a:pt x="63" y="28"/>
                  </a:lnTo>
                  <a:lnTo>
                    <a:pt x="61" y="38"/>
                  </a:lnTo>
                  <a:lnTo>
                    <a:pt x="56" y="38"/>
                  </a:lnTo>
                  <a:lnTo>
                    <a:pt x="54" y="40"/>
                  </a:lnTo>
                  <a:lnTo>
                    <a:pt x="47" y="45"/>
                  </a:lnTo>
                  <a:lnTo>
                    <a:pt x="44" y="57"/>
                  </a:lnTo>
                  <a:lnTo>
                    <a:pt x="30" y="49"/>
                  </a:lnTo>
                  <a:lnTo>
                    <a:pt x="26" y="40"/>
                  </a:lnTo>
                  <a:lnTo>
                    <a:pt x="18" y="35"/>
                  </a:lnTo>
                  <a:lnTo>
                    <a:pt x="11" y="28"/>
                  </a:lnTo>
                  <a:lnTo>
                    <a:pt x="9" y="21"/>
                  </a:lnTo>
                  <a:lnTo>
                    <a:pt x="0" y="9"/>
                  </a:lnTo>
                  <a:lnTo>
                    <a:pt x="4" y="0"/>
                  </a:lnTo>
                  <a:lnTo>
                    <a:pt x="9" y="4"/>
                  </a:lnTo>
                  <a:lnTo>
                    <a:pt x="14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267;p30">
              <a:extLst>
                <a:ext uri="{FF2B5EF4-FFF2-40B4-BE49-F238E27FC236}">
                  <a16:creationId xmlns:a16="http://schemas.microsoft.com/office/drawing/2014/main" id="{EA114FBB-6FC6-2C70-AE8C-60C00BEE839A}"/>
                </a:ext>
              </a:extLst>
            </p:cNvPr>
            <p:cNvSpPr/>
            <p:nvPr/>
          </p:nvSpPr>
          <p:spPr>
            <a:xfrm>
              <a:off x="1935307" y="3401244"/>
              <a:ext cx="32384" cy="76697"/>
            </a:xfrm>
            <a:custGeom>
              <a:avLst/>
              <a:gdLst/>
              <a:ahLst/>
              <a:cxnLst/>
              <a:rect l="l" t="t" r="r" b="b"/>
              <a:pathLst>
                <a:path w="19" h="45" extrusionOk="0">
                  <a:moveTo>
                    <a:pt x="17" y="7"/>
                  </a:moveTo>
                  <a:lnTo>
                    <a:pt x="17" y="7"/>
                  </a:lnTo>
                  <a:lnTo>
                    <a:pt x="14" y="17"/>
                  </a:lnTo>
                  <a:lnTo>
                    <a:pt x="17" y="17"/>
                  </a:lnTo>
                  <a:lnTo>
                    <a:pt x="14" y="24"/>
                  </a:lnTo>
                  <a:lnTo>
                    <a:pt x="17" y="26"/>
                  </a:lnTo>
                  <a:lnTo>
                    <a:pt x="14" y="34"/>
                  </a:lnTo>
                  <a:lnTo>
                    <a:pt x="10" y="38"/>
                  </a:lnTo>
                  <a:lnTo>
                    <a:pt x="7" y="41"/>
                  </a:lnTo>
                  <a:lnTo>
                    <a:pt x="5" y="45"/>
                  </a:lnTo>
                  <a:lnTo>
                    <a:pt x="0" y="45"/>
                  </a:lnTo>
                  <a:lnTo>
                    <a:pt x="0" y="26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5" y="1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9" y="3"/>
                  </a:lnTo>
                  <a:lnTo>
                    <a:pt x="17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268;p30">
              <a:extLst>
                <a:ext uri="{FF2B5EF4-FFF2-40B4-BE49-F238E27FC236}">
                  <a16:creationId xmlns:a16="http://schemas.microsoft.com/office/drawing/2014/main" id="{62D6577C-9E0F-69CC-21F4-AF56D7ACAB49}"/>
                </a:ext>
              </a:extLst>
            </p:cNvPr>
            <p:cNvSpPr/>
            <p:nvPr/>
          </p:nvSpPr>
          <p:spPr>
            <a:xfrm>
              <a:off x="2475587" y="4186101"/>
              <a:ext cx="333708" cy="379678"/>
            </a:xfrm>
            <a:custGeom>
              <a:avLst/>
              <a:gdLst/>
              <a:ahLst/>
              <a:cxnLst/>
              <a:rect l="l" t="t" r="r" b="b"/>
              <a:pathLst>
                <a:path w="311150" h="354012" extrusionOk="0">
                  <a:moveTo>
                    <a:pt x="109538" y="0"/>
                  </a:moveTo>
                  <a:lnTo>
                    <a:pt x="108320" y="4873"/>
                  </a:lnTo>
                  <a:lnTo>
                    <a:pt x="109538" y="4762"/>
                  </a:lnTo>
                  <a:lnTo>
                    <a:pt x="105527" y="20805"/>
                  </a:lnTo>
                  <a:lnTo>
                    <a:pt x="109538" y="30163"/>
                  </a:lnTo>
                  <a:lnTo>
                    <a:pt x="109538" y="34925"/>
                  </a:lnTo>
                  <a:lnTo>
                    <a:pt x="109538" y="44450"/>
                  </a:lnTo>
                  <a:lnTo>
                    <a:pt x="134938" y="68263"/>
                  </a:lnTo>
                  <a:lnTo>
                    <a:pt x="165100" y="74613"/>
                  </a:lnTo>
                  <a:lnTo>
                    <a:pt x="173038" y="82550"/>
                  </a:lnTo>
                  <a:lnTo>
                    <a:pt x="192088" y="90488"/>
                  </a:lnTo>
                  <a:lnTo>
                    <a:pt x="203200" y="96838"/>
                  </a:lnTo>
                  <a:lnTo>
                    <a:pt x="217488" y="93663"/>
                  </a:lnTo>
                  <a:lnTo>
                    <a:pt x="233363" y="104775"/>
                  </a:lnTo>
                  <a:lnTo>
                    <a:pt x="236538" y="120650"/>
                  </a:lnTo>
                  <a:lnTo>
                    <a:pt x="241300" y="127000"/>
                  </a:lnTo>
                  <a:lnTo>
                    <a:pt x="241300" y="131762"/>
                  </a:lnTo>
                  <a:lnTo>
                    <a:pt x="241300" y="138113"/>
                  </a:lnTo>
                  <a:lnTo>
                    <a:pt x="241300" y="142875"/>
                  </a:lnTo>
                  <a:lnTo>
                    <a:pt x="234616" y="142875"/>
                  </a:lnTo>
                  <a:lnTo>
                    <a:pt x="241300" y="168275"/>
                  </a:lnTo>
                  <a:lnTo>
                    <a:pt x="288925" y="168275"/>
                  </a:lnTo>
                  <a:lnTo>
                    <a:pt x="288925" y="173037"/>
                  </a:lnTo>
                  <a:lnTo>
                    <a:pt x="288925" y="187325"/>
                  </a:lnTo>
                  <a:lnTo>
                    <a:pt x="288925" y="192087"/>
                  </a:lnTo>
                  <a:lnTo>
                    <a:pt x="288925" y="195263"/>
                  </a:lnTo>
                  <a:lnTo>
                    <a:pt x="304800" y="203200"/>
                  </a:lnTo>
                  <a:lnTo>
                    <a:pt x="311150" y="222250"/>
                  </a:lnTo>
                  <a:lnTo>
                    <a:pt x="310590" y="225332"/>
                  </a:lnTo>
                  <a:lnTo>
                    <a:pt x="311150" y="227012"/>
                  </a:lnTo>
                  <a:lnTo>
                    <a:pt x="307975" y="244475"/>
                  </a:lnTo>
                  <a:lnTo>
                    <a:pt x="300038" y="260350"/>
                  </a:lnTo>
                  <a:lnTo>
                    <a:pt x="300038" y="269875"/>
                  </a:lnTo>
                  <a:lnTo>
                    <a:pt x="300038" y="274637"/>
                  </a:lnTo>
                  <a:lnTo>
                    <a:pt x="293688" y="279400"/>
                  </a:lnTo>
                  <a:lnTo>
                    <a:pt x="293688" y="274638"/>
                  </a:lnTo>
                  <a:lnTo>
                    <a:pt x="293688" y="271462"/>
                  </a:lnTo>
                  <a:lnTo>
                    <a:pt x="269875" y="257175"/>
                  </a:lnTo>
                  <a:lnTo>
                    <a:pt x="244475" y="257175"/>
                  </a:lnTo>
                  <a:lnTo>
                    <a:pt x="200025" y="263525"/>
                  </a:lnTo>
                  <a:lnTo>
                    <a:pt x="187325" y="290512"/>
                  </a:lnTo>
                  <a:lnTo>
                    <a:pt x="187325" y="296863"/>
                  </a:lnTo>
                  <a:lnTo>
                    <a:pt x="187325" y="301625"/>
                  </a:lnTo>
                  <a:lnTo>
                    <a:pt x="176213" y="334962"/>
                  </a:lnTo>
                  <a:lnTo>
                    <a:pt x="173038" y="331787"/>
                  </a:lnTo>
                  <a:lnTo>
                    <a:pt x="142875" y="327025"/>
                  </a:lnTo>
                  <a:lnTo>
                    <a:pt x="134938" y="350837"/>
                  </a:lnTo>
                  <a:lnTo>
                    <a:pt x="115888" y="331787"/>
                  </a:lnTo>
                  <a:lnTo>
                    <a:pt x="87313" y="323850"/>
                  </a:lnTo>
                  <a:lnTo>
                    <a:pt x="63500" y="350837"/>
                  </a:lnTo>
                  <a:lnTo>
                    <a:pt x="46038" y="354012"/>
                  </a:lnTo>
                  <a:lnTo>
                    <a:pt x="33338" y="315912"/>
                  </a:lnTo>
                  <a:lnTo>
                    <a:pt x="19050" y="285750"/>
                  </a:lnTo>
                  <a:lnTo>
                    <a:pt x="20133" y="283274"/>
                  </a:lnTo>
                  <a:lnTo>
                    <a:pt x="19050" y="280988"/>
                  </a:lnTo>
                  <a:lnTo>
                    <a:pt x="28761" y="258792"/>
                  </a:lnTo>
                  <a:lnTo>
                    <a:pt x="15875" y="244475"/>
                  </a:lnTo>
                  <a:lnTo>
                    <a:pt x="11113" y="227012"/>
                  </a:lnTo>
                  <a:lnTo>
                    <a:pt x="0" y="211137"/>
                  </a:lnTo>
                  <a:lnTo>
                    <a:pt x="1431" y="208419"/>
                  </a:lnTo>
                  <a:lnTo>
                    <a:pt x="0" y="206375"/>
                  </a:lnTo>
                  <a:lnTo>
                    <a:pt x="14654" y="178533"/>
                  </a:lnTo>
                  <a:lnTo>
                    <a:pt x="4763" y="158750"/>
                  </a:lnTo>
                  <a:lnTo>
                    <a:pt x="6032" y="156527"/>
                  </a:lnTo>
                  <a:lnTo>
                    <a:pt x="4763" y="153988"/>
                  </a:lnTo>
                  <a:lnTo>
                    <a:pt x="9992" y="144836"/>
                  </a:lnTo>
                  <a:lnTo>
                    <a:pt x="7938" y="139700"/>
                  </a:lnTo>
                  <a:lnTo>
                    <a:pt x="9045" y="137706"/>
                  </a:lnTo>
                  <a:lnTo>
                    <a:pt x="7938" y="134938"/>
                  </a:lnTo>
                  <a:lnTo>
                    <a:pt x="15875" y="120650"/>
                  </a:lnTo>
                  <a:lnTo>
                    <a:pt x="15875" y="101600"/>
                  </a:lnTo>
                  <a:lnTo>
                    <a:pt x="15875" y="96838"/>
                  </a:lnTo>
                  <a:lnTo>
                    <a:pt x="19050" y="82550"/>
                  </a:lnTo>
                  <a:lnTo>
                    <a:pt x="21336" y="74549"/>
                  </a:lnTo>
                  <a:lnTo>
                    <a:pt x="0" y="34925"/>
                  </a:lnTo>
                  <a:lnTo>
                    <a:pt x="2817" y="35394"/>
                  </a:lnTo>
                  <a:lnTo>
                    <a:pt x="0" y="30163"/>
                  </a:lnTo>
                  <a:lnTo>
                    <a:pt x="19050" y="33338"/>
                  </a:lnTo>
                  <a:lnTo>
                    <a:pt x="33338" y="30163"/>
                  </a:lnTo>
                  <a:lnTo>
                    <a:pt x="38100" y="25400"/>
                  </a:lnTo>
                  <a:lnTo>
                    <a:pt x="60325" y="14288"/>
                  </a:lnTo>
                  <a:lnTo>
                    <a:pt x="74613" y="317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269;p30">
              <a:extLst>
                <a:ext uri="{FF2B5EF4-FFF2-40B4-BE49-F238E27FC236}">
                  <a16:creationId xmlns:a16="http://schemas.microsoft.com/office/drawing/2014/main" id="{B123AD2A-DF4E-9C00-E54A-9954ABECDF72}"/>
                </a:ext>
              </a:extLst>
            </p:cNvPr>
            <p:cNvSpPr/>
            <p:nvPr/>
          </p:nvSpPr>
          <p:spPr>
            <a:xfrm>
              <a:off x="2354579" y="3776202"/>
              <a:ext cx="1083970" cy="1126582"/>
            </a:xfrm>
            <a:custGeom>
              <a:avLst/>
              <a:gdLst/>
              <a:ahLst/>
              <a:cxnLst/>
              <a:rect l="l" t="t" r="r" b="b"/>
              <a:pathLst>
                <a:path w="636" h="661" extrusionOk="0">
                  <a:moveTo>
                    <a:pt x="234" y="19"/>
                  </a:moveTo>
                  <a:lnTo>
                    <a:pt x="234" y="19"/>
                  </a:lnTo>
                  <a:lnTo>
                    <a:pt x="230" y="24"/>
                  </a:lnTo>
                  <a:lnTo>
                    <a:pt x="227" y="41"/>
                  </a:lnTo>
                  <a:lnTo>
                    <a:pt x="232" y="48"/>
                  </a:lnTo>
                  <a:lnTo>
                    <a:pt x="232" y="55"/>
                  </a:lnTo>
                  <a:lnTo>
                    <a:pt x="244" y="62"/>
                  </a:lnTo>
                  <a:lnTo>
                    <a:pt x="251" y="64"/>
                  </a:lnTo>
                  <a:lnTo>
                    <a:pt x="253" y="60"/>
                  </a:lnTo>
                  <a:lnTo>
                    <a:pt x="258" y="60"/>
                  </a:lnTo>
                  <a:lnTo>
                    <a:pt x="265" y="57"/>
                  </a:lnTo>
                  <a:lnTo>
                    <a:pt x="270" y="53"/>
                  </a:lnTo>
                  <a:lnTo>
                    <a:pt x="279" y="55"/>
                  </a:lnTo>
                  <a:lnTo>
                    <a:pt x="284" y="53"/>
                  </a:lnTo>
                  <a:lnTo>
                    <a:pt x="291" y="55"/>
                  </a:lnTo>
                  <a:lnTo>
                    <a:pt x="294" y="50"/>
                  </a:lnTo>
                  <a:lnTo>
                    <a:pt x="291" y="48"/>
                  </a:lnTo>
                  <a:lnTo>
                    <a:pt x="294" y="43"/>
                  </a:lnTo>
                  <a:lnTo>
                    <a:pt x="298" y="45"/>
                  </a:lnTo>
                  <a:lnTo>
                    <a:pt x="305" y="43"/>
                  </a:lnTo>
                  <a:lnTo>
                    <a:pt x="315" y="45"/>
                  </a:lnTo>
                  <a:lnTo>
                    <a:pt x="324" y="50"/>
                  </a:lnTo>
                  <a:lnTo>
                    <a:pt x="327" y="45"/>
                  </a:lnTo>
                  <a:lnTo>
                    <a:pt x="331" y="45"/>
                  </a:lnTo>
                  <a:lnTo>
                    <a:pt x="334" y="50"/>
                  </a:lnTo>
                  <a:lnTo>
                    <a:pt x="341" y="50"/>
                  </a:lnTo>
                  <a:lnTo>
                    <a:pt x="348" y="43"/>
                  </a:lnTo>
                  <a:lnTo>
                    <a:pt x="353" y="31"/>
                  </a:lnTo>
                  <a:lnTo>
                    <a:pt x="362" y="17"/>
                  </a:lnTo>
                  <a:lnTo>
                    <a:pt x="367" y="17"/>
                  </a:lnTo>
                  <a:lnTo>
                    <a:pt x="372" y="24"/>
                  </a:lnTo>
                  <a:lnTo>
                    <a:pt x="381" y="53"/>
                  </a:lnTo>
                  <a:lnTo>
                    <a:pt x="390" y="55"/>
                  </a:lnTo>
                  <a:lnTo>
                    <a:pt x="390" y="67"/>
                  </a:lnTo>
                  <a:lnTo>
                    <a:pt x="379" y="81"/>
                  </a:lnTo>
                  <a:lnTo>
                    <a:pt x="383" y="86"/>
                  </a:lnTo>
                  <a:lnTo>
                    <a:pt x="412" y="88"/>
                  </a:lnTo>
                  <a:lnTo>
                    <a:pt x="412" y="105"/>
                  </a:lnTo>
                  <a:lnTo>
                    <a:pt x="424" y="93"/>
                  </a:lnTo>
                  <a:lnTo>
                    <a:pt x="445" y="100"/>
                  </a:lnTo>
                  <a:lnTo>
                    <a:pt x="471" y="109"/>
                  </a:lnTo>
                  <a:lnTo>
                    <a:pt x="480" y="119"/>
                  </a:lnTo>
                  <a:lnTo>
                    <a:pt x="476" y="128"/>
                  </a:lnTo>
                  <a:lnTo>
                    <a:pt x="495" y="121"/>
                  </a:lnTo>
                  <a:lnTo>
                    <a:pt x="528" y="131"/>
                  </a:lnTo>
                  <a:lnTo>
                    <a:pt x="551" y="131"/>
                  </a:lnTo>
                  <a:lnTo>
                    <a:pt x="575" y="143"/>
                  </a:lnTo>
                  <a:lnTo>
                    <a:pt x="596" y="161"/>
                  </a:lnTo>
                  <a:lnTo>
                    <a:pt x="608" y="166"/>
                  </a:lnTo>
                  <a:lnTo>
                    <a:pt x="622" y="166"/>
                  </a:lnTo>
                  <a:lnTo>
                    <a:pt x="627" y="173"/>
                  </a:lnTo>
                  <a:lnTo>
                    <a:pt x="634" y="192"/>
                  </a:lnTo>
                  <a:lnTo>
                    <a:pt x="636" y="202"/>
                  </a:lnTo>
                  <a:lnTo>
                    <a:pt x="629" y="230"/>
                  </a:lnTo>
                  <a:lnTo>
                    <a:pt x="622" y="240"/>
                  </a:lnTo>
                  <a:lnTo>
                    <a:pt x="599" y="263"/>
                  </a:lnTo>
                  <a:lnTo>
                    <a:pt x="589" y="282"/>
                  </a:lnTo>
                  <a:lnTo>
                    <a:pt x="577" y="296"/>
                  </a:lnTo>
                  <a:lnTo>
                    <a:pt x="573" y="296"/>
                  </a:lnTo>
                  <a:lnTo>
                    <a:pt x="568" y="308"/>
                  </a:lnTo>
                  <a:lnTo>
                    <a:pt x="568" y="339"/>
                  </a:lnTo>
                  <a:lnTo>
                    <a:pt x="566" y="365"/>
                  </a:lnTo>
                  <a:lnTo>
                    <a:pt x="563" y="377"/>
                  </a:lnTo>
                  <a:lnTo>
                    <a:pt x="558" y="382"/>
                  </a:lnTo>
                  <a:lnTo>
                    <a:pt x="554" y="405"/>
                  </a:lnTo>
                  <a:lnTo>
                    <a:pt x="540" y="429"/>
                  </a:lnTo>
                  <a:lnTo>
                    <a:pt x="535" y="445"/>
                  </a:lnTo>
                  <a:lnTo>
                    <a:pt x="523" y="453"/>
                  </a:lnTo>
                  <a:lnTo>
                    <a:pt x="518" y="464"/>
                  </a:lnTo>
                  <a:lnTo>
                    <a:pt x="502" y="464"/>
                  </a:lnTo>
                  <a:lnTo>
                    <a:pt x="476" y="472"/>
                  </a:lnTo>
                  <a:lnTo>
                    <a:pt x="464" y="479"/>
                  </a:lnTo>
                  <a:lnTo>
                    <a:pt x="445" y="483"/>
                  </a:lnTo>
                  <a:lnTo>
                    <a:pt x="426" y="498"/>
                  </a:lnTo>
                  <a:lnTo>
                    <a:pt x="414" y="516"/>
                  </a:lnTo>
                  <a:lnTo>
                    <a:pt x="409" y="528"/>
                  </a:lnTo>
                  <a:lnTo>
                    <a:pt x="414" y="538"/>
                  </a:lnTo>
                  <a:lnTo>
                    <a:pt x="409" y="557"/>
                  </a:lnTo>
                  <a:lnTo>
                    <a:pt x="407" y="566"/>
                  </a:lnTo>
                  <a:lnTo>
                    <a:pt x="395" y="576"/>
                  </a:lnTo>
                  <a:lnTo>
                    <a:pt x="379" y="609"/>
                  </a:lnTo>
                  <a:lnTo>
                    <a:pt x="362" y="623"/>
                  </a:lnTo>
                  <a:lnTo>
                    <a:pt x="353" y="632"/>
                  </a:lnTo>
                  <a:lnTo>
                    <a:pt x="346" y="651"/>
                  </a:lnTo>
                  <a:lnTo>
                    <a:pt x="334" y="661"/>
                  </a:lnTo>
                  <a:lnTo>
                    <a:pt x="329" y="651"/>
                  </a:lnTo>
                  <a:lnTo>
                    <a:pt x="336" y="642"/>
                  </a:lnTo>
                  <a:lnTo>
                    <a:pt x="327" y="628"/>
                  </a:lnTo>
                  <a:lnTo>
                    <a:pt x="315" y="618"/>
                  </a:lnTo>
                  <a:lnTo>
                    <a:pt x="298" y="606"/>
                  </a:lnTo>
                  <a:lnTo>
                    <a:pt x="294" y="606"/>
                  </a:lnTo>
                  <a:lnTo>
                    <a:pt x="275" y="592"/>
                  </a:lnTo>
                  <a:lnTo>
                    <a:pt x="265" y="595"/>
                  </a:lnTo>
                  <a:lnTo>
                    <a:pt x="286" y="569"/>
                  </a:lnTo>
                  <a:lnTo>
                    <a:pt x="305" y="552"/>
                  </a:lnTo>
                  <a:lnTo>
                    <a:pt x="317" y="545"/>
                  </a:lnTo>
                  <a:lnTo>
                    <a:pt x="329" y="533"/>
                  </a:lnTo>
                  <a:lnTo>
                    <a:pt x="329" y="519"/>
                  </a:lnTo>
                  <a:lnTo>
                    <a:pt x="322" y="509"/>
                  </a:lnTo>
                  <a:lnTo>
                    <a:pt x="315" y="512"/>
                  </a:lnTo>
                  <a:lnTo>
                    <a:pt x="317" y="502"/>
                  </a:lnTo>
                  <a:lnTo>
                    <a:pt x="320" y="493"/>
                  </a:lnTo>
                  <a:lnTo>
                    <a:pt x="320" y="481"/>
                  </a:lnTo>
                  <a:lnTo>
                    <a:pt x="312" y="479"/>
                  </a:lnTo>
                  <a:lnTo>
                    <a:pt x="308" y="481"/>
                  </a:lnTo>
                  <a:lnTo>
                    <a:pt x="301" y="481"/>
                  </a:lnTo>
                  <a:lnTo>
                    <a:pt x="298" y="474"/>
                  </a:lnTo>
                  <a:lnTo>
                    <a:pt x="298" y="460"/>
                  </a:lnTo>
                  <a:lnTo>
                    <a:pt x="296" y="453"/>
                  </a:lnTo>
                  <a:lnTo>
                    <a:pt x="284" y="448"/>
                  </a:lnTo>
                  <a:lnTo>
                    <a:pt x="277" y="453"/>
                  </a:lnTo>
                  <a:lnTo>
                    <a:pt x="260" y="448"/>
                  </a:lnTo>
                  <a:lnTo>
                    <a:pt x="263" y="424"/>
                  </a:lnTo>
                  <a:lnTo>
                    <a:pt x="256" y="415"/>
                  </a:lnTo>
                  <a:lnTo>
                    <a:pt x="263" y="412"/>
                  </a:lnTo>
                  <a:lnTo>
                    <a:pt x="260" y="403"/>
                  </a:lnTo>
                  <a:lnTo>
                    <a:pt x="265" y="393"/>
                  </a:lnTo>
                  <a:lnTo>
                    <a:pt x="267" y="382"/>
                  </a:lnTo>
                  <a:lnTo>
                    <a:pt x="263" y="372"/>
                  </a:lnTo>
                  <a:lnTo>
                    <a:pt x="256" y="365"/>
                  </a:lnTo>
                  <a:lnTo>
                    <a:pt x="253" y="360"/>
                  </a:lnTo>
                  <a:lnTo>
                    <a:pt x="256" y="351"/>
                  </a:lnTo>
                  <a:lnTo>
                    <a:pt x="225" y="351"/>
                  </a:lnTo>
                  <a:lnTo>
                    <a:pt x="218" y="329"/>
                  </a:lnTo>
                  <a:lnTo>
                    <a:pt x="223" y="329"/>
                  </a:lnTo>
                  <a:lnTo>
                    <a:pt x="223" y="322"/>
                  </a:lnTo>
                  <a:lnTo>
                    <a:pt x="220" y="318"/>
                  </a:lnTo>
                  <a:lnTo>
                    <a:pt x="218" y="308"/>
                  </a:lnTo>
                  <a:lnTo>
                    <a:pt x="211" y="303"/>
                  </a:lnTo>
                  <a:lnTo>
                    <a:pt x="199" y="303"/>
                  </a:lnTo>
                  <a:lnTo>
                    <a:pt x="192" y="299"/>
                  </a:lnTo>
                  <a:lnTo>
                    <a:pt x="182" y="294"/>
                  </a:lnTo>
                  <a:lnTo>
                    <a:pt x="175" y="289"/>
                  </a:lnTo>
                  <a:lnTo>
                    <a:pt x="156" y="285"/>
                  </a:lnTo>
                  <a:lnTo>
                    <a:pt x="140" y="270"/>
                  </a:lnTo>
                  <a:lnTo>
                    <a:pt x="140" y="261"/>
                  </a:lnTo>
                  <a:lnTo>
                    <a:pt x="137" y="254"/>
                  </a:lnTo>
                  <a:lnTo>
                    <a:pt x="140" y="242"/>
                  </a:lnTo>
                  <a:lnTo>
                    <a:pt x="118" y="244"/>
                  </a:lnTo>
                  <a:lnTo>
                    <a:pt x="111" y="251"/>
                  </a:lnTo>
                  <a:lnTo>
                    <a:pt x="97" y="258"/>
                  </a:lnTo>
                  <a:lnTo>
                    <a:pt x="92" y="263"/>
                  </a:lnTo>
                  <a:lnTo>
                    <a:pt x="85" y="263"/>
                  </a:lnTo>
                  <a:lnTo>
                    <a:pt x="74" y="261"/>
                  </a:lnTo>
                  <a:lnTo>
                    <a:pt x="64" y="263"/>
                  </a:lnTo>
                  <a:lnTo>
                    <a:pt x="57" y="263"/>
                  </a:lnTo>
                  <a:lnTo>
                    <a:pt x="57" y="237"/>
                  </a:lnTo>
                  <a:lnTo>
                    <a:pt x="45" y="247"/>
                  </a:lnTo>
                  <a:lnTo>
                    <a:pt x="29" y="247"/>
                  </a:lnTo>
                  <a:lnTo>
                    <a:pt x="24" y="237"/>
                  </a:lnTo>
                  <a:lnTo>
                    <a:pt x="12" y="237"/>
                  </a:lnTo>
                  <a:lnTo>
                    <a:pt x="17" y="230"/>
                  </a:lnTo>
                  <a:lnTo>
                    <a:pt x="7" y="221"/>
                  </a:lnTo>
                  <a:lnTo>
                    <a:pt x="0" y="206"/>
                  </a:lnTo>
                  <a:lnTo>
                    <a:pt x="5" y="202"/>
                  </a:lnTo>
                  <a:lnTo>
                    <a:pt x="5" y="197"/>
                  </a:lnTo>
                  <a:lnTo>
                    <a:pt x="14" y="192"/>
                  </a:lnTo>
                  <a:lnTo>
                    <a:pt x="12" y="183"/>
                  </a:lnTo>
                  <a:lnTo>
                    <a:pt x="17" y="176"/>
                  </a:lnTo>
                  <a:lnTo>
                    <a:pt x="19" y="169"/>
                  </a:lnTo>
                  <a:lnTo>
                    <a:pt x="36" y="157"/>
                  </a:lnTo>
                  <a:lnTo>
                    <a:pt x="50" y="154"/>
                  </a:lnTo>
                  <a:lnTo>
                    <a:pt x="52" y="152"/>
                  </a:lnTo>
                  <a:lnTo>
                    <a:pt x="66" y="154"/>
                  </a:lnTo>
                  <a:lnTo>
                    <a:pt x="74" y="109"/>
                  </a:lnTo>
                  <a:lnTo>
                    <a:pt x="74" y="102"/>
                  </a:lnTo>
                  <a:lnTo>
                    <a:pt x="71" y="93"/>
                  </a:lnTo>
                  <a:lnTo>
                    <a:pt x="64" y="88"/>
                  </a:lnTo>
                  <a:lnTo>
                    <a:pt x="64" y="74"/>
                  </a:lnTo>
                  <a:lnTo>
                    <a:pt x="74" y="71"/>
                  </a:lnTo>
                  <a:lnTo>
                    <a:pt x="78" y="74"/>
                  </a:lnTo>
                  <a:lnTo>
                    <a:pt x="78" y="67"/>
                  </a:lnTo>
                  <a:lnTo>
                    <a:pt x="69" y="67"/>
                  </a:lnTo>
                  <a:lnTo>
                    <a:pt x="69" y="55"/>
                  </a:lnTo>
                  <a:lnTo>
                    <a:pt x="100" y="57"/>
                  </a:lnTo>
                  <a:lnTo>
                    <a:pt x="104" y="50"/>
                  </a:lnTo>
                  <a:lnTo>
                    <a:pt x="109" y="55"/>
                  </a:lnTo>
                  <a:lnTo>
                    <a:pt x="111" y="67"/>
                  </a:lnTo>
                  <a:lnTo>
                    <a:pt x="116" y="64"/>
                  </a:lnTo>
                  <a:lnTo>
                    <a:pt x="126" y="71"/>
                  </a:lnTo>
                  <a:lnTo>
                    <a:pt x="137" y="71"/>
                  </a:lnTo>
                  <a:lnTo>
                    <a:pt x="140" y="67"/>
                  </a:lnTo>
                  <a:lnTo>
                    <a:pt x="152" y="62"/>
                  </a:lnTo>
                  <a:lnTo>
                    <a:pt x="159" y="60"/>
                  </a:lnTo>
                  <a:lnTo>
                    <a:pt x="161" y="53"/>
                  </a:lnTo>
                  <a:lnTo>
                    <a:pt x="173" y="48"/>
                  </a:lnTo>
                  <a:lnTo>
                    <a:pt x="171" y="45"/>
                  </a:lnTo>
                  <a:lnTo>
                    <a:pt x="159" y="43"/>
                  </a:lnTo>
                  <a:lnTo>
                    <a:pt x="156" y="34"/>
                  </a:lnTo>
                  <a:lnTo>
                    <a:pt x="156" y="24"/>
                  </a:lnTo>
                  <a:lnTo>
                    <a:pt x="149" y="19"/>
                  </a:lnTo>
                  <a:lnTo>
                    <a:pt x="152" y="17"/>
                  </a:lnTo>
                  <a:lnTo>
                    <a:pt x="163" y="19"/>
                  </a:lnTo>
                  <a:lnTo>
                    <a:pt x="178" y="24"/>
                  </a:lnTo>
                  <a:lnTo>
                    <a:pt x="182" y="19"/>
                  </a:lnTo>
                  <a:lnTo>
                    <a:pt x="194" y="17"/>
                  </a:lnTo>
                  <a:lnTo>
                    <a:pt x="211" y="10"/>
                  </a:lnTo>
                  <a:lnTo>
                    <a:pt x="218" y="5"/>
                  </a:lnTo>
                  <a:lnTo>
                    <a:pt x="215" y="0"/>
                  </a:lnTo>
                  <a:lnTo>
                    <a:pt x="223" y="0"/>
                  </a:lnTo>
                  <a:lnTo>
                    <a:pt x="227" y="3"/>
                  </a:lnTo>
                  <a:lnTo>
                    <a:pt x="225" y="10"/>
                  </a:lnTo>
                  <a:lnTo>
                    <a:pt x="230" y="12"/>
                  </a:lnTo>
                  <a:lnTo>
                    <a:pt x="234" y="19"/>
                  </a:lnTo>
                  <a:lnTo>
                    <a:pt x="234" y="19"/>
                  </a:lnTo>
                  <a:lnTo>
                    <a:pt x="234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270;p30">
              <a:extLst>
                <a:ext uri="{FF2B5EF4-FFF2-40B4-BE49-F238E27FC236}">
                  <a16:creationId xmlns:a16="http://schemas.microsoft.com/office/drawing/2014/main" id="{8767166A-6D5B-5153-FE5D-43022B03D4C0}"/>
                </a:ext>
              </a:extLst>
            </p:cNvPr>
            <p:cNvSpPr/>
            <p:nvPr/>
          </p:nvSpPr>
          <p:spPr>
            <a:xfrm>
              <a:off x="505354" y="-518785"/>
              <a:ext cx="2438932" cy="3182040"/>
            </a:xfrm>
            <a:custGeom>
              <a:avLst/>
              <a:gdLst/>
              <a:ahLst/>
              <a:cxnLst/>
              <a:rect l="l" t="t" r="r" b="b"/>
              <a:pathLst>
                <a:path w="1431" h="1867" extrusionOk="0">
                  <a:moveTo>
                    <a:pt x="1253" y="1756"/>
                  </a:moveTo>
                  <a:lnTo>
                    <a:pt x="1253" y="1756"/>
                  </a:lnTo>
                  <a:lnTo>
                    <a:pt x="1263" y="1761"/>
                  </a:lnTo>
                  <a:lnTo>
                    <a:pt x="1279" y="1761"/>
                  </a:lnTo>
                  <a:lnTo>
                    <a:pt x="1272" y="1770"/>
                  </a:lnTo>
                  <a:lnTo>
                    <a:pt x="1265" y="1770"/>
                  </a:lnTo>
                  <a:lnTo>
                    <a:pt x="1244" y="1761"/>
                  </a:lnTo>
                  <a:lnTo>
                    <a:pt x="1241" y="1754"/>
                  </a:lnTo>
                  <a:lnTo>
                    <a:pt x="1246" y="1746"/>
                  </a:lnTo>
                  <a:lnTo>
                    <a:pt x="1253" y="1756"/>
                  </a:lnTo>
                  <a:lnTo>
                    <a:pt x="1253" y="1756"/>
                  </a:lnTo>
                  <a:lnTo>
                    <a:pt x="1253" y="1756"/>
                  </a:lnTo>
                  <a:close/>
                  <a:moveTo>
                    <a:pt x="1282" y="1697"/>
                  </a:moveTo>
                  <a:lnTo>
                    <a:pt x="1282" y="1697"/>
                  </a:lnTo>
                  <a:lnTo>
                    <a:pt x="1274" y="1697"/>
                  </a:lnTo>
                  <a:lnTo>
                    <a:pt x="1253" y="1690"/>
                  </a:lnTo>
                  <a:lnTo>
                    <a:pt x="1239" y="1678"/>
                  </a:lnTo>
                  <a:lnTo>
                    <a:pt x="1244" y="1675"/>
                  </a:lnTo>
                  <a:lnTo>
                    <a:pt x="1265" y="1680"/>
                  </a:lnTo>
                  <a:lnTo>
                    <a:pt x="1282" y="1692"/>
                  </a:lnTo>
                  <a:lnTo>
                    <a:pt x="1282" y="1697"/>
                  </a:lnTo>
                  <a:lnTo>
                    <a:pt x="1282" y="1697"/>
                  </a:lnTo>
                  <a:lnTo>
                    <a:pt x="1282" y="1697"/>
                  </a:lnTo>
                  <a:close/>
                  <a:moveTo>
                    <a:pt x="283" y="1711"/>
                  </a:moveTo>
                  <a:lnTo>
                    <a:pt x="283" y="1711"/>
                  </a:lnTo>
                  <a:lnTo>
                    <a:pt x="274" y="1713"/>
                  </a:lnTo>
                  <a:lnTo>
                    <a:pt x="248" y="1702"/>
                  </a:lnTo>
                  <a:lnTo>
                    <a:pt x="243" y="1694"/>
                  </a:lnTo>
                  <a:lnTo>
                    <a:pt x="229" y="1685"/>
                  </a:lnTo>
                  <a:lnTo>
                    <a:pt x="227" y="1678"/>
                  </a:lnTo>
                  <a:lnTo>
                    <a:pt x="210" y="1673"/>
                  </a:lnTo>
                  <a:lnTo>
                    <a:pt x="203" y="1659"/>
                  </a:lnTo>
                  <a:lnTo>
                    <a:pt x="205" y="1654"/>
                  </a:lnTo>
                  <a:lnTo>
                    <a:pt x="222" y="1659"/>
                  </a:lnTo>
                  <a:lnTo>
                    <a:pt x="231" y="1664"/>
                  </a:lnTo>
                  <a:lnTo>
                    <a:pt x="248" y="1666"/>
                  </a:lnTo>
                  <a:lnTo>
                    <a:pt x="253" y="1675"/>
                  </a:lnTo>
                  <a:lnTo>
                    <a:pt x="260" y="1687"/>
                  </a:lnTo>
                  <a:lnTo>
                    <a:pt x="276" y="1697"/>
                  </a:lnTo>
                  <a:lnTo>
                    <a:pt x="283" y="1711"/>
                  </a:lnTo>
                  <a:lnTo>
                    <a:pt x="283" y="1711"/>
                  </a:lnTo>
                  <a:lnTo>
                    <a:pt x="283" y="1711"/>
                  </a:lnTo>
                  <a:close/>
                  <a:moveTo>
                    <a:pt x="1374" y="1657"/>
                  </a:moveTo>
                  <a:lnTo>
                    <a:pt x="1374" y="1657"/>
                  </a:lnTo>
                  <a:lnTo>
                    <a:pt x="1364" y="1678"/>
                  </a:lnTo>
                  <a:lnTo>
                    <a:pt x="1374" y="1671"/>
                  </a:lnTo>
                  <a:lnTo>
                    <a:pt x="1386" y="1675"/>
                  </a:lnTo>
                  <a:lnTo>
                    <a:pt x="1379" y="1683"/>
                  </a:lnTo>
                  <a:lnTo>
                    <a:pt x="1395" y="1692"/>
                  </a:lnTo>
                  <a:lnTo>
                    <a:pt x="1400" y="1685"/>
                  </a:lnTo>
                  <a:lnTo>
                    <a:pt x="1416" y="1692"/>
                  </a:lnTo>
                  <a:lnTo>
                    <a:pt x="1412" y="1711"/>
                  </a:lnTo>
                  <a:lnTo>
                    <a:pt x="1423" y="1706"/>
                  </a:lnTo>
                  <a:lnTo>
                    <a:pt x="1426" y="1718"/>
                  </a:lnTo>
                  <a:lnTo>
                    <a:pt x="1431" y="1735"/>
                  </a:lnTo>
                  <a:lnTo>
                    <a:pt x="1423" y="1756"/>
                  </a:lnTo>
                  <a:lnTo>
                    <a:pt x="1416" y="1756"/>
                  </a:lnTo>
                  <a:lnTo>
                    <a:pt x="1407" y="1751"/>
                  </a:lnTo>
                  <a:lnTo>
                    <a:pt x="1409" y="1732"/>
                  </a:lnTo>
                  <a:lnTo>
                    <a:pt x="1405" y="1728"/>
                  </a:lnTo>
                  <a:lnTo>
                    <a:pt x="1386" y="1749"/>
                  </a:lnTo>
                  <a:lnTo>
                    <a:pt x="1376" y="1749"/>
                  </a:lnTo>
                  <a:lnTo>
                    <a:pt x="1388" y="1737"/>
                  </a:lnTo>
                  <a:lnTo>
                    <a:pt x="1371" y="1732"/>
                  </a:lnTo>
                  <a:lnTo>
                    <a:pt x="1355" y="1732"/>
                  </a:lnTo>
                  <a:lnTo>
                    <a:pt x="1324" y="1732"/>
                  </a:lnTo>
                  <a:lnTo>
                    <a:pt x="1322" y="1725"/>
                  </a:lnTo>
                  <a:lnTo>
                    <a:pt x="1331" y="1716"/>
                  </a:lnTo>
                  <a:lnTo>
                    <a:pt x="1324" y="1709"/>
                  </a:lnTo>
                  <a:lnTo>
                    <a:pt x="1338" y="1697"/>
                  </a:lnTo>
                  <a:lnTo>
                    <a:pt x="1355" y="1657"/>
                  </a:lnTo>
                  <a:lnTo>
                    <a:pt x="1364" y="1640"/>
                  </a:lnTo>
                  <a:lnTo>
                    <a:pt x="1379" y="1633"/>
                  </a:lnTo>
                  <a:lnTo>
                    <a:pt x="1386" y="1633"/>
                  </a:lnTo>
                  <a:lnTo>
                    <a:pt x="1383" y="1640"/>
                  </a:lnTo>
                  <a:lnTo>
                    <a:pt x="1374" y="1657"/>
                  </a:lnTo>
                  <a:lnTo>
                    <a:pt x="1374" y="1657"/>
                  </a:lnTo>
                  <a:lnTo>
                    <a:pt x="1374" y="1657"/>
                  </a:lnTo>
                  <a:close/>
                  <a:moveTo>
                    <a:pt x="134" y="1569"/>
                  </a:move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49" y="1567"/>
                  </a:lnTo>
                  <a:lnTo>
                    <a:pt x="146" y="1597"/>
                  </a:lnTo>
                  <a:lnTo>
                    <a:pt x="158" y="1616"/>
                  </a:lnTo>
                  <a:lnTo>
                    <a:pt x="153" y="1616"/>
                  </a:lnTo>
                  <a:lnTo>
                    <a:pt x="144" y="1604"/>
                  </a:lnTo>
                  <a:lnTo>
                    <a:pt x="137" y="1593"/>
                  </a:lnTo>
                  <a:lnTo>
                    <a:pt x="127" y="1586"/>
                  </a:lnTo>
                  <a:lnTo>
                    <a:pt x="125" y="1574"/>
                  </a:lnTo>
                  <a:lnTo>
                    <a:pt x="127" y="1564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close/>
                  <a:moveTo>
                    <a:pt x="1000" y="1320"/>
                  </a:moveTo>
                  <a:lnTo>
                    <a:pt x="1000" y="1320"/>
                  </a:lnTo>
                  <a:lnTo>
                    <a:pt x="993" y="1337"/>
                  </a:lnTo>
                  <a:lnTo>
                    <a:pt x="986" y="1335"/>
                  </a:lnTo>
                  <a:lnTo>
                    <a:pt x="981" y="1325"/>
                  </a:lnTo>
                  <a:lnTo>
                    <a:pt x="984" y="1323"/>
                  </a:lnTo>
                  <a:lnTo>
                    <a:pt x="988" y="1313"/>
                  </a:lnTo>
                  <a:lnTo>
                    <a:pt x="995" y="1313"/>
                  </a:lnTo>
                  <a:lnTo>
                    <a:pt x="1000" y="1320"/>
                  </a:lnTo>
                  <a:lnTo>
                    <a:pt x="1000" y="1320"/>
                  </a:lnTo>
                  <a:lnTo>
                    <a:pt x="1000" y="1320"/>
                  </a:lnTo>
                  <a:close/>
                  <a:moveTo>
                    <a:pt x="957" y="1299"/>
                  </a:moveTo>
                  <a:lnTo>
                    <a:pt x="957" y="1299"/>
                  </a:lnTo>
                  <a:lnTo>
                    <a:pt x="939" y="1320"/>
                  </a:lnTo>
                  <a:lnTo>
                    <a:pt x="927" y="1318"/>
                  </a:lnTo>
                  <a:lnTo>
                    <a:pt x="922" y="1311"/>
                  </a:lnTo>
                  <a:lnTo>
                    <a:pt x="936" y="1294"/>
                  </a:lnTo>
                  <a:lnTo>
                    <a:pt x="957" y="1294"/>
                  </a:lnTo>
                  <a:lnTo>
                    <a:pt x="957" y="1299"/>
                  </a:lnTo>
                  <a:lnTo>
                    <a:pt x="957" y="1299"/>
                  </a:lnTo>
                  <a:lnTo>
                    <a:pt x="957" y="1299"/>
                  </a:lnTo>
                  <a:close/>
                  <a:moveTo>
                    <a:pt x="905" y="1190"/>
                  </a:moveTo>
                  <a:lnTo>
                    <a:pt x="905" y="1190"/>
                  </a:lnTo>
                  <a:lnTo>
                    <a:pt x="908" y="1209"/>
                  </a:lnTo>
                  <a:lnTo>
                    <a:pt x="915" y="1202"/>
                  </a:lnTo>
                  <a:lnTo>
                    <a:pt x="924" y="1212"/>
                  </a:lnTo>
                  <a:lnTo>
                    <a:pt x="943" y="1226"/>
                  </a:lnTo>
                  <a:lnTo>
                    <a:pt x="962" y="1238"/>
                  </a:lnTo>
                  <a:lnTo>
                    <a:pt x="962" y="1254"/>
                  </a:lnTo>
                  <a:lnTo>
                    <a:pt x="974" y="1252"/>
                  </a:lnTo>
                  <a:lnTo>
                    <a:pt x="986" y="1264"/>
                  </a:lnTo>
                  <a:lnTo>
                    <a:pt x="972" y="1275"/>
                  </a:lnTo>
                  <a:lnTo>
                    <a:pt x="946" y="1266"/>
                  </a:lnTo>
                  <a:lnTo>
                    <a:pt x="936" y="1252"/>
                  </a:lnTo>
                  <a:lnTo>
                    <a:pt x="922" y="1271"/>
                  </a:lnTo>
                  <a:lnTo>
                    <a:pt x="898" y="1290"/>
                  </a:lnTo>
                  <a:lnTo>
                    <a:pt x="894" y="1268"/>
                  </a:lnTo>
                  <a:lnTo>
                    <a:pt x="870" y="1271"/>
                  </a:lnTo>
                  <a:lnTo>
                    <a:pt x="884" y="1254"/>
                  </a:lnTo>
                  <a:lnTo>
                    <a:pt x="887" y="1223"/>
                  </a:lnTo>
                  <a:lnTo>
                    <a:pt x="891" y="1188"/>
                  </a:lnTo>
                  <a:lnTo>
                    <a:pt x="905" y="1190"/>
                  </a:lnTo>
                  <a:lnTo>
                    <a:pt x="905" y="1190"/>
                  </a:lnTo>
                  <a:lnTo>
                    <a:pt x="905" y="1190"/>
                  </a:lnTo>
                  <a:close/>
                  <a:moveTo>
                    <a:pt x="1054" y="1131"/>
                  </a:moveTo>
                  <a:lnTo>
                    <a:pt x="1054" y="1131"/>
                  </a:lnTo>
                  <a:lnTo>
                    <a:pt x="1036" y="1133"/>
                  </a:lnTo>
                  <a:lnTo>
                    <a:pt x="1033" y="1112"/>
                  </a:lnTo>
                  <a:lnTo>
                    <a:pt x="1040" y="1088"/>
                  </a:lnTo>
                  <a:lnTo>
                    <a:pt x="1054" y="1084"/>
                  </a:lnTo>
                  <a:lnTo>
                    <a:pt x="1066" y="1096"/>
                  </a:lnTo>
                  <a:lnTo>
                    <a:pt x="1069" y="1112"/>
                  </a:lnTo>
                  <a:lnTo>
                    <a:pt x="1066" y="1119"/>
                  </a:lnTo>
                  <a:lnTo>
                    <a:pt x="1054" y="1131"/>
                  </a:lnTo>
                  <a:lnTo>
                    <a:pt x="1054" y="1131"/>
                  </a:lnTo>
                  <a:lnTo>
                    <a:pt x="1054" y="1131"/>
                  </a:lnTo>
                  <a:close/>
                  <a:moveTo>
                    <a:pt x="735" y="1048"/>
                  </a:moveTo>
                  <a:lnTo>
                    <a:pt x="735" y="1048"/>
                  </a:lnTo>
                  <a:lnTo>
                    <a:pt x="723" y="1062"/>
                  </a:lnTo>
                  <a:lnTo>
                    <a:pt x="702" y="1048"/>
                  </a:lnTo>
                  <a:lnTo>
                    <a:pt x="690" y="1053"/>
                  </a:lnTo>
                  <a:lnTo>
                    <a:pt x="667" y="1034"/>
                  </a:lnTo>
                  <a:lnTo>
                    <a:pt x="681" y="1020"/>
                  </a:lnTo>
                  <a:lnTo>
                    <a:pt x="693" y="999"/>
                  </a:lnTo>
                  <a:lnTo>
                    <a:pt x="709" y="1013"/>
                  </a:lnTo>
                  <a:lnTo>
                    <a:pt x="719" y="1022"/>
                  </a:lnTo>
                  <a:lnTo>
                    <a:pt x="726" y="1029"/>
                  </a:lnTo>
                  <a:lnTo>
                    <a:pt x="735" y="1048"/>
                  </a:lnTo>
                  <a:lnTo>
                    <a:pt x="735" y="1048"/>
                  </a:lnTo>
                  <a:lnTo>
                    <a:pt x="735" y="1048"/>
                  </a:lnTo>
                  <a:close/>
                  <a:moveTo>
                    <a:pt x="818" y="1029"/>
                  </a:moveTo>
                  <a:lnTo>
                    <a:pt x="818" y="1029"/>
                  </a:lnTo>
                  <a:lnTo>
                    <a:pt x="818" y="1074"/>
                  </a:lnTo>
                  <a:lnTo>
                    <a:pt x="839" y="1041"/>
                  </a:lnTo>
                  <a:lnTo>
                    <a:pt x="858" y="1070"/>
                  </a:lnTo>
                  <a:lnTo>
                    <a:pt x="853" y="1100"/>
                  </a:lnTo>
                  <a:lnTo>
                    <a:pt x="870" y="1129"/>
                  </a:lnTo>
                  <a:lnTo>
                    <a:pt x="887" y="1098"/>
                  </a:lnTo>
                  <a:lnTo>
                    <a:pt x="898" y="1062"/>
                  </a:lnTo>
                  <a:lnTo>
                    <a:pt x="898" y="1010"/>
                  </a:lnTo>
                  <a:lnTo>
                    <a:pt x="922" y="1015"/>
                  </a:lnTo>
                  <a:lnTo>
                    <a:pt x="946" y="1022"/>
                  </a:lnTo>
                  <a:lnTo>
                    <a:pt x="967" y="1044"/>
                  </a:lnTo>
                  <a:lnTo>
                    <a:pt x="967" y="1067"/>
                  </a:lnTo>
                  <a:lnTo>
                    <a:pt x="955" y="1091"/>
                  </a:lnTo>
                  <a:lnTo>
                    <a:pt x="967" y="1112"/>
                  </a:lnTo>
                  <a:lnTo>
                    <a:pt x="965" y="1133"/>
                  </a:lnTo>
                  <a:lnTo>
                    <a:pt x="934" y="1162"/>
                  </a:lnTo>
                  <a:lnTo>
                    <a:pt x="910" y="1169"/>
                  </a:lnTo>
                  <a:lnTo>
                    <a:pt x="894" y="1157"/>
                  </a:lnTo>
                  <a:lnTo>
                    <a:pt x="889" y="1176"/>
                  </a:lnTo>
                  <a:lnTo>
                    <a:pt x="875" y="1209"/>
                  </a:lnTo>
                  <a:lnTo>
                    <a:pt x="870" y="1226"/>
                  </a:lnTo>
                  <a:lnTo>
                    <a:pt x="851" y="1252"/>
                  </a:lnTo>
                  <a:lnTo>
                    <a:pt x="827" y="1254"/>
                  </a:lnTo>
                  <a:lnTo>
                    <a:pt x="813" y="1268"/>
                  </a:lnTo>
                  <a:lnTo>
                    <a:pt x="813" y="1292"/>
                  </a:lnTo>
                  <a:lnTo>
                    <a:pt x="794" y="1297"/>
                  </a:lnTo>
                  <a:lnTo>
                    <a:pt x="773" y="1325"/>
                  </a:lnTo>
                  <a:lnTo>
                    <a:pt x="756" y="1363"/>
                  </a:lnTo>
                  <a:lnTo>
                    <a:pt x="752" y="1387"/>
                  </a:lnTo>
                  <a:lnTo>
                    <a:pt x="749" y="1425"/>
                  </a:lnTo>
                  <a:lnTo>
                    <a:pt x="773" y="1429"/>
                  </a:lnTo>
                  <a:lnTo>
                    <a:pt x="780" y="1458"/>
                  </a:lnTo>
                  <a:lnTo>
                    <a:pt x="790" y="1481"/>
                  </a:lnTo>
                  <a:lnTo>
                    <a:pt x="811" y="1477"/>
                  </a:lnTo>
                  <a:lnTo>
                    <a:pt x="842" y="1488"/>
                  </a:lnTo>
                  <a:lnTo>
                    <a:pt x="858" y="1500"/>
                  </a:lnTo>
                  <a:lnTo>
                    <a:pt x="870" y="1512"/>
                  </a:lnTo>
                  <a:lnTo>
                    <a:pt x="889" y="1522"/>
                  </a:lnTo>
                  <a:lnTo>
                    <a:pt x="908" y="1533"/>
                  </a:lnTo>
                  <a:lnTo>
                    <a:pt x="934" y="1533"/>
                  </a:lnTo>
                  <a:lnTo>
                    <a:pt x="950" y="1538"/>
                  </a:lnTo>
                  <a:lnTo>
                    <a:pt x="948" y="1562"/>
                  </a:lnTo>
                  <a:lnTo>
                    <a:pt x="953" y="1588"/>
                  </a:lnTo>
                  <a:lnTo>
                    <a:pt x="965" y="1619"/>
                  </a:lnTo>
                  <a:lnTo>
                    <a:pt x="988" y="1642"/>
                  </a:lnTo>
                  <a:lnTo>
                    <a:pt x="1002" y="1635"/>
                  </a:lnTo>
                  <a:lnTo>
                    <a:pt x="1010" y="1607"/>
                  </a:lnTo>
                  <a:lnTo>
                    <a:pt x="1002" y="1564"/>
                  </a:lnTo>
                  <a:lnTo>
                    <a:pt x="991" y="1550"/>
                  </a:lnTo>
                  <a:lnTo>
                    <a:pt x="1017" y="1538"/>
                  </a:lnTo>
                  <a:lnTo>
                    <a:pt x="1036" y="1517"/>
                  </a:lnTo>
                  <a:lnTo>
                    <a:pt x="1045" y="1498"/>
                  </a:lnTo>
                  <a:lnTo>
                    <a:pt x="1043" y="1479"/>
                  </a:lnTo>
                  <a:lnTo>
                    <a:pt x="1031" y="1453"/>
                  </a:lnTo>
                  <a:lnTo>
                    <a:pt x="1012" y="1429"/>
                  </a:lnTo>
                  <a:lnTo>
                    <a:pt x="1031" y="1396"/>
                  </a:lnTo>
                  <a:lnTo>
                    <a:pt x="1024" y="1368"/>
                  </a:lnTo>
                  <a:lnTo>
                    <a:pt x="1019" y="1313"/>
                  </a:lnTo>
                  <a:lnTo>
                    <a:pt x="1031" y="1306"/>
                  </a:lnTo>
                  <a:lnTo>
                    <a:pt x="1057" y="1316"/>
                  </a:lnTo>
                  <a:lnTo>
                    <a:pt x="1073" y="1318"/>
                  </a:lnTo>
                  <a:lnTo>
                    <a:pt x="1088" y="1311"/>
                  </a:lnTo>
                  <a:lnTo>
                    <a:pt x="1102" y="1320"/>
                  </a:lnTo>
                  <a:lnTo>
                    <a:pt x="1123" y="1342"/>
                  </a:lnTo>
                  <a:lnTo>
                    <a:pt x="1128" y="1354"/>
                  </a:lnTo>
                  <a:lnTo>
                    <a:pt x="1156" y="1358"/>
                  </a:lnTo>
                  <a:lnTo>
                    <a:pt x="1156" y="1384"/>
                  </a:lnTo>
                  <a:lnTo>
                    <a:pt x="1161" y="1425"/>
                  </a:lnTo>
                  <a:lnTo>
                    <a:pt x="1177" y="1429"/>
                  </a:lnTo>
                  <a:lnTo>
                    <a:pt x="1187" y="1448"/>
                  </a:lnTo>
                  <a:lnTo>
                    <a:pt x="1211" y="1429"/>
                  </a:lnTo>
                  <a:lnTo>
                    <a:pt x="1227" y="1396"/>
                  </a:lnTo>
                  <a:lnTo>
                    <a:pt x="1237" y="1382"/>
                  </a:lnTo>
                  <a:lnTo>
                    <a:pt x="1251" y="1408"/>
                  </a:lnTo>
                  <a:lnTo>
                    <a:pt x="1272" y="1448"/>
                  </a:lnTo>
                  <a:lnTo>
                    <a:pt x="1289" y="1486"/>
                  </a:lnTo>
                  <a:lnTo>
                    <a:pt x="1282" y="1503"/>
                  </a:lnTo>
                  <a:lnTo>
                    <a:pt x="1305" y="1519"/>
                  </a:lnTo>
                  <a:lnTo>
                    <a:pt x="1319" y="1536"/>
                  </a:lnTo>
                  <a:lnTo>
                    <a:pt x="1343" y="1543"/>
                  </a:lnTo>
                  <a:lnTo>
                    <a:pt x="1355" y="1552"/>
                  </a:lnTo>
                  <a:lnTo>
                    <a:pt x="1362" y="1574"/>
                  </a:lnTo>
                  <a:lnTo>
                    <a:pt x="1374" y="1578"/>
                  </a:lnTo>
                  <a:lnTo>
                    <a:pt x="1381" y="1588"/>
                  </a:lnTo>
                  <a:lnTo>
                    <a:pt x="1381" y="1619"/>
                  </a:lnTo>
                  <a:lnTo>
                    <a:pt x="1369" y="1628"/>
                  </a:lnTo>
                  <a:lnTo>
                    <a:pt x="1357" y="1638"/>
                  </a:lnTo>
                  <a:lnTo>
                    <a:pt x="1331" y="1647"/>
                  </a:lnTo>
                  <a:lnTo>
                    <a:pt x="1312" y="1668"/>
                  </a:lnTo>
                  <a:lnTo>
                    <a:pt x="1284" y="1671"/>
                  </a:lnTo>
                  <a:lnTo>
                    <a:pt x="1248" y="1666"/>
                  </a:lnTo>
                  <a:lnTo>
                    <a:pt x="1225" y="1666"/>
                  </a:lnTo>
                  <a:lnTo>
                    <a:pt x="1208" y="1668"/>
                  </a:lnTo>
                  <a:lnTo>
                    <a:pt x="1194" y="1685"/>
                  </a:lnTo>
                  <a:lnTo>
                    <a:pt x="1175" y="1697"/>
                  </a:lnTo>
                  <a:lnTo>
                    <a:pt x="1151" y="1728"/>
                  </a:lnTo>
                  <a:lnTo>
                    <a:pt x="1130" y="1751"/>
                  </a:lnTo>
                  <a:lnTo>
                    <a:pt x="1147" y="1746"/>
                  </a:lnTo>
                  <a:lnTo>
                    <a:pt x="1173" y="1716"/>
                  </a:lnTo>
                  <a:lnTo>
                    <a:pt x="1206" y="1697"/>
                  </a:lnTo>
                  <a:lnTo>
                    <a:pt x="1229" y="1692"/>
                  </a:lnTo>
                  <a:lnTo>
                    <a:pt x="1244" y="1704"/>
                  </a:lnTo>
                  <a:lnTo>
                    <a:pt x="1229" y="1720"/>
                  </a:lnTo>
                  <a:lnTo>
                    <a:pt x="1234" y="1746"/>
                  </a:lnTo>
                  <a:lnTo>
                    <a:pt x="1239" y="1763"/>
                  </a:lnTo>
                  <a:lnTo>
                    <a:pt x="1260" y="1775"/>
                  </a:lnTo>
                  <a:lnTo>
                    <a:pt x="1286" y="1773"/>
                  </a:lnTo>
                  <a:lnTo>
                    <a:pt x="1303" y="1746"/>
                  </a:lnTo>
                  <a:lnTo>
                    <a:pt x="1305" y="1763"/>
                  </a:lnTo>
                  <a:lnTo>
                    <a:pt x="1315" y="1773"/>
                  </a:lnTo>
                  <a:lnTo>
                    <a:pt x="1293" y="1787"/>
                  </a:lnTo>
                  <a:lnTo>
                    <a:pt x="1260" y="1801"/>
                  </a:lnTo>
                  <a:lnTo>
                    <a:pt x="1244" y="1808"/>
                  </a:lnTo>
                  <a:lnTo>
                    <a:pt x="1225" y="1825"/>
                  </a:lnTo>
                  <a:lnTo>
                    <a:pt x="1213" y="1825"/>
                  </a:lnTo>
                  <a:lnTo>
                    <a:pt x="1211" y="1806"/>
                  </a:lnTo>
                  <a:lnTo>
                    <a:pt x="1239" y="1787"/>
                  </a:lnTo>
                  <a:lnTo>
                    <a:pt x="1213" y="1787"/>
                  </a:lnTo>
                  <a:lnTo>
                    <a:pt x="1196" y="1789"/>
                  </a:lnTo>
                  <a:lnTo>
                    <a:pt x="1185" y="1777"/>
                  </a:lnTo>
                  <a:lnTo>
                    <a:pt x="1185" y="1744"/>
                  </a:lnTo>
                  <a:lnTo>
                    <a:pt x="1180" y="1739"/>
                  </a:lnTo>
                  <a:lnTo>
                    <a:pt x="1168" y="1742"/>
                  </a:lnTo>
                  <a:lnTo>
                    <a:pt x="1163" y="1737"/>
                  </a:lnTo>
                  <a:lnTo>
                    <a:pt x="1149" y="1754"/>
                  </a:lnTo>
                  <a:lnTo>
                    <a:pt x="1144" y="1773"/>
                  </a:lnTo>
                  <a:lnTo>
                    <a:pt x="1140" y="1782"/>
                  </a:lnTo>
                  <a:lnTo>
                    <a:pt x="1133" y="1784"/>
                  </a:lnTo>
                  <a:lnTo>
                    <a:pt x="1128" y="1787"/>
                  </a:lnTo>
                  <a:lnTo>
                    <a:pt x="1125" y="1791"/>
                  </a:lnTo>
                  <a:lnTo>
                    <a:pt x="1095" y="1791"/>
                  </a:lnTo>
                  <a:lnTo>
                    <a:pt x="1071" y="1794"/>
                  </a:lnTo>
                  <a:lnTo>
                    <a:pt x="1064" y="1796"/>
                  </a:lnTo>
                  <a:lnTo>
                    <a:pt x="1047" y="1813"/>
                  </a:lnTo>
                  <a:lnTo>
                    <a:pt x="1045" y="1815"/>
                  </a:lnTo>
                  <a:lnTo>
                    <a:pt x="1040" y="1825"/>
                  </a:lnTo>
                  <a:lnTo>
                    <a:pt x="1024" y="1825"/>
                  </a:lnTo>
                  <a:lnTo>
                    <a:pt x="1010" y="1825"/>
                  </a:lnTo>
                  <a:lnTo>
                    <a:pt x="1002" y="1827"/>
                  </a:lnTo>
                  <a:lnTo>
                    <a:pt x="1002" y="1832"/>
                  </a:lnTo>
                  <a:lnTo>
                    <a:pt x="1005" y="1839"/>
                  </a:lnTo>
                  <a:lnTo>
                    <a:pt x="1005" y="1841"/>
                  </a:lnTo>
                  <a:lnTo>
                    <a:pt x="984" y="1851"/>
                  </a:lnTo>
                  <a:lnTo>
                    <a:pt x="967" y="1855"/>
                  </a:lnTo>
                  <a:lnTo>
                    <a:pt x="948" y="1867"/>
                  </a:lnTo>
                  <a:lnTo>
                    <a:pt x="943" y="1867"/>
                  </a:lnTo>
                  <a:lnTo>
                    <a:pt x="939" y="1862"/>
                  </a:lnTo>
                  <a:lnTo>
                    <a:pt x="936" y="1860"/>
                  </a:lnTo>
                  <a:lnTo>
                    <a:pt x="936" y="1858"/>
                  </a:lnTo>
                  <a:lnTo>
                    <a:pt x="941" y="1851"/>
                  </a:lnTo>
                  <a:lnTo>
                    <a:pt x="948" y="1839"/>
                  </a:lnTo>
                  <a:lnTo>
                    <a:pt x="953" y="1825"/>
                  </a:lnTo>
                  <a:lnTo>
                    <a:pt x="950" y="1806"/>
                  </a:lnTo>
                  <a:lnTo>
                    <a:pt x="946" y="1784"/>
                  </a:lnTo>
                  <a:lnTo>
                    <a:pt x="929" y="1775"/>
                  </a:lnTo>
                  <a:lnTo>
                    <a:pt x="931" y="1770"/>
                  </a:lnTo>
                  <a:lnTo>
                    <a:pt x="929" y="1768"/>
                  </a:lnTo>
                  <a:lnTo>
                    <a:pt x="924" y="1768"/>
                  </a:lnTo>
                  <a:lnTo>
                    <a:pt x="922" y="1763"/>
                  </a:lnTo>
                  <a:lnTo>
                    <a:pt x="922" y="1758"/>
                  </a:lnTo>
                  <a:lnTo>
                    <a:pt x="917" y="1761"/>
                  </a:lnTo>
                  <a:lnTo>
                    <a:pt x="913" y="1761"/>
                  </a:lnTo>
                  <a:lnTo>
                    <a:pt x="915" y="1758"/>
                  </a:lnTo>
                  <a:lnTo>
                    <a:pt x="910" y="1756"/>
                  </a:lnTo>
                  <a:lnTo>
                    <a:pt x="908" y="1749"/>
                  </a:lnTo>
                  <a:lnTo>
                    <a:pt x="896" y="1742"/>
                  </a:lnTo>
                  <a:lnTo>
                    <a:pt x="882" y="1732"/>
                  </a:lnTo>
                  <a:lnTo>
                    <a:pt x="868" y="1723"/>
                  </a:lnTo>
                  <a:lnTo>
                    <a:pt x="853" y="1716"/>
                  </a:lnTo>
                  <a:lnTo>
                    <a:pt x="837" y="1723"/>
                  </a:lnTo>
                  <a:lnTo>
                    <a:pt x="832" y="1723"/>
                  </a:lnTo>
                  <a:lnTo>
                    <a:pt x="813" y="1716"/>
                  </a:lnTo>
                  <a:lnTo>
                    <a:pt x="799" y="1720"/>
                  </a:lnTo>
                  <a:lnTo>
                    <a:pt x="782" y="1711"/>
                  </a:lnTo>
                  <a:lnTo>
                    <a:pt x="768" y="1709"/>
                  </a:lnTo>
                  <a:lnTo>
                    <a:pt x="756" y="1706"/>
                  </a:lnTo>
                  <a:lnTo>
                    <a:pt x="749" y="1702"/>
                  </a:lnTo>
                  <a:lnTo>
                    <a:pt x="747" y="1690"/>
                  </a:lnTo>
                  <a:lnTo>
                    <a:pt x="742" y="1690"/>
                  </a:lnTo>
                  <a:lnTo>
                    <a:pt x="742" y="1699"/>
                  </a:lnTo>
                  <a:lnTo>
                    <a:pt x="709" y="1699"/>
                  </a:lnTo>
                  <a:lnTo>
                    <a:pt x="652" y="1699"/>
                  </a:lnTo>
                  <a:lnTo>
                    <a:pt x="598" y="1699"/>
                  </a:lnTo>
                  <a:lnTo>
                    <a:pt x="551" y="1699"/>
                  </a:lnTo>
                  <a:lnTo>
                    <a:pt x="501" y="1699"/>
                  </a:lnTo>
                  <a:lnTo>
                    <a:pt x="454" y="1699"/>
                  </a:lnTo>
                  <a:lnTo>
                    <a:pt x="404" y="1699"/>
                  </a:lnTo>
                  <a:lnTo>
                    <a:pt x="387" y="1699"/>
                  </a:lnTo>
                  <a:lnTo>
                    <a:pt x="340" y="1699"/>
                  </a:lnTo>
                  <a:lnTo>
                    <a:pt x="293" y="1699"/>
                  </a:lnTo>
                  <a:lnTo>
                    <a:pt x="290" y="1699"/>
                  </a:lnTo>
                  <a:lnTo>
                    <a:pt x="260" y="1675"/>
                  </a:lnTo>
                  <a:lnTo>
                    <a:pt x="248" y="1664"/>
                  </a:lnTo>
                  <a:lnTo>
                    <a:pt x="220" y="1652"/>
                  </a:lnTo>
                  <a:lnTo>
                    <a:pt x="210" y="1631"/>
                  </a:lnTo>
                  <a:lnTo>
                    <a:pt x="212" y="1614"/>
                  </a:lnTo>
                  <a:lnTo>
                    <a:pt x="191" y="1602"/>
                  </a:lnTo>
                  <a:lnTo>
                    <a:pt x="189" y="1581"/>
                  </a:lnTo>
                  <a:lnTo>
                    <a:pt x="170" y="1562"/>
                  </a:lnTo>
                  <a:lnTo>
                    <a:pt x="170" y="1548"/>
                  </a:lnTo>
                  <a:lnTo>
                    <a:pt x="177" y="1533"/>
                  </a:lnTo>
                  <a:lnTo>
                    <a:pt x="177" y="1515"/>
                  </a:lnTo>
                  <a:lnTo>
                    <a:pt x="151" y="1498"/>
                  </a:lnTo>
                  <a:lnTo>
                    <a:pt x="134" y="1465"/>
                  </a:lnTo>
                  <a:lnTo>
                    <a:pt x="123" y="1441"/>
                  </a:lnTo>
                  <a:lnTo>
                    <a:pt x="108" y="1427"/>
                  </a:lnTo>
                  <a:lnTo>
                    <a:pt x="97" y="1415"/>
                  </a:lnTo>
                  <a:lnTo>
                    <a:pt x="89" y="1399"/>
                  </a:lnTo>
                  <a:lnTo>
                    <a:pt x="73" y="1408"/>
                  </a:lnTo>
                  <a:lnTo>
                    <a:pt x="59" y="1427"/>
                  </a:lnTo>
                  <a:lnTo>
                    <a:pt x="42" y="1406"/>
                  </a:lnTo>
                  <a:lnTo>
                    <a:pt x="33" y="1391"/>
                  </a:lnTo>
                  <a:lnTo>
                    <a:pt x="16" y="1382"/>
                  </a:lnTo>
                  <a:lnTo>
                    <a:pt x="0" y="1382"/>
                  </a:lnTo>
                  <a:lnTo>
                    <a:pt x="0" y="1178"/>
                  </a:lnTo>
                  <a:lnTo>
                    <a:pt x="0" y="1020"/>
                  </a:lnTo>
                  <a:lnTo>
                    <a:pt x="30" y="1032"/>
                  </a:lnTo>
                  <a:lnTo>
                    <a:pt x="56" y="1053"/>
                  </a:lnTo>
                  <a:lnTo>
                    <a:pt x="73" y="1058"/>
                  </a:lnTo>
                  <a:lnTo>
                    <a:pt x="87" y="1039"/>
                  </a:lnTo>
                  <a:lnTo>
                    <a:pt x="106" y="1022"/>
                  </a:lnTo>
                  <a:lnTo>
                    <a:pt x="130" y="1029"/>
                  </a:lnTo>
                  <a:lnTo>
                    <a:pt x="156" y="1008"/>
                  </a:lnTo>
                  <a:lnTo>
                    <a:pt x="182" y="996"/>
                  </a:lnTo>
                  <a:lnTo>
                    <a:pt x="193" y="1017"/>
                  </a:lnTo>
                  <a:lnTo>
                    <a:pt x="205" y="1006"/>
                  </a:lnTo>
                  <a:lnTo>
                    <a:pt x="208" y="982"/>
                  </a:lnTo>
                  <a:lnTo>
                    <a:pt x="220" y="989"/>
                  </a:lnTo>
                  <a:lnTo>
                    <a:pt x="248" y="1029"/>
                  </a:lnTo>
                  <a:lnTo>
                    <a:pt x="269" y="999"/>
                  </a:lnTo>
                  <a:lnTo>
                    <a:pt x="272" y="1034"/>
                  </a:lnTo>
                  <a:lnTo>
                    <a:pt x="290" y="1027"/>
                  </a:lnTo>
                  <a:lnTo>
                    <a:pt x="298" y="1013"/>
                  </a:lnTo>
                  <a:lnTo>
                    <a:pt x="316" y="1015"/>
                  </a:lnTo>
                  <a:lnTo>
                    <a:pt x="340" y="1034"/>
                  </a:lnTo>
                  <a:lnTo>
                    <a:pt x="378" y="1051"/>
                  </a:lnTo>
                  <a:lnTo>
                    <a:pt x="402" y="1060"/>
                  </a:lnTo>
                  <a:lnTo>
                    <a:pt x="418" y="1055"/>
                  </a:lnTo>
                  <a:lnTo>
                    <a:pt x="439" y="1079"/>
                  </a:lnTo>
                  <a:lnTo>
                    <a:pt x="416" y="1100"/>
                  </a:lnTo>
                  <a:lnTo>
                    <a:pt x="447" y="1110"/>
                  </a:lnTo>
                  <a:lnTo>
                    <a:pt x="489" y="1105"/>
                  </a:lnTo>
                  <a:lnTo>
                    <a:pt x="503" y="1098"/>
                  </a:lnTo>
                  <a:lnTo>
                    <a:pt x="520" y="1122"/>
                  </a:lnTo>
                  <a:lnTo>
                    <a:pt x="536" y="1100"/>
                  </a:lnTo>
                  <a:lnTo>
                    <a:pt x="522" y="1084"/>
                  </a:lnTo>
                  <a:lnTo>
                    <a:pt x="532" y="1067"/>
                  </a:lnTo>
                  <a:lnTo>
                    <a:pt x="551" y="1065"/>
                  </a:lnTo>
                  <a:lnTo>
                    <a:pt x="565" y="1060"/>
                  </a:lnTo>
                  <a:lnTo>
                    <a:pt x="577" y="1072"/>
                  </a:lnTo>
                  <a:lnTo>
                    <a:pt x="593" y="1096"/>
                  </a:lnTo>
                  <a:lnTo>
                    <a:pt x="612" y="1091"/>
                  </a:lnTo>
                  <a:lnTo>
                    <a:pt x="641" y="1110"/>
                  </a:lnTo>
                  <a:lnTo>
                    <a:pt x="664" y="1105"/>
                  </a:lnTo>
                  <a:lnTo>
                    <a:pt x="690" y="1105"/>
                  </a:lnTo>
                  <a:lnTo>
                    <a:pt x="688" y="1079"/>
                  </a:lnTo>
                  <a:lnTo>
                    <a:pt x="702" y="1070"/>
                  </a:lnTo>
                  <a:lnTo>
                    <a:pt x="726" y="1086"/>
                  </a:lnTo>
                  <a:lnTo>
                    <a:pt x="726" y="1126"/>
                  </a:lnTo>
                  <a:lnTo>
                    <a:pt x="738" y="1091"/>
                  </a:lnTo>
                  <a:lnTo>
                    <a:pt x="749" y="1093"/>
                  </a:lnTo>
                  <a:lnTo>
                    <a:pt x="756" y="1048"/>
                  </a:lnTo>
                  <a:lnTo>
                    <a:pt x="740" y="1022"/>
                  </a:lnTo>
                  <a:lnTo>
                    <a:pt x="721" y="1001"/>
                  </a:lnTo>
                  <a:lnTo>
                    <a:pt x="723" y="949"/>
                  </a:lnTo>
                  <a:lnTo>
                    <a:pt x="742" y="911"/>
                  </a:lnTo>
                  <a:lnTo>
                    <a:pt x="764" y="920"/>
                  </a:lnTo>
                  <a:lnTo>
                    <a:pt x="778" y="942"/>
                  </a:lnTo>
                  <a:lnTo>
                    <a:pt x="801" y="996"/>
                  </a:lnTo>
                  <a:lnTo>
                    <a:pt x="787" y="1020"/>
                  </a:lnTo>
                  <a:lnTo>
                    <a:pt x="818" y="1029"/>
                  </a:lnTo>
                  <a:lnTo>
                    <a:pt x="818" y="1029"/>
                  </a:lnTo>
                  <a:lnTo>
                    <a:pt x="818" y="1029"/>
                  </a:lnTo>
                  <a:close/>
                  <a:moveTo>
                    <a:pt x="435" y="847"/>
                  </a:moveTo>
                  <a:lnTo>
                    <a:pt x="435" y="847"/>
                  </a:lnTo>
                  <a:lnTo>
                    <a:pt x="425" y="873"/>
                  </a:lnTo>
                  <a:lnTo>
                    <a:pt x="463" y="857"/>
                  </a:lnTo>
                  <a:lnTo>
                    <a:pt x="484" y="883"/>
                  </a:lnTo>
                  <a:lnTo>
                    <a:pt x="503" y="857"/>
                  </a:lnTo>
                  <a:lnTo>
                    <a:pt x="518" y="873"/>
                  </a:lnTo>
                  <a:lnTo>
                    <a:pt x="532" y="925"/>
                  </a:lnTo>
                  <a:lnTo>
                    <a:pt x="539" y="904"/>
                  </a:lnTo>
                  <a:lnTo>
                    <a:pt x="527" y="849"/>
                  </a:lnTo>
                  <a:lnTo>
                    <a:pt x="541" y="840"/>
                  </a:lnTo>
                  <a:lnTo>
                    <a:pt x="558" y="849"/>
                  </a:lnTo>
                  <a:lnTo>
                    <a:pt x="577" y="871"/>
                  </a:lnTo>
                  <a:lnTo>
                    <a:pt x="586" y="923"/>
                  </a:lnTo>
                  <a:lnTo>
                    <a:pt x="591" y="958"/>
                  </a:lnTo>
                  <a:lnTo>
                    <a:pt x="619" y="982"/>
                  </a:lnTo>
                  <a:lnTo>
                    <a:pt x="648" y="1003"/>
                  </a:lnTo>
                  <a:lnTo>
                    <a:pt x="645" y="1025"/>
                  </a:lnTo>
                  <a:lnTo>
                    <a:pt x="619" y="1029"/>
                  </a:lnTo>
                  <a:lnTo>
                    <a:pt x="631" y="1046"/>
                  </a:lnTo>
                  <a:lnTo>
                    <a:pt x="624" y="1062"/>
                  </a:lnTo>
                  <a:lnTo>
                    <a:pt x="596" y="1055"/>
                  </a:lnTo>
                  <a:lnTo>
                    <a:pt x="567" y="1044"/>
                  </a:lnTo>
                  <a:lnTo>
                    <a:pt x="548" y="1046"/>
                  </a:lnTo>
                  <a:lnTo>
                    <a:pt x="518" y="1062"/>
                  </a:lnTo>
                  <a:lnTo>
                    <a:pt x="477" y="1067"/>
                  </a:lnTo>
                  <a:lnTo>
                    <a:pt x="449" y="1072"/>
                  </a:lnTo>
                  <a:lnTo>
                    <a:pt x="439" y="1051"/>
                  </a:lnTo>
                  <a:lnTo>
                    <a:pt x="418" y="1039"/>
                  </a:lnTo>
                  <a:lnTo>
                    <a:pt x="402" y="1044"/>
                  </a:lnTo>
                  <a:lnTo>
                    <a:pt x="383" y="1008"/>
                  </a:lnTo>
                  <a:lnTo>
                    <a:pt x="395" y="1003"/>
                  </a:lnTo>
                  <a:lnTo>
                    <a:pt x="418" y="994"/>
                  </a:lnTo>
                  <a:lnTo>
                    <a:pt x="442" y="996"/>
                  </a:lnTo>
                  <a:lnTo>
                    <a:pt x="463" y="989"/>
                  </a:lnTo>
                  <a:lnTo>
                    <a:pt x="432" y="977"/>
                  </a:lnTo>
                  <a:lnTo>
                    <a:pt x="397" y="982"/>
                  </a:lnTo>
                  <a:lnTo>
                    <a:pt x="373" y="980"/>
                  </a:lnTo>
                  <a:lnTo>
                    <a:pt x="366" y="963"/>
                  </a:lnTo>
                  <a:lnTo>
                    <a:pt x="402" y="942"/>
                  </a:lnTo>
                  <a:lnTo>
                    <a:pt x="378" y="944"/>
                  </a:lnTo>
                  <a:lnTo>
                    <a:pt x="350" y="930"/>
                  </a:lnTo>
                  <a:lnTo>
                    <a:pt x="364" y="892"/>
                  </a:lnTo>
                  <a:lnTo>
                    <a:pt x="373" y="871"/>
                  </a:lnTo>
                  <a:lnTo>
                    <a:pt x="418" y="835"/>
                  </a:lnTo>
                  <a:lnTo>
                    <a:pt x="435" y="847"/>
                  </a:lnTo>
                  <a:lnTo>
                    <a:pt x="435" y="847"/>
                  </a:lnTo>
                  <a:lnTo>
                    <a:pt x="435" y="847"/>
                  </a:lnTo>
                  <a:close/>
                  <a:moveTo>
                    <a:pt x="591" y="830"/>
                  </a:moveTo>
                  <a:lnTo>
                    <a:pt x="591" y="830"/>
                  </a:lnTo>
                  <a:lnTo>
                    <a:pt x="577" y="868"/>
                  </a:lnTo>
                  <a:lnTo>
                    <a:pt x="551" y="828"/>
                  </a:lnTo>
                  <a:lnTo>
                    <a:pt x="558" y="821"/>
                  </a:lnTo>
                  <a:lnTo>
                    <a:pt x="579" y="819"/>
                  </a:lnTo>
                  <a:lnTo>
                    <a:pt x="591" y="830"/>
                  </a:lnTo>
                  <a:lnTo>
                    <a:pt x="591" y="830"/>
                  </a:lnTo>
                  <a:lnTo>
                    <a:pt x="591" y="830"/>
                  </a:lnTo>
                  <a:close/>
                  <a:moveTo>
                    <a:pt x="1047" y="849"/>
                  </a:moveTo>
                  <a:lnTo>
                    <a:pt x="1047" y="849"/>
                  </a:lnTo>
                  <a:lnTo>
                    <a:pt x="1047" y="864"/>
                  </a:lnTo>
                  <a:lnTo>
                    <a:pt x="1031" y="861"/>
                  </a:lnTo>
                  <a:lnTo>
                    <a:pt x="1014" y="861"/>
                  </a:lnTo>
                  <a:lnTo>
                    <a:pt x="995" y="868"/>
                  </a:lnTo>
                  <a:lnTo>
                    <a:pt x="991" y="864"/>
                  </a:lnTo>
                  <a:lnTo>
                    <a:pt x="974" y="835"/>
                  </a:lnTo>
                  <a:lnTo>
                    <a:pt x="974" y="814"/>
                  </a:lnTo>
                  <a:lnTo>
                    <a:pt x="981" y="812"/>
                  </a:lnTo>
                  <a:lnTo>
                    <a:pt x="1019" y="816"/>
                  </a:lnTo>
                  <a:lnTo>
                    <a:pt x="1047" y="849"/>
                  </a:lnTo>
                  <a:lnTo>
                    <a:pt x="1047" y="849"/>
                  </a:lnTo>
                  <a:lnTo>
                    <a:pt x="1047" y="849"/>
                  </a:lnTo>
                  <a:close/>
                  <a:moveTo>
                    <a:pt x="882" y="845"/>
                  </a:moveTo>
                  <a:lnTo>
                    <a:pt x="882" y="845"/>
                  </a:lnTo>
                  <a:lnTo>
                    <a:pt x="894" y="880"/>
                  </a:lnTo>
                  <a:lnTo>
                    <a:pt x="908" y="835"/>
                  </a:lnTo>
                  <a:lnTo>
                    <a:pt x="950" y="812"/>
                  </a:lnTo>
                  <a:lnTo>
                    <a:pt x="979" y="871"/>
                  </a:lnTo>
                  <a:lnTo>
                    <a:pt x="976" y="904"/>
                  </a:lnTo>
                  <a:lnTo>
                    <a:pt x="1007" y="890"/>
                  </a:lnTo>
                  <a:lnTo>
                    <a:pt x="1024" y="868"/>
                  </a:lnTo>
                  <a:lnTo>
                    <a:pt x="1059" y="894"/>
                  </a:lnTo>
                  <a:lnTo>
                    <a:pt x="1080" y="918"/>
                  </a:lnTo>
                  <a:lnTo>
                    <a:pt x="1083" y="942"/>
                  </a:lnTo>
                  <a:lnTo>
                    <a:pt x="1114" y="930"/>
                  </a:lnTo>
                  <a:lnTo>
                    <a:pt x="1130" y="961"/>
                  </a:lnTo>
                  <a:lnTo>
                    <a:pt x="1170" y="980"/>
                  </a:lnTo>
                  <a:lnTo>
                    <a:pt x="1182" y="1001"/>
                  </a:lnTo>
                  <a:lnTo>
                    <a:pt x="1199" y="1044"/>
                  </a:lnTo>
                  <a:lnTo>
                    <a:pt x="1168" y="1065"/>
                  </a:lnTo>
                  <a:lnTo>
                    <a:pt x="1208" y="1093"/>
                  </a:lnTo>
                  <a:lnTo>
                    <a:pt x="1232" y="1103"/>
                  </a:lnTo>
                  <a:lnTo>
                    <a:pt x="1256" y="1141"/>
                  </a:lnTo>
                  <a:lnTo>
                    <a:pt x="1282" y="1143"/>
                  </a:lnTo>
                  <a:lnTo>
                    <a:pt x="1277" y="1171"/>
                  </a:lnTo>
                  <a:lnTo>
                    <a:pt x="1248" y="1216"/>
                  </a:lnTo>
                  <a:lnTo>
                    <a:pt x="1229" y="1200"/>
                  </a:lnTo>
                  <a:lnTo>
                    <a:pt x="1203" y="1162"/>
                  </a:lnTo>
                  <a:lnTo>
                    <a:pt x="1182" y="1169"/>
                  </a:lnTo>
                  <a:lnTo>
                    <a:pt x="1180" y="1190"/>
                  </a:lnTo>
                  <a:lnTo>
                    <a:pt x="1196" y="1212"/>
                  </a:lnTo>
                  <a:lnTo>
                    <a:pt x="1218" y="1230"/>
                  </a:lnTo>
                  <a:lnTo>
                    <a:pt x="1225" y="1240"/>
                  </a:lnTo>
                  <a:lnTo>
                    <a:pt x="1237" y="1275"/>
                  </a:lnTo>
                  <a:lnTo>
                    <a:pt x="1232" y="1302"/>
                  </a:lnTo>
                  <a:lnTo>
                    <a:pt x="1211" y="1292"/>
                  </a:lnTo>
                  <a:lnTo>
                    <a:pt x="1170" y="1264"/>
                  </a:lnTo>
                  <a:lnTo>
                    <a:pt x="1192" y="1294"/>
                  </a:lnTo>
                  <a:lnTo>
                    <a:pt x="1208" y="1316"/>
                  </a:lnTo>
                  <a:lnTo>
                    <a:pt x="1211" y="1328"/>
                  </a:lnTo>
                  <a:lnTo>
                    <a:pt x="1168" y="1313"/>
                  </a:lnTo>
                  <a:lnTo>
                    <a:pt x="1133" y="1294"/>
                  </a:lnTo>
                  <a:lnTo>
                    <a:pt x="1114" y="1275"/>
                  </a:lnTo>
                  <a:lnTo>
                    <a:pt x="1118" y="1266"/>
                  </a:lnTo>
                  <a:lnTo>
                    <a:pt x="1095" y="1247"/>
                  </a:lnTo>
                  <a:lnTo>
                    <a:pt x="1071" y="1230"/>
                  </a:lnTo>
                  <a:lnTo>
                    <a:pt x="1071" y="1240"/>
                  </a:lnTo>
                  <a:lnTo>
                    <a:pt x="1024" y="1247"/>
                  </a:lnTo>
                  <a:lnTo>
                    <a:pt x="1012" y="1233"/>
                  </a:lnTo>
                  <a:lnTo>
                    <a:pt x="1021" y="1204"/>
                  </a:lnTo>
                  <a:lnTo>
                    <a:pt x="1052" y="1204"/>
                  </a:lnTo>
                  <a:lnTo>
                    <a:pt x="1085" y="1200"/>
                  </a:lnTo>
                  <a:lnTo>
                    <a:pt x="1080" y="1186"/>
                  </a:lnTo>
                  <a:lnTo>
                    <a:pt x="1085" y="1167"/>
                  </a:lnTo>
                  <a:lnTo>
                    <a:pt x="1107" y="1126"/>
                  </a:lnTo>
                  <a:lnTo>
                    <a:pt x="1102" y="1107"/>
                  </a:lnTo>
                  <a:lnTo>
                    <a:pt x="1097" y="1093"/>
                  </a:lnTo>
                  <a:lnTo>
                    <a:pt x="1071" y="1072"/>
                  </a:lnTo>
                  <a:lnTo>
                    <a:pt x="1038" y="1058"/>
                  </a:lnTo>
                  <a:lnTo>
                    <a:pt x="1050" y="1046"/>
                  </a:lnTo>
                  <a:lnTo>
                    <a:pt x="1031" y="1017"/>
                  </a:lnTo>
                  <a:lnTo>
                    <a:pt x="1017" y="1015"/>
                  </a:lnTo>
                  <a:lnTo>
                    <a:pt x="1005" y="999"/>
                  </a:lnTo>
                  <a:lnTo>
                    <a:pt x="995" y="1013"/>
                  </a:lnTo>
                  <a:lnTo>
                    <a:pt x="967" y="1017"/>
                  </a:lnTo>
                  <a:lnTo>
                    <a:pt x="908" y="1008"/>
                  </a:lnTo>
                  <a:lnTo>
                    <a:pt x="875" y="994"/>
                  </a:lnTo>
                  <a:lnTo>
                    <a:pt x="846" y="987"/>
                  </a:lnTo>
                  <a:lnTo>
                    <a:pt x="834" y="970"/>
                  </a:lnTo>
                  <a:lnTo>
                    <a:pt x="851" y="946"/>
                  </a:lnTo>
                  <a:lnTo>
                    <a:pt x="827" y="946"/>
                  </a:lnTo>
                  <a:lnTo>
                    <a:pt x="823" y="894"/>
                  </a:lnTo>
                  <a:lnTo>
                    <a:pt x="834" y="847"/>
                  </a:lnTo>
                  <a:lnTo>
                    <a:pt x="851" y="823"/>
                  </a:lnTo>
                  <a:lnTo>
                    <a:pt x="894" y="809"/>
                  </a:lnTo>
                  <a:lnTo>
                    <a:pt x="882" y="845"/>
                  </a:lnTo>
                  <a:lnTo>
                    <a:pt x="882" y="845"/>
                  </a:lnTo>
                  <a:lnTo>
                    <a:pt x="882" y="845"/>
                  </a:lnTo>
                  <a:close/>
                  <a:moveTo>
                    <a:pt x="659" y="807"/>
                  </a:moveTo>
                  <a:lnTo>
                    <a:pt x="659" y="807"/>
                  </a:lnTo>
                  <a:lnTo>
                    <a:pt x="678" y="819"/>
                  </a:lnTo>
                  <a:lnTo>
                    <a:pt x="707" y="812"/>
                  </a:lnTo>
                  <a:lnTo>
                    <a:pt x="711" y="828"/>
                  </a:lnTo>
                  <a:lnTo>
                    <a:pt x="695" y="854"/>
                  </a:lnTo>
                  <a:lnTo>
                    <a:pt x="719" y="878"/>
                  </a:lnTo>
                  <a:lnTo>
                    <a:pt x="716" y="925"/>
                  </a:lnTo>
                  <a:lnTo>
                    <a:pt x="690" y="944"/>
                  </a:lnTo>
                  <a:lnTo>
                    <a:pt x="676" y="939"/>
                  </a:lnTo>
                  <a:lnTo>
                    <a:pt x="664" y="920"/>
                  </a:lnTo>
                  <a:lnTo>
                    <a:pt x="624" y="880"/>
                  </a:lnTo>
                  <a:lnTo>
                    <a:pt x="624" y="864"/>
                  </a:lnTo>
                  <a:lnTo>
                    <a:pt x="657" y="871"/>
                  </a:lnTo>
                  <a:lnTo>
                    <a:pt x="638" y="833"/>
                  </a:lnTo>
                  <a:lnTo>
                    <a:pt x="659" y="807"/>
                  </a:lnTo>
                  <a:lnTo>
                    <a:pt x="659" y="807"/>
                  </a:lnTo>
                  <a:lnTo>
                    <a:pt x="659" y="807"/>
                  </a:lnTo>
                  <a:close/>
                  <a:moveTo>
                    <a:pt x="773" y="866"/>
                  </a:moveTo>
                  <a:lnTo>
                    <a:pt x="773" y="866"/>
                  </a:lnTo>
                  <a:lnTo>
                    <a:pt x="756" y="906"/>
                  </a:lnTo>
                  <a:lnTo>
                    <a:pt x="738" y="904"/>
                  </a:lnTo>
                  <a:lnTo>
                    <a:pt x="728" y="857"/>
                  </a:lnTo>
                  <a:lnTo>
                    <a:pt x="728" y="830"/>
                  </a:lnTo>
                  <a:lnTo>
                    <a:pt x="738" y="804"/>
                  </a:lnTo>
                  <a:lnTo>
                    <a:pt x="752" y="788"/>
                  </a:lnTo>
                  <a:lnTo>
                    <a:pt x="787" y="790"/>
                  </a:lnTo>
                  <a:lnTo>
                    <a:pt x="818" y="807"/>
                  </a:lnTo>
                  <a:lnTo>
                    <a:pt x="794" y="854"/>
                  </a:lnTo>
                  <a:lnTo>
                    <a:pt x="773" y="866"/>
                  </a:lnTo>
                  <a:lnTo>
                    <a:pt x="773" y="866"/>
                  </a:lnTo>
                  <a:lnTo>
                    <a:pt x="773" y="866"/>
                  </a:lnTo>
                  <a:close/>
                  <a:moveTo>
                    <a:pt x="333" y="939"/>
                  </a:moveTo>
                  <a:lnTo>
                    <a:pt x="333" y="939"/>
                  </a:lnTo>
                  <a:lnTo>
                    <a:pt x="290" y="963"/>
                  </a:lnTo>
                  <a:lnTo>
                    <a:pt x="281" y="942"/>
                  </a:lnTo>
                  <a:lnTo>
                    <a:pt x="243" y="916"/>
                  </a:lnTo>
                  <a:lnTo>
                    <a:pt x="250" y="892"/>
                  </a:lnTo>
                  <a:lnTo>
                    <a:pt x="262" y="852"/>
                  </a:lnTo>
                  <a:lnTo>
                    <a:pt x="276" y="816"/>
                  </a:lnTo>
                  <a:lnTo>
                    <a:pt x="260" y="781"/>
                  </a:lnTo>
                  <a:lnTo>
                    <a:pt x="314" y="771"/>
                  </a:lnTo>
                  <a:lnTo>
                    <a:pt x="338" y="783"/>
                  </a:lnTo>
                  <a:lnTo>
                    <a:pt x="380" y="786"/>
                  </a:lnTo>
                  <a:lnTo>
                    <a:pt x="395" y="804"/>
                  </a:lnTo>
                  <a:lnTo>
                    <a:pt x="413" y="828"/>
                  </a:lnTo>
                  <a:lnTo>
                    <a:pt x="392" y="842"/>
                  </a:lnTo>
                  <a:lnTo>
                    <a:pt x="352" y="880"/>
                  </a:lnTo>
                  <a:lnTo>
                    <a:pt x="333" y="916"/>
                  </a:lnTo>
                  <a:lnTo>
                    <a:pt x="333" y="939"/>
                  </a:lnTo>
                  <a:lnTo>
                    <a:pt x="333" y="939"/>
                  </a:lnTo>
                  <a:lnTo>
                    <a:pt x="333" y="939"/>
                  </a:lnTo>
                  <a:close/>
                  <a:moveTo>
                    <a:pt x="768" y="738"/>
                  </a:moveTo>
                  <a:lnTo>
                    <a:pt x="768" y="738"/>
                  </a:lnTo>
                  <a:lnTo>
                    <a:pt x="759" y="762"/>
                  </a:lnTo>
                  <a:lnTo>
                    <a:pt x="735" y="757"/>
                  </a:lnTo>
                  <a:lnTo>
                    <a:pt x="716" y="741"/>
                  </a:lnTo>
                  <a:lnTo>
                    <a:pt x="723" y="714"/>
                  </a:lnTo>
                  <a:lnTo>
                    <a:pt x="747" y="696"/>
                  </a:lnTo>
                  <a:lnTo>
                    <a:pt x="761" y="719"/>
                  </a:lnTo>
                  <a:lnTo>
                    <a:pt x="768" y="738"/>
                  </a:lnTo>
                  <a:lnTo>
                    <a:pt x="768" y="738"/>
                  </a:lnTo>
                  <a:lnTo>
                    <a:pt x="768" y="738"/>
                  </a:lnTo>
                  <a:close/>
                  <a:moveTo>
                    <a:pt x="688" y="622"/>
                  </a:moveTo>
                  <a:lnTo>
                    <a:pt x="688" y="622"/>
                  </a:lnTo>
                  <a:lnTo>
                    <a:pt x="700" y="655"/>
                  </a:lnTo>
                  <a:lnTo>
                    <a:pt x="702" y="688"/>
                  </a:lnTo>
                  <a:lnTo>
                    <a:pt x="693" y="736"/>
                  </a:lnTo>
                  <a:lnTo>
                    <a:pt x="667" y="743"/>
                  </a:lnTo>
                  <a:lnTo>
                    <a:pt x="650" y="733"/>
                  </a:lnTo>
                  <a:lnTo>
                    <a:pt x="650" y="696"/>
                  </a:lnTo>
                  <a:lnTo>
                    <a:pt x="624" y="703"/>
                  </a:lnTo>
                  <a:lnTo>
                    <a:pt x="622" y="651"/>
                  </a:lnTo>
                  <a:lnTo>
                    <a:pt x="641" y="653"/>
                  </a:lnTo>
                  <a:lnTo>
                    <a:pt x="664" y="629"/>
                  </a:lnTo>
                  <a:lnTo>
                    <a:pt x="688" y="634"/>
                  </a:lnTo>
                  <a:lnTo>
                    <a:pt x="688" y="622"/>
                  </a:lnTo>
                  <a:lnTo>
                    <a:pt x="688" y="622"/>
                  </a:lnTo>
                  <a:lnTo>
                    <a:pt x="688" y="622"/>
                  </a:lnTo>
                  <a:close/>
                  <a:moveTo>
                    <a:pt x="529" y="660"/>
                  </a:moveTo>
                  <a:lnTo>
                    <a:pt x="529" y="660"/>
                  </a:lnTo>
                  <a:lnTo>
                    <a:pt x="536" y="681"/>
                  </a:lnTo>
                  <a:lnTo>
                    <a:pt x="551" y="672"/>
                  </a:lnTo>
                  <a:lnTo>
                    <a:pt x="570" y="674"/>
                  </a:lnTo>
                  <a:lnTo>
                    <a:pt x="572" y="707"/>
                  </a:lnTo>
                  <a:lnTo>
                    <a:pt x="562" y="736"/>
                  </a:lnTo>
                  <a:lnTo>
                    <a:pt x="506" y="745"/>
                  </a:lnTo>
                  <a:lnTo>
                    <a:pt x="466" y="771"/>
                  </a:lnTo>
                  <a:lnTo>
                    <a:pt x="442" y="774"/>
                  </a:lnTo>
                  <a:lnTo>
                    <a:pt x="439" y="755"/>
                  </a:lnTo>
                  <a:lnTo>
                    <a:pt x="473" y="726"/>
                  </a:lnTo>
                  <a:lnTo>
                    <a:pt x="399" y="733"/>
                  </a:lnTo>
                  <a:lnTo>
                    <a:pt x="378" y="724"/>
                  </a:lnTo>
                  <a:lnTo>
                    <a:pt x="399" y="660"/>
                  </a:lnTo>
                  <a:lnTo>
                    <a:pt x="416" y="639"/>
                  </a:lnTo>
                  <a:lnTo>
                    <a:pt x="461" y="662"/>
                  </a:lnTo>
                  <a:lnTo>
                    <a:pt x="489" y="703"/>
                  </a:lnTo>
                  <a:lnTo>
                    <a:pt x="518" y="707"/>
                  </a:lnTo>
                  <a:lnTo>
                    <a:pt x="494" y="643"/>
                  </a:lnTo>
                  <a:lnTo>
                    <a:pt x="508" y="617"/>
                  </a:lnTo>
                  <a:lnTo>
                    <a:pt x="525" y="627"/>
                  </a:lnTo>
                  <a:lnTo>
                    <a:pt x="529" y="660"/>
                  </a:lnTo>
                  <a:lnTo>
                    <a:pt x="529" y="660"/>
                  </a:lnTo>
                  <a:lnTo>
                    <a:pt x="529" y="660"/>
                  </a:lnTo>
                  <a:close/>
                  <a:moveTo>
                    <a:pt x="749" y="596"/>
                  </a:moveTo>
                  <a:lnTo>
                    <a:pt x="749" y="596"/>
                  </a:lnTo>
                  <a:lnTo>
                    <a:pt x="768" y="620"/>
                  </a:lnTo>
                  <a:lnTo>
                    <a:pt x="799" y="620"/>
                  </a:lnTo>
                  <a:lnTo>
                    <a:pt x="813" y="641"/>
                  </a:lnTo>
                  <a:lnTo>
                    <a:pt x="811" y="667"/>
                  </a:lnTo>
                  <a:lnTo>
                    <a:pt x="827" y="681"/>
                  </a:lnTo>
                  <a:lnTo>
                    <a:pt x="839" y="698"/>
                  </a:lnTo>
                  <a:lnTo>
                    <a:pt x="861" y="703"/>
                  </a:lnTo>
                  <a:lnTo>
                    <a:pt x="884" y="707"/>
                  </a:lnTo>
                  <a:lnTo>
                    <a:pt x="910" y="693"/>
                  </a:lnTo>
                  <a:lnTo>
                    <a:pt x="943" y="686"/>
                  </a:lnTo>
                  <a:lnTo>
                    <a:pt x="969" y="691"/>
                  </a:lnTo>
                  <a:lnTo>
                    <a:pt x="988" y="714"/>
                  </a:lnTo>
                  <a:lnTo>
                    <a:pt x="991" y="743"/>
                  </a:lnTo>
                  <a:lnTo>
                    <a:pt x="981" y="757"/>
                  </a:lnTo>
                  <a:lnTo>
                    <a:pt x="955" y="771"/>
                  </a:lnTo>
                  <a:lnTo>
                    <a:pt x="936" y="764"/>
                  </a:lnTo>
                  <a:lnTo>
                    <a:pt x="889" y="774"/>
                  </a:lnTo>
                  <a:lnTo>
                    <a:pt x="856" y="774"/>
                  </a:lnTo>
                  <a:lnTo>
                    <a:pt x="830" y="767"/>
                  </a:lnTo>
                  <a:lnTo>
                    <a:pt x="787" y="745"/>
                  </a:lnTo>
                  <a:lnTo>
                    <a:pt x="780" y="712"/>
                  </a:lnTo>
                  <a:lnTo>
                    <a:pt x="778" y="681"/>
                  </a:lnTo>
                  <a:lnTo>
                    <a:pt x="764" y="651"/>
                  </a:lnTo>
                  <a:lnTo>
                    <a:pt x="728" y="643"/>
                  </a:lnTo>
                  <a:lnTo>
                    <a:pt x="711" y="622"/>
                  </a:lnTo>
                  <a:lnTo>
                    <a:pt x="716" y="591"/>
                  </a:lnTo>
                  <a:lnTo>
                    <a:pt x="749" y="596"/>
                  </a:lnTo>
                  <a:lnTo>
                    <a:pt x="749" y="596"/>
                  </a:lnTo>
                  <a:lnTo>
                    <a:pt x="749" y="596"/>
                  </a:lnTo>
                  <a:close/>
                  <a:moveTo>
                    <a:pt x="402" y="556"/>
                  </a:moveTo>
                  <a:lnTo>
                    <a:pt x="402" y="556"/>
                  </a:lnTo>
                  <a:lnTo>
                    <a:pt x="399" y="613"/>
                  </a:lnTo>
                  <a:lnTo>
                    <a:pt x="387" y="636"/>
                  </a:lnTo>
                  <a:lnTo>
                    <a:pt x="371" y="639"/>
                  </a:lnTo>
                  <a:lnTo>
                    <a:pt x="340" y="670"/>
                  </a:lnTo>
                  <a:lnTo>
                    <a:pt x="316" y="679"/>
                  </a:lnTo>
                  <a:lnTo>
                    <a:pt x="293" y="665"/>
                  </a:lnTo>
                  <a:lnTo>
                    <a:pt x="293" y="665"/>
                  </a:lnTo>
                  <a:lnTo>
                    <a:pt x="321" y="613"/>
                  </a:lnTo>
                  <a:lnTo>
                    <a:pt x="354" y="565"/>
                  </a:lnTo>
                  <a:lnTo>
                    <a:pt x="380" y="568"/>
                  </a:lnTo>
                  <a:lnTo>
                    <a:pt x="402" y="556"/>
                  </a:lnTo>
                  <a:lnTo>
                    <a:pt x="402" y="556"/>
                  </a:lnTo>
                  <a:lnTo>
                    <a:pt x="402" y="556"/>
                  </a:lnTo>
                  <a:close/>
                  <a:moveTo>
                    <a:pt x="764" y="565"/>
                  </a:moveTo>
                  <a:lnTo>
                    <a:pt x="764" y="565"/>
                  </a:lnTo>
                  <a:lnTo>
                    <a:pt x="756" y="568"/>
                  </a:lnTo>
                  <a:lnTo>
                    <a:pt x="726" y="563"/>
                  </a:lnTo>
                  <a:lnTo>
                    <a:pt x="721" y="542"/>
                  </a:lnTo>
                  <a:lnTo>
                    <a:pt x="754" y="544"/>
                  </a:lnTo>
                  <a:lnTo>
                    <a:pt x="766" y="558"/>
                  </a:lnTo>
                  <a:lnTo>
                    <a:pt x="764" y="565"/>
                  </a:lnTo>
                  <a:lnTo>
                    <a:pt x="764" y="565"/>
                  </a:lnTo>
                  <a:lnTo>
                    <a:pt x="764" y="565"/>
                  </a:lnTo>
                  <a:close/>
                  <a:moveTo>
                    <a:pt x="499" y="554"/>
                  </a:moveTo>
                  <a:lnTo>
                    <a:pt x="499" y="554"/>
                  </a:lnTo>
                  <a:lnTo>
                    <a:pt x="470" y="575"/>
                  </a:lnTo>
                  <a:lnTo>
                    <a:pt x="444" y="549"/>
                  </a:lnTo>
                  <a:lnTo>
                    <a:pt x="458" y="525"/>
                  </a:lnTo>
                  <a:lnTo>
                    <a:pt x="482" y="518"/>
                  </a:lnTo>
                  <a:lnTo>
                    <a:pt x="503" y="530"/>
                  </a:lnTo>
                  <a:lnTo>
                    <a:pt x="499" y="554"/>
                  </a:lnTo>
                  <a:lnTo>
                    <a:pt x="499" y="554"/>
                  </a:lnTo>
                  <a:lnTo>
                    <a:pt x="499" y="554"/>
                  </a:lnTo>
                  <a:close/>
                  <a:moveTo>
                    <a:pt x="508" y="483"/>
                  </a:moveTo>
                  <a:lnTo>
                    <a:pt x="508" y="483"/>
                  </a:lnTo>
                  <a:lnTo>
                    <a:pt x="487" y="497"/>
                  </a:lnTo>
                  <a:lnTo>
                    <a:pt x="461" y="497"/>
                  </a:lnTo>
                  <a:lnTo>
                    <a:pt x="461" y="487"/>
                  </a:lnTo>
                  <a:lnTo>
                    <a:pt x="477" y="461"/>
                  </a:lnTo>
                  <a:lnTo>
                    <a:pt x="487" y="466"/>
                  </a:lnTo>
                  <a:lnTo>
                    <a:pt x="508" y="483"/>
                  </a:lnTo>
                  <a:lnTo>
                    <a:pt x="508" y="483"/>
                  </a:lnTo>
                  <a:lnTo>
                    <a:pt x="508" y="483"/>
                  </a:lnTo>
                  <a:close/>
                  <a:moveTo>
                    <a:pt x="730" y="525"/>
                  </a:moveTo>
                  <a:lnTo>
                    <a:pt x="730" y="525"/>
                  </a:lnTo>
                  <a:lnTo>
                    <a:pt x="707" y="542"/>
                  </a:lnTo>
                  <a:lnTo>
                    <a:pt x="693" y="523"/>
                  </a:lnTo>
                  <a:lnTo>
                    <a:pt x="688" y="492"/>
                  </a:lnTo>
                  <a:lnTo>
                    <a:pt x="685" y="459"/>
                  </a:lnTo>
                  <a:lnTo>
                    <a:pt x="707" y="464"/>
                  </a:lnTo>
                  <a:lnTo>
                    <a:pt x="716" y="468"/>
                  </a:lnTo>
                  <a:lnTo>
                    <a:pt x="735" y="497"/>
                  </a:lnTo>
                  <a:lnTo>
                    <a:pt x="730" y="525"/>
                  </a:lnTo>
                  <a:lnTo>
                    <a:pt x="730" y="525"/>
                  </a:lnTo>
                  <a:lnTo>
                    <a:pt x="730" y="525"/>
                  </a:lnTo>
                  <a:close/>
                  <a:moveTo>
                    <a:pt x="664" y="504"/>
                  </a:moveTo>
                  <a:lnTo>
                    <a:pt x="664" y="504"/>
                  </a:lnTo>
                  <a:lnTo>
                    <a:pt x="669" y="537"/>
                  </a:lnTo>
                  <a:lnTo>
                    <a:pt x="643" y="528"/>
                  </a:lnTo>
                  <a:lnTo>
                    <a:pt x="617" y="501"/>
                  </a:lnTo>
                  <a:lnTo>
                    <a:pt x="581" y="499"/>
                  </a:lnTo>
                  <a:lnTo>
                    <a:pt x="596" y="475"/>
                  </a:lnTo>
                  <a:lnTo>
                    <a:pt x="577" y="454"/>
                  </a:lnTo>
                  <a:lnTo>
                    <a:pt x="574" y="423"/>
                  </a:lnTo>
                  <a:lnTo>
                    <a:pt x="607" y="435"/>
                  </a:lnTo>
                  <a:lnTo>
                    <a:pt x="650" y="466"/>
                  </a:lnTo>
                  <a:lnTo>
                    <a:pt x="664" y="504"/>
                  </a:lnTo>
                  <a:lnTo>
                    <a:pt x="664" y="504"/>
                  </a:lnTo>
                  <a:lnTo>
                    <a:pt x="664" y="504"/>
                  </a:lnTo>
                  <a:close/>
                  <a:moveTo>
                    <a:pt x="875" y="393"/>
                  </a:moveTo>
                  <a:lnTo>
                    <a:pt x="875" y="393"/>
                  </a:lnTo>
                  <a:lnTo>
                    <a:pt x="894" y="421"/>
                  </a:lnTo>
                  <a:lnTo>
                    <a:pt x="872" y="445"/>
                  </a:lnTo>
                  <a:lnTo>
                    <a:pt x="842" y="506"/>
                  </a:lnTo>
                  <a:lnTo>
                    <a:pt x="813" y="513"/>
                  </a:lnTo>
                  <a:lnTo>
                    <a:pt x="778" y="501"/>
                  </a:lnTo>
                  <a:lnTo>
                    <a:pt x="761" y="471"/>
                  </a:lnTo>
                  <a:lnTo>
                    <a:pt x="761" y="440"/>
                  </a:lnTo>
                  <a:lnTo>
                    <a:pt x="775" y="416"/>
                  </a:lnTo>
                  <a:lnTo>
                    <a:pt x="745" y="416"/>
                  </a:lnTo>
                  <a:lnTo>
                    <a:pt x="728" y="388"/>
                  </a:lnTo>
                  <a:lnTo>
                    <a:pt x="716" y="345"/>
                  </a:lnTo>
                  <a:lnTo>
                    <a:pt x="728" y="303"/>
                  </a:lnTo>
                  <a:lnTo>
                    <a:pt x="740" y="272"/>
                  </a:lnTo>
                  <a:lnTo>
                    <a:pt x="756" y="265"/>
                  </a:lnTo>
                  <a:lnTo>
                    <a:pt x="749" y="241"/>
                  </a:lnTo>
                  <a:lnTo>
                    <a:pt x="787" y="236"/>
                  </a:lnTo>
                  <a:lnTo>
                    <a:pt x="806" y="291"/>
                  </a:lnTo>
                  <a:lnTo>
                    <a:pt x="834" y="312"/>
                  </a:lnTo>
                  <a:lnTo>
                    <a:pt x="861" y="331"/>
                  </a:lnTo>
                  <a:lnTo>
                    <a:pt x="875" y="393"/>
                  </a:lnTo>
                  <a:lnTo>
                    <a:pt x="875" y="393"/>
                  </a:lnTo>
                  <a:lnTo>
                    <a:pt x="875" y="393"/>
                  </a:lnTo>
                  <a:close/>
                  <a:moveTo>
                    <a:pt x="1175" y="16"/>
                  </a:moveTo>
                  <a:lnTo>
                    <a:pt x="1175" y="16"/>
                  </a:lnTo>
                  <a:lnTo>
                    <a:pt x="1218" y="26"/>
                  </a:lnTo>
                  <a:lnTo>
                    <a:pt x="1253" y="45"/>
                  </a:lnTo>
                  <a:lnTo>
                    <a:pt x="1282" y="78"/>
                  </a:lnTo>
                  <a:lnTo>
                    <a:pt x="1282" y="111"/>
                  </a:lnTo>
                  <a:lnTo>
                    <a:pt x="1241" y="163"/>
                  </a:lnTo>
                  <a:lnTo>
                    <a:pt x="1203" y="184"/>
                  </a:lnTo>
                  <a:lnTo>
                    <a:pt x="1187" y="210"/>
                  </a:lnTo>
                  <a:lnTo>
                    <a:pt x="1222" y="210"/>
                  </a:lnTo>
                  <a:lnTo>
                    <a:pt x="1185" y="274"/>
                  </a:lnTo>
                  <a:lnTo>
                    <a:pt x="1159" y="300"/>
                  </a:lnTo>
                  <a:lnTo>
                    <a:pt x="1130" y="378"/>
                  </a:lnTo>
                  <a:lnTo>
                    <a:pt x="1097" y="393"/>
                  </a:lnTo>
                  <a:lnTo>
                    <a:pt x="1088" y="412"/>
                  </a:lnTo>
                  <a:lnTo>
                    <a:pt x="1038" y="421"/>
                  </a:lnTo>
                  <a:lnTo>
                    <a:pt x="1059" y="433"/>
                  </a:lnTo>
                  <a:lnTo>
                    <a:pt x="1050" y="447"/>
                  </a:lnTo>
                  <a:lnTo>
                    <a:pt x="1062" y="487"/>
                  </a:lnTo>
                  <a:lnTo>
                    <a:pt x="1047" y="516"/>
                  </a:lnTo>
                  <a:lnTo>
                    <a:pt x="1021" y="537"/>
                  </a:lnTo>
                  <a:lnTo>
                    <a:pt x="1014" y="568"/>
                  </a:lnTo>
                  <a:lnTo>
                    <a:pt x="991" y="589"/>
                  </a:lnTo>
                  <a:lnTo>
                    <a:pt x="993" y="606"/>
                  </a:lnTo>
                  <a:lnTo>
                    <a:pt x="1021" y="603"/>
                  </a:lnTo>
                  <a:lnTo>
                    <a:pt x="1021" y="620"/>
                  </a:lnTo>
                  <a:lnTo>
                    <a:pt x="979" y="660"/>
                  </a:lnTo>
                  <a:lnTo>
                    <a:pt x="936" y="641"/>
                  </a:lnTo>
                  <a:lnTo>
                    <a:pt x="889" y="653"/>
                  </a:lnTo>
                  <a:lnTo>
                    <a:pt x="865" y="643"/>
                  </a:lnTo>
                  <a:lnTo>
                    <a:pt x="834" y="641"/>
                  </a:lnTo>
                  <a:lnTo>
                    <a:pt x="832" y="608"/>
                  </a:lnTo>
                  <a:lnTo>
                    <a:pt x="863" y="591"/>
                  </a:lnTo>
                  <a:lnTo>
                    <a:pt x="853" y="537"/>
                  </a:lnTo>
                  <a:lnTo>
                    <a:pt x="863" y="532"/>
                  </a:lnTo>
                  <a:lnTo>
                    <a:pt x="908" y="565"/>
                  </a:lnTo>
                  <a:lnTo>
                    <a:pt x="884" y="516"/>
                  </a:lnTo>
                  <a:lnTo>
                    <a:pt x="858" y="501"/>
                  </a:lnTo>
                  <a:lnTo>
                    <a:pt x="872" y="468"/>
                  </a:lnTo>
                  <a:lnTo>
                    <a:pt x="901" y="449"/>
                  </a:lnTo>
                  <a:lnTo>
                    <a:pt x="905" y="419"/>
                  </a:lnTo>
                  <a:lnTo>
                    <a:pt x="882" y="385"/>
                  </a:lnTo>
                  <a:lnTo>
                    <a:pt x="875" y="336"/>
                  </a:lnTo>
                  <a:lnTo>
                    <a:pt x="920" y="341"/>
                  </a:lnTo>
                  <a:lnTo>
                    <a:pt x="934" y="350"/>
                  </a:lnTo>
                  <a:lnTo>
                    <a:pt x="957" y="317"/>
                  </a:lnTo>
                  <a:lnTo>
                    <a:pt x="922" y="305"/>
                  </a:lnTo>
                  <a:lnTo>
                    <a:pt x="865" y="312"/>
                  </a:lnTo>
                  <a:lnTo>
                    <a:pt x="837" y="279"/>
                  </a:lnTo>
                  <a:lnTo>
                    <a:pt x="823" y="236"/>
                  </a:lnTo>
                  <a:lnTo>
                    <a:pt x="804" y="203"/>
                  </a:lnTo>
                  <a:lnTo>
                    <a:pt x="799" y="165"/>
                  </a:lnTo>
                  <a:lnTo>
                    <a:pt x="825" y="144"/>
                  </a:lnTo>
                  <a:lnTo>
                    <a:pt x="844" y="139"/>
                  </a:lnTo>
                  <a:lnTo>
                    <a:pt x="875" y="120"/>
                  </a:lnTo>
                  <a:lnTo>
                    <a:pt x="898" y="75"/>
                  </a:lnTo>
                  <a:lnTo>
                    <a:pt x="920" y="83"/>
                  </a:lnTo>
                  <a:lnTo>
                    <a:pt x="936" y="116"/>
                  </a:lnTo>
                  <a:lnTo>
                    <a:pt x="948" y="49"/>
                  </a:lnTo>
                  <a:lnTo>
                    <a:pt x="969" y="28"/>
                  </a:lnTo>
                  <a:lnTo>
                    <a:pt x="1000" y="14"/>
                  </a:lnTo>
                  <a:lnTo>
                    <a:pt x="1047" y="7"/>
                  </a:lnTo>
                  <a:lnTo>
                    <a:pt x="1057" y="23"/>
                  </a:lnTo>
                  <a:lnTo>
                    <a:pt x="1104" y="0"/>
                  </a:lnTo>
                  <a:lnTo>
                    <a:pt x="1140" y="9"/>
                  </a:lnTo>
                  <a:lnTo>
                    <a:pt x="1175" y="16"/>
                  </a:lnTo>
                  <a:lnTo>
                    <a:pt x="1175" y="16"/>
                  </a:lnTo>
                  <a:lnTo>
                    <a:pt x="1175" y="1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271;p30">
              <a:extLst>
                <a:ext uri="{FF2B5EF4-FFF2-40B4-BE49-F238E27FC236}">
                  <a16:creationId xmlns:a16="http://schemas.microsoft.com/office/drawing/2014/main" id="{F349948B-C674-B4F4-3EDD-BFA3794D5A53}"/>
                </a:ext>
              </a:extLst>
            </p:cNvPr>
            <p:cNvSpPr/>
            <p:nvPr/>
          </p:nvSpPr>
          <p:spPr>
            <a:xfrm>
              <a:off x="2312822" y="4407667"/>
              <a:ext cx="238610" cy="1351559"/>
            </a:xfrm>
            <a:custGeom>
              <a:avLst/>
              <a:gdLst/>
              <a:ahLst/>
              <a:cxnLst/>
              <a:rect l="l" t="t" r="r" b="b"/>
              <a:pathLst>
                <a:path w="140" h="793" extrusionOk="0">
                  <a:moveTo>
                    <a:pt x="114" y="710"/>
                  </a:moveTo>
                  <a:lnTo>
                    <a:pt x="114" y="710"/>
                  </a:lnTo>
                  <a:lnTo>
                    <a:pt x="114" y="772"/>
                  </a:lnTo>
                  <a:lnTo>
                    <a:pt x="130" y="772"/>
                  </a:lnTo>
                  <a:lnTo>
                    <a:pt x="140" y="772"/>
                  </a:lnTo>
                  <a:lnTo>
                    <a:pt x="135" y="784"/>
                  </a:lnTo>
                  <a:lnTo>
                    <a:pt x="121" y="793"/>
                  </a:lnTo>
                  <a:lnTo>
                    <a:pt x="114" y="791"/>
                  </a:lnTo>
                  <a:lnTo>
                    <a:pt x="104" y="788"/>
                  </a:lnTo>
                  <a:lnTo>
                    <a:pt x="90" y="781"/>
                  </a:lnTo>
                  <a:lnTo>
                    <a:pt x="74" y="776"/>
                  </a:lnTo>
                  <a:lnTo>
                    <a:pt x="55" y="762"/>
                  </a:lnTo>
                  <a:lnTo>
                    <a:pt x="38" y="746"/>
                  </a:lnTo>
                  <a:lnTo>
                    <a:pt x="14" y="717"/>
                  </a:lnTo>
                  <a:lnTo>
                    <a:pt x="29" y="722"/>
                  </a:lnTo>
                  <a:lnTo>
                    <a:pt x="52" y="741"/>
                  </a:lnTo>
                  <a:lnTo>
                    <a:pt x="71" y="750"/>
                  </a:lnTo>
                  <a:lnTo>
                    <a:pt x="81" y="739"/>
                  </a:lnTo>
                  <a:lnTo>
                    <a:pt x="88" y="720"/>
                  </a:lnTo>
                  <a:lnTo>
                    <a:pt x="102" y="708"/>
                  </a:lnTo>
                  <a:lnTo>
                    <a:pt x="114" y="710"/>
                  </a:lnTo>
                  <a:close/>
                  <a:moveTo>
                    <a:pt x="118" y="66"/>
                  </a:moveTo>
                  <a:lnTo>
                    <a:pt x="118" y="66"/>
                  </a:lnTo>
                  <a:lnTo>
                    <a:pt x="126" y="90"/>
                  </a:lnTo>
                  <a:lnTo>
                    <a:pt x="137" y="88"/>
                  </a:lnTo>
                  <a:lnTo>
                    <a:pt x="140" y="92"/>
                  </a:lnTo>
                  <a:lnTo>
                    <a:pt x="135" y="111"/>
                  </a:lnTo>
                  <a:lnTo>
                    <a:pt x="116" y="118"/>
                  </a:lnTo>
                  <a:lnTo>
                    <a:pt x="116" y="149"/>
                  </a:lnTo>
                  <a:lnTo>
                    <a:pt x="114" y="154"/>
                  </a:lnTo>
                  <a:lnTo>
                    <a:pt x="118" y="161"/>
                  </a:lnTo>
                  <a:lnTo>
                    <a:pt x="107" y="173"/>
                  </a:lnTo>
                  <a:lnTo>
                    <a:pt x="95" y="189"/>
                  </a:lnTo>
                  <a:lnTo>
                    <a:pt x="90" y="206"/>
                  </a:lnTo>
                  <a:lnTo>
                    <a:pt x="92" y="225"/>
                  </a:lnTo>
                  <a:lnTo>
                    <a:pt x="83" y="244"/>
                  </a:lnTo>
                  <a:lnTo>
                    <a:pt x="90" y="277"/>
                  </a:lnTo>
                  <a:lnTo>
                    <a:pt x="92" y="282"/>
                  </a:lnTo>
                  <a:lnTo>
                    <a:pt x="92" y="298"/>
                  </a:lnTo>
                  <a:lnTo>
                    <a:pt x="85" y="317"/>
                  </a:lnTo>
                  <a:lnTo>
                    <a:pt x="85" y="334"/>
                  </a:lnTo>
                  <a:lnTo>
                    <a:pt x="71" y="346"/>
                  </a:lnTo>
                  <a:lnTo>
                    <a:pt x="71" y="365"/>
                  </a:lnTo>
                  <a:lnTo>
                    <a:pt x="78" y="386"/>
                  </a:lnTo>
                  <a:lnTo>
                    <a:pt x="66" y="393"/>
                  </a:lnTo>
                  <a:lnTo>
                    <a:pt x="64" y="410"/>
                  </a:lnTo>
                  <a:lnTo>
                    <a:pt x="59" y="433"/>
                  </a:lnTo>
                  <a:lnTo>
                    <a:pt x="62" y="459"/>
                  </a:lnTo>
                  <a:lnTo>
                    <a:pt x="57" y="464"/>
                  </a:lnTo>
                  <a:lnTo>
                    <a:pt x="59" y="488"/>
                  </a:lnTo>
                  <a:lnTo>
                    <a:pt x="66" y="497"/>
                  </a:lnTo>
                  <a:lnTo>
                    <a:pt x="62" y="507"/>
                  </a:lnTo>
                  <a:lnTo>
                    <a:pt x="69" y="511"/>
                  </a:lnTo>
                  <a:lnTo>
                    <a:pt x="71" y="518"/>
                  </a:lnTo>
                  <a:lnTo>
                    <a:pt x="64" y="523"/>
                  </a:lnTo>
                  <a:lnTo>
                    <a:pt x="64" y="537"/>
                  </a:lnTo>
                  <a:lnTo>
                    <a:pt x="59" y="568"/>
                  </a:lnTo>
                  <a:lnTo>
                    <a:pt x="52" y="587"/>
                  </a:lnTo>
                  <a:lnTo>
                    <a:pt x="52" y="599"/>
                  </a:lnTo>
                  <a:lnTo>
                    <a:pt x="48" y="616"/>
                  </a:lnTo>
                  <a:lnTo>
                    <a:pt x="36" y="627"/>
                  </a:lnTo>
                  <a:lnTo>
                    <a:pt x="38" y="653"/>
                  </a:lnTo>
                  <a:lnTo>
                    <a:pt x="43" y="663"/>
                  </a:lnTo>
                  <a:lnTo>
                    <a:pt x="52" y="660"/>
                  </a:lnTo>
                  <a:lnTo>
                    <a:pt x="52" y="679"/>
                  </a:lnTo>
                  <a:lnTo>
                    <a:pt x="59" y="696"/>
                  </a:lnTo>
                  <a:lnTo>
                    <a:pt x="100" y="698"/>
                  </a:lnTo>
                  <a:lnTo>
                    <a:pt x="114" y="701"/>
                  </a:lnTo>
                  <a:lnTo>
                    <a:pt x="100" y="701"/>
                  </a:lnTo>
                  <a:lnTo>
                    <a:pt x="90" y="708"/>
                  </a:lnTo>
                  <a:lnTo>
                    <a:pt x="76" y="717"/>
                  </a:lnTo>
                  <a:lnTo>
                    <a:pt x="74" y="743"/>
                  </a:lnTo>
                  <a:lnTo>
                    <a:pt x="66" y="743"/>
                  </a:lnTo>
                  <a:lnTo>
                    <a:pt x="50" y="736"/>
                  </a:lnTo>
                  <a:lnTo>
                    <a:pt x="31" y="717"/>
                  </a:lnTo>
                  <a:lnTo>
                    <a:pt x="31" y="717"/>
                  </a:lnTo>
                  <a:lnTo>
                    <a:pt x="12" y="701"/>
                  </a:lnTo>
                  <a:lnTo>
                    <a:pt x="5" y="684"/>
                  </a:lnTo>
                  <a:lnTo>
                    <a:pt x="10" y="670"/>
                  </a:lnTo>
                  <a:lnTo>
                    <a:pt x="3" y="653"/>
                  </a:lnTo>
                  <a:lnTo>
                    <a:pt x="0" y="611"/>
                  </a:lnTo>
                  <a:lnTo>
                    <a:pt x="7" y="587"/>
                  </a:lnTo>
                  <a:lnTo>
                    <a:pt x="24" y="568"/>
                  </a:lnTo>
                  <a:lnTo>
                    <a:pt x="0" y="561"/>
                  </a:lnTo>
                  <a:lnTo>
                    <a:pt x="14" y="542"/>
                  </a:lnTo>
                  <a:lnTo>
                    <a:pt x="19" y="504"/>
                  </a:lnTo>
                  <a:lnTo>
                    <a:pt x="38" y="511"/>
                  </a:lnTo>
                  <a:lnTo>
                    <a:pt x="48" y="466"/>
                  </a:lnTo>
                  <a:lnTo>
                    <a:pt x="36" y="459"/>
                  </a:lnTo>
                  <a:lnTo>
                    <a:pt x="31" y="488"/>
                  </a:lnTo>
                  <a:lnTo>
                    <a:pt x="21" y="485"/>
                  </a:lnTo>
                  <a:lnTo>
                    <a:pt x="26" y="452"/>
                  </a:lnTo>
                  <a:lnTo>
                    <a:pt x="31" y="414"/>
                  </a:lnTo>
                  <a:lnTo>
                    <a:pt x="38" y="400"/>
                  </a:lnTo>
                  <a:lnTo>
                    <a:pt x="33" y="379"/>
                  </a:lnTo>
                  <a:lnTo>
                    <a:pt x="33" y="358"/>
                  </a:lnTo>
                  <a:lnTo>
                    <a:pt x="38" y="355"/>
                  </a:lnTo>
                  <a:lnTo>
                    <a:pt x="50" y="324"/>
                  </a:lnTo>
                  <a:lnTo>
                    <a:pt x="59" y="294"/>
                  </a:lnTo>
                  <a:lnTo>
                    <a:pt x="66" y="263"/>
                  </a:lnTo>
                  <a:lnTo>
                    <a:pt x="64" y="237"/>
                  </a:lnTo>
                  <a:lnTo>
                    <a:pt x="69" y="220"/>
                  </a:lnTo>
                  <a:lnTo>
                    <a:pt x="66" y="197"/>
                  </a:lnTo>
                  <a:lnTo>
                    <a:pt x="76" y="175"/>
                  </a:lnTo>
                  <a:lnTo>
                    <a:pt x="78" y="140"/>
                  </a:lnTo>
                  <a:lnTo>
                    <a:pt x="85" y="104"/>
                  </a:lnTo>
                  <a:lnTo>
                    <a:pt x="90" y="64"/>
                  </a:lnTo>
                  <a:lnTo>
                    <a:pt x="88" y="36"/>
                  </a:lnTo>
                  <a:lnTo>
                    <a:pt x="85" y="12"/>
                  </a:lnTo>
                  <a:lnTo>
                    <a:pt x="92" y="10"/>
                  </a:lnTo>
                  <a:lnTo>
                    <a:pt x="97" y="0"/>
                  </a:lnTo>
                  <a:lnTo>
                    <a:pt x="104" y="10"/>
                  </a:lnTo>
                  <a:lnTo>
                    <a:pt x="107" y="24"/>
                  </a:lnTo>
                  <a:lnTo>
                    <a:pt x="116" y="31"/>
                  </a:lnTo>
                  <a:lnTo>
                    <a:pt x="111" y="47"/>
                  </a:lnTo>
                  <a:lnTo>
                    <a:pt x="118" y="6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272;p30">
              <a:extLst>
                <a:ext uri="{FF2B5EF4-FFF2-40B4-BE49-F238E27FC236}">
                  <a16:creationId xmlns:a16="http://schemas.microsoft.com/office/drawing/2014/main" id="{EDBB60E6-3E15-C2C5-5817-3E5D4BE63B71}"/>
                </a:ext>
              </a:extLst>
            </p:cNvPr>
            <p:cNvSpPr/>
            <p:nvPr/>
          </p:nvSpPr>
          <p:spPr>
            <a:xfrm>
              <a:off x="4161195" y="3631332"/>
              <a:ext cx="165324" cy="170436"/>
            </a:xfrm>
            <a:custGeom>
              <a:avLst/>
              <a:gdLst/>
              <a:ahLst/>
              <a:cxnLst/>
              <a:rect l="l" t="t" r="r" b="b"/>
              <a:pathLst>
                <a:path w="97" h="100" extrusionOk="0">
                  <a:moveTo>
                    <a:pt x="38" y="0"/>
                  </a:moveTo>
                  <a:lnTo>
                    <a:pt x="38" y="0"/>
                  </a:lnTo>
                  <a:lnTo>
                    <a:pt x="40" y="7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9" y="5"/>
                  </a:lnTo>
                  <a:lnTo>
                    <a:pt x="61" y="10"/>
                  </a:lnTo>
                  <a:lnTo>
                    <a:pt x="68" y="14"/>
                  </a:lnTo>
                  <a:lnTo>
                    <a:pt x="76" y="10"/>
                  </a:lnTo>
                  <a:lnTo>
                    <a:pt x="80" y="10"/>
                  </a:lnTo>
                  <a:lnTo>
                    <a:pt x="92" y="14"/>
                  </a:lnTo>
                  <a:lnTo>
                    <a:pt x="97" y="38"/>
                  </a:lnTo>
                  <a:lnTo>
                    <a:pt x="90" y="50"/>
                  </a:lnTo>
                  <a:lnTo>
                    <a:pt x="85" y="69"/>
                  </a:lnTo>
                  <a:lnTo>
                    <a:pt x="92" y="83"/>
                  </a:lnTo>
                  <a:lnTo>
                    <a:pt x="92" y="88"/>
                  </a:lnTo>
                  <a:lnTo>
                    <a:pt x="85" y="88"/>
                  </a:lnTo>
                  <a:lnTo>
                    <a:pt x="73" y="85"/>
                  </a:lnTo>
                  <a:lnTo>
                    <a:pt x="64" y="85"/>
                  </a:lnTo>
                  <a:lnTo>
                    <a:pt x="42" y="88"/>
                  </a:lnTo>
                  <a:lnTo>
                    <a:pt x="33" y="95"/>
                  </a:lnTo>
                  <a:lnTo>
                    <a:pt x="16" y="100"/>
                  </a:lnTo>
                  <a:lnTo>
                    <a:pt x="14" y="97"/>
                  </a:lnTo>
                  <a:lnTo>
                    <a:pt x="14" y="85"/>
                  </a:lnTo>
                  <a:lnTo>
                    <a:pt x="16" y="83"/>
                  </a:lnTo>
                  <a:lnTo>
                    <a:pt x="16" y="78"/>
                  </a:lnTo>
                  <a:lnTo>
                    <a:pt x="7" y="71"/>
                  </a:lnTo>
                  <a:lnTo>
                    <a:pt x="2" y="69"/>
                  </a:lnTo>
                  <a:lnTo>
                    <a:pt x="0" y="64"/>
                  </a:lnTo>
                  <a:lnTo>
                    <a:pt x="2" y="57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5" y="45"/>
                  </a:lnTo>
                  <a:lnTo>
                    <a:pt x="5" y="38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12" y="31"/>
                  </a:lnTo>
                  <a:lnTo>
                    <a:pt x="7" y="19"/>
                  </a:lnTo>
                  <a:lnTo>
                    <a:pt x="2" y="12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3"/>
                  </a:lnTo>
                  <a:lnTo>
                    <a:pt x="14" y="5"/>
                  </a:lnTo>
                  <a:lnTo>
                    <a:pt x="26" y="5"/>
                  </a:lnTo>
                  <a:lnTo>
                    <a:pt x="31" y="0"/>
                  </a:lnTo>
                  <a:lnTo>
                    <a:pt x="3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273;p30">
              <a:extLst>
                <a:ext uri="{FF2B5EF4-FFF2-40B4-BE49-F238E27FC236}">
                  <a16:creationId xmlns:a16="http://schemas.microsoft.com/office/drawing/2014/main" id="{61F82B98-D850-A395-F271-E78ED3603EA2}"/>
                </a:ext>
              </a:extLst>
            </p:cNvPr>
            <p:cNvSpPr/>
            <p:nvPr/>
          </p:nvSpPr>
          <p:spPr>
            <a:xfrm>
              <a:off x="2218231" y="3575088"/>
              <a:ext cx="334054" cy="460178"/>
            </a:xfrm>
            <a:custGeom>
              <a:avLst/>
              <a:gdLst/>
              <a:ahLst/>
              <a:cxnLst/>
              <a:rect l="l" t="t" r="r" b="b"/>
              <a:pathLst>
                <a:path w="196" h="270" extrusionOk="0">
                  <a:moveTo>
                    <a:pt x="113" y="14"/>
                  </a:moveTo>
                  <a:lnTo>
                    <a:pt x="113" y="14"/>
                  </a:lnTo>
                  <a:lnTo>
                    <a:pt x="109" y="21"/>
                  </a:lnTo>
                  <a:lnTo>
                    <a:pt x="102" y="26"/>
                  </a:lnTo>
                  <a:lnTo>
                    <a:pt x="97" y="33"/>
                  </a:lnTo>
                  <a:lnTo>
                    <a:pt x="94" y="45"/>
                  </a:lnTo>
                  <a:lnTo>
                    <a:pt x="92" y="55"/>
                  </a:lnTo>
                  <a:lnTo>
                    <a:pt x="99" y="55"/>
                  </a:lnTo>
                  <a:lnTo>
                    <a:pt x="102" y="62"/>
                  </a:lnTo>
                  <a:lnTo>
                    <a:pt x="106" y="66"/>
                  </a:lnTo>
                  <a:lnTo>
                    <a:pt x="106" y="74"/>
                  </a:lnTo>
                  <a:lnTo>
                    <a:pt x="104" y="78"/>
                  </a:lnTo>
                  <a:lnTo>
                    <a:pt x="106" y="81"/>
                  </a:lnTo>
                  <a:lnTo>
                    <a:pt x="109" y="83"/>
                  </a:lnTo>
                  <a:lnTo>
                    <a:pt x="113" y="90"/>
                  </a:lnTo>
                  <a:lnTo>
                    <a:pt x="135" y="88"/>
                  </a:lnTo>
                  <a:lnTo>
                    <a:pt x="144" y="90"/>
                  </a:lnTo>
                  <a:lnTo>
                    <a:pt x="154" y="104"/>
                  </a:lnTo>
                  <a:lnTo>
                    <a:pt x="161" y="102"/>
                  </a:lnTo>
                  <a:lnTo>
                    <a:pt x="172" y="102"/>
                  </a:lnTo>
                  <a:lnTo>
                    <a:pt x="182" y="100"/>
                  </a:lnTo>
                  <a:lnTo>
                    <a:pt x="187" y="104"/>
                  </a:lnTo>
                  <a:lnTo>
                    <a:pt x="184" y="114"/>
                  </a:lnTo>
                  <a:lnTo>
                    <a:pt x="182" y="118"/>
                  </a:lnTo>
                  <a:lnTo>
                    <a:pt x="180" y="128"/>
                  </a:lnTo>
                  <a:lnTo>
                    <a:pt x="182" y="140"/>
                  </a:lnTo>
                  <a:lnTo>
                    <a:pt x="189" y="145"/>
                  </a:lnTo>
                  <a:lnTo>
                    <a:pt x="189" y="149"/>
                  </a:lnTo>
                  <a:lnTo>
                    <a:pt x="180" y="156"/>
                  </a:lnTo>
                  <a:lnTo>
                    <a:pt x="187" y="159"/>
                  </a:lnTo>
                  <a:lnTo>
                    <a:pt x="191" y="166"/>
                  </a:lnTo>
                  <a:lnTo>
                    <a:pt x="196" y="182"/>
                  </a:lnTo>
                  <a:lnTo>
                    <a:pt x="191" y="182"/>
                  </a:lnTo>
                  <a:lnTo>
                    <a:pt x="189" y="173"/>
                  </a:lnTo>
                  <a:lnTo>
                    <a:pt x="184" y="168"/>
                  </a:lnTo>
                  <a:lnTo>
                    <a:pt x="180" y="175"/>
                  </a:lnTo>
                  <a:lnTo>
                    <a:pt x="149" y="173"/>
                  </a:lnTo>
                  <a:lnTo>
                    <a:pt x="149" y="185"/>
                  </a:lnTo>
                  <a:lnTo>
                    <a:pt x="158" y="185"/>
                  </a:lnTo>
                  <a:lnTo>
                    <a:pt x="156" y="192"/>
                  </a:lnTo>
                  <a:lnTo>
                    <a:pt x="154" y="189"/>
                  </a:lnTo>
                  <a:lnTo>
                    <a:pt x="144" y="192"/>
                  </a:lnTo>
                  <a:lnTo>
                    <a:pt x="144" y="204"/>
                  </a:lnTo>
                  <a:lnTo>
                    <a:pt x="151" y="211"/>
                  </a:lnTo>
                  <a:lnTo>
                    <a:pt x="154" y="220"/>
                  </a:lnTo>
                  <a:lnTo>
                    <a:pt x="154" y="227"/>
                  </a:lnTo>
                  <a:lnTo>
                    <a:pt x="146" y="270"/>
                  </a:lnTo>
                  <a:lnTo>
                    <a:pt x="139" y="261"/>
                  </a:lnTo>
                  <a:lnTo>
                    <a:pt x="132" y="261"/>
                  </a:lnTo>
                  <a:lnTo>
                    <a:pt x="144" y="246"/>
                  </a:lnTo>
                  <a:lnTo>
                    <a:pt x="132" y="237"/>
                  </a:lnTo>
                  <a:lnTo>
                    <a:pt x="123" y="239"/>
                  </a:lnTo>
                  <a:lnTo>
                    <a:pt x="116" y="237"/>
                  </a:lnTo>
                  <a:lnTo>
                    <a:pt x="106" y="242"/>
                  </a:lnTo>
                  <a:lnTo>
                    <a:pt x="94" y="239"/>
                  </a:lnTo>
                  <a:lnTo>
                    <a:pt x="85" y="223"/>
                  </a:lnTo>
                  <a:lnTo>
                    <a:pt x="78" y="218"/>
                  </a:lnTo>
                  <a:lnTo>
                    <a:pt x="73" y="211"/>
                  </a:lnTo>
                  <a:lnTo>
                    <a:pt x="61" y="201"/>
                  </a:lnTo>
                  <a:lnTo>
                    <a:pt x="59" y="204"/>
                  </a:lnTo>
                  <a:lnTo>
                    <a:pt x="49" y="199"/>
                  </a:lnTo>
                  <a:lnTo>
                    <a:pt x="42" y="194"/>
                  </a:lnTo>
                  <a:lnTo>
                    <a:pt x="38" y="199"/>
                  </a:lnTo>
                  <a:lnTo>
                    <a:pt x="23" y="197"/>
                  </a:lnTo>
                  <a:lnTo>
                    <a:pt x="21" y="187"/>
                  </a:lnTo>
                  <a:lnTo>
                    <a:pt x="16" y="189"/>
                  </a:lnTo>
                  <a:lnTo>
                    <a:pt x="2" y="180"/>
                  </a:lnTo>
                  <a:lnTo>
                    <a:pt x="0" y="175"/>
                  </a:lnTo>
                  <a:lnTo>
                    <a:pt x="5" y="173"/>
                  </a:lnTo>
                  <a:lnTo>
                    <a:pt x="5" y="166"/>
                  </a:lnTo>
                  <a:lnTo>
                    <a:pt x="9" y="159"/>
                  </a:lnTo>
                  <a:lnTo>
                    <a:pt x="16" y="159"/>
                  </a:lnTo>
                  <a:lnTo>
                    <a:pt x="23" y="149"/>
                  </a:lnTo>
                  <a:lnTo>
                    <a:pt x="31" y="140"/>
                  </a:lnTo>
                  <a:lnTo>
                    <a:pt x="23" y="135"/>
                  </a:lnTo>
                  <a:lnTo>
                    <a:pt x="26" y="126"/>
                  </a:lnTo>
                  <a:lnTo>
                    <a:pt x="23" y="111"/>
                  </a:lnTo>
                  <a:lnTo>
                    <a:pt x="26" y="107"/>
                  </a:lnTo>
                  <a:lnTo>
                    <a:pt x="23" y="95"/>
                  </a:lnTo>
                  <a:lnTo>
                    <a:pt x="16" y="85"/>
                  </a:lnTo>
                  <a:lnTo>
                    <a:pt x="19" y="78"/>
                  </a:lnTo>
                  <a:lnTo>
                    <a:pt x="23" y="78"/>
                  </a:lnTo>
                  <a:lnTo>
                    <a:pt x="28" y="74"/>
                  </a:lnTo>
                  <a:lnTo>
                    <a:pt x="23" y="64"/>
                  </a:lnTo>
                  <a:lnTo>
                    <a:pt x="26" y="62"/>
                  </a:lnTo>
                  <a:lnTo>
                    <a:pt x="33" y="62"/>
                  </a:lnTo>
                  <a:lnTo>
                    <a:pt x="45" y="52"/>
                  </a:lnTo>
                  <a:lnTo>
                    <a:pt x="52" y="50"/>
                  </a:lnTo>
                  <a:lnTo>
                    <a:pt x="52" y="43"/>
                  </a:lnTo>
                  <a:lnTo>
                    <a:pt x="57" y="31"/>
                  </a:lnTo>
                  <a:lnTo>
                    <a:pt x="66" y="21"/>
                  </a:lnTo>
                  <a:lnTo>
                    <a:pt x="75" y="21"/>
                  </a:lnTo>
                  <a:lnTo>
                    <a:pt x="78" y="19"/>
                  </a:lnTo>
                  <a:lnTo>
                    <a:pt x="90" y="19"/>
                  </a:lnTo>
                  <a:lnTo>
                    <a:pt x="102" y="12"/>
                  </a:lnTo>
                  <a:lnTo>
                    <a:pt x="109" y="7"/>
                  </a:lnTo>
                  <a:lnTo>
                    <a:pt x="116" y="0"/>
                  </a:lnTo>
                  <a:lnTo>
                    <a:pt x="123" y="3"/>
                  </a:lnTo>
                  <a:lnTo>
                    <a:pt x="125" y="5"/>
                  </a:lnTo>
                  <a:lnTo>
                    <a:pt x="123" y="12"/>
                  </a:lnTo>
                  <a:lnTo>
                    <a:pt x="113" y="1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274;p30">
              <a:extLst>
                <a:ext uri="{FF2B5EF4-FFF2-40B4-BE49-F238E27FC236}">
                  <a16:creationId xmlns:a16="http://schemas.microsoft.com/office/drawing/2014/main" id="{52BD8975-908D-06C3-562C-0D83BDBBD08F}"/>
                </a:ext>
              </a:extLst>
            </p:cNvPr>
            <p:cNvSpPr/>
            <p:nvPr/>
          </p:nvSpPr>
          <p:spPr>
            <a:xfrm>
              <a:off x="2023934" y="3610880"/>
              <a:ext cx="97149" cy="81810"/>
            </a:xfrm>
            <a:custGeom>
              <a:avLst/>
              <a:gdLst/>
              <a:ahLst/>
              <a:cxnLst/>
              <a:rect l="l" t="t" r="r" b="b"/>
              <a:pathLst>
                <a:path w="57" h="48" extrusionOk="0">
                  <a:moveTo>
                    <a:pt x="7" y="0"/>
                  </a:moveTo>
                  <a:lnTo>
                    <a:pt x="7" y="0"/>
                  </a:lnTo>
                  <a:lnTo>
                    <a:pt x="17" y="5"/>
                  </a:lnTo>
                  <a:lnTo>
                    <a:pt x="22" y="3"/>
                  </a:lnTo>
                  <a:lnTo>
                    <a:pt x="26" y="3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8" y="5"/>
                  </a:lnTo>
                  <a:lnTo>
                    <a:pt x="43" y="12"/>
                  </a:lnTo>
                  <a:lnTo>
                    <a:pt x="48" y="19"/>
                  </a:lnTo>
                  <a:lnTo>
                    <a:pt x="57" y="26"/>
                  </a:lnTo>
                  <a:lnTo>
                    <a:pt x="50" y="29"/>
                  </a:lnTo>
                  <a:lnTo>
                    <a:pt x="50" y="34"/>
                  </a:lnTo>
                  <a:lnTo>
                    <a:pt x="52" y="36"/>
                  </a:lnTo>
                  <a:lnTo>
                    <a:pt x="50" y="38"/>
                  </a:lnTo>
                  <a:lnTo>
                    <a:pt x="52" y="43"/>
                  </a:lnTo>
                  <a:lnTo>
                    <a:pt x="50" y="45"/>
                  </a:lnTo>
                  <a:lnTo>
                    <a:pt x="50" y="48"/>
                  </a:lnTo>
                  <a:lnTo>
                    <a:pt x="40" y="45"/>
                  </a:lnTo>
                  <a:lnTo>
                    <a:pt x="36" y="41"/>
                  </a:lnTo>
                  <a:lnTo>
                    <a:pt x="38" y="38"/>
                  </a:lnTo>
                  <a:lnTo>
                    <a:pt x="38" y="36"/>
                  </a:lnTo>
                  <a:lnTo>
                    <a:pt x="33" y="31"/>
                  </a:lnTo>
                  <a:lnTo>
                    <a:pt x="29" y="29"/>
                  </a:lnTo>
                  <a:lnTo>
                    <a:pt x="22" y="26"/>
                  </a:lnTo>
                  <a:lnTo>
                    <a:pt x="22" y="22"/>
                  </a:lnTo>
                  <a:lnTo>
                    <a:pt x="17" y="19"/>
                  </a:lnTo>
                  <a:lnTo>
                    <a:pt x="17" y="24"/>
                  </a:lnTo>
                  <a:lnTo>
                    <a:pt x="14" y="26"/>
                  </a:lnTo>
                  <a:lnTo>
                    <a:pt x="10" y="22"/>
                  </a:lnTo>
                  <a:lnTo>
                    <a:pt x="5" y="22"/>
                  </a:lnTo>
                  <a:lnTo>
                    <a:pt x="3" y="17"/>
                  </a:lnTo>
                  <a:lnTo>
                    <a:pt x="3" y="12"/>
                  </a:lnTo>
                  <a:lnTo>
                    <a:pt x="5" y="8"/>
                  </a:lnTo>
                  <a:lnTo>
                    <a:pt x="0" y="5"/>
                  </a:lnTo>
                  <a:lnTo>
                    <a:pt x="5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275;p30">
              <a:extLst>
                <a:ext uri="{FF2B5EF4-FFF2-40B4-BE49-F238E27FC236}">
                  <a16:creationId xmlns:a16="http://schemas.microsoft.com/office/drawing/2014/main" id="{E0DE693F-6763-BBBE-8DEE-C437515DBB03}"/>
                </a:ext>
              </a:extLst>
            </p:cNvPr>
            <p:cNvSpPr/>
            <p:nvPr/>
          </p:nvSpPr>
          <p:spPr>
            <a:xfrm>
              <a:off x="2047796" y="3264895"/>
              <a:ext cx="303375" cy="100558"/>
            </a:xfrm>
            <a:custGeom>
              <a:avLst/>
              <a:gdLst/>
              <a:ahLst/>
              <a:cxnLst/>
              <a:rect l="l" t="t" r="r" b="b"/>
              <a:pathLst>
                <a:path w="178" h="59" extrusionOk="0">
                  <a:moveTo>
                    <a:pt x="88" y="7"/>
                  </a:moveTo>
                  <a:lnTo>
                    <a:pt x="88" y="7"/>
                  </a:lnTo>
                  <a:lnTo>
                    <a:pt x="95" y="14"/>
                  </a:lnTo>
                  <a:lnTo>
                    <a:pt x="109" y="12"/>
                  </a:lnTo>
                  <a:lnTo>
                    <a:pt x="114" y="16"/>
                  </a:lnTo>
                  <a:lnTo>
                    <a:pt x="128" y="28"/>
                  </a:lnTo>
                  <a:lnTo>
                    <a:pt x="138" y="35"/>
                  </a:lnTo>
                  <a:lnTo>
                    <a:pt x="145" y="33"/>
                  </a:lnTo>
                  <a:lnTo>
                    <a:pt x="154" y="38"/>
                  </a:lnTo>
                  <a:lnTo>
                    <a:pt x="152" y="42"/>
                  </a:lnTo>
                  <a:lnTo>
                    <a:pt x="166" y="45"/>
                  </a:lnTo>
                  <a:lnTo>
                    <a:pt x="178" y="52"/>
                  </a:lnTo>
                  <a:lnTo>
                    <a:pt x="175" y="54"/>
                  </a:lnTo>
                  <a:lnTo>
                    <a:pt x="166" y="57"/>
                  </a:lnTo>
                  <a:lnTo>
                    <a:pt x="154" y="57"/>
                  </a:lnTo>
                  <a:lnTo>
                    <a:pt x="142" y="57"/>
                  </a:lnTo>
                  <a:lnTo>
                    <a:pt x="119" y="59"/>
                  </a:lnTo>
                  <a:lnTo>
                    <a:pt x="131" y="50"/>
                  </a:lnTo>
                  <a:lnTo>
                    <a:pt x="123" y="45"/>
                  </a:lnTo>
                  <a:lnTo>
                    <a:pt x="112" y="42"/>
                  </a:lnTo>
                  <a:lnTo>
                    <a:pt x="107" y="38"/>
                  </a:lnTo>
                  <a:lnTo>
                    <a:pt x="105" y="28"/>
                  </a:lnTo>
                  <a:lnTo>
                    <a:pt x="95" y="28"/>
                  </a:lnTo>
                  <a:lnTo>
                    <a:pt x="79" y="24"/>
                  </a:lnTo>
                  <a:lnTo>
                    <a:pt x="74" y="21"/>
                  </a:lnTo>
                  <a:lnTo>
                    <a:pt x="52" y="19"/>
                  </a:lnTo>
                  <a:lnTo>
                    <a:pt x="48" y="14"/>
                  </a:lnTo>
                  <a:lnTo>
                    <a:pt x="52" y="9"/>
                  </a:lnTo>
                  <a:lnTo>
                    <a:pt x="38" y="9"/>
                  </a:lnTo>
                  <a:lnTo>
                    <a:pt x="26" y="19"/>
                  </a:lnTo>
                  <a:lnTo>
                    <a:pt x="19" y="19"/>
                  </a:lnTo>
                  <a:lnTo>
                    <a:pt x="17" y="24"/>
                  </a:lnTo>
                  <a:lnTo>
                    <a:pt x="10" y="24"/>
                  </a:lnTo>
                  <a:lnTo>
                    <a:pt x="0" y="24"/>
                  </a:lnTo>
                  <a:lnTo>
                    <a:pt x="10" y="19"/>
                  </a:lnTo>
                  <a:lnTo>
                    <a:pt x="15" y="12"/>
                  </a:lnTo>
                  <a:lnTo>
                    <a:pt x="22" y="7"/>
                  </a:lnTo>
                  <a:lnTo>
                    <a:pt x="29" y="5"/>
                  </a:lnTo>
                  <a:lnTo>
                    <a:pt x="43" y="2"/>
                  </a:lnTo>
                  <a:lnTo>
                    <a:pt x="45" y="0"/>
                  </a:lnTo>
                  <a:lnTo>
                    <a:pt x="60" y="2"/>
                  </a:lnTo>
                  <a:lnTo>
                    <a:pt x="74" y="2"/>
                  </a:lnTo>
                  <a:lnTo>
                    <a:pt x="88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276;p30">
              <a:extLst>
                <a:ext uri="{FF2B5EF4-FFF2-40B4-BE49-F238E27FC236}">
                  <a16:creationId xmlns:a16="http://schemas.microsoft.com/office/drawing/2014/main" id="{CBD7FF37-3A95-D1A3-1CA0-440FF6F4C97A}"/>
                </a:ext>
              </a:extLst>
            </p:cNvPr>
            <p:cNvSpPr/>
            <p:nvPr/>
          </p:nvSpPr>
          <p:spPr>
            <a:xfrm>
              <a:off x="5301409" y="2872891"/>
              <a:ext cx="49427" cy="20453"/>
            </a:xfrm>
            <a:custGeom>
              <a:avLst/>
              <a:gdLst/>
              <a:ahLst/>
              <a:cxnLst/>
              <a:rect l="l" t="t" r="r" b="b"/>
              <a:pathLst>
                <a:path w="29" h="12" extrusionOk="0">
                  <a:moveTo>
                    <a:pt x="29" y="0"/>
                  </a:moveTo>
                  <a:lnTo>
                    <a:pt x="2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7" y="12"/>
                  </a:lnTo>
                  <a:lnTo>
                    <a:pt x="14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7" y="10"/>
                  </a:lnTo>
                  <a:lnTo>
                    <a:pt x="3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" y="5"/>
                  </a:lnTo>
                  <a:lnTo>
                    <a:pt x="14" y="5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277;p30">
              <a:extLst>
                <a:ext uri="{FF2B5EF4-FFF2-40B4-BE49-F238E27FC236}">
                  <a16:creationId xmlns:a16="http://schemas.microsoft.com/office/drawing/2014/main" id="{FB08B04D-2528-4FFA-5FD0-5111FEF1CAA6}"/>
                </a:ext>
              </a:extLst>
            </p:cNvPr>
            <p:cNvSpPr/>
            <p:nvPr/>
          </p:nvSpPr>
          <p:spPr>
            <a:xfrm>
              <a:off x="5286071" y="2889935"/>
              <a:ext cx="47723" cy="20453"/>
            </a:xfrm>
            <a:custGeom>
              <a:avLst/>
              <a:gdLst/>
              <a:ahLst/>
              <a:cxnLst/>
              <a:rect l="l" t="t" r="r" b="b"/>
              <a:pathLst>
                <a:path w="28" h="12" extrusionOk="0">
                  <a:moveTo>
                    <a:pt x="21" y="0"/>
                  </a:moveTo>
                  <a:lnTo>
                    <a:pt x="21" y="0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14" y="12"/>
                  </a:lnTo>
                  <a:lnTo>
                    <a:pt x="5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1" y="0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278;p30">
              <a:extLst>
                <a:ext uri="{FF2B5EF4-FFF2-40B4-BE49-F238E27FC236}">
                  <a16:creationId xmlns:a16="http://schemas.microsoft.com/office/drawing/2014/main" id="{E203E022-0FE3-7CD9-5AAA-D2B72CB99F8E}"/>
                </a:ext>
              </a:extLst>
            </p:cNvPr>
            <p:cNvSpPr/>
            <p:nvPr/>
          </p:nvSpPr>
          <p:spPr>
            <a:xfrm>
              <a:off x="4733859" y="2284887"/>
              <a:ext cx="185775" cy="109080"/>
            </a:xfrm>
            <a:custGeom>
              <a:avLst/>
              <a:gdLst/>
              <a:ahLst/>
              <a:cxnLst/>
              <a:rect l="l" t="t" r="r" b="b"/>
              <a:pathLst>
                <a:path w="109" h="64" extrusionOk="0">
                  <a:moveTo>
                    <a:pt x="33" y="0"/>
                  </a:moveTo>
                  <a:lnTo>
                    <a:pt x="33" y="0"/>
                  </a:lnTo>
                  <a:lnTo>
                    <a:pt x="38" y="4"/>
                  </a:lnTo>
                  <a:lnTo>
                    <a:pt x="45" y="0"/>
                  </a:lnTo>
                  <a:lnTo>
                    <a:pt x="54" y="9"/>
                  </a:lnTo>
                  <a:lnTo>
                    <a:pt x="66" y="12"/>
                  </a:lnTo>
                  <a:lnTo>
                    <a:pt x="64" y="19"/>
                  </a:lnTo>
                  <a:lnTo>
                    <a:pt x="73" y="23"/>
                  </a:lnTo>
                  <a:lnTo>
                    <a:pt x="75" y="16"/>
                  </a:lnTo>
                  <a:lnTo>
                    <a:pt x="87" y="19"/>
                  </a:lnTo>
                  <a:lnTo>
                    <a:pt x="87" y="28"/>
                  </a:lnTo>
                  <a:lnTo>
                    <a:pt x="99" y="28"/>
                  </a:lnTo>
                  <a:lnTo>
                    <a:pt x="109" y="40"/>
                  </a:lnTo>
                  <a:lnTo>
                    <a:pt x="104" y="42"/>
                  </a:lnTo>
                  <a:lnTo>
                    <a:pt x="99" y="47"/>
                  </a:lnTo>
                  <a:lnTo>
                    <a:pt x="97" y="47"/>
                  </a:lnTo>
                  <a:lnTo>
                    <a:pt x="94" y="52"/>
                  </a:lnTo>
                  <a:lnTo>
                    <a:pt x="92" y="54"/>
                  </a:lnTo>
                  <a:lnTo>
                    <a:pt x="92" y="57"/>
                  </a:lnTo>
                  <a:lnTo>
                    <a:pt x="87" y="59"/>
                  </a:lnTo>
                  <a:lnTo>
                    <a:pt x="80" y="59"/>
                  </a:lnTo>
                  <a:lnTo>
                    <a:pt x="78" y="64"/>
                  </a:lnTo>
                  <a:lnTo>
                    <a:pt x="68" y="59"/>
                  </a:lnTo>
                  <a:lnTo>
                    <a:pt x="61" y="59"/>
                  </a:lnTo>
                  <a:lnTo>
                    <a:pt x="49" y="52"/>
                  </a:lnTo>
                  <a:lnTo>
                    <a:pt x="45" y="54"/>
                  </a:lnTo>
                  <a:lnTo>
                    <a:pt x="35" y="64"/>
                  </a:lnTo>
                  <a:lnTo>
                    <a:pt x="23" y="57"/>
                  </a:lnTo>
                  <a:lnTo>
                    <a:pt x="14" y="47"/>
                  </a:lnTo>
                  <a:lnTo>
                    <a:pt x="4" y="40"/>
                  </a:lnTo>
                  <a:lnTo>
                    <a:pt x="2" y="30"/>
                  </a:lnTo>
                  <a:lnTo>
                    <a:pt x="0" y="21"/>
                  </a:lnTo>
                  <a:lnTo>
                    <a:pt x="12" y="16"/>
                  </a:lnTo>
                  <a:lnTo>
                    <a:pt x="19" y="12"/>
                  </a:lnTo>
                  <a:lnTo>
                    <a:pt x="28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279;p30">
              <a:extLst>
                <a:ext uri="{FF2B5EF4-FFF2-40B4-BE49-F238E27FC236}">
                  <a16:creationId xmlns:a16="http://schemas.microsoft.com/office/drawing/2014/main" id="{17AE4F7D-AE98-25CC-3825-647A65458C10}"/>
                </a:ext>
              </a:extLst>
            </p:cNvPr>
            <p:cNvSpPr/>
            <p:nvPr/>
          </p:nvSpPr>
          <p:spPr>
            <a:xfrm>
              <a:off x="4560015" y="2111043"/>
              <a:ext cx="250541" cy="334055"/>
            </a:xfrm>
            <a:custGeom>
              <a:avLst/>
              <a:gdLst/>
              <a:ahLst/>
              <a:cxnLst/>
              <a:rect l="l" t="t" r="r" b="b"/>
              <a:pathLst>
                <a:path w="147" h="196" extrusionOk="0">
                  <a:moveTo>
                    <a:pt x="66" y="0"/>
                  </a:moveTo>
                  <a:lnTo>
                    <a:pt x="66" y="0"/>
                  </a:lnTo>
                  <a:lnTo>
                    <a:pt x="66" y="9"/>
                  </a:lnTo>
                  <a:lnTo>
                    <a:pt x="80" y="17"/>
                  </a:lnTo>
                  <a:lnTo>
                    <a:pt x="80" y="26"/>
                  </a:lnTo>
                  <a:lnTo>
                    <a:pt x="97" y="21"/>
                  </a:lnTo>
                  <a:lnTo>
                    <a:pt x="106" y="14"/>
                  </a:lnTo>
                  <a:lnTo>
                    <a:pt x="125" y="24"/>
                  </a:lnTo>
                  <a:lnTo>
                    <a:pt x="132" y="33"/>
                  </a:lnTo>
                  <a:lnTo>
                    <a:pt x="137" y="47"/>
                  </a:lnTo>
                  <a:lnTo>
                    <a:pt x="132" y="54"/>
                  </a:lnTo>
                  <a:lnTo>
                    <a:pt x="137" y="64"/>
                  </a:lnTo>
                  <a:lnTo>
                    <a:pt x="142" y="78"/>
                  </a:lnTo>
                  <a:lnTo>
                    <a:pt x="140" y="88"/>
                  </a:lnTo>
                  <a:lnTo>
                    <a:pt x="147" y="102"/>
                  </a:lnTo>
                  <a:lnTo>
                    <a:pt x="140" y="106"/>
                  </a:lnTo>
                  <a:lnTo>
                    <a:pt x="135" y="102"/>
                  </a:lnTo>
                  <a:lnTo>
                    <a:pt x="130" y="106"/>
                  </a:lnTo>
                  <a:lnTo>
                    <a:pt x="121" y="114"/>
                  </a:lnTo>
                  <a:lnTo>
                    <a:pt x="114" y="118"/>
                  </a:lnTo>
                  <a:lnTo>
                    <a:pt x="102" y="123"/>
                  </a:lnTo>
                  <a:lnTo>
                    <a:pt x="104" y="132"/>
                  </a:lnTo>
                  <a:lnTo>
                    <a:pt x="106" y="142"/>
                  </a:lnTo>
                  <a:lnTo>
                    <a:pt x="116" y="149"/>
                  </a:lnTo>
                  <a:lnTo>
                    <a:pt x="125" y="159"/>
                  </a:lnTo>
                  <a:lnTo>
                    <a:pt x="118" y="170"/>
                  </a:lnTo>
                  <a:lnTo>
                    <a:pt x="114" y="173"/>
                  </a:lnTo>
                  <a:lnTo>
                    <a:pt x="116" y="189"/>
                  </a:lnTo>
                  <a:lnTo>
                    <a:pt x="114" y="192"/>
                  </a:lnTo>
                  <a:lnTo>
                    <a:pt x="109" y="187"/>
                  </a:lnTo>
                  <a:lnTo>
                    <a:pt x="102" y="187"/>
                  </a:lnTo>
                  <a:lnTo>
                    <a:pt x="90" y="192"/>
                  </a:lnTo>
                  <a:lnTo>
                    <a:pt x="76" y="189"/>
                  </a:lnTo>
                  <a:lnTo>
                    <a:pt x="73" y="196"/>
                  </a:lnTo>
                  <a:lnTo>
                    <a:pt x="64" y="189"/>
                  </a:lnTo>
                  <a:lnTo>
                    <a:pt x="59" y="192"/>
                  </a:lnTo>
                  <a:lnTo>
                    <a:pt x="43" y="185"/>
                  </a:lnTo>
                  <a:lnTo>
                    <a:pt x="38" y="189"/>
                  </a:lnTo>
                  <a:lnTo>
                    <a:pt x="24" y="189"/>
                  </a:lnTo>
                  <a:lnTo>
                    <a:pt x="26" y="173"/>
                  </a:lnTo>
                  <a:lnTo>
                    <a:pt x="36" y="154"/>
                  </a:lnTo>
                  <a:lnTo>
                    <a:pt x="12" y="151"/>
                  </a:lnTo>
                  <a:lnTo>
                    <a:pt x="5" y="144"/>
                  </a:lnTo>
                  <a:lnTo>
                    <a:pt x="5" y="132"/>
                  </a:lnTo>
                  <a:lnTo>
                    <a:pt x="2" y="128"/>
                  </a:lnTo>
                  <a:lnTo>
                    <a:pt x="2" y="111"/>
                  </a:lnTo>
                  <a:lnTo>
                    <a:pt x="0" y="83"/>
                  </a:lnTo>
                  <a:lnTo>
                    <a:pt x="12" y="83"/>
                  </a:lnTo>
                  <a:lnTo>
                    <a:pt x="14" y="73"/>
                  </a:lnTo>
                  <a:lnTo>
                    <a:pt x="19" y="50"/>
                  </a:lnTo>
                  <a:lnTo>
                    <a:pt x="17" y="40"/>
                  </a:lnTo>
                  <a:lnTo>
                    <a:pt x="19" y="33"/>
                  </a:lnTo>
                  <a:lnTo>
                    <a:pt x="33" y="33"/>
                  </a:lnTo>
                  <a:lnTo>
                    <a:pt x="36" y="40"/>
                  </a:lnTo>
                  <a:lnTo>
                    <a:pt x="47" y="26"/>
                  </a:lnTo>
                  <a:lnTo>
                    <a:pt x="43" y="14"/>
                  </a:lnTo>
                  <a:lnTo>
                    <a:pt x="43" y="0"/>
                  </a:lnTo>
                  <a:lnTo>
                    <a:pt x="54" y="2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buSzPts val="1400"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488" name="Google Shape;280;p30">
              <a:extLst>
                <a:ext uri="{FF2B5EF4-FFF2-40B4-BE49-F238E27FC236}">
                  <a16:creationId xmlns:a16="http://schemas.microsoft.com/office/drawing/2014/main" id="{A56D8BC7-71A2-0272-C022-2B86B4835293}"/>
                </a:ext>
              </a:extLst>
            </p:cNvPr>
            <p:cNvSpPr/>
            <p:nvPr/>
          </p:nvSpPr>
          <p:spPr>
            <a:xfrm>
              <a:off x="4621371" y="1972989"/>
              <a:ext cx="124419" cy="146575"/>
            </a:xfrm>
            <a:custGeom>
              <a:avLst/>
              <a:gdLst/>
              <a:ahLst/>
              <a:cxnLst/>
              <a:rect l="l" t="t" r="r" b="b"/>
              <a:pathLst>
                <a:path w="73" h="86" extrusionOk="0">
                  <a:moveTo>
                    <a:pt x="73" y="62"/>
                  </a:moveTo>
                  <a:lnTo>
                    <a:pt x="73" y="62"/>
                  </a:lnTo>
                  <a:lnTo>
                    <a:pt x="63" y="86"/>
                  </a:lnTo>
                  <a:lnTo>
                    <a:pt x="47" y="69"/>
                  </a:lnTo>
                  <a:lnTo>
                    <a:pt x="44" y="57"/>
                  </a:lnTo>
                  <a:lnTo>
                    <a:pt x="68" y="48"/>
                  </a:lnTo>
                  <a:lnTo>
                    <a:pt x="73" y="62"/>
                  </a:lnTo>
                  <a:close/>
                  <a:moveTo>
                    <a:pt x="44" y="36"/>
                  </a:moveTo>
                  <a:lnTo>
                    <a:pt x="44" y="36"/>
                  </a:lnTo>
                  <a:lnTo>
                    <a:pt x="42" y="48"/>
                  </a:lnTo>
                  <a:lnTo>
                    <a:pt x="37" y="45"/>
                  </a:lnTo>
                  <a:lnTo>
                    <a:pt x="26" y="67"/>
                  </a:lnTo>
                  <a:lnTo>
                    <a:pt x="30" y="79"/>
                  </a:lnTo>
                  <a:lnTo>
                    <a:pt x="18" y="83"/>
                  </a:lnTo>
                  <a:lnTo>
                    <a:pt x="7" y="79"/>
                  </a:lnTo>
                  <a:lnTo>
                    <a:pt x="0" y="64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7" y="17"/>
                  </a:lnTo>
                  <a:lnTo>
                    <a:pt x="21" y="17"/>
                  </a:lnTo>
                  <a:lnTo>
                    <a:pt x="26" y="8"/>
                  </a:lnTo>
                  <a:lnTo>
                    <a:pt x="40" y="0"/>
                  </a:lnTo>
                  <a:lnTo>
                    <a:pt x="40" y="15"/>
                  </a:lnTo>
                  <a:lnTo>
                    <a:pt x="35" y="24"/>
                  </a:lnTo>
                  <a:lnTo>
                    <a:pt x="37" y="31"/>
                  </a:lnTo>
                  <a:lnTo>
                    <a:pt x="44" y="3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281;p30">
              <a:extLst>
                <a:ext uri="{FF2B5EF4-FFF2-40B4-BE49-F238E27FC236}">
                  <a16:creationId xmlns:a16="http://schemas.microsoft.com/office/drawing/2014/main" id="{9792CB8C-75BB-DD0D-1648-7DBBDCA38D14}"/>
                </a:ext>
              </a:extLst>
            </p:cNvPr>
            <p:cNvSpPr/>
            <p:nvPr/>
          </p:nvSpPr>
          <p:spPr>
            <a:xfrm>
              <a:off x="2410823" y="3362043"/>
              <a:ext cx="100558" cy="68174"/>
            </a:xfrm>
            <a:custGeom>
              <a:avLst/>
              <a:gdLst/>
              <a:ahLst/>
              <a:cxnLst/>
              <a:rect l="l" t="t" r="r" b="b"/>
              <a:pathLst>
                <a:path w="59" h="40" extrusionOk="0">
                  <a:moveTo>
                    <a:pt x="19" y="0"/>
                  </a:moveTo>
                  <a:lnTo>
                    <a:pt x="19" y="0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6" y="12"/>
                  </a:lnTo>
                  <a:lnTo>
                    <a:pt x="45" y="9"/>
                  </a:lnTo>
                  <a:lnTo>
                    <a:pt x="45" y="16"/>
                  </a:lnTo>
                  <a:lnTo>
                    <a:pt x="50" y="16"/>
                  </a:lnTo>
                  <a:lnTo>
                    <a:pt x="59" y="23"/>
                  </a:lnTo>
                  <a:lnTo>
                    <a:pt x="52" y="28"/>
                  </a:lnTo>
                  <a:lnTo>
                    <a:pt x="45" y="26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1" y="28"/>
                  </a:lnTo>
                  <a:lnTo>
                    <a:pt x="24" y="30"/>
                  </a:lnTo>
                  <a:lnTo>
                    <a:pt x="22" y="26"/>
                  </a:lnTo>
                  <a:lnTo>
                    <a:pt x="17" y="28"/>
                  </a:lnTo>
                  <a:lnTo>
                    <a:pt x="10" y="40"/>
                  </a:lnTo>
                  <a:lnTo>
                    <a:pt x="5" y="38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0" y="23"/>
                  </a:lnTo>
                  <a:lnTo>
                    <a:pt x="5" y="21"/>
                  </a:lnTo>
                  <a:lnTo>
                    <a:pt x="5" y="14"/>
                  </a:lnTo>
                  <a:lnTo>
                    <a:pt x="5" y="4"/>
                  </a:lnTo>
                  <a:lnTo>
                    <a:pt x="5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282;p30">
              <a:extLst>
                <a:ext uri="{FF2B5EF4-FFF2-40B4-BE49-F238E27FC236}">
                  <a16:creationId xmlns:a16="http://schemas.microsoft.com/office/drawing/2014/main" id="{B1DE623E-EAB9-3AB2-2608-0BB84405C8FD}"/>
                </a:ext>
              </a:extLst>
            </p:cNvPr>
            <p:cNvSpPr/>
            <p:nvPr/>
          </p:nvSpPr>
          <p:spPr>
            <a:xfrm>
              <a:off x="2161986" y="3881873"/>
              <a:ext cx="160210" cy="173845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33" y="0"/>
                  </a:moveTo>
                  <a:lnTo>
                    <a:pt x="33" y="0"/>
                  </a:lnTo>
                  <a:lnTo>
                    <a:pt x="49" y="9"/>
                  </a:lnTo>
                  <a:lnTo>
                    <a:pt x="54" y="7"/>
                  </a:lnTo>
                  <a:lnTo>
                    <a:pt x="56" y="17"/>
                  </a:lnTo>
                  <a:lnTo>
                    <a:pt x="71" y="19"/>
                  </a:lnTo>
                  <a:lnTo>
                    <a:pt x="75" y="14"/>
                  </a:lnTo>
                  <a:lnTo>
                    <a:pt x="82" y="21"/>
                  </a:lnTo>
                  <a:lnTo>
                    <a:pt x="92" y="24"/>
                  </a:lnTo>
                  <a:lnTo>
                    <a:pt x="94" y="36"/>
                  </a:lnTo>
                  <a:lnTo>
                    <a:pt x="87" y="47"/>
                  </a:lnTo>
                  <a:lnTo>
                    <a:pt x="71" y="64"/>
                  </a:lnTo>
                  <a:lnTo>
                    <a:pt x="49" y="71"/>
                  </a:lnTo>
                  <a:lnTo>
                    <a:pt x="40" y="85"/>
                  </a:lnTo>
                  <a:lnTo>
                    <a:pt x="38" y="95"/>
                  </a:lnTo>
                  <a:lnTo>
                    <a:pt x="28" y="102"/>
                  </a:lnTo>
                  <a:lnTo>
                    <a:pt x="21" y="95"/>
                  </a:lnTo>
                  <a:lnTo>
                    <a:pt x="14" y="92"/>
                  </a:lnTo>
                  <a:lnTo>
                    <a:pt x="9" y="92"/>
                  </a:lnTo>
                  <a:lnTo>
                    <a:pt x="7" y="88"/>
                  </a:lnTo>
                  <a:lnTo>
                    <a:pt x="12" y="83"/>
                  </a:lnTo>
                  <a:lnTo>
                    <a:pt x="9" y="78"/>
                  </a:lnTo>
                  <a:lnTo>
                    <a:pt x="19" y="64"/>
                  </a:lnTo>
                  <a:lnTo>
                    <a:pt x="16" y="57"/>
                  </a:lnTo>
                  <a:lnTo>
                    <a:pt x="9" y="66"/>
                  </a:lnTo>
                  <a:lnTo>
                    <a:pt x="0" y="57"/>
                  </a:lnTo>
                  <a:lnTo>
                    <a:pt x="2" y="54"/>
                  </a:lnTo>
                  <a:lnTo>
                    <a:pt x="0" y="40"/>
                  </a:lnTo>
                  <a:lnTo>
                    <a:pt x="7" y="36"/>
                  </a:lnTo>
                  <a:lnTo>
                    <a:pt x="9" y="26"/>
                  </a:lnTo>
                  <a:lnTo>
                    <a:pt x="14" y="17"/>
                  </a:lnTo>
                  <a:lnTo>
                    <a:pt x="14" y="9"/>
                  </a:lnTo>
                  <a:lnTo>
                    <a:pt x="23" y="7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283;p30">
              <a:extLst>
                <a:ext uri="{FF2B5EF4-FFF2-40B4-BE49-F238E27FC236}">
                  <a16:creationId xmlns:a16="http://schemas.microsoft.com/office/drawing/2014/main" id="{FC17105C-525A-503A-BBCC-E56193DF532C}"/>
                </a:ext>
              </a:extLst>
            </p:cNvPr>
            <p:cNvSpPr/>
            <p:nvPr/>
          </p:nvSpPr>
          <p:spPr>
            <a:xfrm>
              <a:off x="5079842" y="3005832"/>
              <a:ext cx="334054" cy="294855"/>
            </a:xfrm>
            <a:custGeom>
              <a:avLst/>
              <a:gdLst/>
              <a:ahLst/>
              <a:cxnLst/>
              <a:rect l="l" t="t" r="r" b="b"/>
              <a:pathLst>
                <a:path w="196" h="173" extrusionOk="0">
                  <a:moveTo>
                    <a:pt x="59" y="10"/>
                  </a:moveTo>
                  <a:lnTo>
                    <a:pt x="59" y="10"/>
                  </a:lnTo>
                  <a:lnTo>
                    <a:pt x="66" y="15"/>
                  </a:lnTo>
                  <a:lnTo>
                    <a:pt x="81" y="10"/>
                  </a:lnTo>
                  <a:lnTo>
                    <a:pt x="88" y="3"/>
                  </a:lnTo>
                  <a:lnTo>
                    <a:pt x="100" y="0"/>
                  </a:lnTo>
                  <a:lnTo>
                    <a:pt x="111" y="5"/>
                  </a:lnTo>
                  <a:lnTo>
                    <a:pt x="116" y="12"/>
                  </a:lnTo>
                  <a:lnTo>
                    <a:pt x="121" y="8"/>
                  </a:lnTo>
                  <a:lnTo>
                    <a:pt x="133" y="10"/>
                  </a:lnTo>
                  <a:lnTo>
                    <a:pt x="147" y="12"/>
                  </a:lnTo>
                  <a:lnTo>
                    <a:pt x="154" y="8"/>
                  </a:lnTo>
                  <a:lnTo>
                    <a:pt x="166" y="41"/>
                  </a:lnTo>
                  <a:lnTo>
                    <a:pt x="161" y="48"/>
                  </a:lnTo>
                  <a:lnTo>
                    <a:pt x="156" y="62"/>
                  </a:lnTo>
                  <a:lnTo>
                    <a:pt x="152" y="69"/>
                  </a:lnTo>
                  <a:lnTo>
                    <a:pt x="147" y="74"/>
                  </a:lnTo>
                  <a:lnTo>
                    <a:pt x="142" y="67"/>
                  </a:lnTo>
                  <a:lnTo>
                    <a:pt x="135" y="60"/>
                  </a:lnTo>
                  <a:lnTo>
                    <a:pt x="123" y="34"/>
                  </a:lnTo>
                  <a:lnTo>
                    <a:pt x="123" y="36"/>
                  </a:lnTo>
                  <a:lnTo>
                    <a:pt x="130" y="55"/>
                  </a:lnTo>
                  <a:lnTo>
                    <a:pt x="140" y="71"/>
                  </a:lnTo>
                  <a:lnTo>
                    <a:pt x="152" y="100"/>
                  </a:lnTo>
                  <a:lnTo>
                    <a:pt x="156" y="109"/>
                  </a:lnTo>
                  <a:lnTo>
                    <a:pt x="163" y="121"/>
                  </a:lnTo>
                  <a:lnTo>
                    <a:pt x="178" y="140"/>
                  </a:lnTo>
                  <a:lnTo>
                    <a:pt x="173" y="142"/>
                  </a:lnTo>
                  <a:lnTo>
                    <a:pt x="175" y="154"/>
                  </a:lnTo>
                  <a:lnTo>
                    <a:pt x="194" y="171"/>
                  </a:lnTo>
                  <a:lnTo>
                    <a:pt x="196" y="173"/>
                  </a:lnTo>
                  <a:lnTo>
                    <a:pt x="133" y="173"/>
                  </a:lnTo>
                  <a:lnTo>
                    <a:pt x="69" y="173"/>
                  </a:lnTo>
                  <a:lnTo>
                    <a:pt x="3" y="173"/>
                  </a:lnTo>
                  <a:lnTo>
                    <a:pt x="3" y="109"/>
                  </a:lnTo>
                  <a:lnTo>
                    <a:pt x="3" y="45"/>
                  </a:lnTo>
                  <a:lnTo>
                    <a:pt x="0" y="29"/>
                  </a:lnTo>
                  <a:lnTo>
                    <a:pt x="3" y="19"/>
                  </a:lnTo>
                  <a:lnTo>
                    <a:pt x="0" y="10"/>
                  </a:lnTo>
                  <a:lnTo>
                    <a:pt x="5" y="0"/>
                  </a:lnTo>
                  <a:lnTo>
                    <a:pt x="29" y="0"/>
                  </a:lnTo>
                  <a:lnTo>
                    <a:pt x="43" y="5"/>
                  </a:lnTo>
                  <a:lnTo>
                    <a:pt x="59" y="1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284;p30">
              <a:extLst>
                <a:ext uri="{FF2B5EF4-FFF2-40B4-BE49-F238E27FC236}">
                  <a16:creationId xmlns:a16="http://schemas.microsoft.com/office/drawing/2014/main" id="{CDDB507C-1EFE-15D8-1AFC-8F782A7D41D3}"/>
                </a:ext>
              </a:extLst>
            </p:cNvPr>
            <p:cNvSpPr/>
            <p:nvPr/>
          </p:nvSpPr>
          <p:spPr>
            <a:xfrm>
              <a:off x="4137336" y="2583150"/>
              <a:ext cx="342577" cy="277811"/>
            </a:xfrm>
            <a:custGeom>
              <a:avLst/>
              <a:gdLst/>
              <a:ahLst/>
              <a:cxnLst/>
              <a:rect l="l" t="t" r="r" b="b"/>
              <a:pathLst>
                <a:path w="201" h="163" extrusionOk="0">
                  <a:moveTo>
                    <a:pt x="23" y="0"/>
                  </a:moveTo>
                  <a:lnTo>
                    <a:pt x="23" y="0"/>
                  </a:lnTo>
                  <a:lnTo>
                    <a:pt x="42" y="5"/>
                  </a:lnTo>
                  <a:lnTo>
                    <a:pt x="64" y="2"/>
                  </a:lnTo>
                  <a:lnTo>
                    <a:pt x="82" y="7"/>
                  </a:lnTo>
                  <a:lnTo>
                    <a:pt x="94" y="7"/>
                  </a:lnTo>
                  <a:lnTo>
                    <a:pt x="120" y="7"/>
                  </a:lnTo>
                  <a:lnTo>
                    <a:pt x="127" y="16"/>
                  </a:lnTo>
                  <a:lnTo>
                    <a:pt x="158" y="26"/>
                  </a:lnTo>
                  <a:lnTo>
                    <a:pt x="163" y="21"/>
                  </a:lnTo>
                  <a:lnTo>
                    <a:pt x="182" y="31"/>
                  </a:lnTo>
                  <a:lnTo>
                    <a:pt x="201" y="28"/>
                  </a:lnTo>
                  <a:lnTo>
                    <a:pt x="201" y="40"/>
                  </a:lnTo>
                  <a:lnTo>
                    <a:pt x="187" y="54"/>
                  </a:lnTo>
                  <a:lnTo>
                    <a:pt x="165" y="59"/>
                  </a:lnTo>
                  <a:lnTo>
                    <a:pt x="163" y="66"/>
                  </a:lnTo>
                  <a:lnTo>
                    <a:pt x="153" y="78"/>
                  </a:lnTo>
                  <a:lnTo>
                    <a:pt x="149" y="95"/>
                  </a:lnTo>
                  <a:lnTo>
                    <a:pt x="153" y="109"/>
                  </a:lnTo>
                  <a:lnTo>
                    <a:pt x="144" y="116"/>
                  </a:lnTo>
                  <a:lnTo>
                    <a:pt x="142" y="130"/>
                  </a:lnTo>
                  <a:lnTo>
                    <a:pt x="130" y="135"/>
                  </a:lnTo>
                  <a:lnTo>
                    <a:pt x="118" y="149"/>
                  </a:lnTo>
                  <a:lnTo>
                    <a:pt x="97" y="149"/>
                  </a:lnTo>
                  <a:lnTo>
                    <a:pt x="82" y="149"/>
                  </a:lnTo>
                  <a:lnTo>
                    <a:pt x="71" y="156"/>
                  </a:lnTo>
                  <a:lnTo>
                    <a:pt x="66" y="163"/>
                  </a:lnTo>
                  <a:lnTo>
                    <a:pt x="56" y="161"/>
                  </a:lnTo>
                  <a:lnTo>
                    <a:pt x="52" y="156"/>
                  </a:lnTo>
                  <a:lnTo>
                    <a:pt x="47" y="144"/>
                  </a:lnTo>
                  <a:lnTo>
                    <a:pt x="33" y="142"/>
                  </a:lnTo>
                  <a:lnTo>
                    <a:pt x="30" y="135"/>
                  </a:lnTo>
                  <a:lnTo>
                    <a:pt x="35" y="128"/>
                  </a:lnTo>
                  <a:lnTo>
                    <a:pt x="38" y="121"/>
                  </a:lnTo>
                  <a:lnTo>
                    <a:pt x="33" y="116"/>
                  </a:lnTo>
                  <a:lnTo>
                    <a:pt x="38" y="102"/>
                  </a:lnTo>
                  <a:lnTo>
                    <a:pt x="30" y="90"/>
                  </a:lnTo>
                  <a:lnTo>
                    <a:pt x="38" y="87"/>
                  </a:lnTo>
                  <a:lnTo>
                    <a:pt x="38" y="78"/>
                  </a:lnTo>
                  <a:lnTo>
                    <a:pt x="40" y="73"/>
                  </a:lnTo>
                  <a:lnTo>
                    <a:pt x="40" y="57"/>
                  </a:lnTo>
                  <a:lnTo>
                    <a:pt x="49" y="52"/>
                  </a:lnTo>
                  <a:lnTo>
                    <a:pt x="45" y="40"/>
                  </a:lnTo>
                  <a:lnTo>
                    <a:pt x="35" y="40"/>
                  </a:lnTo>
                  <a:lnTo>
                    <a:pt x="33" y="42"/>
                  </a:lnTo>
                  <a:lnTo>
                    <a:pt x="23" y="42"/>
                  </a:lnTo>
                  <a:lnTo>
                    <a:pt x="19" y="33"/>
                  </a:lnTo>
                  <a:lnTo>
                    <a:pt x="12" y="35"/>
                  </a:lnTo>
                  <a:lnTo>
                    <a:pt x="7" y="40"/>
                  </a:lnTo>
                  <a:lnTo>
                    <a:pt x="7" y="26"/>
                  </a:lnTo>
                  <a:lnTo>
                    <a:pt x="0" y="16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285;p30">
              <a:extLst>
                <a:ext uri="{FF2B5EF4-FFF2-40B4-BE49-F238E27FC236}">
                  <a16:creationId xmlns:a16="http://schemas.microsoft.com/office/drawing/2014/main" id="{6AAB6DC4-3724-5069-D643-533F277D3F76}"/>
                </a:ext>
              </a:extLst>
            </p:cNvPr>
            <p:cNvSpPr/>
            <p:nvPr/>
          </p:nvSpPr>
          <p:spPr>
            <a:xfrm>
              <a:off x="5040644" y="1872432"/>
              <a:ext cx="132940" cy="114193"/>
            </a:xfrm>
            <a:custGeom>
              <a:avLst/>
              <a:gdLst/>
              <a:ahLst/>
              <a:cxnLst/>
              <a:rect l="l" t="t" r="r" b="b"/>
              <a:pathLst>
                <a:path w="78" h="67" extrusionOk="0">
                  <a:moveTo>
                    <a:pt x="42" y="0"/>
                  </a:moveTo>
                  <a:lnTo>
                    <a:pt x="42" y="0"/>
                  </a:lnTo>
                  <a:lnTo>
                    <a:pt x="59" y="5"/>
                  </a:lnTo>
                  <a:lnTo>
                    <a:pt x="75" y="5"/>
                  </a:lnTo>
                  <a:lnTo>
                    <a:pt x="78" y="10"/>
                  </a:lnTo>
                  <a:lnTo>
                    <a:pt x="66" y="29"/>
                  </a:lnTo>
                  <a:lnTo>
                    <a:pt x="70" y="57"/>
                  </a:lnTo>
                  <a:lnTo>
                    <a:pt x="63" y="67"/>
                  </a:lnTo>
                  <a:lnTo>
                    <a:pt x="52" y="67"/>
                  </a:lnTo>
                  <a:lnTo>
                    <a:pt x="37" y="55"/>
                  </a:lnTo>
                  <a:lnTo>
                    <a:pt x="30" y="52"/>
                  </a:lnTo>
                  <a:lnTo>
                    <a:pt x="16" y="57"/>
                  </a:lnTo>
                  <a:lnTo>
                    <a:pt x="18" y="38"/>
                  </a:lnTo>
                  <a:lnTo>
                    <a:pt x="11" y="43"/>
                  </a:lnTo>
                  <a:lnTo>
                    <a:pt x="2" y="31"/>
                  </a:lnTo>
                  <a:lnTo>
                    <a:pt x="0" y="14"/>
                  </a:lnTo>
                  <a:lnTo>
                    <a:pt x="21" y="5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286;p30">
              <a:extLst>
                <a:ext uri="{FF2B5EF4-FFF2-40B4-BE49-F238E27FC236}">
                  <a16:creationId xmlns:a16="http://schemas.microsoft.com/office/drawing/2014/main" id="{040F95CA-210B-9E46-C938-87AB8D489071}"/>
                </a:ext>
              </a:extLst>
            </p:cNvPr>
            <p:cNvSpPr/>
            <p:nvPr/>
          </p:nvSpPr>
          <p:spPr>
            <a:xfrm>
              <a:off x="4967356" y="1183870"/>
              <a:ext cx="298263" cy="676631"/>
            </a:xfrm>
            <a:custGeom>
              <a:avLst/>
              <a:gdLst/>
              <a:ahLst/>
              <a:cxnLst/>
              <a:rect l="l" t="t" r="r" b="b"/>
              <a:pathLst>
                <a:path w="175" h="397" extrusionOk="0">
                  <a:moveTo>
                    <a:pt x="128" y="49"/>
                  </a:moveTo>
                  <a:lnTo>
                    <a:pt x="128" y="49"/>
                  </a:lnTo>
                  <a:lnTo>
                    <a:pt x="125" y="82"/>
                  </a:lnTo>
                  <a:lnTo>
                    <a:pt x="151" y="111"/>
                  </a:lnTo>
                  <a:lnTo>
                    <a:pt x="137" y="142"/>
                  </a:lnTo>
                  <a:lnTo>
                    <a:pt x="154" y="187"/>
                  </a:lnTo>
                  <a:lnTo>
                    <a:pt x="144" y="220"/>
                  </a:lnTo>
                  <a:lnTo>
                    <a:pt x="158" y="248"/>
                  </a:lnTo>
                  <a:lnTo>
                    <a:pt x="151" y="272"/>
                  </a:lnTo>
                  <a:lnTo>
                    <a:pt x="175" y="295"/>
                  </a:lnTo>
                  <a:lnTo>
                    <a:pt x="170" y="314"/>
                  </a:lnTo>
                  <a:lnTo>
                    <a:pt x="154" y="333"/>
                  </a:lnTo>
                  <a:lnTo>
                    <a:pt x="118" y="376"/>
                  </a:lnTo>
                  <a:lnTo>
                    <a:pt x="90" y="378"/>
                  </a:lnTo>
                  <a:lnTo>
                    <a:pt x="61" y="390"/>
                  </a:lnTo>
                  <a:lnTo>
                    <a:pt x="35" y="397"/>
                  </a:lnTo>
                  <a:lnTo>
                    <a:pt x="26" y="378"/>
                  </a:lnTo>
                  <a:lnTo>
                    <a:pt x="9" y="369"/>
                  </a:lnTo>
                  <a:lnTo>
                    <a:pt x="14" y="336"/>
                  </a:lnTo>
                  <a:lnTo>
                    <a:pt x="5" y="305"/>
                  </a:lnTo>
                  <a:lnTo>
                    <a:pt x="14" y="284"/>
                  </a:lnTo>
                  <a:lnTo>
                    <a:pt x="28" y="262"/>
                  </a:lnTo>
                  <a:lnTo>
                    <a:pt x="66" y="222"/>
                  </a:lnTo>
                  <a:lnTo>
                    <a:pt x="76" y="213"/>
                  </a:lnTo>
                  <a:lnTo>
                    <a:pt x="76" y="198"/>
                  </a:lnTo>
                  <a:lnTo>
                    <a:pt x="52" y="179"/>
                  </a:lnTo>
                  <a:lnTo>
                    <a:pt x="47" y="163"/>
                  </a:lnTo>
                  <a:lnTo>
                    <a:pt x="47" y="99"/>
                  </a:lnTo>
                  <a:lnTo>
                    <a:pt x="21" y="71"/>
                  </a:lnTo>
                  <a:lnTo>
                    <a:pt x="0" y="49"/>
                  </a:lnTo>
                  <a:lnTo>
                    <a:pt x="9" y="37"/>
                  </a:lnTo>
                  <a:lnTo>
                    <a:pt x="26" y="61"/>
                  </a:lnTo>
                  <a:lnTo>
                    <a:pt x="47" y="59"/>
                  </a:lnTo>
                  <a:lnTo>
                    <a:pt x="66" y="68"/>
                  </a:lnTo>
                  <a:lnTo>
                    <a:pt x="80" y="49"/>
                  </a:lnTo>
                  <a:lnTo>
                    <a:pt x="90" y="16"/>
                  </a:lnTo>
                  <a:lnTo>
                    <a:pt x="113" y="0"/>
                  </a:lnTo>
                  <a:lnTo>
                    <a:pt x="135" y="1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287;p30">
              <a:extLst>
                <a:ext uri="{FF2B5EF4-FFF2-40B4-BE49-F238E27FC236}">
                  <a16:creationId xmlns:a16="http://schemas.microsoft.com/office/drawing/2014/main" id="{22418E12-F2F0-CF67-1802-BE23CB4D2BF8}"/>
                </a:ext>
              </a:extLst>
            </p:cNvPr>
            <p:cNvSpPr/>
            <p:nvPr/>
          </p:nvSpPr>
          <p:spPr>
            <a:xfrm>
              <a:off x="2709085" y="5552145"/>
              <a:ext cx="93740" cy="52835"/>
            </a:xfrm>
            <a:custGeom>
              <a:avLst/>
              <a:gdLst/>
              <a:ahLst/>
              <a:cxnLst/>
              <a:rect l="l" t="t" r="r" b="b"/>
              <a:pathLst>
                <a:path w="55" h="31" extrusionOk="0">
                  <a:moveTo>
                    <a:pt x="43" y="0"/>
                  </a:moveTo>
                  <a:lnTo>
                    <a:pt x="43" y="0"/>
                  </a:lnTo>
                  <a:lnTo>
                    <a:pt x="55" y="12"/>
                  </a:lnTo>
                  <a:lnTo>
                    <a:pt x="50" y="21"/>
                  </a:lnTo>
                  <a:lnTo>
                    <a:pt x="29" y="28"/>
                  </a:lnTo>
                  <a:lnTo>
                    <a:pt x="22" y="19"/>
                  </a:lnTo>
                  <a:lnTo>
                    <a:pt x="7" y="31"/>
                  </a:lnTo>
                  <a:lnTo>
                    <a:pt x="0" y="19"/>
                  </a:lnTo>
                  <a:lnTo>
                    <a:pt x="19" y="5"/>
                  </a:lnTo>
                  <a:lnTo>
                    <a:pt x="33" y="12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288;p30">
              <a:extLst>
                <a:ext uri="{FF2B5EF4-FFF2-40B4-BE49-F238E27FC236}">
                  <a16:creationId xmlns:a16="http://schemas.microsoft.com/office/drawing/2014/main" id="{1F7E8540-0EB9-1EB4-845A-62120F0CC343}"/>
                </a:ext>
              </a:extLst>
            </p:cNvPr>
            <p:cNvSpPr/>
            <p:nvPr/>
          </p:nvSpPr>
          <p:spPr>
            <a:xfrm>
              <a:off x="2891451" y="3760864"/>
              <a:ext cx="80106" cy="100558"/>
            </a:xfrm>
            <a:custGeom>
              <a:avLst/>
              <a:gdLst/>
              <a:ahLst/>
              <a:cxnLst/>
              <a:rect l="l" t="t" r="r" b="b"/>
              <a:pathLst>
                <a:path w="47" h="59" extrusionOk="0">
                  <a:moveTo>
                    <a:pt x="33" y="52"/>
                  </a:move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26" y="59"/>
                  </a:lnTo>
                  <a:lnTo>
                    <a:pt x="19" y="59"/>
                  </a:lnTo>
                  <a:lnTo>
                    <a:pt x="16" y="54"/>
                  </a:lnTo>
                  <a:lnTo>
                    <a:pt x="12" y="54"/>
                  </a:lnTo>
                  <a:lnTo>
                    <a:pt x="7" y="59"/>
                  </a:lnTo>
                  <a:lnTo>
                    <a:pt x="0" y="57"/>
                  </a:lnTo>
                  <a:lnTo>
                    <a:pt x="5" y="50"/>
                  </a:lnTo>
                  <a:lnTo>
                    <a:pt x="7" y="40"/>
                  </a:lnTo>
                  <a:lnTo>
                    <a:pt x="9" y="36"/>
                  </a:lnTo>
                  <a:lnTo>
                    <a:pt x="2" y="26"/>
                  </a:lnTo>
                  <a:lnTo>
                    <a:pt x="0" y="14"/>
                  </a:lnTo>
                  <a:lnTo>
                    <a:pt x="9" y="0"/>
                  </a:lnTo>
                  <a:lnTo>
                    <a:pt x="14" y="2"/>
                  </a:lnTo>
                  <a:lnTo>
                    <a:pt x="26" y="5"/>
                  </a:lnTo>
                  <a:lnTo>
                    <a:pt x="45" y="19"/>
                  </a:lnTo>
                  <a:lnTo>
                    <a:pt x="47" y="26"/>
                  </a:lnTo>
                  <a:lnTo>
                    <a:pt x="33" y="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289;p30">
              <a:extLst>
                <a:ext uri="{FF2B5EF4-FFF2-40B4-BE49-F238E27FC236}">
                  <a16:creationId xmlns:a16="http://schemas.microsoft.com/office/drawing/2014/main" id="{27C67C34-1EEA-0337-C3FA-564B38B38280}"/>
                </a:ext>
              </a:extLst>
            </p:cNvPr>
            <p:cNvSpPr/>
            <p:nvPr/>
          </p:nvSpPr>
          <p:spPr>
            <a:xfrm>
              <a:off x="4633301" y="2610420"/>
              <a:ext cx="27269" cy="61357"/>
            </a:xfrm>
            <a:custGeom>
              <a:avLst/>
              <a:gdLst/>
              <a:ahLst/>
              <a:cxnLst/>
              <a:rect l="l" t="t" r="r" b="b"/>
              <a:pathLst>
                <a:path w="16" h="36" extrusionOk="0">
                  <a:moveTo>
                    <a:pt x="16" y="19"/>
                  </a:moveTo>
                  <a:lnTo>
                    <a:pt x="16" y="19"/>
                  </a:lnTo>
                  <a:lnTo>
                    <a:pt x="9" y="36"/>
                  </a:lnTo>
                  <a:lnTo>
                    <a:pt x="2" y="31"/>
                  </a:lnTo>
                  <a:lnTo>
                    <a:pt x="0" y="17"/>
                  </a:lnTo>
                  <a:lnTo>
                    <a:pt x="2" y="10"/>
                  </a:lnTo>
                  <a:lnTo>
                    <a:pt x="14" y="0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290;p30">
              <a:extLst>
                <a:ext uri="{FF2B5EF4-FFF2-40B4-BE49-F238E27FC236}">
                  <a16:creationId xmlns:a16="http://schemas.microsoft.com/office/drawing/2014/main" id="{4E8720B1-6B91-B1D5-C723-69F407985692}"/>
                </a:ext>
              </a:extLst>
            </p:cNvPr>
            <p:cNvSpPr/>
            <p:nvPr/>
          </p:nvSpPr>
          <p:spPr>
            <a:xfrm>
              <a:off x="4188466" y="1925267"/>
              <a:ext cx="253950" cy="410752"/>
            </a:xfrm>
            <a:custGeom>
              <a:avLst/>
              <a:gdLst/>
              <a:ahLst/>
              <a:cxnLst/>
              <a:rect l="l" t="t" r="r" b="b"/>
              <a:pathLst>
                <a:path w="149" h="241" extrusionOk="0">
                  <a:moveTo>
                    <a:pt x="31" y="121"/>
                  </a:moveTo>
                  <a:lnTo>
                    <a:pt x="31" y="121"/>
                  </a:lnTo>
                  <a:lnTo>
                    <a:pt x="22" y="137"/>
                  </a:lnTo>
                  <a:lnTo>
                    <a:pt x="10" y="133"/>
                  </a:lnTo>
                  <a:lnTo>
                    <a:pt x="0" y="133"/>
                  </a:lnTo>
                  <a:lnTo>
                    <a:pt x="3" y="118"/>
                  </a:lnTo>
                  <a:lnTo>
                    <a:pt x="0" y="104"/>
                  </a:lnTo>
                  <a:lnTo>
                    <a:pt x="12" y="102"/>
                  </a:lnTo>
                  <a:lnTo>
                    <a:pt x="31" y="121"/>
                  </a:lnTo>
                  <a:close/>
                  <a:moveTo>
                    <a:pt x="74" y="0"/>
                  </a:moveTo>
                  <a:lnTo>
                    <a:pt x="74" y="0"/>
                  </a:lnTo>
                  <a:lnTo>
                    <a:pt x="57" y="33"/>
                  </a:lnTo>
                  <a:lnTo>
                    <a:pt x="74" y="28"/>
                  </a:lnTo>
                  <a:lnTo>
                    <a:pt x="90" y="28"/>
                  </a:lnTo>
                  <a:lnTo>
                    <a:pt x="86" y="54"/>
                  </a:lnTo>
                  <a:lnTo>
                    <a:pt x="71" y="81"/>
                  </a:lnTo>
                  <a:lnTo>
                    <a:pt x="88" y="81"/>
                  </a:lnTo>
                  <a:lnTo>
                    <a:pt x="105" y="118"/>
                  </a:lnTo>
                  <a:lnTo>
                    <a:pt x="116" y="121"/>
                  </a:lnTo>
                  <a:lnTo>
                    <a:pt x="126" y="154"/>
                  </a:lnTo>
                  <a:lnTo>
                    <a:pt x="131" y="163"/>
                  </a:lnTo>
                  <a:lnTo>
                    <a:pt x="149" y="168"/>
                  </a:lnTo>
                  <a:lnTo>
                    <a:pt x="147" y="185"/>
                  </a:lnTo>
                  <a:lnTo>
                    <a:pt x="140" y="194"/>
                  </a:lnTo>
                  <a:lnTo>
                    <a:pt x="145" y="206"/>
                  </a:lnTo>
                  <a:lnTo>
                    <a:pt x="131" y="220"/>
                  </a:lnTo>
                  <a:lnTo>
                    <a:pt x="109" y="220"/>
                  </a:lnTo>
                  <a:lnTo>
                    <a:pt x="83" y="227"/>
                  </a:lnTo>
                  <a:lnTo>
                    <a:pt x="74" y="223"/>
                  </a:lnTo>
                  <a:lnTo>
                    <a:pt x="64" y="234"/>
                  </a:lnTo>
                  <a:lnTo>
                    <a:pt x="48" y="230"/>
                  </a:lnTo>
                  <a:lnTo>
                    <a:pt x="38" y="241"/>
                  </a:lnTo>
                  <a:lnTo>
                    <a:pt x="29" y="237"/>
                  </a:lnTo>
                  <a:lnTo>
                    <a:pt x="52" y="208"/>
                  </a:lnTo>
                  <a:lnTo>
                    <a:pt x="67" y="204"/>
                  </a:lnTo>
                  <a:lnTo>
                    <a:pt x="43" y="199"/>
                  </a:lnTo>
                  <a:lnTo>
                    <a:pt x="36" y="189"/>
                  </a:lnTo>
                  <a:lnTo>
                    <a:pt x="55" y="180"/>
                  </a:lnTo>
                  <a:lnTo>
                    <a:pt x="45" y="166"/>
                  </a:lnTo>
                  <a:lnTo>
                    <a:pt x="48" y="149"/>
                  </a:lnTo>
                  <a:lnTo>
                    <a:pt x="71" y="152"/>
                  </a:lnTo>
                  <a:lnTo>
                    <a:pt x="76" y="135"/>
                  </a:lnTo>
                  <a:lnTo>
                    <a:pt x="64" y="118"/>
                  </a:lnTo>
                  <a:lnTo>
                    <a:pt x="43" y="114"/>
                  </a:lnTo>
                  <a:lnTo>
                    <a:pt x="41" y="107"/>
                  </a:lnTo>
                  <a:lnTo>
                    <a:pt x="45" y="92"/>
                  </a:lnTo>
                  <a:lnTo>
                    <a:pt x="41" y="85"/>
                  </a:lnTo>
                  <a:lnTo>
                    <a:pt x="31" y="99"/>
                  </a:lnTo>
                  <a:lnTo>
                    <a:pt x="31" y="71"/>
                  </a:lnTo>
                  <a:lnTo>
                    <a:pt x="22" y="57"/>
                  </a:lnTo>
                  <a:lnTo>
                    <a:pt x="29" y="26"/>
                  </a:lnTo>
                  <a:lnTo>
                    <a:pt x="41" y="0"/>
                  </a:lnTo>
                  <a:lnTo>
                    <a:pt x="55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291;p30">
              <a:extLst>
                <a:ext uri="{FF2B5EF4-FFF2-40B4-BE49-F238E27FC236}">
                  <a16:creationId xmlns:a16="http://schemas.microsoft.com/office/drawing/2014/main" id="{DDADF754-9A24-8D57-4BE0-1B61B8EE93D5}"/>
                </a:ext>
              </a:extLst>
            </p:cNvPr>
            <p:cNvSpPr/>
            <p:nvPr/>
          </p:nvSpPr>
          <p:spPr>
            <a:xfrm>
              <a:off x="3931107" y="3534184"/>
              <a:ext cx="85217" cy="25810"/>
            </a:xfrm>
            <a:custGeom>
              <a:avLst/>
              <a:gdLst/>
              <a:ahLst/>
              <a:cxnLst/>
              <a:rect l="l" t="t" r="r" b="b"/>
              <a:pathLst>
                <a:path w="113623" h="34413" extrusionOk="0">
                  <a:moveTo>
                    <a:pt x="54539" y="0"/>
                  </a:moveTo>
                  <a:lnTo>
                    <a:pt x="63629" y="0"/>
                  </a:lnTo>
                  <a:lnTo>
                    <a:pt x="81809" y="11363"/>
                  </a:lnTo>
                  <a:lnTo>
                    <a:pt x="90899" y="11363"/>
                  </a:lnTo>
                  <a:lnTo>
                    <a:pt x="102261" y="0"/>
                  </a:lnTo>
                  <a:lnTo>
                    <a:pt x="113623" y="18180"/>
                  </a:lnTo>
                  <a:lnTo>
                    <a:pt x="109835" y="19263"/>
                  </a:lnTo>
                  <a:lnTo>
                    <a:pt x="113623" y="25323"/>
                  </a:lnTo>
                  <a:lnTo>
                    <a:pt x="97716" y="29868"/>
                  </a:lnTo>
                  <a:lnTo>
                    <a:pt x="81809" y="29868"/>
                  </a:lnTo>
                  <a:lnTo>
                    <a:pt x="63629" y="25323"/>
                  </a:lnTo>
                  <a:lnTo>
                    <a:pt x="47722" y="29868"/>
                  </a:lnTo>
                  <a:lnTo>
                    <a:pt x="43177" y="29868"/>
                  </a:lnTo>
                  <a:lnTo>
                    <a:pt x="31815" y="34413"/>
                  </a:lnTo>
                  <a:lnTo>
                    <a:pt x="0" y="34413"/>
                  </a:lnTo>
                  <a:lnTo>
                    <a:pt x="2041" y="27270"/>
                  </a:lnTo>
                  <a:lnTo>
                    <a:pt x="0" y="27270"/>
                  </a:lnTo>
                  <a:lnTo>
                    <a:pt x="4545" y="11363"/>
                  </a:lnTo>
                  <a:lnTo>
                    <a:pt x="43177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292;p30">
              <a:extLst>
                <a:ext uri="{FF2B5EF4-FFF2-40B4-BE49-F238E27FC236}">
                  <a16:creationId xmlns:a16="http://schemas.microsoft.com/office/drawing/2014/main" id="{F52AE4DF-0101-9D86-6837-043413A58B8E}"/>
                </a:ext>
              </a:extLst>
            </p:cNvPr>
            <p:cNvSpPr/>
            <p:nvPr/>
          </p:nvSpPr>
          <p:spPr>
            <a:xfrm>
              <a:off x="3934516" y="3571679"/>
              <a:ext cx="85217" cy="44313"/>
            </a:xfrm>
            <a:custGeom>
              <a:avLst/>
              <a:gdLst/>
              <a:ahLst/>
              <a:cxnLst/>
              <a:rect l="l" t="t" r="r" b="b"/>
              <a:pathLst>
                <a:path w="50" h="26" extrusionOk="0">
                  <a:moveTo>
                    <a:pt x="50" y="0"/>
                  </a:moveTo>
                  <a:lnTo>
                    <a:pt x="50" y="0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45" y="14"/>
                  </a:lnTo>
                  <a:lnTo>
                    <a:pt x="43" y="14"/>
                  </a:lnTo>
                  <a:lnTo>
                    <a:pt x="38" y="19"/>
                  </a:lnTo>
                  <a:lnTo>
                    <a:pt x="34" y="19"/>
                  </a:lnTo>
                  <a:lnTo>
                    <a:pt x="26" y="26"/>
                  </a:lnTo>
                  <a:lnTo>
                    <a:pt x="17" y="19"/>
                  </a:lnTo>
                  <a:lnTo>
                    <a:pt x="12" y="19"/>
                  </a:lnTo>
                  <a:lnTo>
                    <a:pt x="8" y="12"/>
                  </a:lnTo>
                  <a:lnTo>
                    <a:pt x="8" y="9"/>
                  </a:lnTo>
                  <a:lnTo>
                    <a:pt x="3" y="7"/>
                  </a:lnTo>
                  <a:lnTo>
                    <a:pt x="0" y="5"/>
                  </a:lnTo>
                  <a:lnTo>
                    <a:pt x="10" y="0"/>
                  </a:lnTo>
                  <a:lnTo>
                    <a:pt x="15" y="2"/>
                  </a:lnTo>
                  <a:lnTo>
                    <a:pt x="19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293;p30">
              <a:extLst>
                <a:ext uri="{FF2B5EF4-FFF2-40B4-BE49-F238E27FC236}">
                  <a16:creationId xmlns:a16="http://schemas.microsoft.com/office/drawing/2014/main" id="{127AFD56-D3EA-AA45-3AD1-329B98448FFB}"/>
                </a:ext>
              </a:extLst>
            </p:cNvPr>
            <p:cNvSpPr/>
            <p:nvPr/>
          </p:nvSpPr>
          <p:spPr>
            <a:xfrm>
              <a:off x="4950312" y="2651162"/>
              <a:ext cx="182367" cy="242020"/>
            </a:xfrm>
            <a:custGeom>
              <a:avLst/>
              <a:gdLst/>
              <a:ahLst/>
              <a:cxnLst/>
              <a:rect l="l" t="t" r="r" b="b"/>
              <a:pathLst>
                <a:path w="107" h="142" extrusionOk="0">
                  <a:moveTo>
                    <a:pt x="60" y="126"/>
                  </a:moveTo>
                  <a:lnTo>
                    <a:pt x="60" y="126"/>
                  </a:lnTo>
                  <a:lnTo>
                    <a:pt x="67" y="133"/>
                  </a:lnTo>
                  <a:lnTo>
                    <a:pt x="81" y="133"/>
                  </a:lnTo>
                  <a:lnTo>
                    <a:pt x="93" y="133"/>
                  </a:lnTo>
                  <a:lnTo>
                    <a:pt x="93" y="138"/>
                  </a:lnTo>
                  <a:lnTo>
                    <a:pt x="100" y="135"/>
                  </a:lnTo>
                  <a:lnTo>
                    <a:pt x="97" y="140"/>
                  </a:lnTo>
                  <a:lnTo>
                    <a:pt x="76" y="142"/>
                  </a:lnTo>
                  <a:lnTo>
                    <a:pt x="76" y="138"/>
                  </a:lnTo>
                  <a:lnTo>
                    <a:pt x="55" y="135"/>
                  </a:lnTo>
                  <a:lnTo>
                    <a:pt x="60" y="126"/>
                  </a:lnTo>
                  <a:close/>
                  <a:moveTo>
                    <a:pt x="107" y="5"/>
                  </a:moveTo>
                  <a:lnTo>
                    <a:pt x="107" y="5"/>
                  </a:lnTo>
                  <a:lnTo>
                    <a:pt x="100" y="19"/>
                  </a:lnTo>
                  <a:lnTo>
                    <a:pt x="97" y="22"/>
                  </a:lnTo>
                  <a:lnTo>
                    <a:pt x="86" y="22"/>
                  </a:lnTo>
                  <a:lnTo>
                    <a:pt x="79" y="19"/>
                  </a:lnTo>
                  <a:lnTo>
                    <a:pt x="60" y="24"/>
                  </a:lnTo>
                  <a:lnTo>
                    <a:pt x="69" y="38"/>
                  </a:lnTo>
                  <a:lnTo>
                    <a:pt x="62" y="41"/>
                  </a:lnTo>
                  <a:lnTo>
                    <a:pt x="53" y="41"/>
                  </a:lnTo>
                  <a:lnTo>
                    <a:pt x="45" y="29"/>
                  </a:lnTo>
                  <a:lnTo>
                    <a:pt x="41" y="34"/>
                  </a:lnTo>
                  <a:lnTo>
                    <a:pt x="45" y="45"/>
                  </a:lnTo>
                  <a:lnTo>
                    <a:pt x="53" y="57"/>
                  </a:lnTo>
                  <a:lnTo>
                    <a:pt x="48" y="60"/>
                  </a:lnTo>
                  <a:lnTo>
                    <a:pt x="57" y="71"/>
                  </a:lnTo>
                  <a:lnTo>
                    <a:pt x="64" y="76"/>
                  </a:lnTo>
                  <a:lnTo>
                    <a:pt x="64" y="88"/>
                  </a:lnTo>
                  <a:lnTo>
                    <a:pt x="50" y="83"/>
                  </a:lnTo>
                  <a:lnTo>
                    <a:pt x="55" y="93"/>
                  </a:lnTo>
                  <a:lnTo>
                    <a:pt x="43" y="95"/>
                  </a:lnTo>
                  <a:lnTo>
                    <a:pt x="50" y="112"/>
                  </a:lnTo>
                  <a:lnTo>
                    <a:pt x="38" y="114"/>
                  </a:lnTo>
                  <a:lnTo>
                    <a:pt x="26" y="105"/>
                  </a:lnTo>
                  <a:lnTo>
                    <a:pt x="19" y="88"/>
                  </a:lnTo>
                  <a:lnTo>
                    <a:pt x="17" y="74"/>
                  </a:lnTo>
                  <a:lnTo>
                    <a:pt x="12" y="64"/>
                  </a:lnTo>
                  <a:lnTo>
                    <a:pt x="3" y="53"/>
                  </a:lnTo>
                  <a:lnTo>
                    <a:pt x="0" y="48"/>
                  </a:lnTo>
                  <a:lnTo>
                    <a:pt x="10" y="38"/>
                  </a:lnTo>
                  <a:lnTo>
                    <a:pt x="10" y="31"/>
                  </a:lnTo>
                  <a:lnTo>
                    <a:pt x="15" y="27"/>
                  </a:lnTo>
                  <a:lnTo>
                    <a:pt x="15" y="22"/>
                  </a:lnTo>
                  <a:lnTo>
                    <a:pt x="26" y="19"/>
                  </a:lnTo>
                  <a:lnTo>
                    <a:pt x="34" y="15"/>
                  </a:lnTo>
                  <a:lnTo>
                    <a:pt x="41" y="15"/>
                  </a:lnTo>
                  <a:lnTo>
                    <a:pt x="43" y="12"/>
                  </a:lnTo>
                  <a:lnTo>
                    <a:pt x="48" y="12"/>
                  </a:lnTo>
                  <a:lnTo>
                    <a:pt x="60" y="12"/>
                  </a:lnTo>
                  <a:lnTo>
                    <a:pt x="71" y="5"/>
                  </a:lnTo>
                  <a:lnTo>
                    <a:pt x="83" y="15"/>
                  </a:lnTo>
                  <a:lnTo>
                    <a:pt x="97" y="12"/>
                  </a:lnTo>
                  <a:lnTo>
                    <a:pt x="97" y="0"/>
                  </a:lnTo>
                  <a:lnTo>
                    <a:pt x="107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294;p30">
              <a:extLst>
                <a:ext uri="{FF2B5EF4-FFF2-40B4-BE49-F238E27FC236}">
                  <a16:creationId xmlns:a16="http://schemas.microsoft.com/office/drawing/2014/main" id="{493045C5-1D98-F987-F0FD-294EE637AC0E}"/>
                </a:ext>
              </a:extLst>
            </p:cNvPr>
            <p:cNvSpPr/>
            <p:nvPr/>
          </p:nvSpPr>
          <p:spPr>
            <a:xfrm>
              <a:off x="2375031" y="-621047"/>
              <a:ext cx="1685607" cy="2469618"/>
            </a:xfrm>
            <a:custGeom>
              <a:avLst/>
              <a:gdLst/>
              <a:ahLst/>
              <a:cxnLst/>
              <a:rect l="l" t="t" r="r" b="b"/>
              <a:pathLst>
                <a:path w="989" h="1449" extrusionOk="0">
                  <a:moveTo>
                    <a:pt x="747" y="19"/>
                  </a:moveTo>
                  <a:lnTo>
                    <a:pt x="747" y="19"/>
                  </a:lnTo>
                  <a:lnTo>
                    <a:pt x="849" y="126"/>
                  </a:lnTo>
                  <a:lnTo>
                    <a:pt x="818" y="173"/>
                  </a:lnTo>
                  <a:lnTo>
                    <a:pt x="757" y="178"/>
                  </a:lnTo>
                  <a:lnTo>
                    <a:pt x="669" y="190"/>
                  </a:lnTo>
                  <a:lnTo>
                    <a:pt x="677" y="211"/>
                  </a:lnTo>
                  <a:lnTo>
                    <a:pt x="736" y="199"/>
                  </a:lnTo>
                  <a:lnTo>
                    <a:pt x="783" y="237"/>
                  </a:lnTo>
                  <a:lnTo>
                    <a:pt x="814" y="204"/>
                  </a:lnTo>
                  <a:lnTo>
                    <a:pt x="828" y="244"/>
                  </a:lnTo>
                  <a:lnTo>
                    <a:pt x="811" y="308"/>
                  </a:lnTo>
                  <a:lnTo>
                    <a:pt x="852" y="268"/>
                  </a:lnTo>
                  <a:lnTo>
                    <a:pt x="930" y="225"/>
                  </a:lnTo>
                  <a:lnTo>
                    <a:pt x="979" y="247"/>
                  </a:lnTo>
                  <a:lnTo>
                    <a:pt x="989" y="292"/>
                  </a:lnTo>
                  <a:lnTo>
                    <a:pt x="923" y="365"/>
                  </a:lnTo>
                  <a:lnTo>
                    <a:pt x="913" y="386"/>
                  </a:lnTo>
                  <a:lnTo>
                    <a:pt x="861" y="403"/>
                  </a:lnTo>
                  <a:lnTo>
                    <a:pt x="899" y="408"/>
                  </a:lnTo>
                  <a:lnTo>
                    <a:pt x="880" y="474"/>
                  </a:lnTo>
                  <a:lnTo>
                    <a:pt x="866" y="528"/>
                  </a:lnTo>
                  <a:lnTo>
                    <a:pt x="868" y="616"/>
                  </a:lnTo>
                  <a:lnTo>
                    <a:pt x="887" y="666"/>
                  </a:lnTo>
                  <a:lnTo>
                    <a:pt x="861" y="668"/>
                  </a:lnTo>
                  <a:lnTo>
                    <a:pt x="835" y="689"/>
                  </a:lnTo>
                  <a:lnTo>
                    <a:pt x="863" y="727"/>
                  </a:lnTo>
                  <a:lnTo>
                    <a:pt x="868" y="782"/>
                  </a:lnTo>
                  <a:lnTo>
                    <a:pt x="852" y="786"/>
                  </a:lnTo>
                  <a:lnTo>
                    <a:pt x="873" y="841"/>
                  </a:lnTo>
                  <a:lnTo>
                    <a:pt x="835" y="843"/>
                  </a:lnTo>
                  <a:lnTo>
                    <a:pt x="856" y="869"/>
                  </a:lnTo>
                  <a:lnTo>
                    <a:pt x="849" y="888"/>
                  </a:lnTo>
                  <a:lnTo>
                    <a:pt x="828" y="895"/>
                  </a:lnTo>
                  <a:lnTo>
                    <a:pt x="804" y="895"/>
                  </a:lnTo>
                  <a:lnTo>
                    <a:pt x="826" y="933"/>
                  </a:lnTo>
                  <a:lnTo>
                    <a:pt x="826" y="957"/>
                  </a:lnTo>
                  <a:lnTo>
                    <a:pt x="792" y="935"/>
                  </a:lnTo>
                  <a:lnTo>
                    <a:pt x="785" y="950"/>
                  </a:lnTo>
                  <a:lnTo>
                    <a:pt x="807" y="964"/>
                  </a:lnTo>
                  <a:lnTo>
                    <a:pt x="828" y="995"/>
                  </a:lnTo>
                  <a:lnTo>
                    <a:pt x="835" y="1035"/>
                  </a:lnTo>
                  <a:lnTo>
                    <a:pt x="804" y="1044"/>
                  </a:lnTo>
                  <a:lnTo>
                    <a:pt x="792" y="1025"/>
                  </a:lnTo>
                  <a:lnTo>
                    <a:pt x="773" y="997"/>
                  </a:lnTo>
                  <a:lnTo>
                    <a:pt x="778" y="1030"/>
                  </a:lnTo>
                  <a:lnTo>
                    <a:pt x="759" y="1056"/>
                  </a:lnTo>
                  <a:lnTo>
                    <a:pt x="802" y="1059"/>
                  </a:lnTo>
                  <a:lnTo>
                    <a:pt x="823" y="1061"/>
                  </a:lnTo>
                  <a:lnTo>
                    <a:pt x="781" y="1101"/>
                  </a:lnTo>
                  <a:lnTo>
                    <a:pt x="736" y="1137"/>
                  </a:lnTo>
                  <a:lnTo>
                    <a:pt x="688" y="1151"/>
                  </a:lnTo>
                  <a:lnTo>
                    <a:pt x="672" y="1151"/>
                  </a:lnTo>
                  <a:lnTo>
                    <a:pt x="655" y="1167"/>
                  </a:lnTo>
                  <a:lnTo>
                    <a:pt x="632" y="1210"/>
                  </a:lnTo>
                  <a:lnTo>
                    <a:pt x="598" y="1238"/>
                  </a:lnTo>
                  <a:lnTo>
                    <a:pt x="587" y="1241"/>
                  </a:lnTo>
                  <a:lnTo>
                    <a:pt x="565" y="1250"/>
                  </a:lnTo>
                  <a:lnTo>
                    <a:pt x="542" y="1260"/>
                  </a:lnTo>
                  <a:lnTo>
                    <a:pt x="528" y="1283"/>
                  </a:lnTo>
                  <a:lnTo>
                    <a:pt x="528" y="1309"/>
                  </a:lnTo>
                  <a:lnTo>
                    <a:pt x="518" y="1333"/>
                  </a:lnTo>
                  <a:lnTo>
                    <a:pt x="492" y="1362"/>
                  </a:lnTo>
                  <a:lnTo>
                    <a:pt x="499" y="1388"/>
                  </a:lnTo>
                  <a:lnTo>
                    <a:pt x="492" y="1416"/>
                  </a:lnTo>
                  <a:lnTo>
                    <a:pt x="485" y="1449"/>
                  </a:lnTo>
                  <a:lnTo>
                    <a:pt x="461" y="1449"/>
                  </a:lnTo>
                  <a:lnTo>
                    <a:pt x="438" y="1423"/>
                  </a:lnTo>
                  <a:lnTo>
                    <a:pt x="405" y="1423"/>
                  </a:lnTo>
                  <a:lnTo>
                    <a:pt x="388" y="1404"/>
                  </a:lnTo>
                  <a:lnTo>
                    <a:pt x="378" y="1373"/>
                  </a:lnTo>
                  <a:lnTo>
                    <a:pt x="350" y="1328"/>
                  </a:lnTo>
                  <a:lnTo>
                    <a:pt x="343" y="1305"/>
                  </a:lnTo>
                  <a:lnTo>
                    <a:pt x="341" y="1272"/>
                  </a:lnTo>
                  <a:lnTo>
                    <a:pt x="317" y="1234"/>
                  </a:lnTo>
                  <a:lnTo>
                    <a:pt x="324" y="1205"/>
                  </a:lnTo>
                  <a:lnTo>
                    <a:pt x="312" y="1189"/>
                  </a:lnTo>
                  <a:lnTo>
                    <a:pt x="329" y="1141"/>
                  </a:lnTo>
                  <a:lnTo>
                    <a:pt x="352" y="1125"/>
                  </a:lnTo>
                  <a:lnTo>
                    <a:pt x="360" y="1106"/>
                  </a:lnTo>
                  <a:lnTo>
                    <a:pt x="362" y="1070"/>
                  </a:lnTo>
                  <a:lnTo>
                    <a:pt x="343" y="1085"/>
                  </a:lnTo>
                  <a:lnTo>
                    <a:pt x="336" y="1092"/>
                  </a:lnTo>
                  <a:lnTo>
                    <a:pt x="322" y="1099"/>
                  </a:lnTo>
                  <a:lnTo>
                    <a:pt x="300" y="1085"/>
                  </a:lnTo>
                  <a:lnTo>
                    <a:pt x="300" y="1051"/>
                  </a:lnTo>
                  <a:lnTo>
                    <a:pt x="305" y="1028"/>
                  </a:lnTo>
                  <a:lnTo>
                    <a:pt x="322" y="1025"/>
                  </a:lnTo>
                  <a:lnTo>
                    <a:pt x="355" y="1040"/>
                  </a:lnTo>
                  <a:lnTo>
                    <a:pt x="326" y="1006"/>
                  </a:lnTo>
                  <a:lnTo>
                    <a:pt x="312" y="990"/>
                  </a:lnTo>
                  <a:lnTo>
                    <a:pt x="296" y="997"/>
                  </a:lnTo>
                  <a:lnTo>
                    <a:pt x="282" y="985"/>
                  </a:lnTo>
                  <a:lnTo>
                    <a:pt x="300" y="935"/>
                  </a:lnTo>
                  <a:lnTo>
                    <a:pt x="291" y="917"/>
                  </a:lnTo>
                  <a:lnTo>
                    <a:pt x="277" y="876"/>
                  </a:lnTo>
                  <a:lnTo>
                    <a:pt x="258" y="815"/>
                  </a:lnTo>
                  <a:lnTo>
                    <a:pt x="237" y="791"/>
                  </a:lnTo>
                  <a:lnTo>
                    <a:pt x="237" y="763"/>
                  </a:lnTo>
                  <a:lnTo>
                    <a:pt x="194" y="725"/>
                  </a:lnTo>
                  <a:lnTo>
                    <a:pt x="161" y="720"/>
                  </a:lnTo>
                  <a:lnTo>
                    <a:pt x="116" y="722"/>
                  </a:lnTo>
                  <a:lnTo>
                    <a:pt x="78" y="730"/>
                  </a:lnTo>
                  <a:lnTo>
                    <a:pt x="59" y="706"/>
                  </a:lnTo>
                  <a:lnTo>
                    <a:pt x="31" y="663"/>
                  </a:lnTo>
                  <a:lnTo>
                    <a:pt x="73" y="640"/>
                  </a:lnTo>
                  <a:lnTo>
                    <a:pt x="104" y="635"/>
                  </a:lnTo>
                  <a:lnTo>
                    <a:pt x="36" y="616"/>
                  </a:lnTo>
                  <a:lnTo>
                    <a:pt x="0" y="585"/>
                  </a:lnTo>
                  <a:lnTo>
                    <a:pt x="2" y="554"/>
                  </a:lnTo>
                  <a:lnTo>
                    <a:pt x="64" y="516"/>
                  </a:lnTo>
                  <a:lnTo>
                    <a:pt x="123" y="474"/>
                  </a:lnTo>
                  <a:lnTo>
                    <a:pt x="128" y="443"/>
                  </a:lnTo>
                  <a:lnTo>
                    <a:pt x="85" y="410"/>
                  </a:lnTo>
                  <a:lnTo>
                    <a:pt x="99" y="372"/>
                  </a:lnTo>
                  <a:lnTo>
                    <a:pt x="154" y="301"/>
                  </a:lnTo>
                  <a:lnTo>
                    <a:pt x="177" y="289"/>
                  </a:lnTo>
                  <a:lnTo>
                    <a:pt x="170" y="240"/>
                  </a:lnTo>
                  <a:lnTo>
                    <a:pt x="211" y="209"/>
                  </a:lnTo>
                  <a:lnTo>
                    <a:pt x="260" y="192"/>
                  </a:lnTo>
                  <a:lnTo>
                    <a:pt x="310" y="190"/>
                  </a:lnTo>
                  <a:lnTo>
                    <a:pt x="329" y="228"/>
                  </a:lnTo>
                  <a:lnTo>
                    <a:pt x="371" y="161"/>
                  </a:lnTo>
                  <a:lnTo>
                    <a:pt x="409" y="206"/>
                  </a:lnTo>
                  <a:lnTo>
                    <a:pt x="433" y="216"/>
                  </a:lnTo>
                  <a:lnTo>
                    <a:pt x="466" y="251"/>
                  </a:lnTo>
                  <a:lnTo>
                    <a:pt x="426" y="190"/>
                  </a:lnTo>
                  <a:lnTo>
                    <a:pt x="428" y="138"/>
                  </a:lnTo>
                  <a:lnTo>
                    <a:pt x="483" y="60"/>
                  </a:lnTo>
                  <a:lnTo>
                    <a:pt x="539" y="67"/>
                  </a:lnTo>
                  <a:lnTo>
                    <a:pt x="561" y="15"/>
                  </a:lnTo>
                  <a:lnTo>
                    <a:pt x="617" y="0"/>
                  </a:lnTo>
                  <a:lnTo>
                    <a:pt x="747" y="19"/>
                  </a:lnTo>
                  <a:lnTo>
                    <a:pt x="747" y="19"/>
                  </a:lnTo>
                  <a:lnTo>
                    <a:pt x="747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295;p30">
              <a:extLst>
                <a:ext uri="{FF2B5EF4-FFF2-40B4-BE49-F238E27FC236}">
                  <a16:creationId xmlns:a16="http://schemas.microsoft.com/office/drawing/2014/main" id="{A1505E92-48A4-354F-1BD0-3D02CBB49B8A}"/>
                </a:ext>
              </a:extLst>
            </p:cNvPr>
            <p:cNvSpPr/>
            <p:nvPr/>
          </p:nvSpPr>
          <p:spPr>
            <a:xfrm>
              <a:off x="1851794" y="3421695"/>
              <a:ext cx="112487" cy="117602"/>
            </a:xfrm>
            <a:custGeom>
              <a:avLst/>
              <a:gdLst/>
              <a:ahLst/>
              <a:cxnLst/>
              <a:rect l="l" t="t" r="r" b="b"/>
              <a:pathLst>
                <a:path w="66" h="69" extrusionOk="0">
                  <a:moveTo>
                    <a:pt x="49" y="14"/>
                  </a:moveTo>
                  <a:lnTo>
                    <a:pt x="49" y="14"/>
                  </a:lnTo>
                  <a:lnTo>
                    <a:pt x="49" y="33"/>
                  </a:lnTo>
                  <a:lnTo>
                    <a:pt x="54" y="33"/>
                  </a:lnTo>
                  <a:lnTo>
                    <a:pt x="59" y="36"/>
                  </a:lnTo>
                  <a:lnTo>
                    <a:pt x="61" y="33"/>
                  </a:lnTo>
                  <a:lnTo>
                    <a:pt x="66" y="36"/>
                  </a:lnTo>
                  <a:lnTo>
                    <a:pt x="56" y="43"/>
                  </a:lnTo>
                  <a:lnTo>
                    <a:pt x="49" y="48"/>
                  </a:lnTo>
                  <a:lnTo>
                    <a:pt x="49" y="50"/>
                  </a:lnTo>
                  <a:lnTo>
                    <a:pt x="52" y="52"/>
                  </a:lnTo>
                  <a:lnTo>
                    <a:pt x="47" y="57"/>
                  </a:lnTo>
                  <a:lnTo>
                    <a:pt x="42" y="59"/>
                  </a:lnTo>
                  <a:lnTo>
                    <a:pt x="44" y="59"/>
                  </a:lnTo>
                  <a:lnTo>
                    <a:pt x="40" y="62"/>
                  </a:lnTo>
                  <a:lnTo>
                    <a:pt x="35" y="66"/>
                  </a:lnTo>
                  <a:lnTo>
                    <a:pt x="35" y="69"/>
                  </a:lnTo>
                  <a:lnTo>
                    <a:pt x="26" y="66"/>
                  </a:lnTo>
                  <a:lnTo>
                    <a:pt x="16" y="64"/>
                  </a:lnTo>
                  <a:lnTo>
                    <a:pt x="9" y="62"/>
                  </a:lnTo>
                  <a:lnTo>
                    <a:pt x="0" y="55"/>
                  </a:lnTo>
                  <a:lnTo>
                    <a:pt x="0" y="50"/>
                  </a:lnTo>
                  <a:lnTo>
                    <a:pt x="2" y="48"/>
                  </a:lnTo>
                  <a:lnTo>
                    <a:pt x="0" y="43"/>
                  </a:lnTo>
                  <a:lnTo>
                    <a:pt x="7" y="31"/>
                  </a:lnTo>
                  <a:lnTo>
                    <a:pt x="28" y="31"/>
                  </a:lnTo>
                  <a:lnTo>
                    <a:pt x="28" y="24"/>
                  </a:lnTo>
                  <a:lnTo>
                    <a:pt x="26" y="24"/>
                  </a:lnTo>
                  <a:lnTo>
                    <a:pt x="23" y="19"/>
                  </a:lnTo>
                  <a:lnTo>
                    <a:pt x="18" y="17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35" y="0"/>
                  </a:lnTo>
                  <a:lnTo>
                    <a:pt x="52" y="0"/>
                  </a:lnTo>
                  <a:lnTo>
                    <a:pt x="49" y="1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296;p30">
              <a:extLst>
                <a:ext uri="{FF2B5EF4-FFF2-40B4-BE49-F238E27FC236}">
                  <a16:creationId xmlns:a16="http://schemas.microsoft.com/office/drawing/2014/main" id="{70124EFB-8A0D-B50E-AA03-5D4BD4D16B67}"/>
                </a:ext>
              </a:extLst>
            </p:cNvPr>
            <p:cNvSpPr/>
            <p:nvPr/>
          </p:nvSpPr>
          <p:spPr>
            <a:xfrm>
              <a:off x="2702267" y="3687576"/>
              <a:ext cx="136348" cy="197706"/>
            </a:xfrm>
            <a:custGeom>
              <a:avLst/>
              <a:gdLst/>
              <a:ahLst/>
              <a:cxnLst/>
              <a:rect l="l" t="t" r="r" b="b"/>
              <a:pathLst>
                <a:path w="80" h="116" extrusionOk="0">
                  <a:moveTo>
                    <a:pt x="68" y="41"/>
                  </a:moveTo>
                  <a:lnTo>
                    <a:pt x="68" y="41"/>
                  </a:lnTo>
                  <a:lnTo>
                    <a:pt x="66" y="55"/>
                  </a:lnTo>
                  <a:lnTo>
                    <a:pt x="56" y="60"/>
                  </a:lnTo>
                  <a:lnTo>
                    <a:pt x="59" y="62"/>
                  </a:lnTo>
                  <a:lnTo>
                    <a:pt x="54" y="71"/>
                  </a:lnTo>
                  <a:lnTo>
                    <a:pt x="61" y="83"/>
                  </a:lnTo>
                  <a:lnTo>
                    <a:pt x="66" y="83"/>
                  </a:lnTo>
                  <a:lnTo>
                    <a:pt x="68" y="93"/>
                  </a:lnTo>
                  <a:lnTo>
                    <a:pt x="80" y="107"/>
                  </a:lnTo>
                  <a:lnTo>
                    <a:pt x="75" y="107"/>
                  </a:lnTo>
                  <a:lnTo>
                    <a:pt x="66" y="105"/>
                  </a:lnTo>
                  <a:lnTo>
                    <a:pt x="61" y="109"/>
                  </a:lnTo>
                  <a:lnTo>
                    <a:pt x="54" y="112"/>
                  </a:lnTo>
                  <a:lnTo>
                    <a:pt x="49" y="114"/>
                  </a:lnTo>
                  <a:lnTo>
                    <a:pt x="47" y="116"/>
                  </a:lnTo>
                  <a:lnTo>
                    <a:pt x="37" y="116"/>
                  </a:lnTo>
                  <a:lnTo>
                    <a:pt x="28" y="107"/>
                  </a:lnTo>
                  <a:lnTo>
                    <a:pt x="26" y="100"/>
                  </a:lnTo>
                  <a:lnTo>
                    <a:pt x="23" y="93"/>
                  </a:lnTo>
                  <a:lnTo>
                    <a:pt x="26" y="79"/>
                  </a:lnTo>
                  <a:lnTo>
                    <a:pt x="30" y="71"/>
                  </a:lnTo>
                  <a:lnTo>
                    <a:pt x="26" y="67"/>
                  </a:lnTo>
                  <a:lnTo>
                    <a:pt x="21" y="62"/>
                  </a:lnTo>
                  <a:lnTo>
                    <a:pt x="23" y="55"/>
                  </a:lnTo>
                  <a:lnTo>
                    <a:pt x="19" y="52"/>
                  </a:lnTo>
                  <a:lnTo>
                    <a:pt x="11" y="52"/>
                  </a:lnTo>
                  <a:lnTo>
                    <a:pt x="0" y="41"/>
                  </a:lnTo>
                  <a:lnTo>
                    <a:pt x="4" y="36"/>
                  </a:lnTo>
                  <a:lnTo>
                    <a:pt x="4" y="29"/>
                  </a:lnTo>
                  <a:lnTo>
                    <a:pt x="14" y="26"/>
                  </a:lnTo>
                  <a:lnTo>
                    <a:pt x="16" y="22"/>
                  </a:lnTo>
                  <a:lnTo>
                    <a:pt x="11" y="17"/>
                  </a:lnTo>
                  <a:lnTo>
                    <a:pt x="14" y="10"/>
                  </a:lnTo>
                  <a:lnTo>
                    <a:pt x="26" y="0"/>
                  </a:lnTo>
                  <a:lnTo>
                    <a:pt x="37" y="8"/>
                  </a:lnTo>
                  <a:lnTo>
                    <a:pt x="47" y="17"/>
                  </a:lnTo>
                  <a:lnTo>
                    <a:pt x="47" y="26"/>
                  </a:lnTo>
                  <a:lnTo>
                    <a:pt x="54" y="26"/>
                  </a:lnTo>
                  <a:lnTo>
                    <a:pt x="61" y="34"/>
                  </a:lnTo>
                  <a:lnTo>
                    <a:pt x="68" y="4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297;p30">
              <a:extLst>
                <a:ext uri="{FF2B5EF4-FFF2-40B4-BE49-F238E27FC236}">
                  <a16:creationId xmlns:a16="http://schemas.microsoft.com/office/drawing/2014/main" id="{771A6A76-507E-B4CA-812B-E57569D02BC2}"/>
                </a:ext>
              </a:extLst>
            </p:cNvPr>
            <p:cNvSpPr/>
            <p:nvPr/>
          </p:nvSpPr>
          <p:spPr>
            <a:xfrm>
              <a:off x="1931899" y="3474531"/>
              <a:ext cx="168732" cy="85217"/>
            </a:xfrm>
            <a:custGeom>
              <a:avLst/>
              <a:gdLst/>
              <a:ahLst/>
              <a:cxnLst/>
              <a:rect l="l" t="t" r="r" b="b"/>
              <a:pathLst>
                <a:path w="99" h="50" extrusionOk="0">
                  <a:moveTo>
                    <a:pt x="59" y="2"/>
                  </a:moveTo>
                  <a:lnTo>
                    <a:pt x="59" y="2"/>
                  </a:lnTo>
                  <a:lnTo>
                    <a:pt x="64" y="2"/>
                  </a:lnTo>
                  <a:lnTo>
                    <a:pt x="66" y="2"/>
                  </a:lnTo>
                  <a:lnTo>
                    <a:pt x="71" y="0"/>
                  </a:lnTo>
                  <a:lnTo>
                    <a:pt x="78" y="2"/>
                  </a:lnTo>
                  <a:lnTo>
                    <a:pt x="80" y="2"/>
                  </a:lnTo>
                  <a:lnTo>
                    <a:pt x="85" y="7"/>
                  </a:lnTo>
                  <a:lnTo>
                    <a:pt x="90" y="9"/>
                  </a:lnTo>
                  <a:lnTo>
                    <a:pt x="97" y="12"/>
                  </a:lnTo>
                  <a:lnTo>
                    <a:pt x="99" y="17"/>
                  </a:lnTo>
                  <a:lnTo>
                    <a:pt x="94" y="17"/>
                  </a:lnTo>
                  <a:lnTo>
                    <a:pt x="92" y="19"/>
                  </a:lnTo>
                  <a:lnTo>
                    <a:pt x="85" y="21"/>
                  </a:lnTo>
                  <a:lnTo>
                    <a:pt x="83" y="21"/>
                  </a:lnTo>
                  <a:lnTo>
                    <a:pt x="78" y="24"/>
                  </a:lnTo>
                  <a:lnTo>
                    <a:pt x="76" y="21"/>
                  </a:lnTo>
                  <a:lnTo>
                    <a:pt x="73" y="19"/>
                  </a:lnTo>
                  <a:lnTo>
                    <a:pt x="71" y="21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8" y="28"/>
                  </a:lnTo>
                  <a:lnTo>
                    <a:pt x="61" y="33"/>
                  </a:lnTo>
                  <a:lnTo>
                    <a:pt x="59" y="35"/>
                  </a:lnTo>
                  <a:lnTo>
                    <a:pt x="57" y="38"/>
                  </a:lnTo>
                  <a:lnTo>
                    <a:pt x="52" y="33"/>
                  </a:lnTo>
                  <a:lnTo>
                    <a:pt x="50" y="38"/>
                  </a:lnTo>
                  <a:lnTo>
                    <a:pt x="45" y="38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0" y="45"/>
                  </a:lnTo>
                  <a:lnTo>
                    <a:pt x="38" y="50"/>
                  </a:lnTo>
                  <a:lnTo>
                    <a:pt x="33" y="50"/>
                  </a:lnTo>
                  <a:lnTo>
                    <a:pt x="31" y="45"/>
                  </a:lnTo>
                  <a:lnTo>
                    <a:pt x="24" y="45"/>
                  </a:lnTo>
                  <a:lnTo>
                    <a:pt x="26" y="38"/>
                  </a:lnTo>
                  <a:lnTo>
                    <a:pt x="24" y="35"/>
                  </a:lnTo>
                  <a:lnTo>
                    <a:pt x="19" y="35"/>
                  </a:lnTo>
                  <a:lnTo>
                    <a:pt x="12" y="38"/>
                  </a:lnTo>
                  <a:lnTo>
                    <a:pt x="12" y="35"/>
                  </a:lnTo>
                  <a:lnTo>
                    <a:pt x="7" y="31"/>
                  </a:lnTo>
                  <a:lnTo>
                    <a:pt x="5" y="28"/>
                  </a:lnTo>
                  <a:lnTo>
                    <a:pt x="0" y="26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9" y="12"/>
                  </a:lnTo>
                  <a:lnTo>
                    <a:pt x="16" y="5"/>
                  </a:lnTo>
                  <a:lnTo>
                    <a:pt x="19" y="5"/>
                  </a:lnTo>
                  <a:lnTo>
                    <a:pt x="24" y="2"/>
                  </a:lnTo>
                  <a:lnTo>
                    <a:pt x="28" y="2"/>
                  </a:lnTo>
                  <a:lnTo>
                    <a:pt x="28" y="5"/>
                  </a:lnTo>
                  <a:lnTo>
                    <a:pt x="31" y="2"/>
                  </a:lnTo>
                  <a:lnTo>
                    <a:pt x="40" y="5"/>
                  </a:lnTo>
                  <a:lnTo>
                    <a:pt x="47" y="5"/>
                  </a:lnTo>
                  <a:lnTo>
                    <a:pt x="52" y="2"/>
                  </a:lnTo>
                  <a:lnTo>
                    <a:pt x="54" y="0"/>
                  </a:lnTo>
                  <a:lnTo>
                    <a:pt x="59" y="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298;p30">
              <a:extLst>
                <a:ext uri="{FF2B5EF4-FFF2-40B4-BE49-F238E27FC236}">
                  <a16:creationId xmlns:a16="http://schemas.microsoft.com/office/drawing/2014/main" id="{33F95D55-8CD2-C4DC-BAFC-7F6FDBC4A84E}"/>
                </a:ext>
              </a:extLst>
            </p:cNvPr>
            <p:cNvSpPr/>
            <p:nvPr/>
          </p:nvSpPr>
          <p:spPr>
            <a:xfrm>
              <a:off x="4773059" y="2477480"/>
              <a:ext cx="158506" cy="153393"/>
            </a:xfrm>
            <a:custGeom>
              <a:avLst/>
              <a:gdLst/>
              <a:ahLst/>
              <a:cxnLst/>
              <a:rect l="l" t="t" r="r" b="b"/>
              <a:pathLst>
                <a:path w="93" h="90" extrusionOk="0">
                  <a:moveTo>
                    <a:pt x="64" y="12"/>
                  </a:moveTo>
                  <a:lnTo>
                    <a:pt x="64" y="12"/>
                  </a:lnTo>
                  <a:lnTo>
                    <a:pt x="78" y="17"/>
                  </a:lnTo>
                  <a:lnTo>
                    <a:pt x="83" y="15"/>
                  </a:lnTo>
                  <a:lnTo>
                    <a:pt x="88" y="24"/>
                  </a:lnTo>
                  <a:lnTo>
                    <a:pt x="93" y="29"/>
                  </a:lnTo>
                  <a:lnTo>
                    <a:pt x="86" y="38"/>
                  </a:lnTo>
                  <a:lnTo>
                    <a:pt x="81" y="33"/>
                  </a:lnTo>
                  <a:lnTo>
                    <a:pt x="69" y="33"/>
                  </a:lnTo>
                  <a:lnTo>
                    <a:pt x="55" y="29"/>
                  </a:lnTo>
                  <a:lnTo>
                    <a:pt x="48" y="29"/>
                  </a:lnTo>
                  <a:lnTo>
                    <a:pt x="43" y="33"/>
                  </a:lnTo>
                  <a:lnTo>
                    <a:pt x="38" y="29"/>
                  </a:lnTo>
                  <a:lnTo>
                    <a:pt x="34" y="38"/>
                  </a:lnTo>
                  <a:lnTo>
                    <a:pt x="43" y="50"/>
                  </a:lnTo>
                  <a:lnTo>
                    <a:pt x="45" y="57"/>
                  </a:lnTo>
                  <a:lnTo>
                    <a:pt x="52" y="64"/>
                  </a:lnTo>
                  <a:lnTo>
                    <a:pt x="60" y="69"/>
                  </a:lnTo>
                  <a:lnTo>
                    <a:pt x="64" y="78"/>
                  </a:lnTo>
                  <a:lnTo>
                    <a:pt x="81" y="86"/>
                  </a:lnTo>
                  <a:lnTo>
                    <a:pt x="78" y="90"/>
                  </a:lnTo>
                  <a:lnTo>
                    <a:pt x="62" y="83"/>
                  </a:lnTo>
                  <a:lnTo>
                    <a:pt x="52" y="74"/>
                  </a:lnTo>
                  <a:lnTo>
                    <a:pt x="38" y="69"/>
                  </a:lnTo>
                  <a:lnTo>
                    <a:pt x="24" y="52"/>
                  </a:lnTo>
                  <a:lnTo>
                    <a:pt x="29" y="50"/>
                  </a:lnTo>
                  <a:lnTo>
                    <a:pt x="19" y="41"/>
                  </a:lnTo>
                  <a:lnTo>
                    <a:pt x="19" y="33"/>
                  </a:lnTo>
                  <a:lnTo>
                    <a:pt x="10" y="29"/>
                  </a:lnTo>
                  <a:lnTo>
                    <a:pt x="5" y="41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15" y="19"/>
                  </a:lnTo>
                  <a:lnTo>
                    <a:pt x="19" y="24"/>
                  </a:lnTo>
                  <a:lnTo>
                    <a:pt x="26" y="24"/>
                  </a:lnTo>
                  <a:lnTo>
                    <a:pt x="26" y="17"/>
                  </a:lnTo>
                  <a:lnTo>
                    <a:pt x="34" y="15"/>
                  </a:lnTo>
                  <a:lnTo>
                    <a:pt x="34" y="7"/>
                  </a:lnTo>
                  <a:lnTo>
                    <a:pt x="48" y="0"/>
                  </a:lnTo>
                  <a:lnTo>
                    <a:pt x="52" y="3"/>
                  </a:lnTo>
                  <a:lnTo>
                    <a:pt x="6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299;p30">
              <a:extLst>
                <a:ext uri="{FF2B5EF4-FFF2-40B4-BE49-F238E27FC236}">
                  <a16:creationId xmlns:a16="http://schemas.microsoft.com/office/drawing/2014/main" id="{E99FF252-B688-7525-2E5F-2BE81DADE0E8}"/>
                </a:ext>
              </a:extLst>
            </p:cNvPr>
            <p:cNvSpPr/>
            <p:nvPr/>
          </p:nvSpPr>
          <p:spPr>
            <a:xfrm>
              <a:off x="2342649" y="3362043"/>
              <a:ext cx="76697" cy="56245"/>
            </a:xfrm>
            <a:custGeom>
              <a:avLst/>
              <a:gdLst/>
              <a:ahLst/>
              <a:cxnLst/>
              <a:rect l="l" t="t" r="r" b="b"/>
              <a:pathLst>
                <a:path w="45" h="33" extrusionOk="0">
                  <a:moveTo>
                    <a:pt x="40" y="23"/>
                  </a:moveTo>
                  <a:lnTo>
                    <a:pt x="40" y="23"/>
                  </a:lnTo>
                  <a:lnTo>
                    <a:pt x="45" y="28"/>
                  </a:lnTo>
                  <a:lnTo>
                    <a:pt x="43" y="33"/>
                  </a:lnTo>
                  <a:lnTo>
                    <a:pt x="33" y="30"/>
                  </a:lnTo>
                  <a:lnTo>
                    <a:pt x="26" y="30"/>
                  </a:lnTo>
                  <a:lnTo>
                    <a:pt x="17" y="30"/>
                  </a:lnTo>
                  <a:lnTo>
                    <a:pt x="7" y="33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17" y="26"/>
                  </a:lnTo>
                  <a:lnTo>
                    <a:pt x="29" y="26"/>
                  </a:lnTo>
                  <a:lnTo>
                    <a:pt x="33" y="21"/>
                  </a:lnTo>
                  <a:lnTo>
                    <a:pt x="26" y="14"/>
                  </a:lnTo>
                  <a:lnTo>
                    <a:pt x="26" y="9"/>
                  </a:lnTo>
                  <a:lnTo>
                    <a:pt x="17" y="4"/>
                  </a:lnTo>
                  <a:lnTo>
                    <a:pt x="19" y="0"/>
                  </a:lnTo>
                  <a:lnTo>
                    <a:pt x="31" y="2"/>
                  </a:lnTo>
                  <a:lnTo>
                    <a:pt x="43" y="4"/>
                  </a:lnTo>
                  <a:lnTo>
                    <a:pt x="45" y="14"/>
                  </a:lnTo>
                  <a:lnTo>
                    <a:pt x="43" y="21"/>
                  </a:lnTo>
                  <a:lnTo>
                    <a:pt x="40" y="2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300;p30">
              <a:extLst>
                <a:ext uri="{FF2B5EF4-FFF2-40B4-BE49-F238E27FC236}">
                  <a16:creationId xmlns:a16="http://schemas.microsoft.com/office/drawing/2014/main" id="{881D064F-F19A-6509-EB79-ECDA1D9D246E}"/>
                </a:ext>
              </a:extLst>
            </p:cNvPr>
            <p:cNvSpPr/>
            <p:nvPr/>
          </p:nvSpPr>
          <p:spPr>
            <a:xfrm>
              <a:off x="4842937" y="2388853"/>
              <a:ext cx="180661" cy="117602"/>
            </a:xfrm>
            <a:custGeom>
              <a:avLst/>
              <a:gdLst/>
              <a:ahLst/>
              <a:cxnLst/>
              <a:rect l="l" t="t" r="r" b="b"/>
              <a:pathLst>
                <a:path w="106" h="69" extrusionOk="0">
                  <a:moveTo>
                    <a:pt x="75" y="0"/>
                  </a:moveTo>
                  <a:lnTo>
                    <a:pt x="75" y="0"/>
                  </a:lnTo>
                  <a:lnTo>
                    <a:pt x="92" y="7"/>
                  </a:lnTo>
                  <a:lnTo>
                    <a:pt x="94" y="5"/>
                  </a:lnTo>
                  <a:lnTo>
                    <a:pt x="104" y="12"/>
                  </a:lnTo>
                  <a:lnTo>
                    <a:pt x="106" y="19"/>
                  </a:lnTo>
                  <a:lnTo>
                    <a:pt x="94" y="24"/>
                  </a:lnTo>
                  <a:lnTo>
                    <a:pt x="89" y="40"/>
                  </a:lnTo>
                  <a:lnTo>
                    <a:pt x="78" y="57"/>
                  </a:lnTo>
                  <a:lnTo>
                    <a:pt x="66" y="62"/>
                  </a:lnTo>
                  <a:lnTo>
                    <a:pt x="56" y="59"/>
                  </a:lnTo>
                  <a:lnTo>
                    <a:pt x="45" y="67"/>
                  </a:lnTo>
                  <a:lnTo>
                    <a:pt x="37" y="69"/>
                  </a:lnTo>
                  <a:lnTo>
                    <a:pt x="23" y="64"/>
                  </a:lnTo>
                  <a:lnTo>
                    <a:pt x="11" y="55"/>
                  </a:lnTo>
                  <a:lnTo>
                    <a:pt x="7" y="52"/>
                  </a:lnTo>
                  <a:lnTo>
                    <a:pt x="2" y="43"/>
                  </a:lnTo>
                  <a:lnTo>
                    <a:pt x="0" y="43"/>
                  </a:lnTo>
                  <a:lnTo>
                    <a:pt x="7" y="29"/>
                  </a:lnTo>
                  <a:lnTo>
                    <a:pt x="2" y="24"/>
                  </a:lnTo>
                  <a:lnTo>
                    <a:pt x="11" y="24"/>
                  </a:lnTo>
                  <a:lnTo>
                    <a:pt x="14" y="14"/>
                  </a:lnTo>
                  <a:lnTo>
                    <a:pt x="21" y="19"/>
                  </a:lnTo>
                  <a:lnTo>
                    <a:pt x="28" y="22"/>
                  </a:lnTo>
                  <a:lnTo>
                    <a:pt x="42" y="19"/>
                  </a:lnTo>
                  <a:lnTo>
                    <a:pt x="42" y="14"/>
                  </a:lnTo>
                  <a:lnTo>
                    <a:pt x="49" y="14"/>
                  </a:lnTo>
                  <a:lnTo>
                    <a:pt x="56" y="10"/>
                  </a:lnTo>
                  <a:lnTo>
                    <a:pt x="59" y="12"/>
                  </a:lnTo>
                  <a:lnTo>
                    <a:pt x="66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301;p30">
              <a:extLst>
                <a:ext uri="{FF2B5EF4-FFF2-40B4-BE49-F238E27FC236}">
                  <a16:creationId xmlns:a16="http://schemas.microsoft.com/office/drawing/2014/main" id="{453D546A-5B47-1324-C4DD-4505D5CB1A71}"/>
                </a:ext>
              </a:extLst>
            </p:cNvPr>
            <p:cNvSpPr/>
            <p:nvPr/>
          </p:nvSpPr>
          <p:spPr>
            <a:xfrm>
              <a:off x="7027922" y="3769386"/>
              <a:ext cx="1261223" cy="434612"/>
            </a:xfrm>
            <a:custGeom>
              <a:avLst/>
              <a:gdLst/>
              <a:ahLst/>
              <a:cxnLst/>
              <a:rect l="l" t="t" r="r" b="b"/>
              <a:pathLst>
                <a:path w="740" h="255" extrusionOk="0">
                  <a:moveTo>
                    <a:pt x="411" y="253"/>
                  </a:moveTo>
                  <a:lnTo>
                    <a:pt x="411" y="253"/>
                  </a:lnTo>
                  <a:lnTo>
                    <a:pt x="404" y="253"/>
                  </a:lnTo>
                  <a:lnTo>
                    <a:pt x="383" y="244"/>
                  </a:lnTo>
                  <a:lnTo>
                    <a:pt x="397" y="239"/>
                  </a:lnTo>
                  <a:lnTo>
                    <a:pt x="406" y="244"/>
                  </a:lnTo>
                  <a:lnTo>
                    <a:pt x="411" y="248"/>
                  </a:lnTo>
                  <a:lnTo>
                    <a:pt x="411" y="253"/>
                  </a:lnTo>
                  <a:close/>
                  <a:moveTo>
                    <a:pt x="470" y="251"/>
                  </a:moveTo>
                  <a:lnTo>
                    <a:pt x="470" y="251"/>
                  </a:lnTo>
                  <a:lnTo>
                    <a:pt x="456" y="255"/>
                  </a:lnTo>
                  <a:lnTo>
                    <a:pt x="456" y="253"/>
                  </a:lnTo>
                  <a:lnTo>
                    <a:pt x="456" y="248"/>
                  </a:lnTo>
                  <a:lnTo>
                    <a:pt x="463" y="239"/>
                  </a:lnTo>
                  <a:lnTo>
                    <a:pt x="480" y="232"/>
                  </a:lnTo>
                  <a:lnTo>
                    <a:pt x="482" y="234"/>
                  </a:lnTo>
                  <a:lnTo>
                    <a:pt x="482" y="239"/>
                  </a:lnTo>
                  <a:lnTo>
                    <a:pt x="470" y="251"/>
                  </a:lnTo>
                  <a:close/>
                  <a:moveTo>
                    <a:pt x="366" y="218"/>
                  </a:moveTo>
                  <a:lnTo>
                    <a:pt x="366" y="218"/>
                  </a:lnTo>
                  <a:lnTo>
                    <a:pt x="371" y="222"/>
                  </a:lnTo>
                  <a:lnTo>
                    <a:pt x="380" y="222"/>
                  </a:lnTo>
                  <a:lnTo>
                    <a:pt x="385" y="229"/>
                  </a:lnTo>
                  <a:lnTo>
                    <a:pt x="366" y="232"/>
                  </a:lnTo>
                  <a:lnTo>
                    <a:pt x="354" y="234"/>
                  </a:lnTo>
                  <a:lnTo>
                    <a:pt x="347" y="234"/>
                  </a:lnTo>
                  <a:lnTo>
                    <a:pt x="352" y="225"/>
                  </a:lnTo>
                  <a:lnTo>
                    <a:pt x="361" y="225"/>
                  </a:lnTo>
                  <a:lnTo>
                    <a:pt x="366" y="218"/>
                  </a:lnTo>
                  <a:close/>
                  <a:moveTo>
                    <a:pt x="447" y="218"/>
                  </a:moveTo>
                  <a:lnTo>
                    <a:pt x="447" y="218"/>
                  </a:lnTo>
                  <a:lnTo>
                    <a:pt x="444" y="229"/>
                  </a:lnTo>
                  <a:lnTo>
                    <a:pt x="418" y="232"/>
                  </a:lnTo>
                  <a:lnTo>
                    <a:pt x="397" y="229"/>
                  </a:lnTo>
                  <a:lnTo>
                    <a:pt x="397" y="225"/>
                  </a:lnTo>
                  <a:lnTo>
                    <a:pt x="411" y="222"/>
                  </a:lnTo>
                  <a:lnTo>
                    <a:pt x="421" y="227"/>
                  </a:lnTo>
                  <a:lnTo>
                    <a:pt x="432" y="225"/>
                  </a:lnTo>
                  <a:lnTo>
                    <a:pt x="447" y="218"/>
                  </a:lnTo>
                  <a:close/>
                  <a:moveTo>
                    <a:pt x="215" y="199"/>
                  </a:moveTo>
                  <a:lnTo>
                    <a:pt x="215" y="199"/>
                  </a:lnTo>
                  <a:lnTo>
                    <a:pt x="246" y="199"/>
                  </a:lnTo>
                  <a:lnTo>
                    <a:pt x="250" y="191"/>
                  </a:lnTo>
                  <a:lnTo>
                    <a:pt x="279" y="201"/>
                  </a:lnTo>
                  <a:lnTo>
                    <a:pt x="286" y="210"/>
                  </a:lnTo>
                  <a:lnTo>
                    <a:pt x="309" y="213"/>
                  </a:lnTo>
                  <a:lnTo>
                    <a:pt x="331" y="222"/>
                  </a:lnTo>
                  <a:lnTo>
                    <a:pt x="312" y="229"/>
                  </a:lnTo>
                  <a:lnTo>
                    <a:pt x="293" y="222"/>
                  </a:lnTo>
                  <a:lnTo>
                    <a:pt x="279" y="225"/>
                  </a:lnTo>
                  <a:lnTo>
                    <a:pt x="262" y="222"/>
                  </a:lnTo>
                  <a:lnTo>
                    <a:pt x="248" y="220"/>
                  </a:lnTo>
                  <a:lnTo>
                    <a:pt x="227" y="213"/>
                  </a:lnTo>
                  <a:lnTo>
                    <a:pt x="217" y="210"/>
                  </a:lnTo>
                  <a:lnTo>
                    <a:pt x="210" y="213"/>
                  </a:lnTo>
                  <a:lnTo>
                    <a:pt x="179" y="208"/>
                  </a:lnTo>
                  <a:lnTo>
                    <a:pt x="177" y="201"/>
                  </a:lnTo>
                  <a:lnTo>
                    <a:pt x="163" y="199"/>
                  </a:lnTo>
                  <a:lnTo>
                    <a:pt x="172" y="184"/>
                  </a:lnTo>
                  <a:lnTo>
                    <a:pt x="194" y="184"/>
                  </a:lnTo>
                  <a:lnTo>
                    <a:pt x="205" y="189"/>
                  </a:lnTo>
                  <a:lnTo>
                    <a:pt x="212" y="191"/>
                  </a:lnTo>
                  <a:lnTo>
                    <a:pt x="215" y="199"/>
                  </a:lnTo>
                  <a:close/>
                  <a:moveTo>
                    <a:pt x="638" y="187"/>
                  </a:moveTo>
                  <a:lnTo>
                    <a:pt x="638" y="187"/>
                  </a:lnTo>
                  <a:lnTo>
                    <a:pt x="629" y="199"/>
                  </a:lnTo>
                  <a:lnTo>
                    <a:pt x="629" y="187"/>
                  </a:lnTo>
                  <a:lnTo>
                    <a:pt x="631" y="182"/>
                  </a:lnTo>
                  <a:lnTo>
                    <a:pt x="634" y="175"/>
                  </a:lnTo>
                  <a:lnTo>
                    <a:pt x="638" y="182"/>
                  </a:lnTo>
                  <a:lnTo>
                    <a:pt x="638" y="187"/>
                  </a:lnTo>
                  <a:close/>
                  <a:moveTo>
                    <a:pt x="518" y="144"/>
                  </a:moveTo>
                  <a:lnTo>
                    <a:pt x="518" y="144"/>
                  </a:lnTo>
                  <a:lnTo>
                    <a:pt x="511" y="149"/>
                  </a:lnTo>
                  <a:lnTo>
                    <a:pt x="499" y="147"/>
                  </a:lnTo>
                  <a:lnTo>
                    <a:pt x="496" y="139"/>
                  </a:lnTo>
                  <a:lnTo>
                    <a:pt x="513" y="139"/>
                  </a:lnTo>
                  <a:lnTo>
                    <a:pt x="518" y="144"/>
                  </a:lnTo>
                  <a:close/>
                  <a:moveTo>
                    <a:pt x="570" y="139"/>
                  </a:moveTo>
                  <a:lnTo>
                    <a:pt x="570" y="139"/>
                  </a:lnTo>
                  <a:lnTo>
                    <a:pt x="574" y="151"/>
                  </a:lnTo>
                  <a:lnTo>
                    <a:pt x="560" y="144"/>
                  </a:lnTo>
                  <a:lnTo>
                    <a:pt x="548" y="142"/>
                  </a:lnTo>
                  <a:lnTo>
                    <a:pt x="539" y="144"/>
                  </a:lnTo>
                  <a:lnTo>
                    <a:pt x="527" y="142"/>
                  </a:lnTo>
                  <a:lnTo>
                    <a:pt x="529" y="135"/>
                  </a:lnTo>
                  <a:lnTo>
                    <a:pt x="551" y="132"/>
                  </a:lnTo>
                  <a:lnTo>
                    <a:pt x="570" y="139"/>
                  </a:lnTo>
                  <a:close/>
                  <a:moveTo>
                    <a:pt x="629" y="106"/>
                  </a:moveTo>
                  <a:lnTo>
                    <a:pt x="629" y="106"/>
                  </a:lnTo>
                  <a:lnTo>
                    <a:pt x="634" y="132"/>
                  </a:lnTo>
                  <a:lnTo>
                    <a:pt x="650" y="142"/>
                  </a:lnTo>
                  <a:lnTo>
                    <a:pt x="662" y="125"/>
                  </a:lnTo>
                  <a:lnTo>
                    <a:pt x="681" y="116"/>
                  </a:lnTo>
                  <a:lnTo>
                    <a:pt x="695" y="116"/>
                  </a:lnTo>
                  <a:lnTo>
                    <a:pt x="712" y="120"/>
                  </a:lnTo>
                  <a:lnTo>
                    <a:pt x="721" y="128"/>
                  </a:lnTo>
                  <a:lnTo>
                    <a:pt x="740" y="130"/>
                  </a:lnTo>
                  <a:lnTo>
                    <a:pt x="740" y="182"/>
                  </a:lnTo>
                  <a:lnTo>
                    <a:pt x="740" y="234"/>
                  </a:lnTo>
                  <a:lnTo>
                    <a:pt x="726" y="222"/>
                  </a:lnTo>
                  <a:lnTo>
                    <a:pt x="709" y="218"/>
                  </a:lnTo>
                  <a:lnTo>
                    <a:pt x="704" y="225"/>
                  </a:lnTo>
                  <a:lnTo>
                    <a:pt x="686" y="225"/>
                  </a:lnTo>
                  <a:lnTo>
                    <a:pt x="690" y="210"/>
                  </a:lnTo>
                  <a:lnTo>
                    <a:pt x="702" y="206"/>
                  </a:lnTo>
                  <a:lnTo>
                    <a:pt x="697" y="189"/>
                  </a:lnTo>
                  <a:lnTo>
                    <a:pt x="690" y="175"/>
                  </a:lnTo>
                  <a:lnTo>
                    <a:pt x="660" y="161"/>
                  </a:lnTo>
                  <a:lnTo>
                    <a:pt x="645" y="161"/>
                  </a:lnTo>
                  <a:lnTo>
                    <a:pt x="619" y="144"/>
                  </a:lnTo>
                  <a:lnTo>
                    <a:pt x="615" y="154"/>
                  </a:lnTo>
                  <a:lnTo>
                    <a:pt x="610" y="154"/>
                  </a:lnTo>
                  <a:lnTo>
                    <a:pt x="605" y="149"/>
                  </a:lnTo>
                  <a:lnTo>
                    <a:pt x="605" y="142"/>
                  </a:lnTo>
                  <a:lnTo>
                    <a:pt x="593" y="135"/>
                  </a:lnTo>
                  <a:lnTo>
                    <a:pt x="610" y="128"/>
                  </a:lnTo>
                  <a:lnTo>
                    <a:pt x="622" y="128"/>
                  </a:lnTo>
                  <a:lnTo>
                    <a:pt x="622" y="123"/>
                  </a:lnTo>
                  <a:lnTo>
                    <a:pt x="598" y="123"/>
                  </a:lnTo>
                  <a:lnTo>
                    <a:pt x="591" y="113"/>
                  </a:lnTo>
                  <a:lnTo>
                    <a:pt x="577" y="111"/>
                  </a:lnTo>
                  <a:lnTo>
                    <a:pt x="570" y="104"/>
                  </a:lnTo>
                  <a:lnTo>
                    <a:pt x="591" y="99"/>
                  </a:lnTo>
                  <a:lnTo>
                    <a:pt x="600" y="94"/>
                  </a:lnTo>
                  <a:lnTo>
                    <a:pt x="626" y="102"/>
                  </a:lnTo>
                  <a:lnTo>
                    <a:pt x="629" y="106"/>
                  </a:lnTo>
                  <a:close/>
                  <a:moveTo>
                    <a:pt x="484" y="66"/>
                  </a:moveTo>
                  <a:lnTo>
                    <a:pt x="484" y="66"/>
                  </a:lnTo>
                  <a:lnTo>
                    <a:pt x="470" y="80"/>
                  </a:lnTo>
                  <a:lnTo>
                    <a:pt x="458" y="85"/>
                  </a:lnTo>
                  <a:lnTo>
                    <a:pt x="442" y="80"/>
                  </a:lnTo>
                  <a:lnTo>
                    <a:pt x="416" y="83"/>
                  </a:lnTo>
                  <a:lnTo>
                    <a:pt x="402" y="85"/>
                  </a:lnTo>
                  <a:lnTo>
                    <a:pt x="399" y="97"/>
                  </a:lnTo>
                  <a:lnTo>
                    <a:pt x="414" y="111"/>
                  </a:lnTo>
                  <a:lnTo>
                    <a:pt x="423" y="104"/>
                  </a:lnTo>
                  <a:lnTo>
                    <a:pt x="454" y="99"/>
                  </a:lnTo>
                  <a:lnTo>
                    <a:pt x="451" y="106"/>
                  </a:lnTo>
                  <a:lnTo>
                    <a:pt x="444" y="104"/>
                  </a:lnTo>
                  <a:lnTo>
                    <a:pt x="437" y="113"/>
                  </a:lnTo>
                  <a:lnTo>
                    <a:pt x="423" y="118"/>
                  </a:lnTo>
                  <a:lnTo>
                    <a:pt x="440" y="139"/>
                  </a:lnTo>
                  <a:lnTo>
                    <a:pt x="435" y="144"/>
                  </a:lnTo>
                  <a:lnTo>
                    <a:pt x="449" y="163"/>
                  </a:lnTo>
                  <a:lnTo>
                    <a:pt x="449" y="175"/>
                  </a:lnTo>
                  <a:lnTo>
                    <a:pt x="442" y="180"/>
                  </a:lnTo>
                  <a:lnTo>
                    <a:pt x="435" y="173"/>
                  </a:lnTo>
                  <a:lnTo>
                    <a:pt x="442" y="161"/>
                  </a:lnTo>
                  <a:lnTo>
                    <a:pt x="428" y="165"/>
                  </a:lnTo>
                  <a:lnTo>
                    <a:pt x="423" y="163"/>
                  </a:lnTo>
                  <a:lnTo>
                    <a:pt x="425" y="156"/>
                  </a:lnTo>
                  <a:lnTo>
                    <a:pt x="414" y="147"/>
                  </a:lnTo>
                  <a:lnTo>
                    <a:pt x="416" y="130"/>
                  </a:lnTo>
                  <a:lnTo>
                    <a:pt x="404" y="135"/>
                  </a:lnTo>
                  <a:lnTo>
                    <a:pt x="406" y="154"/>
                  </a:lnTo>
                  <a:lnTo>
                    <a:pt x="406" y="177"/>
                  </a:lnTo>
                  <a:lnTo>
                    <a:pt x="397" y="180"/>
                  </a:lnTo>
                  <a:lnTo>
                    <a:pt x="388" y="175"/>
                  </a:lnTo>
                  <a:lnTo>
                    <a:pt x="395" y="161"/>
                  </a:lnTo>
                  <a:lnTo>
                    <a:pt x="390" y="144"/>
                  </a:lnTo>
                  <a:lnTo>
                    <a:pt x="385" y="144"/>
                  </a:lnTo>
                  <a:lnTo>
                    <a:pt x="380" y="132"/>
                  </a:lnTo>
                  <a:lnTo>
                    <a:pt x="388" y="123"/>
                  </a:lnTo>
                  <a:lnTo>
                    <a:pt x="388" y="109"/>
                  </a:lnTo>
                  <a:lnTo>
                    <a:pt x="397" y="85"/>
                  </a:lnTo>
                  <a:lnTo>
                    <a:pt x="399" y="80"/>
                  </a:lnTo>
                  <a:lnTo>
                    <a:pt x="414" y="66"/>
                  </a:lnTo>
                  <a:lnTo>
                    <a:pt x="425" y="73"/>
                  </a:lnTo>
                  <a:lnTo>
                    <a:pt x="447" y="75"/>
                  </a:lnTo>
                  <a:lnTo>
                    <a:pt x="466" y="73"/>
                  </a:lnTo>
                  <a:lnTo>
                    <a:pt x="482" y="61"/>
                  </a:lnTo>
                  <a:lnTo>
                    <a:pt x="484" y="66"/>
                  </a:lnTo>
                  <a:close/>
                  <a:moveTo>
                    <a:pt x="539" y="71"/>
                  </a:moveTo>
                  <a:lnTo>
                    <a:pt x="539" y="71"/>
                  </a:lnTo>
                  <a:lnTo>
                    <a:pt x="539" y="85"/>
                  </a:lnTo>
                  <a:lnTo>
                    <a:pt x="529" y="83"/>
                  </a:lnTo>
                  <a:lnTo>
                    <a:pt x="527" y="92"/>
                  </a:lnTo>
                  <a:lnTo>
                    <a:pt x="534" y="102"/>
                  </a:lnTo>
                  <a:lnTo>
                    <a:pt x="529" y="102"/>
                  </a:lnTo>
                  <a:lnTo>
                    <a:pt x="525" y="92"/>
                  </a:lnTo>
                  <a:lnTo>
                    <a:pt x="520" y="73"/>
                  </a:lnTo>
                  <a:lnTo>
                    <a:pt x="522" y="59"/>
                  </a:lnTo>
                  <a:lnTo>
                    <a:pt x="527" y="54"/>
                  </a:lnTo>
                  <a:lnTo>
                    <a:pt x="529" y="61"/>
                  </a:lnTo>
                  <a:lnTo>
                    <a:pt x="539" y="64"/>
                  </a:lnTo>
                  <a:lnTo>
                    <a:pt x="539" y="71"/>
                  </a:lnTo>
                  <a:close/>
                  <a:moveTo>
                    <a:pt x="364" y="59"/>
                  </a:moveTo>
                  <a:lnTo>
                    <a:pt x="364" y="59"/>
                  </a:lnTo>
                  <a:lnTo>
                    <a:pt x="383" y="73"/>
                  </a:lnTo>
                  <a:lnTo>
                    <a:pt x="364" y="75"/>
                  </a:lnTo>
                  <a:lnTo>
                    <a:pt x="359" y="87"/>
                  </a:lnTo>
                  <a:lnTo>
                    <a:pt x="359" y="102"/>
                  </a:lnTo>
                  <a:lnTo>
                    <a:pt x="343" y="111"/>
                  </a:lnTo>
                  <a:lnTo>
                    <a:pt x="343" y="128"/>
                  </a:lnTo>
                  <a:lnTo>
                    <a:pt x="335" y="154"/>
                  </a:lnTo>
                  <a:lnTo>
                    <a:pt x="333" y="147"/>
                  </a:lnTo>
                  <a:lnTo>
                    <a:pt x="317" y="154"/>
                  </a:lnTo>
                  <a:lnTo>
                    <a:pt x="309" y="144"/>
                  </a:lnTo>
                  <a:lnTo>
                    <a:pt x="298" y="144"/>
                  </a:lnTo>
                  <a:lnTo>
                    <a:pt x="291" y="139"/>
                  </a:lnTo>
                  <a:lnTo>
                    <a:pt x="272" y="144"/>
                  </a:lnTo>
                  <a:lnTo>
                    <a:pt x="265" y="137"/>
                  </a:lnTo>
                  <a:lnTo>
                    <a:pt x="253" y="137"/>
                  </a:lnTo>
                  <a:lnTo>
                    <a:pt x="241" y="135"/>
                  </a:lnTo>
                  <a:lnTo>
                    <a:pt x="239" y="113"/>
                  </a:lnTo>
                  <a:lnTo>
                    <a:pt x="229" y="109"/>
                  </a:lnTo>
                  <a:lnTo>
                    <a:pt x="222" y="94"/>
                  </a:lnTo>
                  <a:lnTo>
                    <a:pt x="220" y="80"/>
                  </a:lnTo>
                  <a:lnTo>
                    <a:pt x="222" y="66"/>
                  </a:lnTo>
                  <a:lnTo>
                    <a:pt x="231" y="57"/>
                  </a:lnTo>
                  <a:lnTo>
                    <a:pt x="234" y="66"/>
                  </a:lnTo>
                  <a:lnTo>
                    <a:pt x="246" y="75"/>
                  </a:lnTo>
                  <a:lnTo>
                    <a:pt x="255" y="73"/>
                  </a:lnTo>
                  <a:lnTo>
                    <a:pt x="267" y="73"/>
                  </a:lnTo>
                  <a:lnTo>
                    <a:pt x="276" y="66"/>
                  </a:lnTo>
                  <a:lnTo>
                    <a:pt x="283" y="64"/>
                  </a:lnTo>
                  <a:lnTo>
                    <a:pt x="300" y="68"/>
                  </a:lnTo>
                  <a:lnTo>
                    <a:pt x="312" y="66"/>
                  </a:lnTo>
                  <a:lnTo>
                    <a:pt x="321" y="42"/>
                  </a:lnTo>
                  <a:lnTo>
                    <a:pt x="326" y="38"/>
                  </a:lnTo>
                  <a:lnTo>
                    <a:pt x="333" y="19"/>
                  </a:lnTo>
                  <a:lnTo>
                    <a:pt x="352" y="19"/>
                  </a:lnTo>
                  <a:lnTo>
                    <a:pt x="364" y="21"/>
                  </a:lnTo>
                  <a:lnTo>
                    <a:pt x="357" y="35"/>
                  </a:lnTo>
                  <a:lnTo>
                    <a:pt x="369" y="52"/>
                  </a:lnTo>
                  <a:lnTo>
                    <a:pt x="364" y="59"/>
                  </a:lnTo>
                  <a:close/>
                  <a:moveTo>
                    <a:pt x="170" y="182"/>
                  </a:moveTo>
                  <a:lnTo>
                    <a:pt x="170" y="182"/>
                  </a:lnTo>
                  <a:lnTo>
                    <a:pt x="151" y="184"/>
                  </a:lnTo>
                  <a:lnTo>
                    <a:pt x="139" y="168"/>
                  </a:lnTo>
                  <a:lnTo>
                    <a:pt x="118" y="156"/>
                  </a:lnTo>
                  <a:lnTo>
                    <a:pt x="111" y="147"/>
                  </a:lnTo>
                  <a:lnTo>
                    <a:pt x="99" y="132"/>
                  </a:lnTo>
                  <a:lnTo>
                    <a:pt x="89" y="120"/>
                  </a:lnTo>
                  <a:lnTo>
                    <a:pt x="78" y="99"/>
                  </a:lnTo>
                  <a:lnTo>
                    <a:pt x="63" y="85"/>
                  </a:lnTo>
                  <a:lnTo>
                    <a:pt x="59" y="71"/>
                  </a:lnTo>
                  <a:lnTo>
                    <a:pt x="52" y="59"/>
                  </a:lnTo>
                  <a:lnTo>
                    <a:pt x="37" y="49"/>
                  </a:lnTo>
                  <a:lnTo>
                    <a:pt x="30" y="35"/>
                  </a:lnTo>
                  <a:lnTo>
                    <a:pt x="16" y="26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35" y="4"/>
                  </a:lnTo>
                  <a:lnTo>
                    <a:pt x="49" y="19"/>
                  </a:lnTo>
                  <a:lnTo>
                    <a:pt x="61" y="31"/>
                  </a:lnTo>
                  <a:lnTo>
                    <a:pt x="71" y="38"/>
                  </a:lnTo>
                  <a:lnTo>
                    <a:pt x="87" y="54"/>
                  </a:lnTo>
                  <a:lnTo>
                    <a:pt x="101" y="54"/>
                  </a:lnTo>
                  <a:lnTo>
                    <a:pt x="116" y="66"/>
                  </a:lnTo>
                  <a:lnTo>
                    <a:pt x="125" y="80"/>
                  </a:lnTo>
                  <a:lnTo>
                    <a:pt x="137" y="87"/>
                  </a:lnTo>
                  <a:lnTo>
                    <a:pt x="132" y="99"/>
                  </a:lnTo>
                  <a:lnTo>
                    <a:pt x="142" y="106"/>
                  </a:lnTo>
                  <a:lnTo>
                    <a:pt x="146" y="106"/>
                  </a:lnTo>
                  <a:lnTo>
                    <a:pt x="149" y="118"/>
                  </a:lnTo>
                  <a:lnTo>
                    <a:pt x="156" y="125"/>
                  </a:lnTo>
                  <a:lnTo>
                    <a:pt x="168" y="128"/>
                  </a:lnTo>
                  <a:lnTo>
                    <a:pt x="175" y="137"/>
                  </a:lnTo>
                  <a:lnTo>
                    <a:pt x="170" y="158"/>
                  </a:lnTo>
                  <a:lnTo>
                    <a:pt x="170" y="18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302;p30">
              <a:extLst>
                <a:ext uri="{FF2B5EF4-FFF2-40B4-BE49-F238E27FC236}">
                  <a16:creationId xmlns:a16="http://schemas.microsoft.com/office/drawing/2014/main" id="{D01947B0-B17F-8636-10C8-6EC7F011310C}"/>
                </a:ext>
              </a:extLst>
            </p:cNvPr>
            <p:cNvSpPr/>
            <p:nvPr/>
          </p:nvSpPr>
          <p:spPr>
            <a:xfrm>
              <a:off x="4120292" y="2102521"/>
              <a:ext cx="109080" cy="158506"/>
            </a:xfrm>
            <a:custGeom>
              <a:avLst/>
              <a:gdLst/>
              <a:ahLst/>
              <a:cxnLst/>
              <a:rect l="l" t="t" r="r" b="b"/>
              <a:pathLst>
                <a:path w="64" h="93" extrusionOk="0">
                  <a:moveTo>
                    <a:pt x="43" y="14"/>
                  </a:moveTo>
                  <a:lnTo>
                    <a:pt x="43" y="14"/>
                  </a:lnTo>
                  <a:lnTo>
                    <a:pt x="40" y="29"/>
                  </a:lnTo>
                  <a:lnTo>
                    <a:pt x="50" y="29"/>
                  </a:lnTo>
                  <a:lnTo>
                    <a:pt x="62" y="36"/>
                  </a:lnTo>
                  <a:lnTo>
                    <a:pt x="64" y="55"/>
                  </a:lnTo>
                  <a:lnTo>
                    <a:pt x="52" y="78"/>
                  </a:lnTo>
                  <a:lnTo>
                    <a:pt x="24" y="93"/>
                  </a:lnTo>
                  <a:lnTo>
                    <a:pt x="0" y="90"/>
                  </a:lnTo>
                  <a:lnTo>
                    <a:pt x="14" y="62"/>
                  </a:lnTo>
                  <a:lnTo>
                    <a:pt x="5" y="36"/>
                  </a:lnTo>
                  <a:lnTo>
                    <a:pt x="29" y="12"/>
                  </a:lnTo>
                  <a:lnTo>
                    <a:pt x="40" y="0"/>
                  </a:lnTo>
                  <a:lnTo>
                    <a:pt x="43" y="1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303;p30">
              <a:extLst>
                <a:ext uri="{FF2B5EF4-FFF2-40B4-BE49-F238E27FC236}">
                  <a16:creationId xmlns:a16="http://schemas.microsoft.com/office/drawing/2014/main" id="{5DADE210-CF4C-EE97-9C60-0C254639AFEC}"/>
                </a:ext>
              </a:extLst>
            </p:cNvPr>
            <p:cNvSpPr/>
            <p:nvPr/>
          </p:nvSpPr>
          <p:spPr>
            <a:xfrm>
              <a:off x="3724882" y="1453160"/>
              <a:ext cx="294854" cy="197706"/>
            </a:xfrm>
            <a:custGeom>
              <a:avLst/>
              <a:gdLst/>
              <a:ahLst/>
              <a:cxnLst/>
              <a:rect l="l" t="t" r="r" b="b"/>
              <a:pathLst>
                <a:path w="173" h="116" extrusionOk="0">
                  <a:moveTo>
                    <a:pt x="159" y="2"/>
                  </a:moveTo>
                  <a:lnTo>
                    <a:pt x="159" y="2"/>
                  </a:lnTo>
                  <a:lnTo>
                    <a:pt x="157" y="29"/>
                  </a:lnTo>
                  <a:lnTo>
                    <a:pt x="173" y="55"/>
                  </a:lnTo>
                  <a:lnTo>
                    <a:pt x="152" y="83"/>
                  </a:lnTo>
                  <a:lnTo>
                    <a:pt x="107" y="109"/>
                  </a:lnTo>
                  <a:lnTo>
                    <a:pt x="93" y="116"/>
                  </a:lnTo>
                  <a:lnTo>
                    <a:pt x="71" y="109"/>
                  </a:lnTo>
                  <a:lnTo>
                    <a:pt x="26" y="100"/>
                  </a:lnTo>
                  <a:lnTo>
                    <a:pt x="41" y="83"/>
                  </a:lnTo>
                  <a:lnTo>
                    <a:pt x="8" y="64"/>
                  </a:lnTo>
                  <a:lnTo>
                    <a:pt x="36" y="57"/>
                  </a:lnTo>
                  <a:lnTo>
                    <a:pt x="36" y="45"/>
                  </a:lnTo>
                  <a:lnTo>
                    <a:pt x="0" y="36"/>
                  </a:lnTo>
                  <a:lnTo>
                    <a:pt x="12" y="12"/>
                  </a:lnTo>
                  <a:lnTo>
                    <a:pt x="36" y="5"/>
                  </a:lnTo>
                  <a:lnTo>
                    <a:pt x="62" y="33"/>
                  </a:lnTo>
                  <a:lnTo>
                    <a:pt x="86" y="10"/>
                  </a:lnTo>
                  <a:lnTo>
                    <a:pt x="107" y="21"/>
                  </a:lnTo>
                  <a:lnTo>
                    <a:pt x="133" y="0"/>
                  </a:lnTo>
                  <a:lnTo>
                    <a:pt x="159" y="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304;p30">
              <a:extLst>
                <a:ext uri="{FF2B5EF4-FFF2-40B4-BE49-F238E27FC236}">
                  <a16:creationId xmlns:a16="http://schemas.microsoft.com/office/drawing/2014/main" id="{5D3729BB-4813-9DCD-F207-2ECB251E1A9C}"/>
                </a:ext>
              </a:extLst>
            </p:cNvPr>
            <p:cNvSpPr/>
            <p:nvPr/>
          </p:nvSpPr>
          <p:spPr>
            <a:xfrm>
              <a:off x="5342314" y="2954701"/>
              <a:ext cx="44313" cy="115897"/>
            </a:xfrm>
            <a:custGeom>
              <a:avLst/>
              <a:gdLst/>
              <a:ahLst/>
              <a:cxnLst/>
              <a:rect l="l" t="t" r="r" b="b"/>
              <a:pathLst>
                <a:path w="26" h="68" extrusionOk="0">
                  <a:moveTo>
                    <a:pt x="26" y="0"/>
                  </a:moveTo>
                  <a:lnTo>
                    <a:pt x="26" y="0"/>
                  </a:lnTo>
                  <a:lnTo>
                    <a:pt x="26" y="7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21" y="16"/>
                  </a:lnTo>
                  <a:lnTo>
                    <a:pt x="14" y="14"/>
                  </a:lnTo>
                  <a:lnTo>
                    <a:pt x="12" y="26"/>
                  </a:lnTo>
                  <a:lnTo>
                    <a:pt x="16" y="28"/>
                  </a:lnTo>
                  <a:lnTo>
                    <a:pt x="12" y="30"/>
                  </a:lnTo>
                  <a:lnTo>
                    <a:pt x="12" y="35"/>
                  </a:lnTo>
                  <a:lnTo>
                    <a:pt x="19" y="33"/>
                  </a:lnTo>
                  <a:lnTo>
                    <a:pt x="19" y="40"/>
                  </a:lnTo>
                  <a:lnTo>
                    <a:pt x="12" y="68"/>
                  </a:lnTo>
                  <a:lnTo>
                    <a:pt x="0" y="38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9" y="21"/>
                  </a:lnTo>
                  <a:lnTo>
                    <a:pt x="12" y="7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305;p30">
              <a:extLst>
                <a:ext uri="{FF2B5EF4-FFF2-40B4-BE49-F238E27FC236}">
                  <a16:creationId xmlns:a16="http://schemas.microsoft.com/office/drawing/2014/main" id="{8767A155-2C81-F4F0-9DD4-69E026407C02}"/>
                </a:ext>
              </a:extLst>
            </p:cNvPr>
            <p:cNvSpPr/>
            <p:nvPr/>
          </p:nvSpPr>
          <p:spPr>
            <a:xfrm>
              <a:off x="4583876" y="2453619"/>
              <a:ext cx="322123" cy="386891"/>
            </a:xfrm>
            <a:custGeom>
              <a:avLst/>
              <a:gdLst/>
              <a:ahLst/>
              <a:cxnLst/>
              <a:rect l="l" t="t" r="r" b="b"/>
              <a:pathLst>
                <a:path w="189" h="227" extrusionOk="0">
                  <a:moveTo>
                    <a:pt x="142" y="194"/>
                  </a:moveTo>
                  <a:lnTo>
                    <a:pt x="142" y="194"/>
                  </a:lnTo>
                  <a:lnTo>
                    <a:pt x="135" y="211"/>
                  </a:lnTo>
                  <a:lnTo>
                    <a:pt x="137" y="218"/>
                  </a:lnTo>
                  <a:lnTo>
                    <a:pt x="135" y="227"/>
                  </a:lnTo>
                  <a:lnTo>
                    <a:pt x="121" y="220"/>
                  </a:lnTo>
                  <a:lnTo>
                    <a:pt x="114" y="218"/>
                  </a:lnTo>
                  <a:lnTo>
                    <a:pt x="92" y="206"/>
                  </a:lnTo>
                  <a:lnTo>
                    <a:pt x="92" y="197"/>
                  </a:lnTo>
                  <a:lnTo>
                    <a:pt x="114" y="199"/>
                  </a:lnTo>
                  <a:lnTo>
                    <a:pt x="130" y="197"/>
                  </a:lnTo>
                  <a:lnTo>
                    <a:pt x="142" y="194"/>
                  </a:lnTo>
                  <a:close/>
                  <a:moveTo>
                    <a:pt x="40" y="133"/>
                  </a:moveTo>
                  <a:lnTo>
                    <a:pt x="40" y="133"/>
                  </a:lnTo>
                  <a:lnTo>
                    <a:pt x="50" y="147"/>
                  </a:lnTo>
                  <a:lnTo>
                    <a:pt x="48" y="175"/>
                  </a:lnTo>
                  <a:lnTo>
                    <a:pt x="40" y="173"/>
                  </a:lnTo>
                  <a:lnTo>
                    <a:pt x="33" y="180"/>
                  </a:lnTo>
                  <a:lnTo>
                    <a:pt x="26" y="175"/>
                  </a:lnTo>
                  <a:lnTo>
                    <a:pt x="26" y="149"/>
                  </a:lnTo>
                  <a:lnTo>
                    <a:pt x="22" y="137"/>
                  </a:lnTo>
                  <a:lnTo>
                    <a:pt x="31" y="137"/>
                  </a:lnTo>
                  <a:lnTo>
                    <a:pt x="40" y="133"/>
                  </a:lnTo>
                  <a:close/>
                  <a:moveTo>
                    <a:pt x="90" y="7"/>
                  </a:moveTo>
                  <a:lnTo>
                    <a:pt x="90" y="7"/>
                  </a:lnTo>
                  <a:lnTo>
                    <a:pt x="114" y="14"/>
                  </a:lnTo>
                  <a:lnTo>
                    <a:pt x="111" y="26"/>
                  </a:lnTo>
                  <a:lnTo>
                    <a:pt x="116" y="36"/>
                  </a:lnTo>
                  <a:lnTo>
                    <a:pt x="102" y="31"/>
                  </a:lnTo>
                  <a:lnTo>
                    <a:pt x="90" y="40"/>
                  </a:lnTo>
                  <a:lnTo>
                    <a:pt x="90" y="52"/>
                  </a:lnTo>
                  <a:lnTo>
                    <a:pt x="88" y="57"/>
                  </a:lnTo>
                  <a:lnTo>
                    <a:pt x="95" y="69"/>
                  </a:lnTo>
                  <a:lnTo>
                    <a:pt x="109" y="81"/>
                  </a:lnTo>
                  <a:lnTo>
                    <a:pt x="116" y="100"/>
                  </a:lnTo>
                  <a:lnTo>
                    <a:pt x="135" y="116"/>
                  </a:lnTo>
                  <a:lnTo>
                    <a:pt x="147" y="116"/>
                  </a:lnTo>
                  <a:lnTo>
                    <a:pt x="152" y="121"/>
                  </a:lnTo>
                  <a:lnTo>
                    <a:pt x="147" y="126"/>
                  </a:lnTo>
                  <a:lnTo>
                    <a:pt x="161" y="133"/>
                  </a:lnTo>
                  <a:lnTo>
                    <a:pt x="173" y="140"/>
                  </a:lnTo>
                  <a:lnTo>
                    <a:pt x="187" y="149"/>
                  </a:lnTo>
                  <a:lnTo>
                    <a:pt x="189" y="154"/>
                  </a:lnTo>
                  <a:lnTo>
                    <a:pt x="187" y="161"/>
                  </a:lnTo>
                  <a:lnTo>
                    <a:pt x="178" y="152"/>
                  </a:lnTo>
                  <a:lnTo>
                    <a:pt x="163" y="147"/>
                  </a:lnTo>
                  <a:lnTo>
                    <a:pt x="156" y="161"/>
                  </a:lnTo>
                  <a:lnTo>
                    <a:pt x="168" y="171"/>
                  </a:lnTo>
                  <a:lnTo>
                    <a:pt x="166" y="180"/>
                  </a:lnTo>
                  <a:lnTo>
                    <a:pt x="159" y="182"/>
                  </a:lnTo>
                  <a:lnTo>
                    <a:pt x="152" y="199"/>
                  </a:lnTo>
                  <a:lnTo>
                    <a:pt x="145" y="201"/>
                  </a:lnTo>
                  <a:lnTo>
                    <a:pt x="145" y="194"/>
                  </a:lnTo>
                  <a:lnTo>
                    <a:pt x="147" y="182"/>
                  </a:lnTo>
                  <a:lnTo>
                    <a:pt x="152" y="178"/>
                  </a:lnTo>
                  <a:lnTo>
                    <a:pt x="145" y="166"/>
                  </a:lnTo>
                  <a:lnTo>
                    <a:pt x="140" y="156"/>
                  </a:lnTo>
                  <a:lnTo>
                    <a:pt x="133" y="154"/>
                  </a:lnTo>
                  <a:lnTo>
                    <a:pt x="128" y="145"/>
                  </a:lnTo>
                  <a:lnTo>
                    <a:pt x="116" y="140"/>
                  </a:lnTo>
                  <a:lnTo>
                    <a:pt x="111" y="133"/>
                  </a:lnTo>
                  <a:lnTo>
                    <a:pt x="100" y="130"/>
                  </a:lnTo>
                  <a:lnTo>
                    <a:pt x="88" y="121"/>
                  </a:lnTo>
                  <a:lnTo>
                    <a:pt x="71" y="107"/>
                  </a:lnTo>
                  <a:lnTo>
                    <a:pt x="62" y="95"/>
                  </a:lnTo>
                  <a:lnTo>
                    <a:pt x="55" y="74"/>
                  </a:lnTo>
                  <a:lnTo>
                    <a:pt x="48" y="71"/>
                  </a:lnTo>
                  <a:lnTo>
                    <a:pt x="36" y="62"/>
                  </a:lnTo>
                  <a:lnTo>
                    <a:pt x="26" y="66"/>
                  </a:lnTo>
                  <a:lnTo>
                    <a:pt x="19" y="76"/>
                  </a:lnTo>
                  <a:lnTo>
                    <a:pt x="10" y="78"/>
                  </a:lnTo>
                  <a:lnTo>
                    <a:pt x="12" y="69"/>
                  </a:lnTo>
                  <a:lnTo>
                    <a:pt x="5" y="66"/>
                  </a:lnTo>
                  <a:lnTo>
                    <a:pt x="0" y="47"/>
                  </a:lnTo>
                  <a:lnTo>
                    <a:pt x="5" y="40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7" y="31"/>
                  </a:lnTo>
                  <a:lnTo>
                    <a:pt x="17" y="31"/>
                  </a:lnTo>
                  <a:lnTo>
                    <a:pt x="24" y="21"/>
                  </a:lnTo>
                  <a:lnTo>
                    <a:pt x="29" y="26"/>
                  </a:lnTo>
                  <a:lnTo>
                    <a:pt x="36" y="26"/>
                  </a:lnTo>
                  <a:lnTo>
                    <a:pt x="40" y="14"/>
                  </a:lnTo>
                  <a:lnTo>
                    <a:pt x="52" y="19"/>
                  </a:lnTo>
                  <a:lnTo>
                    <a:pt x="57" y="14"/>
                  </a:lnTo>
                  <a:lnTo>
                    <a:pt x="59" y="5"/>
                  </a:lnTo>
                  <a:lnTo>
                    <a:pt x="69" y="10"/>
                  </a:lnTo>
                  <a:lnTo>
                    <a:pt x="71" y="5"/>
                  </a:lnTo>
                  <a:lnTo>
                    <a:pt x="88" y="0"/>
                  </a:lnTo>
                  <a:lnTo>
                    <a:pt x="90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306;p30">
              <a:extLst>
                <a:ext uri="{FF2B5EF4-FFF2-40B4-BE49-F238E27FC236}">
                  <a16:creationId xmlns:a16="http://schemas.microsoft.com/office/drawing/2014/main" id="{4E0BD45B-99CF-4769-856F-6A6304A90B93}"/>
                </a:ext>
              </a:extLst>
            </p:cNvPr>
            <p:cNvSpPr/>
            <p:nvPr/>
          </p:nvSpPr>
          <p:spPr>
            <a:xfrm>
              <a:off x="2233569" y="3401244"/>
              <a:ext cx="61357" cy="25566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24" y="12"/>
                  </a:moveTo>
                  <a:lnTo>
                    <a:pt x="24" y="12"/>
                  </a:lnTo>
                  <a:lnTo>
                    <a:pt x="19" y="15"/>
                  </a:lnTo>
                  <a:lnTo>
                    <a:pt x="10" y="12"/>
                  </a:lnTo>
                  <a:lnTo>
                    <a:pt x="0" y="5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24" y="3"/>
                  </a:lnTo>
                  <a:lnTo>
                    <a:pt x="33" y="7"/>
                  </a:lnTo>
                  <a:lnTo>
                    <a:pt x="36" y="12"/>
                  </a:lnTo>
                  <a:lnTo>
                    <a:pt x="2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307;p30">
              <a:extLst>
                <a:ext uri="{FF2B5EF4-FFF2-40B4-BE49-F238E27FC236}">
                  <a16:creationId xmlns:a16="http://schemas.microsoft.com/office/drawing/2014/main" id="{C770C359-73D2-6F04-51BE-DA2CFE139B86}"/>
                </a:ext>
              </a:extLst>
            </p:cNvPr>
            <p:cNvSpPr/>
            <p:nvPr/>
          </p:nvSpPr>
          <p:spPr>
            <a:xfrm>
              <a:off x="8304483" y="2134903"/>
              <a:ext cx="85217" cy="363029"/>
            </a:xfrm>
            <a:custGeom>
              <a:avLst/>
              <a:gdLst/>
              <a:ahLst/>
              <a:cxnLst/>
              <a:rect l="l" t="t" r="r" b="b"/>
              <a:pathLst>
                <a:path w="50" h="213" extrusionOk="0">
                  <a:moveTo>
                    <a:pt x="50" y="142"/>
                  </a:moveTo>
                  <a:lnTo>
                    <a:pt x="34" y="97"/>
                  </a:lnTo>
                  <a:lnTo>
                    <a:pt x="26" y="71"/>
                  </a:lnTo>
                  <a:lnTo>
                    <a:pt x="26" y="45"/>
                  </a:lnTo>
                  <a:lnTo>
                    <a:pt x="22" y="19"/>
                  </a:lnTo>
                  <a:lnTo>
                    <a:pt x="17" y="0"/>
                  </a:lnTo>
                  <a:lnTo>
                    <a:pt x="10" y="5"/>
                  </a:lnTo>
                  <a:lnTo>
                    <a:pt x="17" y="19"/>
                  </a:lnTo>
                  <a:lnTo>
                    <a:pt x="0" y="31"/>
                  </a:lnTo>
                  <a:lnTo>
                    <a:pt x="0" y="66"/>
                  </a:lnTo>
                  <a:lnTo>
                    <a:pt x="10" y="92"/>
                  </a:lnTo>
                  <a:lnTo>
                    <a:pt x="10" y="126"/>
                  </a:lnTo>
                  <a:lnTo>
                    <a:pt x="5" y="145"/>
                  </a:lnTo>
                  <a:lnTo>
                    <a:pt x="8" y="171"/>
                  </a:lnTo>
                  <a:lnTo>
                    <a:pt x="5" y="194"/>
                  </a:lnTo>
                  <a:lnTo>
                    <a:pt x="8" y="213"/>
                  </a:lnTo>
                  <a:lnTo>
                    <a:pt x="19" y="194"/>
                  </a:lnTo>
                  <a:lnTo>
                    <a:pt x="31" y="208"/>
                  </a:lnTo>
                  <a:lnTo>
                    <a:pt x="31" y="194"/>
                  </a:lnTo>
                  <a:lnTo>
                    <a:pt x="15" y="168"/>
                  </a:lnTo>
                  <a:lnTo>
                    <a:pt x="24" y="133"/>
                  </a:lnTo>
                  <a:lnTo>
                    <a:pt x="50" y="142"/>
                  </a:lnTo>
                  <a:lnTo>
                    <a:pt x="50" y="142"/>
                  </a:lnTo>
                  <a:lnTo>
                    <a:pt x="50" y="14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308;p30">
              <a:extLst>
                <a:ext uri="{FF2B5EF4-FFF2-40B4-BE49-F238E27FC236}">
                  <a16:creationId xmlns:a16="http://schemas.microsoft.com/office/drawing/2014/main" id="{643B54CA-8D73-C178-4040-6B3DE6F2FDC2}"/>
                </a:ext>
              </a:extLst>
            </p:cNvPr>
            <p:cNvSpPr/>
            <p:nvPr/>
          </p:nvSpPr>
          <p:spPr>
            <a:xfrm>
              <a:off x="7967020" y="2514977"/>
              <a:ext cx="446541" cy="507899"/>
            </a:xfrm>
            <a:custGeom>
              <a:avLst/>
              <a:gdLst/>
              <a:ahLst/>
              <a:cxnLst/>
              <a:rect l="l" t="t" r="r" b="b"/>
              <a:pathLst>
                <a:path w="262" h="298" extrusionOk="0">
                  <a:moveTo>
                    <a:pt x="85" y="239"/>
                  </a:moveTo>
                  <a:lnTo>
                    <a:pt x="85" y="239"/>
                  </a:lnTo>
                  <a:lnTo>
                    <a:pt x="87" y="246"/>
                  </a:lnTo>
                  <a:lnTo>
                    <a:pt x="78" y="258"/>
                  </a:lnTo>
                  <a:lnTo>
                    <a:pt x="71" y="251"/>
                  </a:lnTo>
                  <a:lnTo>
                    <a:pt x="64" y="255"/>
                  </a:lnTo>
                  <a:lnTo>
                    <a:pt x="59" y="267"/>
                  </a:lnTo>
                  <a:lnTo>
                    <a:pt x="49" y="262"/>
                  </a:lnTo>
                  <a:lnTo>
                    <a:pt x="49" y="253"/>
                  </a:lnTo>
                  <a:lnTo>
                    <a:pt x="56" y="241"/>
                  </a:lnTo>
                  <a:lnTo>
                    <a:pt x="66" y="243"/>
                  </a:lnTo>
                  <a:lnTo>
                    <a:pt x="73" y="234"/>
                  </a:lnTo>
                  <a:lnTo>
                    <a:pt x="85" y="239"/>
                  </a:lnTo>
                  <a:lnTo>
                    <a:pt x="85" y="239"/>
                  </a:lnTo>
                  <a:lnTo>
                    <a:pt x="85" y="239"/>
                  </a:lnTo>
                  <a:close/>
                  <a:moveTo>
                    <a:pt x="189" y="180"/>
                  </a:moveTo>
                  <a:lnTo>
                    <a:pt x="189" y="180"/>
                  </a:lnTo>
                  <a:lnTo>
                    <a:pt x="182" y="196"/>
                  </a:lnTo>
                  <a:lnTo>
                    <a:pt x="184" y="206"/>
                  </a:lnTo>
                  <a:lnTo>
                    <a:pt x="175" y="220"/>
                  </a:lnTo>
                  <a:lnTo>
                    <a:pt x="156" y="229"/>
                  </a:lnTo>
                  <a:lnTo>
                    <a:pt x="127" y="232"/>
                  </a:lnTo>
                  <a:lnTo>
                    <a:pt x="104" y="253"/>
                  </a:lnTo>
                  <a:lnTo>
                    <a:pt x="94" y="243"/>
                  </a:lnTo>
                  <a:lnTo>
                    <a:pt x="92" y="232"/>
                  </a:lnTo>
                  <a:lnTo>
                    <a:pt x="64" y="234"/>
                  </a:lnTo>
                  <a:lnTo>
                    <a:pt x="45" y="243"/>
                  </a:lnTo>
                  <a:lnTo>
                    <a:pt x="26" y="243"/>
                  </a:lnTo>
                  <a:lnTo>
                    <a:pt x="42" y="260"/>
                  </a:lnTo>
                  <a:lnTo>
                    <a:pt x="30" y="291"/>
                  </a:lnTo>
                  <a:lnTo>
                    <a:pt x="21" y="298"/>
                  </a:lnTo>
                  <a:lnTo>
                    <a:pt x="14" y="291"/>
                  </a:lnTo>
                  <a:lnTo>
                    <a:pt x="16" y="274"/>
                  </a:lnTo>
                  <a:lnTo>
                    <a:pt x="7" y="269"/>
                  </a:lnTo>
                  <a:lnTo>
                    <a:pt x="0" y="255"/>
                  </a:lnTo>
                  <a:lnTo>
                    <a:pt x="16" y="251"/>
                  </a:lnTo>
                  <a:lnTo>
                    <a:pt x="26" y="239"/>
                  </a:lnTo>
                  <a:lnTo>
                    <a:pt x="40" y="227"/>
                  </a:lnTo>
                  <a:lnTo>
                    <a:pt x="52" y="215"/>
                  </a:lnTo>
                  <a:lnTo>
                    <a:pt x="85" y="208"/>
                  </a:lnTo>
                  <a:lnTo>
                    <a:pt x="101" y="213"/>
                  </a:lnTo>
                  <a:lnTo>
                    <a:pt x="118" y="177"/>
                  </a:lnTo>
                  <a:lnTo>
                    <a:pt x="130" y="187"/>
                  </a:lnTo>
                  <a:lnTo>
                    <a:pt x="153" y="165"/>
                  </a:lnTo>
                  <a:lnTo>
                    <a:pt x="163" y="158"/>
                  </a:lnTo>
                  <a:lnTo>
                    <a:pt x="172" y="132"/>
                  </a:lnTo>
                  <a:lnTo>
                    <a:pt x="170" y="111"/>
                  </a:lnTo>
                  <a:lnTo>
                    <a:pt x="177" y="97"/>
                  </a:lnTo>
                  <a:lnTo>
                    <a:pt x="196" y="92"/>
                  </a:lnTo>
                  <a:lnTo>
                    <a:pt x="203" y="123"/>
                  </a:lnTo>
                  <a:lnTo>
                    <a:pt x="203" y="139"/>
                  </a:lnTo>
                  <a:lnTo>
                    <a:pt x="189" y="158"/>
                  </a:lnTo>
                  <a:lnTo>
                    <a:pt x="189" y="180"/>
                  </a:lnTo>
                  <a:lnTo>
                    <a:pt x="189" y="180"/>
                  </a:lnTo>
                  <a:lnTo>
                    <a:pt x="189" y="180"/>
                  </a:lnTo>
                  <a:close/>
                  <a:moveTo>
                    <a:pt x="236" y="30"/>
                  </a:moveTo>
                  <a:lnTo>
                    <a:pt x="236" y="30"/>
                  </a:lnTo>
                  <a:lnTo>
                    <a:pt x="248" y="35"/>
                  </a:lnTo>
                  <a:lnTo>
                    <a:pt x="258" y="26"/>
                  </a:lnTo>
                  <a:lnTo>
                    <a:pt x="262" y="52"/>
                  </a:lnTo>
                  <a:lnTo>
                    <a:pt x="239" y="56"/>
                  </a:lnTo>
                  <a:lnTo>
                    <a:pt x="224" y="78"/>
                  </a:lnTo>
                  <a:lnTo>
                    <a:pt x="198" y="64"/>
                  </a:lnTo>
                  <a:lnTo>
                    <a:pt x="189" y="87"/>
                  </a:lnTo>
                  <a:lnTo>
                    <a:pt x="172" y="87"/>
                  </a:lnTo>
                  <a:lnTo>
                    <a:pt x="170" y="66"/>
                  </a:lnTo>
                  <a:lnTo>
                    <a:pt x="177" y="49"/>
                  </a:lnTo>
                  <a:lnTo>
                    <a:pt x="196" y="49"/>
                  </a:lnTo>
                  <a:lnTo>
                    <a:pt x="198" y="16"/>
                  </a:lnTo>
                  <a:lnTo>
                    <a:pt x="203" y="0"/>
                  </a:lnTo>
                  <a:lnTo>
                    <a:pt x="224" y="23"/>
                  </a:lnTo>
                  <a:lnTo>
                    <a:pt x="236" y="30"/>
                  </a:lnTo>
                  <a:lnTo>
                    <a:pt x="236" y="30"/>
                  </a:lnTo>
                  <a:lnTo>
                    <a:pt x="236" y="3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309;p30">
              <a:extLst>
                <a:ext uri="{FF2B5EF4-FFF2-40B4-BE49-F238E27FC236}">
                  <a16:creationId xmlns:a16="http://schemas.microsoft.com/office/drawing/2014/main" id="{D394D75F-BDF9-98EF-DDCE-25BCF2419B6B}"/>
                </a:ext>
              </a:extLst>
            </p:cNvPr>
            <p:cNvSpPr/>
            <p:nvPr/>
          </p:nvSpPr>
          <p:spPr>
            <a:xfrm>
              <a:off x="7220513" y="3515436"/>
              <a:ext cx="144870" cy="115897"/>
            </a:xfrm>
            <a:custGeom>
              <a:avLst/>
              <a:gdLst/>
              <a:ahLst/>
              <a:cxnLst/>
              <a:rect l="l" t="t" r="r" b="b"/>
              <a:pathLst>
                <a:path w="85" h="68" extrusionOk="0">
                  <a:moveTo>
                    <a:pt x="83" y="7"/>
                  </a:moveTo>
                  <a:lnTo>
                    <a:pt x="83" y="7"/>
                  </a:lnTo>
                  <a:lnTo>
                    <a:pt x="85" y="16"/>
                  </a:lnTo>
                  <a:lnTo>
                    <a:pt x="83" y="38"/>
                  </a:lnTo>
                  <a:lnTo>
                    <a:pt x="57" y="49"/>
                  </a:lnTo>
                  <a:lnTo>
                    <a:pt x="64" y="59"/>
                  </a:lnTo>
                  <a:lnTo>
                    <a:pt x="47" y="61"/>
                  </a:lnTo>
                  <a:lnTo>
                    <a:pt x="33" y="68"/>
                  </a:lnTo>
                  <a:lnTo>
                    <a:pt x="19" y="66"/>
                  </a:lnTo>
                  <a:lnTo>
                    <a:pt x="14" y="56"/>
                  </a:lnTo>
                  <a:lnTo>
                    <a:pt x="5" y="40"/>
                  </a:lnTo>
                  <a:lnTo>
                    <a:pt x="0" y="19"/>
                  </a:lnTo>
                  <a:lnTo>
                    <a:pt x="12" y="4"/>
                  </a:lnTo>
                  <a:lnTo>
                    <a:pt x="33" y="2"/>
                  </a:lnTo>
                  <a:lnTo>
                    <a:pt x="47" y="4"/>
                  </a:lnTo>
                  <a:lnTo>
                    <a:pt x="62" y="11"/>
                  </a:lnTo>
                  <a:lnTo>
                    <a:pt x="69" y="0"/>
                  </a:lnTo>
                  <a:lnTo>
                    <a:pt x="83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310;p30">
              <a:extLst>
                <a:ext uri="{FF2B5EF4-FFF2-40B4-BE49-F238E27FC236}">
                  <a16:creationId xmlns:a16="http://schemas.microsoft.com/office/drawing/2014/main" id="{9A9392C3-E395-158B-F478-0995B15226AE}"/>
                </a:ext>
              </a:extLst>
            </p:cNvPr>
            <p:cNvSpPr/>
            <p:nvPr/>
          </p:nvSpPr>
          <p:spPr>
            <a:xfrm>
              <a:off x="7876608" y="2761621"/>
              <a:ext cx="92035" cy="141462"/>
            </a:xfrm>
            <a:custGeom>
              <a:avLst/>
              <a:gdLst/>
              <a:ahLst/>
              <a:cxnLst/>
              <a:rect l="l" t="t" r="r" b="b"/>
              <a:pathLst>
                <a:path w="54" h="83" extrusionOk="0">
                  <a:moveTo>
                    <a:pt x="35" y="0"/>
                  </a:moveTo>
                  <a:lnTo>
                    <a:pt x="35" y="0"/>
                  </a:lnTo>
                  <a:lnTo>
                    <a:pt x="49" y="24"/>
                  </a:lnTo>
                  <a:lnTo>
                    <a:pt x="54" y="38"/>
                  </a:lnTo>
                  <a:lnTo>
                    <a:pt x="54" y="59"/>
                  </a:lnTo>
                  <a:lnTo>
                    <a:pt x="47" y="71"/>
                  </a:lnTo>
                  <a:lnTo>
                    <a:pt x="33" y="73"/>
                  </a:lnTo>
                  <a:lnTo>
                    <a:pt x="19" y="83"/>
                  </a:lnTo>
                  <a:lnTo>
                    <a:pt x="4" y="83"/>
                  </a:lnTo>
                  <a:lnTo>
                    <a:pt x="2" y="73"/>
                  </a:lnTo>
                  <a:lnTo>
                    <a:pt x="7" y="59"/>
                  </a:lnTo>
                  <a:lnTo>
                    <a:pt x="0" y="38"/>
                  </a:lnTo>
                  <a:lnTo>
                    <a:pt x="9" y="36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4" y="7"/>
                  </a:lnTo>
                  <a:lnTo>
                    <a:pt x="26" y="7"/>
                  </a:lnTo>
                  <a:lnTo>
                    <a:pt x="33" y="5"/>
                  </a:lnTo>
                  <a:lnTo>
                    <a:pt x="3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311;p30">
              <a:extLst>
                <a:ext uri="{FF2B5EF4-FFF2-40B4-BE49-F238E27FC236}">
                  <a16:creationId xmlns:a16="http://schemas.microsoft.com/office/drawing/2014/main" id="{D102E44A-D480-BDA2-9C89-E9A39EA12846}"/>
                </a:ext>
              </a:extLst>
            </p:cNvPr>
            <p:cNvSpPr/>
            <p:nvPr/>
          </p:nvSpPr>
          <p:spPr>
            <a:xfrm>
              <a:off x="4950312" y="2603603"/>
              <a:ext cx="44313" cy="51131"/>
            </a:xfrm>
            <a:custGeom>
              <a:avLst/>
              <a:gdLst/>
              <a:ahLst/>
              <a:cxnLst/>
              <a:rect l="l" t="t" r="r" b="b"/>
              <a:pathLst>
                <a:path w="26" h="30" extrusionOk="0">
                  <a:moveTo>
                    <a:pt x="22" y="9"/>
                  </a:moveTo>
                  <a:lnTo>
                    <a:pt x="22" y="9"/>
                  </a:lnTo>
                  <a:lnTo>
                    <a:pt x="24" y="12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2" y="21"/>
                  </a:lnTo>
                  <a:lnTo>
                    <a:pt x="12" y="26"/>
                  </a:lnTo>
                  <a:lnTo>
                    <a:pt x="10" y="30"/>
                  </a:lnTo>
                  <a:lnTo>
                    <a:pt x="8" y="30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14"/>
                  </a:lnTo>
                  <a:lnTo>
                    <a:pt x="3" y="9"/>
                  </a:lnTo>
                  <a:lnTo>
                    <a:pt x="8" y="7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5" y="2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22" y="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312;p30">
              <a:extLst>
                <a:ext uri="{FF2B5EF4-FFF2-40B4-BE49-F238E27FC236}">
                  <a16:creationId xmlns:a16="http://schemas.microsoft.com/office/drawing/2014/main" id="{FE83B98D-5379-CF98-81B0-FDC9B7444C0F}"/>
                </a:ext>
              </a:extLst>
            </p:cNvPr>
            <p:cNvSpPr/>
            <p:nvPr/>
          </p:nvSpPr>
          <p:spPr>
            <a:xfrm>
              <a:off x="5681480" y="3055259"/>
              <a:ext cx="51131" cy="47723"/>
            </a:xfrm>
            <a:custGeom>
              <a:avLst/>
              <a:gdLst/>
              <a:ahLst/>
              <a:cxnLst/>
              <a:rect l="l" t="t" r="r" b="b"/>
              <a:pathLst>
                <a:path w="30" h="28" extrusionOk="0">
                  <a:moveTo>
                    <a:pt x="30" y="28"/>
                  </a:moveTo>
                  <a:lnTo>
                    <a:pt x="30" y="28"/>
                  </a:lnTo>
                  <a:lnTo>
                    <a:pt x="19" y="28"/>
                  </a:lnTo>
                  <a:lnTo>
                    <a:pt x="14" y="21"/>
                  </a:lnTo>
                  <a:lnTo>
                    <a:pt x="0" y="19"/>
                  </a:lnTo>
                  <a:lnTo>
                    <a:pt x="11" y="0"/>
                  </a:lnTo>
                  <a:lnTo>
                    <a:pt x="23" y="2"/>
                  </a:lnTo>
                  <a:lnTo>
                    <a:pt x="26" y="9"/>
                  </a:lnTo>
                  <a:lnTo>
                    <a:pt x="26" y="14"/>
                  </a:lnTo>
                  <a:lnTo>
                    <a:pt x="30" y="2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313;p30">
              <a:extLst>
                <a:ext uri="{FF2B5EF4-FFF2-40B4-BE49-F238E27FC236}">
                  <a16:creationId xmlns:a16="http://schemas.microsoft.com/office/drawing/2014/main" id="{8C2DE29C-A717-1666-F67E-F7A2EF252A43}"/>
                </a:ext>
              </a:extLst>
            </p:cNvPr>
            <p:cNvSpPr/>
            <p:nvPr/>
          </p:nvSpPr>
          <p:spPr>
            <a:xfrm>
              <a:off x="4081091" y="3684166"/>
              <a:ext cx="107376" cy="117602"/>
            </a:xfrm>
            <a:custGeom>
              <a:avLst/>
              <a:gdLst/>
              <a:ahLst/>
              <a:cxnLst/>
              <a:rect l="l" t="t" r="r" b="b"/>
              <a:pathLst>
                <a:path w="63" h="69" extrusionOk="0">
                  <a:moveTo>
                    <a:pt x="37" y="19"/>
                  </a:moveTo>
                  <a:lnTo>
                    <a:pt x="37" y="19"/>
                  </a:lnTo>
                  <a:lnTo>
                    <a:pt x="42" y="19"/>
                  </a:lnTo>
                  <a:lnTo>
                    <a:pt x="45" y="14"/>
                  </a:lnTo>
                  <a:lnTo>
                    <a:pt x="49" y="14"/>
                  </a:lnTo>
                  <a:lnTo>
                    <a:pt x="47" y="19"/>
                  </a:lnTo>
                  <a:lnTo>
                    <a:pt x="49" y="26"/>
                  </a:lnTo>
                  <a:lnTo>
                    <a:pt x="47" y="33"/>
                  </a:lnTo>
                  <a:lnTo>
                    <a:pt x="52" y="38"/>
                  </a:lnTo>
                  <a:lnTo>
                    <a:pt x="56" y="38"/>
                  </a:lnTo>
                  <a:lnTo>
                    <a:pt x="63" y="45"/>
                  </a:lnTo>
                  <a:lnTo>
                    <a:pt x="63" y="52"/>
                  </a:lnTo>
                  <a:lnTo>
                    <a:pt x="61" y="54"/>
                  </a:lnTo>
                  <a:lnTo>
                    <a:pt x="61" y="66"/>
                  </a:lnTo>
                  <a:lnTo>
                    <a:pt x="56" y="69"/>
                  </a:lnTo>
                  <a:lnTo>
                    <a:pt x="40" y="62"/>
                  </a:lnTo>
                  <a:lnTo>
                    <a:pt x="26" y="47"/>
                  </a:lnTo>
                  <a:lnTo>
                    <a:pt x="11" y="38"/>
                  </a:lnTo>
                  <a:lnTo>
                    <a:pt x="0" y="28"/>
                  </a:lnTo>
                  <a:lnTo>
                    <a:pt x="4" y="24"/>
                  </a:lnTo>
                  <a:lnTo>
                    <a:pt x="4" y="19"/>
                  </a:lnTo>
                  <a:lnTo>
                    <a:pt x="11" y="10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10"/>
                  </a:lnTo>
                  <a:lnTo>
                    <a:pt x="33" y="17"/>
                  </a:lnTo>
                  <a:lnTo>
                    <a:pt x="37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314;p30">
              <a:extLst>
                <a:ext uri="{FF2B5EF4-FFF2-40B4-BE49-F238E27FC236}">
                  <a16:creationId xmlns:a16="http://schemas.microsoft.com/office/drawing/2014/main" id="{60EEDBAB-5487-635D-DC02-52D674E3759C}"/>
                </a:ext>
              </a:extLst>
            </p:cNvPr>
            <p:cNvSpPr/>
            <p:nvPr/>
          </p:nvSpPr>
          <p:spPr>
            <a:xfrm>
              <a:off x="4652051" y="2958109"/>
              <a:ext cx="436315" cy="415864"/>
            </a:xfrm>
            <a:custGeom>
              <a:avLst/>
              <a:gdLst/>
              <a:ahLst/>
              <a:cxnLst/>
              <a:rect l="l" t="t" r="r" b="b"/>
              <a:pathLst>
                <a:path w="256" h="244" extrusionOk="0">
                  <a:moveTo>
                    <a:pt x="36" y="0"/>
                  </a:moveTo>
                  <a:lnTo>
                    <a:pt x="36" y="0"/>
                  </a:lnTo>
                  <a:lnTo>
                    <a:pt x="55" y="5"/>
                  </a:lnTo>
                  <a:lnTo>
                    <a:pt x="62" y="2"/>
                  </a:lnTo>
                  <a:lnTo>
                    <a:pt x="74" y="7"/>
                  </a:lnTo>
                  <a:lnTo>
                    <a:pt x="97" y="17"/>
                  </a:lnTo>
                  <a:lnTo>
                    <a:pt x="105" y="33"/>
                  </a:lnTo>
                  <a:lnTo>
                    <a:pt x="119" y="36"/>
                  </a:lnTo>
                  <a:lnTo>
                    <a:pt x="142" y="43"/>
                  </a:lnTo>
                  <a:lnTo>
                    <a:pt x="159" y="52"/>
                  </a:lnTo>
                  <a:lnTo>
                    <a:pt x="166" y="47"/>
                  </a:lnTo>
                  <a:lnTo>
                    <a:pt x="173" y="40"/>
                  </a:lnTo>
                  <a:lnTo>
                    <a:pt x="171" y="26"/>
                  </a:lnTo>
                  <a:lnTo>
                    <a:pt x="175" y="17"/>
                  </a:lnTo>
                  <a:lnTo>
                    <a:pt x="187" y="7"/>
                  </a:lnTo>
                  <a:lnTo>
                    <a:pt x="199" y="5"/>
                  </a:lnTo>
                  <a:lnTo>
                    <a:pt x="220" y="7"/>
                  </a:lnTo>
                  <a:lnTo>
                    <a:pt x="225" y="17"/>
                  </a:lnTo>
                  <a:lnTo>
                    <a:pt x="232" y="17"/>
                  </a:lnTo>
                  <a:lnTo>
                    <a:pt x="237" y="21"/>
                  </a:lnTo>
                  <a:lnTo>
                    <a:pt x="254" y="21"/>
                  </a:lnTo>
                  <a:lnTo>
                    <a:pt x="256" y="28"/>
                  </a:lnTo>
                  <a:lnTo>
                    <a:pt x="251" y="38"/>
                  </a:lnTo>
                  <a:lnTo>
                    <a:pt x="254" y="45"/>
                  </a:lnTo>
                  <a:lnTo>
                    <a:pt x="251" y="57"/>
                  </a:lnTo>
                  <a:lnTo>
                    <a:pt x="254" y="71"/>
                  </a:lnTo>
                  <a:lnTo>
                    <a:pt x="254" y="137"/>
                  </a:lnTo>
                  <a:lnTo>
                    <a:pt x="254" y="201"/>
                  </a:lnTo>
                  <a:lnTo>
                    <a:pt x="254" y="234"/>
                  </a:lnTo>
                  <a:lnTo>
                    <a:pt x="237" y="234"/>
                  </a:lnTo>
                  <a:lnTo>
                    <a:pt x="237" y="244"/>
                  </a:lnTo>
                  <a:lnTo>
                    <a:pt x="171" y="211"/>
                  </a:lnTo>
                  <a:lnTo>
                    <a:pt x="107" y="178"/>
                  </a:lnTo>
                  <a:lnTo>
                    <a:pt x="90" y="187"/>
                  </a:lnTo>
                  <a:lnTo>
                    <a:pt x="78" y="192"/>
                  </a:lnTo>
                  <a:lnTo>
                    <a:pt x="69" y="185"/>
                  </a:lnTo>
                  <a:lnTo>
                    <a:pt x="43" y="175"/>
                  </a:lnTo>
                  <a:lnTo>
                    <a:pt x="36" y="166"/>
                  </a:lnTo>
                  <a:lnTo>
                    <a:pt x="24" y="156"/>
                  </a:lnTo>
                  <a:lnTo>
                    <a:pt x="17" y="159"/>
                  </a:lnTo>
                  <a:lnTo>
                    <a:pt x="10" y="149"/>
                  </a:lnTo>
                  <a:lnTo>
                    <a:pt x="10" y="142"/>
                  </a:lnTo>
                  <a:lnTo>
                    <a:pt x="0" y="128"/>
                  </a:lnTo>
                  <a:lnTo>
                    <a:pt x="8" y="123"/>
                  </a:lnTo>
                  <a:lnTo>
                    <a:pt x="5" y="109"/>
                  </a:lnTo>
                  <a:lnTo>
                    <a:pt x="8" y="99"/>
                  </a:lnTo>
                  <a:lnTo>
                    <a:pt x="8" y="92"/>
                  </a:lnTo>
                  <a:lnTo>
                    <a:pt x="10" y="78"/>
                  </a:lnTo>
                  <a:lnTo>
                    <a:pt x="10" y="69"/>
                  </a:lnTo>
                  <a:lnTo>
                    <a:pt x="3" y="52"/>
                  </a:lnTo>
                  <a:lnTo>
                    <a:pt x="10" y="47"/>
                  </a:lnTo>
                  <a:lnTo>
                    <a:pt x="12" y="40"/>
                  </a:lnTo>
                  <a:lnTo>
                    <a:pt x="10" y="33"/>
                  </a:lnTo>
                  <a:lnTo>
                    <a:pt x="22" y="24"/>
                  </a:lnTo>
                  <a:lnTo>
                    <a:pt x="26" y="19"/>
                  </a:lnTo>
                  <a:lnTo>
                    <a:pt x="36" y="14"/>
                  </a:lnTo>
                  <a:lnTo>
                    <a:pt x="36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315;p30">
              <a:extLst>
                <a:ext uri="{FF2B5EF4-FFF2-40B4-BE49-F238E27FC236}">
                  <a16:creationId xmlns:a16="http://schemas.microsoft.com/office/drawing/2014/main" id="{95BD5AC4-D58A-5481-21DE-CA52C08DE7FC}"/>
                </a:ext>
              </a:extLst>
            </p:cNvPr>
            <p:cNvSpPr/>
            <p:nvPr/>
          </p:nvSpPr>
          <p:spPr>
            <a:xfrm>
              <a:off x="6596719" y="3648376"/>
              <a:ext cx="56245" cy="109080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23" y="59"/>
                  </a:moveTo>
                  <a:lnTo>
                    <a:pt x="23" y="59"/>
                  </a:lnTo>
                  <a:lnTo>
                    <a:pt x="9" y="64"/>
                  </a:lnTo>
                  <a:lnTo>
                    <a:pt x="2" y="49"/>
                  </a:lnTo>
                  <a:lnTo>
                    <a:pt x="0" y="26"/>
                  </a:lnTo>
                  <a:lnTo>
                    <a:pt x="7" y="0"/>
                  </a:lnTo>
                  <a:lnTo>
                    <a:pt x="18" y="9"/>
                  </a:lnTo>
                  <a:lnTo>
                    <a:pt x="26" y="21"/>
                  </a:lnTo>
                  <a:lnTo>
                    <a:pt x="33" y="38"/>
                  </a:lnTo>
                  <a:lnTo>
                    <a:pt x="30" y="54"/>
                  </a:lnTo>
                  <a:lnTo>
                    <a:pt x="23" y="5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316;p30">
              <a:extLst>
                <a:ext uri="{FF2B5EF4-FFF2-40B4-BE49-F238E27FC236}">
                  <a16:creationId xmlns:a16="http://schemas.microsoft.com/office/drawing/2014/main" id="{B5EC7A36-EB10-7A4C-5EE6-080D0AA3F4C8}"/>
                </a:ext>
              </a:extLst>
            </p:cNvPr>
            <p:cNvSpPr/>
            <p:nvPr/>
          </p:nvSpPr>
          <p:spPr>
            <a:xfrm>
              <a:off x="4551493" y="2329202"/>
              <a:ext cx="17044" cy="27269"/>
            </a:xfrm>
            <a:custGeom>
              <a:avLst/>
              <a:gdLst/>
              <a:ahLst/>
              <a:cxnLst/>
              <a:rect l="l" t="t" r="r" b="b"/>
              <a:pathLst>
                <a:path w="10" h="16" extrusionOk="0">
                  <a:moveTo>
                    <a:pt x="10" y="16"/>
                  </a:moveTo>
                  <a:lnTo>
                    <a:pt x="10" y="16"/>
                  </a:lnTo>
                  <a:lnTo>
                    <a:pt x="5" y="16"/>
                  </a:lnTo>
                  <a:lnTo>
                    <a:pt x="0" y="14"/>
                  </a:lnTo>
                  <a:lnTo>
                    <a:pt x="3" y="0"/>
                  </a:lnTo>
                  <a:lnTo>
                    <a:pt x="7" y="0"/>
                  </a:lnTo>
                  <a:lnTo>
                    <a:pt x="10" y="4"/>
                  </a:lnTo>
                  <a:lnTo>
                    <a:pt x="10" y="1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317;p30">
              <a:extLst>
                <a:ext uri="{FF2B5EF4-FFF2-40B4-BE49-F238E27FC236}">
                  <a16:creationId xmlns:a16="http://schemas.microsoft.com/office/drawing/2014/main" id="{1B603AC0-24A4-E454-4201-C6698037FD6D}"/>
                </a:ext>
              </a:extLst>
            </p:cNvPr>
            <p:cNvSpPr/>
            <p:nvPr/>
          </p:nvSpPr>
          <p:spPr>
            <a:xfrm>
              <a:off x="4979287" y="1961060"/>
              <a:ext cx="197705" cy="117602"/>
            </a:xfrm>
            <a:custGeom>
              <a:avLst/>
              <a:gdLst/>
              <a:ahLst/>
              <a:cxnLst/>
              <a:rect l="l" t="t" r="r" b="b"/>
              <a:pathLst>
                <a:path w="116" h="69" extrusionOk="0">
                  <a:moveTo>
                    <a:pt x="109" y="22"/>
                  </a:moveTo>
                  <a:lnTo>
                    <a:pt x="109" y="22"/>
                  </a:lnTo>
                  <a:lnTo>
                    <a:pt x="109" y="36"/>
                  </a:lnTo>
                  <a:lnTo>
                    <a:pt x="116" y="52"/>
                  </a:lnTo>
                  <a:lnTo>
                    <a:pt x="97" y="64"/>
                  </a:lnTo>
                  <a:lnTo>
                    <a:pt x="88" y="69"/>
                  </a:lnTo>
                  <a:lnTo>
                    <a:pt x="71" y="55"/>
                  </a:lnTo>
                  <a:lnTo>
                    <a:pt x="64" y="52"/>
                  </a:lnTo>
                  <a:lnTo>
                    <a:pt x="62" y="48"/>
                  </a:lnTo>
                  <a:lnTo>
                    <a:pt x="45" y="50"/>
                  </a:lnTo>
                  <a:lnTo>
                    <a:pt x="19" y="48"/>
                  </a:lnTo>
                  <a:lnTo>
                    <a:pt x="0" y="57"/>
                  </a:lnTo>
                  <a:lnTo>
                    <a:pt x="0" y="36"/>
                  </a:lnTo>
                  <a:lnTo>
                    <a:pt x="7" y="17"/>
                  </a:lnTo>
                  <a:lnTo>
                    <a:pt x="24" y="5"/>
                  </a:lnTo>
                  <a:lnTo>
                    <a:pt x="36" y="29"/>
                  </a:lnTo>
                  <a:lnTo>
                    <a:pt x="50" y="26"/>
                  </a:lnTo>
                  <a:lnTo>
                    <a:pt x="52" y="5"/>
                  </a:lnTo>
                  <a:lnTo>
                    <a:pt x="66" y="0"/>
                  </a:lnTo>
                  <a:lnTo>
                    <a:pt x="73" y="3"/>
                  </a:lnTo>
                  <a:lnTo>
                    <a:pt x="88" y="15"/>
                  </a:lnTo>
                  <a:lnTo>
                    <a:pt x="99" y="15"/>
                  </a:lnTo>
                  <a:lnTo>
                    <a:pt x="109" y="2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318;p30">
              <a:extLst>
                <a:ext uri="{FF2B5EF4-FFF2-40B4-BE49-F238E27FC236}">
                  <a16:creationId xmlns:a16="http://schemas.microsoft.com/office/drawing/2014/main" id="{735905E5-6AF8-A4B2-3923-F8FFFEC72414}"/>
                </a:ext>
              </a:extLst>
            </p:cNvPr>
            <p:cNvSpPr/>
            <p:nvPr/>
          </p:nvSpPr>
          <p:spPr>
            <a:xfrm>
              <a:off x="5596263" y="4250727"/>
              <a:ext cx="201114" cy="390298"/>
            </a:xfrm>
            <a:custGeom>
              <a:avLst/>
              <a:gdLst/>
              <a:ahLst/>
              <a:cxnLst/>
              <a:rect l="l" t="t" r="r" b="b"/>
              <a:pathLst>
                <a:path w="118" h="229" extrusionOk="0">
                  <a:moveTo>
                    <a:pt x="111" y="23"/>
                  </a:moveTo>
                  <a:lnTo>
                    <a:pt x="111" y="23"/>
                  </a:lnTo>
                  <a:lnTo>
                    <a:pt x="114" y="45"/>
                  </a:lnTo>
                  <a:lnTo>
                    <a:pt x="118" y="52"/>
                  </a:lnTo>
                  <a:lnTo>
                    <a:pt x="116" y="59"/>
                  </a:lnTo>
                  <a:lnTo>
                    <a:pt x="114" y="66"/>
                  </a:lnTo>
                  <a:lnTo>
                    <a:pt x="109" y="54"/>
                  </a:lnTo>
                  <a:lnTo>
                    <a:pt x="104" y="59"/>
                  </a:lnTo>
                  <a:lnTo>
                    <a:pt x="109" y="73"/>
                  </a:lnTo>
                  <a:lnTo>
                    <a:pt x="107" y="80"/>
                  </a:lnTo>
                  <a:lnTo>
                    <a:pt x="102" y="83"/>
                  </a:lnTo>
                  <a:lnTo>
                    <a:pt x="102" y="97"/>
                  </a:lnTo>
                  <a:lnTo>
                    <a:pt x="95" y="118"/>
                  </a:lnTo>
                  <a:lnTo>
                    <a:pt x="88" y="142"/>
                  </a:lnTo>
                  <a:lnTo>
                    <a:pt x="78" y="173"/>
                  </a:lnTo>
                  <a:lnTo>
                    <a:pt x="71" y="199"/>
                  </a:lnTo>
                  <a:lnTo>
                    <a:pt x="64" y="218"/>
                  </a:lnTo>
                  <a:lnTo>
                    <a:pt x="50" y="222"/>
                  </a:lnTo>
                  <a:lnTo>
                    <a:pt x="36" y="229"/>
                  </a:lnTo>
                  <a:lnTo>
                    <a:pt x="26" y="225"/>
                  </a:lnTo>
                  <a:lnTo>
                    <a:pt x="14" y="220"/>
                  </a:lnTo>
                  <a:lnTo>
                    <a:pt x="10" y="208"/>
                  </a:lnTo>
                  <a:lnTo>
                    <a:pt x="10" y="194"/>
                  </a:lnTo>
                  <a:lnTo>
                    <a:pt x="3" y="180"/>
                  </a:lnTo>
                  <a:lnTo>
                    <a:pt x="0" y="168"/>
                  </a:lnTo>
                  <a:lnTo>
                    <a:pt x="5" y="156"/>
                  </a:lnTo>
                  <a:lnTo>
                    <a:pt x="12" y="151"/>
                  </a:lnTo>
                  <a:lnTo>
                    <a:pt x="12" y="147"/>
                  </a:lnTo>
                  <a:lnTo>
                    <a:pt x="19" y="132"/>
                  </a:lnTo>
                  <a:lnTo>
                    <a:pt x="21" y="123"/>
                  </a:lnTo>
                  <a:lnTo>
                    <a:pt x="17" y="113"/>
                  </a:lnTo>
                  <a:lnTo>
                    <a:pt x="14" y="104"/>
                  </a:lnTo>
                  <a:lnTo>
                    <a:pt x="12" y="87"/>
                  </a:lnTo>
                  <a:lnTo>
                    <a:pt x="19" y="80"/>
                  </a:lnTo>
                  <a:lnTo>
                    <a:pt x="21" y="68"/>
                  </a:lnTo>
                  <a:lnTo>
                    <a:pt x="29" y="68"/>
                  </a:lnTo>
                  <a:lnTo>
                    <a:pt x="38" y="64"/>
                  </a:lnTo>
                  <a:lnTo>
                    <a:pt x="43" y="61"/>
                  </a:lnTo>
                  <a:lnTo>
                    <a:pt x="50" y="61"/>
                  </a:lnTo>
                  <a:lnTo>
                    <a:pt x="62" y="52"/>
                  </a:lnTo>
                  <a:lnTo>
                    <a:pt x="74" y="42"/>
                  </a:lnTo>
                  <a:lnTo>
                    <a:pt x="78" y="33"/>
                  </a:lnTo>
                  <a:lnTo>
                    <a:pt x="76" y="26"/>
                  </a:lnTo>
                  <a:lnTo>
                    <a:pt x="83" y="28"/>
                  </a:lnTo>
                  <a:lnTo>
                    <a:pt x="92" y="16"/>
                  </a:lnTo>
                  <a:lnTo>
                    <a:pt x="92" y="7"/>
                  </a:lnTo>
                  <a:lnTo>
                    <a:pt x="97" y="0"/>
                  </a:lnTo>
                  <a:lnTo>
                    <a:pt x="104" y="7"/>
                  </a:lnTo>
                  <a:lnTo>
                    <a:pt x="107" y="14"/>
                  </a:lnTo>
                  <a:lnTo>
                    <a:pt x="111" y="2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319;p30">
              <a:extLst>
                <a:ext uri="{FF2B5EF4-FFF2-40B4-BE49-F238E27FC236}">
                  <a16:creationId xmlns:a16="http://schemas.microsoft.com/office/drawing/2014/main" id="{ABEEFE01-CF6B-A920-1470-E7603777298B}"/>
                </a:ext>
              </a:extLst>
            </p:cNvPr>
            <p:cNvSpPr/>
            <p:nvPr/>
          </p:nvSpPr>
          <p:spPr>
            <a:xfrm>
              <a:off x="1164940" y="2970041"/>
              <a:ext cx="835134" cy="545395"/>
            </a:xfrm>
            <a:custGeom>
              <a:avLst/>
              <a:gdLst/>
              <a:ahLst/>
              <a:cxnLst/>
              <a:rect l="l" t="t" r="r" b="b"/>
              <a:pathLst>
                <a:path w="490" h="320" extrusionOk="0">
                  <a:moveTo>
                    <a:pt x="62" y="12"/>
                  </a:moveTo>
                  <a:lnTo>
                    <a:pt x="62" y="12"/>
                  </a:lnTo>
                  <a:lnTo>
                    <a:pt x="97" y="26"/>
                  </a:lnTo>
                  <a:lnTo>
                    <a:pt x="131" y="26"/>
                  </a:lnTo>
                  <a:lnTo>
                    <a:pt x="142" y="26"/>
                  </a:lnTo>
                  <a:lnTo>
                    <a:pt x="142" y="19"/>
                  </a:lnTo>
                  <a:lnTo>
                    <a:pt x="171" y="19"/>
                  </a:lnTo>
                  <a:lnTo>
                    <a:pt x="178" y="26"/>
                  </a:lnTo>
                  <a:lnTo>
                    <a:pt x="185" y="31"/>
                  </a:lnTo>
                  <a:lnTo>
                    <a:pt x="197" y="40"/>
                  </a:lnTo>
                  <a:lnTo>
                    <a:pt x="201" y="50"/>
                  </a:lnTo>
                  <a:lnTo>
                    <a:pt x="204" y="59"/>
                  </a:lnTo>
                  <a:lnTo>
                    <a:pt x="213" y="64"/>
                  </a:lnTo>
                  <a:lnTo>
                    <a:pt x="225" y="71"/>
                  </a:lnTo>
                  <a:lnTo>
                    <a:pt x="237" y="57"/>
                  </a:lnTo>
                  <a:lnTo>
                    <a:pt x="251" y="55"/>
                  </a:lnTo>
                  <a:lnTo>
                    <a:pt x="261" y="64"/>
                  </a:lnTo>
                  <a:lnTo>
                    <a:pt x="270" y="76"/>
                  </a:lnTo>
                  <a:lnTo>
                    <a:pt x="275" y="88"/>
                  </a:lnTo>
                  <a:lnTo>
                    <a:pt x="284" y="97"/>
                  </a:lnTo>
                  <a:lnTo>
                    <a:pt x="289" y="109"/>
                  </a:lnTo>
                  <a:lnTo>
                    <a:pt x="291" y="118"/>
                  </a:lnTo>
                  <a:lnTo>
                    <a:pt x="306" y="123"/>
                  </a:lnTo>
                  <a:lnTo>
                    <a:pt x="317" y="128"/>
                  </a:lnTo>
                  <a:lnTo>
                    <a:pt x="324" y="126"/>
                  </a:lnTo>
                  <a:lnTo>
                    <a:pt x="317" y="142"/>
                  </a:lnTo>
                  <a:lnTo>
                    <a:pt x="315" y="154"/>
                  </a:lnTo>
                  <a:lnTo>
                    <a:pt x="313" y="178"/>
                  </a:lnTo>
                  <a:lnTo>
                    <a:pt x="310" y="187"/>
                  </a:lnTo>
                  <a:lnTo>
                    <a:pt x="315" y="197"/>
                  </a:lnTo>
                  <a:lnTo>
                    <a:pt x="320" y="206"/>
                  </a:lnTo>
                  <a:lnTo>
                    <a:pt x="322" y="218"/>
                  </a:lnTo>
                  <a:lnTo>
                    <a:pt x="334" y="230"/>
                  </a:lnTo>
                  <a:lnTo>
                    <a:pt x="336" y="239"/>
                  </a:lnTo>
                  <a:lnTo>
                    <a:pt x="343" y="249"/>
                  </a:lnTo>
                  <a:lnTo>
                    <a:pt x="360" y="253"/>
                  </a:lnTo>
                  <a:lnTo>
                    <a:pt x="367" y="260"/>
                  </a:lnTo>
                  <a:lnTo>
                    <a:pt x="381" y="256"/>
                  </a:lnTo>
                  <a:lnTo>
                    <a:pt x="393" y="253"/>
                  </a:lnTo>
                  <a:lnTo>
                    <a:pt x="405" y="251"/>
                  </a:lnTo>
                  <a:lnTo>
                    <a:pt x="417" y="249"/>
                  </a:lnTo>
                  <a:lnTo>
                    <a:pt x="426" y="242"/>
                  </a:lnTo>
                  <a:lnTo>
                    <a:pt x="431" y="230"/>
                  </a:lnTo>
                  <a:lnTo>
                    <a:pt x="431" y="215"/>
                  </a:lnTo>
                  <a:lnTo>
                    <a:pt x="436" y="211"/>
                  </a:lnTo>
                  <a:lnTo>
                    <a:pt x="445" y="206"/>
                  </a:lnTo>
                  <a:lnTo>
                    <a:pt x="462" y="204"/>
                  </a:lnTo>
                  <a:lnTo>
                    <a:pt x="478" y="204"/>
                  </a:lnTo>
                  <a:lnTo>
                    <a:pt x="488" y="201"/>
                  </a:lnTo>
                  <a:lnTo>
                    <a:pt x="490" y="206"/>
                  </a:lnTo>
                  <a:lnTo>
                    <a:pt x="490" y="213"/>
                  </a:lnTo>
                  <a:lnTo>
                    <a:pt x="481" y="225"/>
                  </a:lnTo>
                  <a:lnTo>
                    <a:pt x="478" y="234"/>
                  </a:lnTo>
                  <a:lnTo>
                    <a:pt x="481" y="239"/>
                  </a:lnTo>
                  <a:lnTo>
                    <a:pt x="478" y="246"/>
                  </a:lnTo>
                  <a:lnTo>
                    <a:pt x="474" y="258"/>
                  </a:lnTo>
                  <a:lnTo>
                    <a:pt x="471" y="253"/>
                  </a:lnTo>
                  <a:lnTo>
                    <a:pt x="466" y="253"/>
                  </a:lnTo>
                  <a:lnTo>
                    <a:pt x="464" y="253"/>
                  </a:lnTo>
                  <a:lnTo>
                    <a:pt x="457" y="265"/>
                  </a:lnTo>
                  <a:lnTo>
                    <a:pt x="455" y="263"/>
                  </a:lnTo>
                  <a:lnTo>
                    <a:pt x="452" y="263"/>
                  </a:lnTo>
                  <a:lnTo>
                    <a:pt x="452" y="265"/>
                  </a:lnTo>
                  <a:lnTo>
                    <a:pt x="438" y="265"/>
                  </a:lnTo>
                  <a:lnTo>
                    <a:pt x="421" y="265"/>
                  </a:lnTo>
                  <a:lnTo>
                    <a:pt x="421" y="275"/>
                  </a:lnTo>
                  <a:lnTo>
                    <a:pt x="417" y="275"/>
                  </a:lnTo>
                  <a:lnTo>
                    <a:pt x="421" y="282"/>
                  </a:lnTo>
                  <a:lnTo>
                    <a:pt x="426" y="284"/>
                  </a:lnTo>
                  <a:lnTo>
                    <a:pt x="429" y="289"/>
                  </a:lnTo>
                  <a:lnTo>
                    <a:pt x="431" y="289"/>
                  </a:lnTo>
                  <a:lnTo>
                    <a:pt x="431" y="296"/>
                  </a:lnTo>
                  <a:lnTo>
                    <a:pt x="410" y="296"/>
                  </a:lnTo>
                  <a:lnTo>
                    <a:pt x="403" y="308"/>
                  </a:lnTo>
                  <a:lnTo>
                    <a:pt x="405" y="313"/>
                  </a:lnTo>
                  <a:lnTo>
                    <a:pt x="403" y="315"/>
                  </a:lnTo>
                  <a:lnTo>
                    <a:pt x="403" y="320"/>
                  </a:lnTo>
                  <a:lnTo>
                    <a:pt x="384" y="303"/>
                  </a:lnTo>
                  <a:lnTo>
                    <a:pt x="377" y="298"/>
                  </a:lnTo>
                  <a:lnTo>
                    <a:pt x="362" y="294"/>
                  </a:lnTo>
                  <a:lnTo>
                    <a:pt x="355" y="294"/>
                  </a:lnTo>
                  <a:lnTo>
                    <a:pt x="341" y="301"/>
                  </a:lnTo>
                  <a:lnTo>
                    <a:pt x="334" y="303"/>
                  </a:lnTo>
                  <a:lnTo>
                    <a:pt x="322" y="298"/>
                  </a:lnTo>
                  <a:lnTo>
                    <a:pt x="308" y="294"/>
                  </a:lnTo>
                  <a:lnTo>
                    <a:pt x="294" y="287"/>
                  </a:lnTo>
                  <a:lnTo>
                    <a:pt x="282" y="284"/>
                  </a:lnTo>
                  <a:lnTo>
                    <a:pt x="263" y="277"/>
                  </a:lnTo>
                  <a:lnTo>
                    <a:pt x="251" y="268"/>
                  </a:lnTo>
                  <a:lnTo>
                    <a:pt x="246" y="265"/>
                  </a:lnTo>
                  <a:lnTo>
                    <a:pt x="237" y="263"/>
                  </a:lnTo>
                  <a:lnTo>
                    <a:pt x="220" y="258"/>
                  </a:lnTo>
                  <a:lnTo>
                    <a:pt x="213" y="251"/>
                  </a:lnTo>
                  <a:lnTo>
                    <a:pt x="197" y="239"/>
                  </a:lnTo>
                  <a:lnTo>
                    <a:pt x="187" y="230"/>
                  </a:lnTo>
                  <a:lnTo>
                    <a:pt x="185" y="223"/>
                  </a:lnTo>
                  <a:lnTo>
                    <a:pt x="190" y="220"/>
                  </a:lnTo>
                  <a:lnTo>
                    <a:pt x="187" y="215"/>
                  </a:lnTo>
                  <a:lnTo>
                    <a:pt x="192" y="211"/>
                  </a:lnTo>
                  <a:lnTo>
                    <a:pt x="192" y="204"/>
                  </a:lnTo>
                  <a:lnTo>
                    <a:pt x="187" y="197"/>
                  </a:lnTo>
                  <a:lnTo>
                    <a:pt x="185" y="189"/>
                  </a:lnTo>
                  <a:lnTo>
                    <a:pt x="178" y="180"/>
                  </a:lnTo>
                  <a:lnTo>
                    <a:pt x="166" y="163"/>
                  </a:lnTo>
                  <a:lnTo>
                    <a:pt x="149" y="149"/>
                  </a:lnTo>
                  <a:lnTo>
                    <a:pt x="140" y="140"/>
                  </a:lnTo>
                  <a:lnTo>
                    <a:pt x="128" y="133"/>
                  </a:lnTo>
                  <a:lnTo>
                    <a:pt x="123" y="128"/>
                  </a:lnTo>
                  <a:lnTo>
                    <a:pt x="126" y="116"/>
                  </a:lnTo>
                  <a:lnTo>
                    <a:pt x="119" y="111"/>
                  </a:lnTo>
                  <a:lnTo>
                    <a:pt x="109" y="104"/>
                  </a:lnTo>
                  <a:lnTo>
                    <a:pt x="105" y="90"/>
                  </a:lnTo>
                  <a:lnTo>
                    <a:pt x="95" y="90"/>
                  </a:lnTo>
                  <a:lnTo>
                    <a:pt x="86" y="81"/>
                  </a:lnTo>
                  <a:lnTo>
                    <a:pt x="79" y="71"/>
                  </a:lnTo>
                  <a:lnTo>
                    <a:pt x="79" y="64"/>
                  </a:lnTo>
                  <a:lnTo>
                    <a:pt x="69" y="50"/>
                  </a:lnTo>
                  <a:lnTo>
                    <a:pt x="64" y="36"/>
                  </a:lnTo>
                  <a:lnTo>
                    <a:pt x="64" y="31"/>
                  </a:lnTo>
                  <a:lnTo>
                    <a:pt x="52" y="21"/>
                  </a:lnTo>
                  <a:lnTo>
                    <a:pt x="48" y="24"/>
                  </a:lnTo>
                  <a:lnTo>
                    <a:pt x="38" y="17"/>
                  </a:lnTo>
                  <a:lnTo>
                    <a:pt x="34" y="26"/>
                  </a:lnTo>
                  <a:lnTo>
                    <a:pt x="38" y="33"/>
                  </a:lnTo>
                  <a:lnTo>
                    <a:pt x="38" y="47"/>
                  </a:lnTo>
                  <a:lnTo>
                    <a:pt x="45" y="57"/>
                  </a:lnTo>
                  <a:lnTo>
                    <a:pt x="57" y="69"/>
                  </a:lnTo>
                  <a:lnTo>
                    <a:pt x="60" y="73"/>
                  </a:lnTo>
                  <a:lnTo>
                    <a:pt x="62" y="73"/>
                  </a:lnTo>
                  <a:lnTo>
                    <a:pt x="64" y="81"/>
                  </a:lnTo>
                  <a:lnTo>
                    <a:pt x="67" y="81"/>
                  </a:lnTo>
                  <a:lnTo>
                    <a:pt x="69" y="92"/>
                  </a:lnTo>
                  <a:lnTo>
                    <a:pt x="76" y="97"/>
                  </a:lnTo>
                  <a:lnTo>
                    <a:pt x="79" y="104"/>
                  </a:lnTo>
                  <a:lnTo>
                    <a:pt x="88" y="111"/>
                  </a:lnTo>
                  <a:lnTo>
                    <a:pt x="95" y="128"/>
                  </a:lnTo>
                  <a:lnTo>
                    <a:pt x="100" y="137"/>
                  </a:lnTo>
                  <a:lnTo>
                    <a:pt x="105" y="144"/>
                  </a:lnTo>
                  <a:lnTo>
                    <a:pt x="105" y="154"/>
                  </a:lnTo>
                  <a:lnTo>
                    <a:pt x="112" y="154"/>
                  </a:lnTo>
                  <a:lnTo>
                    <a:pt x="119" y="163"/>
                  </a:lnTo>
                  <a:lnTo>
                    <a:pt x="123" y="171"/>
                  </a:lnTo>
                  <a:lnTo>
                    <a:pt x="123" y="173"/>
                  </a:lnTo>
                  <a:lnTo>
                    <a:pt x="116" y="180"/>
                  </a:lnTo>
                  <a:lnTo>
                    <a:pt x="114" y="180"/>
                  </a:lnTo>
                  <a:lnTo>
                    <a:pt x="112" y="168"/>
                  </a:lnTo>
                  <a:lnTo>
                    <a:pt x="100" y="159"/>
                  </a:lnTo>
                  <a:lnTo>
                    <a:pt x="88" y="152"/>
                  </a:lnTo>
                  <a:lnTo>
                    <a:pt x="81" y="147"/>
                  </a:lnTo>
                  <a:lnTo>
                    <a:pt x="81" y="133"/>
                  </a:lnTo>
                  <a:lnTo>
                    <a:pt x="79" y="123"/>
                  </a:lnTo>
                  <a:lnTo>
                    <a:pt x="69" y="118"/>
                  </a:lnTo>
                  <a:lnTo>
                    <a:pt x="60" y="109"/>
                  </a:lnTo>
                  <a:lnTo>
                    <a:pt x="57" y="114"/>
                  </a:lnTo>
                  <a:lnTo>
                    <a:pt x="52" y="109"/>
                  </a:lnTo>
                  <a:lnTo>
                    <a:pt x="43" y="104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41" y="92"/>
                  </a:lnTo>
                  <a:lnTo>
                    <a:pt x="48" y="85"/>
                  </a:lnTo>
                  <a:lnTo>
                    <a:pt x="48" y="78"/>
                  </a:lnTo>
                  <a:lnTo>
                    <a:pt x="34" y="64"/>
                  </a:lnTo>
                  <a:lnTo>
                    <a:pt x="26" y="59"/>
                  </a:lnTo>
                  <a:lnTo>
                    <a:pt x="19" y="47"/>
                  </a:lnTo>
                  <a:lnTo>
                    <a:pt x="15" y="36"/>
                  </a:lnTo>
                  <a:lnTo>
                    <a:pt x="5" y="21"/>
                  </a:lnTo>
                  <a:lnTo>
                    <a:pt x="0" y="5"/>
                  </a:lnTo>
                  <a:lnTo>
                    <a:pt x="17" y="2"/>
                  </a:lnTo>
                  <a:lnTo>
                    <a:pt x="38" y="0"/>
                  </a:lnTo>
                  <a:lnTo>
                    <a:pt x="36" y="5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2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320;p30">
              <a:extLst>
                <a:ext uri="{FF2B5EF4-FFF2-40B4-BE49-F238E27FC236}">
                  <a16:creationId xmlns:a16="http://schemas.microsoft.com/office/drawing/2014/main" id="{C3C5A70F-1582-3196-8905-ED20C1D75906}"/>
                </a:ext>
              </a:extLst>
            </p:cNvPr>
            <p:cNvSpPr/>
            <p:nvPr/>
          </p:nvSpPr>
          <p:spPr>
            <a:xfrm>
              <a:off x="4963947" y="2639394"/>
              <a:ext cx="68174" cy="52835"/>
            </a:xfrm>
            <a:custGeom>
              <a:avLst/>
              <a:gdLst/>
              <a:ahLst/>
              <a:cxnLst/>
              <a:rect l="l" t="t" r="r" b="b"/>
              <a:pathLst>
                <a:path w="40" h="31" extrusionOk="0">
                  <a:moveTo>
                    <a:pt x="37" y="7"/>
                  </a:moveTo>
                  <a:lnTo>
                    <a:pt x="37" y="7"/>
                  </a:lnTo>
                  <a:lnTo>
                    <a:pt x="40" y="21"/>
                  </a:lnTo>
                  <a:lnTo>
                    <a:pt x="35" y="21"/>
                  </a:lnTo>
                  <a:lnTo>
                    <a:pt x="33" y="24"/>
                  </a:lnTo>
                  <a:lnTo>
                    <a:pt x="26" y="24"/>
                  </a:lnTo>
                  <a:lnTo>
                    <a:pt x="18" y="28"/>
                  </a:lnTo>
                  <a:lnTo>
                    <a:pt x="9" y="31"/>
                  </a:lnTo>
                  <a:lnTo>
                    <a:pt x="2" y="26"/>
                  </a:lnTo>
                  <a:lnTo>
                    <a:pt x="0" y="1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5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7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321;p30">
              <a:extLst>
                <a:ext uri="{FF2B5EF4-FFF2-40B4-BE49-F238E27FC236}">
                  <a16:creationId xmlns:a16="http://schemas.microsoft.com/office/drawing/2014/main" id="{233F412B-1418-A706-B65B-BB1BF021B336}"/>
                </a:ext>
              </a:extLst>
            </p:cNvPr>
            <p:cNvSpPr/>
            <p:nvPr/>
          </p:nvSpPr>
          <p:spPr>
            <a:xfrm>
              <a:off x="6942702" y="3108093"/>
              <a:ext cx="245427" cy="535170"/>
            </a:xfrm>
            <a:custGeom>
              <a:avLst/>
              <a:gdLst/>
              <a:ahLst/>
              <a:cxnLst/>
              <a:rect l="l" t="t" r="r" b="b"/>
              <a:pathLst>
                <a:path w="144" h="314" extrusionOk="0">
                  <a:moveTo>
                    <a:pt x="104" y="16"/>
                  </a:moveTo>
                  <a:lnTo>
                    <a:pt x="104" y="16"/>
                  </a:lnTo>
                  <a:lnTo>
                    <a:pt x="104" y="30"/>
                  </a:lnTo>
                  <a:lnTo>
                    <a:pt x="104" y="45"/>
                  </a:lnTo>
                  <a:lnTo>
                    <a:pt x="90" y="59"/>
                  </a:lnTo>
                  <a:lnTo>
                    <a:pt x="87" y="80"/>
                  </a:lnTo>
                  <a:lnTo>
                    <a:pt x="104" y="78"/>
                  </a:lnTo>
                  <a:lnTo>
                    <a:pt x="109" y="94"/>
                  </a:lnTo>
                  <a:lnTo>
                    <a:pt x="118" y="97"/>
                  </a:lnTo>
                  <a:lnTo>
                    <a:pt x="113" y="111"/>
                  </a:lnTo>
                  <a:lnTo>
                    <a:pt x="125" y="118"/>
                  </a:lnTo>
                  <a:lnTo>
                    <a:pt x="132" y="120"/>
                  </a:lnTo>
                  <a:lnTo>
                    <a:pt x="144" y="116"/>
                  </a:lnTo>
                  <a:lnTo>
                    <a:pt x="144" y="123"/>
                  </a:lnTo>
                  <a:lnTo>
                    <a:pt x="130" y="134"/>
                  </a:lnTo>
                  <a:lnTo>
                    <a:pt x="128" y="142"/>
                  </a:lnTo>
                  <a:lnTo>
                    <a:pt x="118" y="144"/>
                  </a:lnTo>
                  <a:lnTo>
                    <a:pt x="109" y="151"/>
                  </a:lnTo>
                  <a:lnTo>
                    <a:pt x="97" y="153"/>
                  </a:lnTo>
                  <a:lnTo>
                    <a:pt x="90" y="170"/>
                  </a:lnTo>
                  <a:lnTo>
                    <a:pt x="83" y="175"/>
                  </a:lnTo>
                  <a:lnTo>
                    <a:pt x="92" y="189"/>
                  </a:lnTo>
                  <a:lnTo>
                    <a:pt x="102" y="201"/>
                  </a:lnTo>
                  <a:lnTo>
                    <a:pt x="109" y="213"/>
                  </a:lnTo>
                  <a:lnTo>
                    <a:pt x="102" y="227"/>
                  </a:lnTo>
                  <a:lnTo>
                    <a:pt x="97" y="229"/>
                  </a:lnTo>
                  <a:lnTo>
                    <a:pt x="99" y="239"/>
                  </a:lnTo>
                  <a:lnTo>
                    <a:pt x="111" y="250"/>
                  </a:lnTo>
                  <a:lnTo>
                    <a:pt x="113" y="260"/>
                  </a:lnTo>
                  <a:lnTo>
                    <a:pt x="113" y="267"/>
                  </a:lnTo>
                  <a:lnTo>
                    <a:pt x="118" y="284"/>
                  </a:lnTo>
                  <a:lnTo>
                    <a:pt x="111" y="298"/>
                  </a:lnTo>
                  <a:lnTo>
                    <a:pt x="102" y="314"/>
                  </a:lnTo>
                  <a:lnTo>
                    <a:pt x="99" y="303"/>
                  </a:lnTo>
                  <a:lnTo>
                    <a:pt x="106" y="291"/>
                  </a:lnTo>
                  <a:lnTo>
                    <a:pt x="99" y="281"/>
                  </a:lnTo>
                  <a:lnTo>
                    <a:pt x="102" y="262"/>
                  </a:lnTo>
                  <a:lnTo>
                    <a:pt x="95" y="255"/>
                  </a:lnTo>
                  <a:lnTo>
                    <a:pt x="90" y="234"/>
                  </a:lnTo>
                  <a:lnTo>
                    <a:pt x="87" y="213"/>
                  </a:lnTo>
                  <a:lnTo>
                    <a:pt x="80" y="201"/>
                  </a:lnTo>
                  <a:lnTo>
                    <a:pt x="69" y="208"/>
                  </a:lnTo>
                  <a:lnTo>
                    <a:pt x="50" y="220"/>
                  </a:lnTo>
                  <a:lnTo>
                    <a:pt x="43" y="220"/>
                  </a:lnTo>
                  <a:lnTo>
                    <a:pt x="33" y="215"/>
                  </a:lnTo>
                  <a:lnTo>
                    <a:pt x="38" y="194"/>
                  </a:lnTo>
                  <a:lnTo>
                    <a:pt x="33" y="177"/>
                  </a:lnTo>
                  <a:lnTo>
                    <a:pt x="21" y="158"/>
                  </a:lnTo>
                  <a:lnTo>
                    <a:pt x="24" y="153"/>
                  </a:lnTo>
                  <a:lnTo>
                    <a:pt x="12" y="151"/>
                  </a:lnTo>
                  <a:lnTo>
                    <a:pt x="2" y="137"/>
                  </a:lnTo>
                  <a:lnTo>
                    <a:pt x="0" y="123"/>
                  </a:lnTo>
                  <a:lnTo>
                    <a:pt x="7" y="125"/>
                  </a:lnTo>
                  <a:lnTo>
                    <a:pt x="7" y="113"/>
                  </a:lnTo>
                  <a:lnTo>
                    <a:pt x="14" y="108"/>
                  </a:lnTo>
                  <a:lnTo>
                    <a:pt x="12" y="101"/>
                  </a:lnTo>
                  <a:lnTo>
                    <a:pt x="16" y="94"/>
                  </a:lnTo>
                  <a:lnTo>
                    <a:pt x="16" y="78"/>
                  </a:lnTo>
                  <a:lnTo>
                    <a:pt x="31" y="80"/>
                  </a:lnTo>
                  <a:lnTo>
                    <a:pt x="38" y="66"/>
                  </a:lnTo>
                  <a:lnTo>
                    <a:pt x="38" y="59"/>
                  </a:lnTo>
                  <a:lnTo>
                    <a:pt x="47" y="42"/>
                  </a:lnTo>
                  <a:lnTo>
                    <a:pt x="47" y="33"/>
                  </a:lnTo>
                  <a:lnTo>
                    <a:pt x="66" y="19"/>
                  </a:lnTo>
                  <a:lnTo>
                    <a:pt x="80" y="23"/>
                  </a:lnTo>
                  <a:lnTo>
                    <a:pt x="78" y="11"/>
                  </a:lnTo>
                  <a:lnTo>
                    <a:pt x="83" y="9"/>
                  </a:lnTo>
                  <a:lnTo>
                    <a:pt x="83" y="2"/>
                  </a:lnTo>
                  <a:lnTo>
                    <a:pt x="92" y="0"/>
                  </a:lnTo>
                  <a:lnTo>
                    <a:pt x="97" y="11"/>
                  </a:lnTo>
                  <a:lnTo>
                    <a:pt x="104" y="1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322;p30">
              <a:extLst>
                <a:ext uri="{FF2B5EF4-FFF2-40B4-BE49-F238E27FC236}">
                  <a16:creationId xmlns:a16="http://schemas.microsoft.com/office/drawing/2014/main" id="{36BC3974-E095-A076-4D76-F006357F815A}"/>
                </a:ext>
              </a:extLst>
            </p:cNvPr>
            <p:cNvSpPr/>
            <p:nvPr/>
          </p:nvSpPr>
          <p:spPr>
            <a:xfrm>
              <a:off x="3922585" y="3140476"/>
              <a:ext cx="339167" cy="374960"/>
            </a:xfrm>
            <a:custGeom>
              <a:avLst/>
              <a:gdLst/>
              <a:ahLst/>
              <a:cxnLst/>
              <a:rect l="l" t="t" r="r" b="b"/>
              <a:pathLst>
                <a:path w="199" h="220" extrusionOk="0">
                  <a:moveTo>
                    <a:pt x="138" y="0"/>
                  </a:moveTo>
                  <a:lnTo>
                    <a:pt x="138" y="0"/>
                  </a:lnTo>
                  <a:lnTo>
                    <a:pt x="199" y="42"/>
                  </a:lnTo>
                  <a:lnTo>
                    <a:pt x="173" y="42"/>
                  </a:lnTo>
                  <a:lnTo>
                    <a:pt x="180" y="118"/>
                  </a:lnTo>
                  <a:lnTo>
                    <a:pt x="190" y="191"/>
                  </a:lnTo>
                  <a:lnTo>
                    <a:pt x="192" y="194"/>
                  </a:lnTo>
                  <a:lnTo>
                    <a:pt x="190" y="205"/>
                  </a:lnTo>
                  <a:lnTo>
                    <a:pt x="123" y="205"/>
                  </a:lnTo>
                  <a:lnTo>
                    <a:pt x="121" y="208"/>
                  </a:lnTo>
                  <a:lnTo>
                    <a:pt x="114" y="208"/>
                  </a:lnTo>
                  <a:lnTo>
                    <a:pt x="104" y="210"/>
                  </a:lnTo>
                  <a:lnTo>
                    <a:pt x="95" y="205"/>
                  </a:lnTo>
                  <a:lnTo>
                    <a:pt x="88" y="208"/>
                  </a:lnTo>
                  <a:lnTo>
                    <a:pt x="85" y="217"/>
                  </a:lnTo>
                  <a:lnTo>
                    <a:pt x="81" y="220"/>
                  </a:lnTo>
                  <a:lnTo>
                    <a:pt x="69" y="208"/>
                  </a:lnTo>
                  <a:lnTo>
                    <a:pt x="59" y="196"/>
                  </a:lnTo>
                  <a:lnTo>
                    <a:pt x="50" y="191"/>
                  </a:lnTo>
                  <a:lnTo>
                    <a:pt x="43" y="187"/>
                  </a:lnTo>
                  <a:lnTo>
                    <a:pt x="31" y="187"/>
                  </a:lnTo>
                  <a:lnTo>
                    <a:pt x="24" y="191"/>
                  </a:lnTo>
                  <a:lnTo>
                    <a:pt x="17" y="189"/>
                  </a:lnTo>
                  <a:lnTo>
                    <a:pt x="12" y="194"/>
                  </a:lnTo>
                  <a:lnTo>
                    <a:pt x="10" y="187"/>
                  </a:lnTo>
                  <a:lnTo>
                    <a:pt x="15" y="177"/>
                  </a:lnTo>
                  <a:lnTo>
                    <a:pt x="17" y="160"/>
                  </a:lnTo>
                  <a:lnTo>
                    <a:pt x="15" y="144"/>
                  </a:lnTo>
                  <a:lnTo>
                    <a:pt x="12" y="137"/>
                  </a:lnTo>
                  <a:lnTo>
                    <a:pt x="15" y="127"/>
                  </a:lnTo>
                  <a:lnTo>
                    <a:pt x="10" y="120"/>
                  </a:lnTo>
                  <a:lnTo>
                    <a:pt x="0" y="113"/>
                  </a:lnTo>
                  <a:lnTo>
                    <a:pt x="5" y="106"/>
                  </a:lnTo>
                  <a:lnTo>
                    <a:pt x="69" y="106"/>
                  </a:lnTo>
                  <a:lnTo>
                    <a:pt x="64" y="80"/>
                  </a:lnTo>
                  <a:lnTo>
                    <a:pt x="69" y="73"/>
                  </a:lnTo>
                  <a:lnTo>
                    <a:pt x="83" y="71"/>
                  </a:lnTo>
                  <a:lnTo>
                    <a:pt x="83" y="26"/>
                  </a:lnTo>
                  <a:lnTo>
                    <a:pt x="138" y="26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323;p30">
              <a:extLst>
                <a:ext uri="{FF2B5EF4-FFF2-40B4-BE49-F238E27FC236}">
                  <a16:creationId xmlns:a16="http://schemas.microsoft.com/office/drawing/2014/main" id="{A4DCF023-3886-3D70-A91D-E58EC2151A1C}"/>
                </a:ext>
              </a:extLst>
            </p:cNvPr>
            <p:cNvSpPr/>
            <p:nvPr/>
          </p:nvSpPr>
          <p:spPr>
            <a:xfrm>
              <a:off x="7160860" y="3728480"/>
              <a:ext cx="528351" cy="168732"/>
            </a:xfrm>
            <a:custGeom>
              <a:avLst/>
              <a:gdLst/>
              <a:ahLst/>
              <a:cxnLst/>
              <a:rect l="l" t="t" r="r" b="b"/>
              <a:pathLst>
                <a:path w="310" h="99" extrusionOk="0">
                  <a:moveTo>
                    <a:pt x="14" y="12"/>
                  </a:moveTo>
                  <a:lnTo>
                    <a:pt x="14" y="12"/>
                  </a:lnTo>
                  <a:lnTo>
                    <a:pt x="16" y="21"/>
                  </a:lnTo>
                  <a:lnTo>
                    <a:pt x="28" y="19"/>
                  </a:lnTo>
                  <a:lnTo>
                    <a:pt x="30" y="12"/>
                  </a:lnTo>
                  <a:lnTo>
                    <a:pt x="35" y="14"/>
                  </a:lnTo>
                  <a:lnTo>
                    <a:pt x="45" y="24"/>
                  </a:lnTo>
                  <a:lnTo>
                    <a:pt x="52" y="33"/>
                  </a:lnTo>
                  <a:lnTo>
                    <a:pt x="54" y="45"/>
                  </a:lnTo>
                  <a:lnTo>
                    <a:pt x="52" y="52"/>
                  </a:lnTo>
                  <a:lnTo>
                    <a:pt x="52" y="57"/>
                  </a:lnTo>
                  <a:lnTo>
                    <a:pt x="54" y="66"/>
                  </a:lnTo>
                  <a:lnTo>
                    <a:pt x="59" y="71"/>
                  </a:lnTo>
                  <a:lnTo>
                    <a:pt x="66" y="85"/>
                  </a:lnTo>
                  <a:lnTo>
                    <a:pt x="66" y="92"/>
                  </a:lnTo>
                  <a:lnTo>
                    <a:pt x="54" y="92"/>
                  </a:lnTo>
                  <a:lnTo>
                    <a:pt x="40" y="81"/>
                  </a:lnTo>
                  <a:lnTo>
                    <a:pt x="19" y="69"/>
                  </a:lnTo>
                  <a:lnTo>
                    <a:pt x="19" y="59"/>
                  </a:lnTo>
                  <a:lnTo>
                    <a:pt x="9" y="50"/>
                  </a:lnTo>
                  <a:lnTo>
                    <a:pt x="7" y="36"/>
                  </a:lnTo>
                  <a:lnTo>
                    <a:pt x="0" y="26"/>
                  </a:lnTo>
                  <a:lnTo>
                    <a:pt x="2" y="14"/>
                  </a:lnTo>
                  <a:lnTo>
                    <a:pt x="0" y="7"/>
                  </a:lnTo>
                  <a:lnTo>
                    <a:pt x="2" y="5"/>
                  </a:lnTo>
                  <a:lnTo>
                    <a:pt x="14" y="12"/>
                  </a:lnTo>
                  <a:close/>
                  <a:moveTo>
                    <a:pt x="300" y="40"/>
                  </a:moveTo>
                  <a:lnTo>
                    <a:pt x="300" y="40"/>
                  </a:lnTo>
                  <a:lnTo>
                    <a:pt x="288" y="45"/>
                  </a:lnTo>
                  <a:lnTo>
                    <a:pt x="274" y="43"/>
                  </a:lnTo>
                  <a:lnTo>
                    <a:pt x="255" y="43"/>
                  </a:lnTo>
                  <a:lnTo>
                    <a:pt x="248" y="62"/>
                  </a:lnTo>
                  <a:lnTo>
                    <a:pt x="243" y="66"/>
                  </a:lnTo>
                  <a:lnTo>
                    <a:pt x="234" y="90"/>
                  </a:lnTo>
                  <a:lnTo>
                    <a:pt x="222" y="92"/>
                  </a:lnTo>
                  <a:lnTo>
                    <a:pt x="205" y="88"/>
                  </a:lnTo>
                  <a:lnTo>
                    <a:pt x="198" y="90"/>
                  </a:lnTo>
                  <a:lnTo>
                    <a:pt x="189" y="97"/>
                  </a:lnTo>
                  <a:lnTo>
                    <a:pt x="177" y="97"/>
                  </a:lnTo>
                  <a:lnTo>
                    <a:pt x="168" y="99"/>
                  </a:lnTo>
                  <a:lnTo>
                    <a:pt x="156" y="90"/>
                  </a:lnTo>
                  <a:lnTo>
                    <a:pt x="153" y="81"/>
                  </a:lnTo>
                  <a:lnTo>
                    <a:pt x="165" y="85"/>
                  </a:lnTo>
                  <a:lnTo>
                    <a:pt x="177" y="83"/>
                  </a:lnTo>
                  <a:lnTo>
                    <a:pt x="182" y="69"/>
                  </a:lnTo>
                  <a:lnTo>
                    <a:pt x="189" y="66"/>
                  </a:lnTo>
                  <a:lnTo>
                    <a:pt x="208" y="62"/>
                  </a:lnTo>
                  <a:lnTo>
                    <a:pt x="220" y="50"/>
                  </a:lnTo>
                  <a:lnTo>
                    <a:pt x="229" y="38"/>
                  </a:lnTo>
                  <a:lnTo>
                    <a:pt x="234" y="47"/>
                  </a:lnTo>
                  <a:lnTo>
                    <a:pt x="239" y="43"/>
                  </a:lnTo>
                  <a:lnTo>
                    <a:pt x="246" y="43"/>
                  </a:lnTo>
                  <a:lnTo>
                    <a:pt x="246" y="33"/>
                  </a:lnTo>
                  <a:lnTo>
                    <a:pt x="248" y="24"/>
                  </a:lnTo>
                  <a:lnTo>
                    <a:pt x="260" y="14"/>
                  </a:lnTo>
                  <a:lnTo>
                    <a:pt x="269" y="0"/>
                  </a:lnTo>
                  <a:lnTo>
                    <a:pt x="274" y="0"/>
                  </a:lnTo>
                  <a:lnTo>
                    <a:pt x="283" y="10"/>
                  </a:lnTo>
                  <a:lnTo>
                    <a:pt x="283" y="14"/>
                  </a:lnTo>
                  <a:lnTo>
                    <a:pt x="295" y="19"/>
                  </a:lnTo>
                  <a:lnTo>
                    <a:pt x="310" y="24"/>
                  </a:lnTo>
                  <a:lnTo>
                    <a:pt x="307" y="31"/>
                  </a:lnTo>
                  <a:lnTo>
                    <a:pt x="295" y="33"/>
                  </a:lnTo>
                  <a:lnTo>
                    <a:pt x="300" y="4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324;p30">
              <a:extLst>
                <a:ext uri="{FF2B5EF4-FFF2-40B4-BE49-F238E27FC236}">
                  <a16:creationId xmlns:a16="http://schemas.microsoft.com/office/drawing/2014/main" id="{FB2F7740-C6DB-C6C4-BF4B-8E6E0888A140}"/>
                </a:ext>
              </a:extLst>
            </p:cNvPr>
            <p:cNvSpPr/>
            <p:nvPr/>
          </p:nvSpPr>
          <p:spPr>
            <a:xfrm>
              <a:off x="8926573" y="4483511"/>
              <a:ext cx="80106" cy="68174"/>
            </a:xfrm>
            <a:custGeom>
              <a:avLst/>
              <a:gdLst/>
              <a:ahLst/>
              <a:cxnLst/>
              <a:rect l="l" t="t" r="r" b="b"/>
              <a:pathLst>
                <a:path w="47" h="40" extrusionOk="0">
                  <a:moveTo>
                    <a:pt x="47" y="35"/>
                  </a:moveTo>
                  <a:lnTo>
                    <a:pt x="47" y="35"/>
                  </a:lnTo>
                  <a:lnTo>
                    <a:pt x="42" y="40"/>
                  </a:lnTo>
                  <a:lnTo>
                    <a:pt x="33" y="35"/>
                  </a:lnTo>
                  <a:lnTo>
                    <a:pt x="21" y="26"/>
                  </a:lnTo>
                  <a:lnTo>
                    <a:pt x="11" y="16"/>
                  </a:lnTo>
                  <a:lnTo>
                    <a:pt x="2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4" y="4"/>
                  </a:lnTo>
                  <a:lnTo>
                    <a:pt x="21" y="12"/>
                  </a:lnTo>
                  <a:lnTo>
                    <a:pt x="26" y="16"/>
                  </a:lnTo>
                  <a:lnTo>
                    <a:pt x="40" y="26"/>
                  </a:lnTo>
                  <a:lnTo>
                    <a:pt x="47" y="3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325;p30">
              <a:extLst>
                <a:ext uri="{FF2B5EF4-FFF2-40B4-BE49-F238E27FC236}">
                  <a16:creationId xmlns:a16="http://schemas.microsoft.com/office/drawing/2014/main" id="{DF96422D-903B-3FB0-5F0B-ADC2D6E6E38B}"/>
                </a:ext>
              </a:extLst>
            </p:cNvPr>
            <p:cNvSpPr/>
            <p:nvPr/>
          </p:nvSpPr>
          <p:spPr>
            <a:xfrm>
              <a:off x="1976212" y="3503505"/>
              <a:ext cx="124419" cy="121010"/>
            </a:xfrm>
            <a:custGeom>
              <a:avLst/>
              <a:gdLst/>
              <a:ahLst/>
              <a:cxnLst/>
              <a:rect l="l" t="t" r="r" b="b"/>
              <a:pathLst>
                <a:path w="73" h="71" extrusionOk="0">
                  <a:moveTo>
                    <a:pt x="71" y="7"/>
                  </a:moveTo>
                  <a:lnTo>
                    <a:pt x="71" y="7"/>
                  </a:lnTo>
                  <a:lnTo>
                    <a:pt x="73" y="11"/>
                  </a:lnTo>
                  <a:lnTo>
                    <a:pt x="71" y="18"/>
                  </a:lnTo>
                  <a:lnTo>
                    <a:pt x="68" y="23"/>
                  </a:lnTo>
                  <a:lnTo>
                    <a:pt x="68" y="30"/>
                  </a:lnTo>
                  <a:lnTo>
                    <a:pt x="68" y="35"/>
                  </a:lnTo>
                  <a:lnTo>
                    <a:pt x="68" y="42"/>
                  </a:lnTo>
                  <a:lnTo>
                    <a:pt x="66" y="45"/>
                  </a:lnTo>
                  <a:lnTo>
                    <a:pt x="64" y="52"/>
                  </a:lnTo>
                  <a:lnTo>
                    <a:pt x="66" y="56"/>
                  </a:lnTo>
                  <a:lnTo>
                    <a:pt x="61" y="61"/>
                  </a:lnTo>
                  <a:lnTo>
                    <a:pt x="64" y="66"/>
                  </a:lnTo>
                  <a:lnTo>
                    <a:pt x="66" y="68"/>
                  </a:lnTo>
                  <a:lnTo>
                    <a:pt x="61" y="71"/>
                  </a:lnTo>
                  <a:lnTo>
                    <a:pt x="57" y="68"/>
                  </a:lnTo>
                  <a:lnTo>
                    <a:pt x="54" y="66"/>
                  </a:lnTo>
                  <a:lnTo>
                    <a:pt x="50" y="66"/>
                  </a:lnTo>
                  <a:lnTo>
                    <a:pt x="45" y="68"/>
                  </a:lnTo>
                  <a:lnTo>
                    <a:pt x="35" y="63"/>
                  </a:lnTo>
                  <a:lnTo>
                    <a:pt x="33" y="66"/>
                  </a:lnTo>
                  <a:lnTo>
                    <a:pt x="26" y="59"/>
                  </a:lnTo>
                  <a:lnTo>
                    <a:pt x="19" y="52"/>
                  </a:lnTo>
                  <a:lnTo>
                    <a:pt x="16" y="47"/>
                  </a:lnTo>
                  <a:lnTo>
                    <a:pt x="9" y="42"/>
                  </a:lnTo>
                  <a:lnTo>
                    <a:pt x="0" y="35"/>
                  </a:lnTo>
                  <a:lnTo>
                    <a:pt x="2" y="33"/>
                  </a:lnTo>
                  <a:lnTo>
                    <a:pt x="5" y="35"/>
                  </a:lnTo>
                  <a:lnTo>
                    <a:pt x="7" y="33"/>
                  </a:lnTo>
                  <a:lnTo>
                    <a:pt x="12" y="33"/>
                  </a:lnTo>
                  <a:lnTo>
                    <a:pt x="14" y="30"/>
                  </a:lnTo>
                  <a:lnTo>
                    <a:pt x="16" y="30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26" y="16"/>
                  </a:lnTo>
                  <a:lnTo>
                    <a:pt x="31" y="21"/>
                  </a:lnTo>
                  <a:lnTo>
                    <a:pt x="33" y="18"/>
                  </a:lnTo>
                  <a:lnTo>
                    <a:pt x="35" y="16"/>
                  </a:lnTo>
                  <a:lnTo>
                    <a:pt x="42" y="11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50" y="7"/>
                  </a:lnTo>
                  <a:lnTo>
                    <a:pt x="54" y="7"/>
                  </a:lnTo>
                  <a:lnTo>
                    <a:pt x="57" y="4"/>
                  </a:lnTo>
                  <a:lnTo>
                    <a:pt x="59" y="4"/>
                  </a:lnTo>
                  <a:lnTo>
                    <a:pt x="66" y="2"/>
                  </a:lnTo>
                  <a:lnTo>
                    <a:pt x="68" y="0"/>
                  </a:lnTo>
                  <a:lnTo>
                    <a:pt x="73" y="0"/>
                  </a:lnTo>
                  <a:lnTo>
                    <a:pt x="73" y="2"/>
                  </a:lnTo>
                  <a:lnTo>
                    <a:pt x="71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326;p30">
              <a:extLst>
                <a:ext uri="{FF2B5EF4-FFF2-40B4-BE49-F238E27FC236}">
                  <a16:creationId xmlns:a16="http://schemas.microsoft.com/office/drawing/2014/main" id="{8072DF18-7842-374B-4951-0AE836C35AE1}"/>
                </a:ext>
              </a:extLst>
            </p:cNvPr>
            <p:cNvSpPr/>
            <p:nvPr/>
          </p:nvSpPr>
          <p:spPr>
            <a:xfrm>
              <a:off x="4536154" y="1106320"/>
              <a:ext cx="726055" cy="855589"/>
            </a:xfrm>
            <a:custGeom>
              <a:avLst/>
              <a:gdLst/>
              <a:ahLst/>
              <a:cxnLst/>
              <a:rect l="l" t="t" r="r" b="b"/>
              <a:pathLst>
                <a:path w="426" h="502" extrusionOk="0">
                  <a:moveTo>
                    <a:pt x="374" y="0"/>
                  </a:moveTo>
                  <a:lnTo>
                    <a:pt x="374" y="0"/>
                  </a:lnTo>
                  <a:lnTo>
                    <a:pt x="426" y="35"/>
                  </a:lnTo>
                  <a:lnTo>
                    <a:pt x="404" y="47"/>
                  </a:lnTo>
                  <a:lnTo>
                    <a:pt x="421" y="78"/>
                  </a:lnTo>
                  <a:lnTo>
                    <a:pt x="395" y="97"/>
                  </a:lnTo>
                  <a:lnTo>
                    <a:pt x="381" y="99"/>
                  </a:lnTo>
                  <a:lnTo>
                    <a:pt x="388" y="68"/>
                  </a:lnTo>
                  <a:lnTo>
                    <a:pt x="366" y="50"/>
                  </a:lnTo>
                  <a:lnTo>
                    <a:pt x="343" y="64"/>
                  </a:lnTo>
                  <a:lnTo>
                    <a:pt x="333" y="99"/>
                  </a:lnTo>
                  <a:lnTo>
                    <a:pt x="319" y="118"/>
                  </a:lnTo>
                  <a:lnTo>
                    <a:pt x="303" y="106"/>
                  </a:lnTo>
                  <a:lnTo>
                    <a:pt x="279" y="109"/>
                  </a:lnTo>
                  <a:lnTo>
                    <a:pt x="262" y="85"/>
                  </a:lnTo>
                  <a:lnTo>
                    <a:pt x="253" y="99"/>
                  </a:lnTo>
                  <a:lnTo>
                    <a:pt x="243" y="99"/>
                  </a:lnTo>
                  <a:lnTo>
                    <a:pt x="241" y="128"/>
                  </a:lnTo>
                  <a:lnTo>
                    <a:pt x="210" y="121"/>
                  </a:lnTo>
                  <a:lnTo>
                    <a:pt x="206" y="147"/>
                  </a:lnTo>
                  <a:lnTo>
                    <a:pt x="189" y="144"/>
                  </a:lnTo>
                  <a:lnTo>
                    <a:pt x="180" y="175"/>
                  </a:lnTo>
                  <a:lnTo>
                    <a:pt x="163" y="222"/>
                  </a:lnTo>
                  <a:lnTo>
                    <a:pt x="137" y="274"/>
                  </a:lnTo>
                  <a:lnTo>
                    <a:pt x="144" y="289"/>
                  </a:lnTo>
                  <a:lnTo>
                    <a:pt x="137" y="303"/>
                  </a:lnTo>
                  <a:lnTo>
                    <a:pt x="123" y="303"/>
                  </a:lnTo>
                  <a:lnTo>
                    <a:pt x="111" y="336"/>
                  </a:lnTo>
                  <a:lnTo>
                    <a:pt x="113" y="383"/>
                  </a:lnTo>
                  <a:lnTo>
                    <a:pt x="123" y="400"/>
                  </a:lnTo>
                  <a:lnTo>
                    <a:pt x="118" y="438"/>
                  </a:lnTo>
                  <a:lnTo>
                    <a:pt x="104" y="461"/>
                  </a:lnTo>
                  <a:lnTo>
                    <a:pt x="97" y="478"/>
                  </a:lnTo>
                  <a:lnTo>
                    <a:pt x="85" y="459"/>
                  </a:lnTo>
                  <a:lnTo>
                    <a:pt x="54" y="495"/>
                  </a:lnTo>
                  <a:lnTo>
                    <a:pt x="33" y="502"/>
                  </a:lnTo>
                  <a:lnTo>
                    <a:pt x="9" y="487"/>
                  </a:lnTo>
                  <a:lnTo>
                    <a:pt x="5" y="452"/>
                  </a:lnTo>
                  <a:lnTo>
                    <a:pt x="0" y="379"/>
                  </a:lnTo>
                  <a:lnTo>
                    <a:pt x="14" y="355"/>
                  </a:lnTo>
                  <a:lnTo>
                    <a:pt x="57" y="324"/>
                  </a:lnTo>
                  <a:lnTo>
                    <a:pt x="90" y="286"/>
                  </a:lnTo>
                  <a:lnTo>
                    <a:pt x="118" y="234"/>
                  </a:lnTo>
                  <a:lnTo>
                    <a:pt x="158" y="154"/>
                  </a:lnTo>
                  <a:lnTo>
                    <a:pt x="184" y="121"/>
                  </a:lnTo>
                  <a:lnTo>
                    <a:pt x="229" y="66"/>
                  </a:lnTo>
                  <a:lnTo>
                    <a:pt x="265" y="45"/>
                  </a:lnTo>
                  <a:lnTo>
                    <a:pt x="291" y="47"/>
                  </a:lnTo>
                  <a:lnTo>
                    <a:pt x="314" y="7"/>
                  </a:lnTo>
                  <a:lnTo>
                    <a:pt x="345" y="9"/>
                  </a:lnTo>
                  <a:lnTo>
                    <a:pt x="374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327;p30">
              <a:extLst>
                <a:ext uri="{FF2B5EF4-FFF2-40B4-BE49-F238E27FC236}">
                  <a16:creationId xmlns:a16="http://schemas.microsoft.com/office/drawing/2014/main" id="{D260D493-5CB7-3426-A793-5B756C067330}"/>
                </a:ext>
              </a:extLst>
            </p:cNvPr>
            <p:cNvSpPr/>
            <p:nvPr/>
          </p:nvSpPr>
          <p:spPr>
            <a:xfrm>
              <a:off x="8991339" y="4926645"/>
              <a:ext cx="328941" cy="439725"/>
            </a:xfrm>
            <a:custGeom>
              <a:avLst/>
              <a:gdLst/>
              <a:ahLst/>
              <a:cxnLst/>
              <a:rect l="l" t="t" r="r" b="b"/>
              <a:pathLst>
                <a:path w="193" h="258" extrusionOk="0">
                  <a:moveTo>
                    <a:pt x="106" y="133"/>
                  </a:moveTo>
                  <a:lnTo>
                    <a:pt x="106" y="133"/>
                  </a:lnTo>
                  <a:lnTo>
                    <a:pt x="108" y="140"/>
                  </a:lnTo>
                  <a:lnTo>
                    <a:pt x="120" y="133"/>
                  </a:lnTo>
                  <a:lnTo>
                    <a:pt x="125" y="140"/>
                  </a:lnTo>
                  <a:lnTo>
                    <a:pt x="125" y="149"/>
                  </a:lnTo>
                  <a:lnTo>
                    <a:pt x="120" y="159"/>
                  </a:lnTo>
                  <a:lnTo>
                    <a:pt x="108" y="175"/>
                  </a:lnTo>
                  <a:lnTo>
                    <a:pt x="101" y="185"/>
                  </a:lnTo>
                  <a:lnTo>
                    <a:pt x="106" y="194"/>
                  </a:lnTo>
                  <a:lnTo>
                    <a:pt x="94" y="194"/>
                  </a:lnTo>
                  <a:lnTo>
                    <a:pt x="80" y="204"/>
                  </a:lnTo>
                  <a:lnTo>
                    <a:pt x="75" y="218"/>
                  </a:lnTo>
                  <a:lnTo>
                    <a:pt x="66" y="242"/>
                  </a:lnTo>
                  <a:lnTo>
                    <a:pt x="54" y="253"/>
                  </a:lnTo>
                  <a:lnTo>
                    <a:pt x="44" y="258"/>
                  </a:lnTo>
                  <a:lnTo>
                    <a:pt x="30" y="258"/>
                  </a:lnTo>
                  <a:lnTo>
                    <a:pt x="21" y="251"/>
                  </a:lnTo>
                  <a:lnTo>
                    <a:pt x="2" y="249"/>
                  </a:lnTo>
                  <a:lnTo>
                    <a:pt x="0" y="239"/>
                  </a:lnTo>
                  <a:lnTo>
                    <a:pt x="9" y="223"/>
                  </a:lnTo>
                  <a:lnTo>
                    <a:pt x="28" y="201"/>
                  </a:lnTo>
                  <a:lnTo>
                    <a:pt x="40" y="197"/>
                  </a:lnTo>
                  <a:lnTo>
                    <a:pt x="52" y="189"/>
                  </a:lnTo>
                  <a:lnTo>
                    <a:pt x="66" y="175"/>
                  </a:lnTo>
                  <a:lnTo>
                    <a:pt x="75" y="166"/>
                  </a:lnTo>
                  <a:lnTo>
                    <a:pt x="82" y="149"/>
                  </a:lnTo>
                  <a:lnTo>
                    <a:pt x="89" y="144"/>
                  </a:lnTo>
                  <a:lnTo>
                    <a:pt x="92" y="133"/>
                  </a:lnTo>
                  <a:lnTo>
                    <a:pt x="101" y="123"/>
                  </a:lnTo>
                  <a:lnTo>
                    <a:pt x="106" y="133"/>
                  </a:lnTo>
                  <a:close/>
                  <a:moveTo>
                    <a:pt x="132" y="33"/>
                  </a:moveTo>
                  <a:lnTo>
                    <a:pt x="132" y="33"/>
                  </a:lnTo>
                  <a:lnTo>
                    <a:pt x="144" y="55"/>
                  </a:lnTo>
                  <a:lnTo>
                    <a:pt x="144" y="40"/>
                  </a:lnTo>
                  <a:lnTo>
                    <a:pt x="151" y="45"/>
                  </a:lnTo>
                  <a:lnTo>
                    <a:pt x="153" y="62"/>
                  </a:lnTo>
                  <a:lnTo>
                    <a:pt x="167" y="69"/>
                  </a:lnTo>
                  <a:lnTo>
                    <a:pt x="177" y="71"/>
                  </a:lnTo>
                  <a:lnTo>
                    <a:pt x="186" y="62"/>
                  </a:lnTo>
                  <a:lnTo>
                    <a:pt x="193" y="64"/>
                  </a:lnTo>
                  <a:lnTo>
                    <a:pt x="191" y="83"/>
                  </a:lnTo>
                  <a:lnTo>
                    <a:pt x="186" y="95"/>
                  </a:lnTo>
                  <a:lnTo>
                    <a:pt x="172" y="95"/>
                  </a:lnTo>
                  <a:lnTo>
                    <a:pt x="170" y="99"/>
                  </a:lnTo>
                  <a:lnTo>
                    <a:pt x="170" y="109"/>
                  </a:lnTo>
                  <a:lnTo>
                    <a:pt x="167" y="114"/>
                  </a:lnTo>
                  <a:lnTo>
                    <a:pt x="163" y="126"/>
                  </a:lnTo>
                  <a:lnTo>
                    <a:pt x="153" y="140"/>
                  </a:lnTo>
                  <a:lnTo>
                    <a:pt x="141" y="147"/>
                  </a:lnTo>
                  <a:lnTo>
                    <a:pt x="139" y="142"/>
                  </a:lnTo>
                  <a:lnTo>
                    <a:pt x="132" y="140"/>
                  </a:lnTo>
                  <a:lnTo>
                    <a:pt x="141" y="121"/>
                  </a:lnTo>
                  <a:lnTo>
                    <a:pt x="137" y="109"/>
                  </a:lnTo>
                  <a:lnTo>
                    <a:pt x="118" y="102"/>
                  </a:lnTo>
                  <a:lnTo>
                    <a:pt x="120" y="95"/>
                  </a:lnTo>
                  <a:lnTo>
                    <a:pt x="130" y="88"/>
                  </a:lnTo>
                  <a:lnTo>
                    <a:pt x="134" y="71"/>
                  </a:lnTo>
                  <a:lnTo>
                    <a:pt x="132" y="57"/>
                  </a:lnTo>
                  <a:lnTo>
                    <a:pt x="125" y="45"/>
                  </a:lnTo>
                  <a:lnTo>
                    <a:pt x="127" y="40"/>
                  </a:lnTo>
                  <a:lnTo>
                    <a:pt x="120" y="33"/>
                  </a:lnTo>
                  <a:lnTo>
                    <a:pt x="106" y="14"/>
                  </a:lnTo>
                  <a:lnTo>
                    <a:pt x="99" y="0"/>
                  </a:lnTo>
                  <a:lnTo>
                    <a:pt x="106" y="0"/>
                  </a:lnTo>
                  <a:lnTo>
                    <a:pt x="113" y="12"/>
                  </a:lnTo>
                  <a:lnTo>
                    <a:pt x="127" y="17"/>
                  </a:lnTo>
                  <a:lnTo>
                    <a:pt x="132" y="3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328;p30">
              <a:extLst>
                <a:ext uri="{FF2B5EF4-FFF2-40B4-BE49-F238E27FC236}">
                  <a16:creationId xmlns:a16="http://schemas.microsoft.com/office/drawing/2014/main" id="{61657C2B-F98E-61DA-FFC9-64B4E83D7AE0}"/>
                </a:ext>
              </a:extLst>
            </p:cNvPr>
            <p:cNvSpPr/>
            <p:nvPr/>
          </p:nvSpPr>
          <p:spPr>
            <a:xfrm>
              <a:off x="6075185" y="2821760"/>
              <a:ext cx="468698" cy="426090"/>
            </a:xfrm>
            <a:custGeom>
              <a:avLst/>
              <a:gdLst/>
              <a:ahLst/>
              <a:cxnLst/>
              <a:rect l="l" t="t" r="r" b="b"/>
              <a:pathLst>
                <a:path w="275" h="250" extrusionOk="0">
                  <a:moveTo>
                    <a:pt x="275" y="33"/>
                  </a:moveTo>
                  <a:lnTo>
                    <a:pt x="275" y="33"/>
                  </a:lnTo>
                  <a:lnTo>
                    <a:pt x="261" y="49"/>
                  </a:lnTo>
                  <a:lnTo>
                    <a:pt x="242" y="52"/>
                  </a:lnTo>
                  <a:lnTo>
                    <a:pt x="216" y="47"/>
                  </a:lnTo>
                  <a:lnTo>
                    <a:pt x="209" y="56"/>
                  </a:lnTo>
                  <a:lnTo>
                    <a:pt x="216" y="73"/>
                  </a:lnTo>
                  <a:lnTo>
                    <a:pt x="220" y="85"/>
                  </a:lnTo>
                  <a:lnTo>
                    <a:pt x="235" y="97"/>
                  </a:lnTo>
                  <a:lnTo>
                    <a:pt x="220" y="106"/>
                  </a:lnTo>
                  <a:lnTo>
                    <a:pt x="220" y="120"/>
                  </a:lnTo>
                  <a:lnTo>
                    <a:pt x="204" y="139"/>
                  </a:lnTo>
                  <a:lnTo>
                    <a:pt x="194" y="158"/>
                  </a:lnTo>
                  <a:lnTo>
                    <a:pt x="178" y="177"/>
                  </a:lnTo>
                  <a:lnTo>
                    <a:pt x="159" y="175"/>
                  </a:lnTo>
                  <a:lnTo>
                    <a:pt x="140" y="194"/>
                  </a:lnTo>
                  <a:lnTo>
                    <a:pt x="152" y="203"/>
                  </a:lnTo>
                  <a:lnTo>
                    <a:pt x="154" y="215"/>
                  </a:lnTo>
                  <a:lnTo>
                    <a:pt x="161" y="224"/>
                  </a:lnTo>
                  <a:lnTo>
                    <a:pt x="166" y="241"/>
                  </a:lnTo>
                  <a:lnTo>
                    <a:pt x="130" y="241"/>
                  </a:lnTo>
                  <a:lnTo>
                    <a:pt x="119" y="250"/>
                  </a:lnTo>
                  <a:lnTo>
                    <a:pt x="107" y="248"/>
                  </a:lnTo>
                  <a:lnTo>
                    <a:pt x="102" y="234"/>
                  </a:lnTo>
                  <a:lnTo>
                    <a:pt x="90" y="222"/>
                  </a:lnTo>
                  <a:lnTo>
                    <a:pt x="60" y="224"/>
                  </a:lnTo>
                  <a:lnTo>
                    <a:pt x="34" y="224"/>
                  </a:lnTo>
                  <a:lnTo>
                    <a:pt x="10" y="227"/>
                  </a:lnTo>
                  <a:lnTo>
                    <a:pt x="17" y="205"/>
                  </a:lnTo>
                  <a:lnTo>
                    <a:pt x="41" y="198"/>
                  </a:lnTo>
                  <a:lnTo>
                    <a:pt x="38" y="189"/>
                  </a:lnTo>
                  <a:lnTo>
                    <a:pt x="31" y="187"/>
                  </a:lnTo>
                  <a:lnTo>
                    <a:pt x="31" y="170"/>
                  </a:lnTo>
                  <a:lnTo>
                    <a:pt x="15" y="163"/>
                  </a:lnTo>
                  <a:lnTo>
                    <a:pt x="7" y="151"/>
                  </a:lnTo>
                  <a:lnTo>
                    <a:pt x="0" y="142"/>
                  </a:lnTo>
                  <a:lnTo>
                    <a:pt x="29" y="151"/>
                  </a:lnTo>
                  <a:lnTo>
                    <a:pt x="45" y="149"/>
                  </a:lnTo>
                  <a:lnTo>
                    <a:pt x="55" y="151"/>
                  </a:lnTo>
                  <a:lnTo>
                    <a:pt x="57" y="146"/>
                  </a:lnTo>
                  <a:lnTo>
                    <a:pt x="69" y="149"/>
                  </a:lnTo>
                  <a:lnTo>
                    <a:pt x="90" y="142"/>
                  </a:lnTo>
                  <a:lnTo>
                    <a:pt x="90" y="125"/>
                  </a:lnTo>
                  <a:lnTo>
                    <a:pt x="100" y="113"/>
                  </a:lnTo>
                  <a:lnTo>
                    <a:pt x="112" y="113"/>
                  </a:lnTo>
                  <a:lnTo>
                    <a:pt x="114" y="108"/>
                  </a:lnTo>
                  <a:lnTo>
                    <a:pt x="126" y="106"/>
                  </a:lnTo>
                  <a:lnTo>
                    <a:pt x="130" y="108"/>
                  </a:lnTo>
                  <a:lnTo>
                    <a:pt x="138" y="101"/>
                  </a:lnTo>
                  <a:lnTo>
                    <a:pt x="135" y="92"/>
                  </a:lnTo>
                  <a:lnTo>
                    <a:pt x="145" y="78"/>
                  </a:lnTo>
                  <a:lnTo>
                    <a:pt x="154" y="75"/>
                  </a:lnTo>
                  <a:lnTo>
                    <a:pt x="147" y="61"/>
                  </a:lnTo>
                  <a:lnTo>
                    <a:pt x="164" y="63"/>
                  </a:lnTo>
                  <a:lnTo>
                    <a:pt x="166" y="56"/>
                  </a:lnTo>
                  <a:lnTo>
                    <a:pt x="166" y="47"/>
                  </a:lnTo>
                  <a:lnTo>
                    <a:pt x="175" y="40"/>
                  </a:lnTo>
                  <a:lnTo>
                    <a:pt x="173" y="30"/>
                  </a:lnTo>
                  <a:lnTo>
                    <a:pt x="168" y="21"/>
                  </a:lnTo>
                  <a:lnTo>
                    <a:pt x="178" y="14"/>
                  </a:lnTo>
                  <a:lnTo>
                    <a:pt x="197" y="9"/>
                  </a:lnTo>
                  <a:lnTo>
                    <a:pt x="213" y="7"/>
                  </a:lnTo>
                  <a:lnTo>
                    <a:pt x="223" y="2"/>
                  </a:lnTo>
                  <a:lnTo>
                    <a:pt x="232" y="0"/>
                  </a:lnTo>
                  <a:lnTo>
                    <a:pt x="244" y="9"/>
                  </a:lnTo>
                  <a:lnTo>
                    <a:pt x="249" y="26"/>
                  </a:lnTo>
                  <a:lnTo>
                    <a:pt x="275" y="3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329;p30">
              <a:extLst>
                <a:ext uri="{FF2B5EF4-FFF2-40B4-BE49-F238E27FC236}">
                  <a16:creationId xmlns:a16="http://schemas.microsoft.com/office/drawing/2014/main" id="{187FFCFD-B28E-18C4-F8C5-71034F65977B}"/>
                </a:ext>
              </a:extLst>
            </p:cNvPr>
            <p:cNvSpPr/>
            <p:nvPr/>
          </p:nvSpPr>
          <p:spPr>
            <a:xfrm>
              <a:off x="2105743" y="3655192"/>
              <a:ext cx="160210" cy="64767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80" y="5"/>
                  </a:moveTo>
                  <a:lnTo>
                    <a:pt x="80" y="5"/>
                  </a:lnTo>
                  <a:lnTo>
                    <a:pt x="85" y="10"/>
                  </a:lnTo>
                  <a:lnTo>
                    <a:pt x="92" y="15"/>
                  </a:lnTo>
                  <a:lnTo>
                    <a:pt x="89" y="17"/>
                  </a:lnTo>
                  <a:lnTo>
                    <a:pt x="94" y="27"/>
                  </a:lnTo>
                  <a:lnTo>
                    <a:pt x="89" y="31"/>
                  </a:lnTo>
                  <a:lnTo>
                    <a:pt x="85" y="31"/>
                  </a:lnTo>
                  <a:lnTo>
                    <a:pt x="82" y="38"/>
                  </a:lnTo>
                  <a:lnTo>
                    <a:pt x="78" y="34"/>
                  </a:lnTo>
                  <a:lnTo>
                    <a:pt x="73" y="24"/>
                  </a:lnTo>
                  <a:lnTo>
                    <a:pt x="78" y="19"/>
                  </a:lnTo>
                  <a:lnTo>
                    <a:pt x="73" y="19"/>
                  </a:lnTo>
                  <a:lnTo>
                    <a:pt x="71" y="15"/>
                  </a:lnTo>
                  <a:lnTo>
                    <a:pt x="63" y="10"/>
                  </a:lnTo>
                  <a:lnTo>
                    <a:pt x="56" y="10"/>
                  </a:lnTo>
                  <a:lnTo>
                    <a:pt x="52" y="17"/>
                  </a:lnTo>
                  <a:lnTo>
                    <a:pt x="45" y="19"/>
                  </a:lnTo>
                  <a:lnTo>
                    <a:pt x="42" y="22"/>
                  </a:lnTo>
                  <a:lnTo>
                    <a:pt x="42" y="24"/>
                  </a:lnTo>
                  <a:lnTo>
                    <a:pt x="49" y="34"/>
                  </a:lnTo>
                  <a:lnTo>
                    <a:pt x="45" y="36"/>
                  </a:lnTo>
                  <a:lnTo>
                    <a:pt x="42" y="38"/>
                  </a:lnTo>
                  <a:lnTo>
                    <a:pt x="35" y="38"/>
                  </a:lnTo>
                  <a:lnTo>
                    <a:pt x="30" y="29"/>
                  </a:lnTo>
                  <a:lnTo>
                    <a:pt x="30" y="31"/>
                  </a:lnTo>
                  <a:lnTo>
                    <a:pt x="23" y="31"/>
                  </a:lnTo>
                  <a:lnTo>
                    <a:pt x="21" y="24"/>
                  </a:lnTo>
                  <a:lnTo>
                    <a:pt x="14" y="22"/>
                  </a:lnTo>
                  <a:lnTo>
                    <a:pt x="9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2" y="8"/>
                  </a:lnTo>
                  <a:lnTo>
                    <a:pt x="2" y="3"/>
                  </a:lnTo>
                  <a:lnTo>
                    <a:pt x="7" y="0"/>
                  </a:lnTo>
                  <a:lnTo>
                    <a:pt x="11" y="5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1" y="10"/>
                  </a:lnTo>
                  <a:lnTo>
                    <a:pt x="26" y="12"/>
                  </a:lnTo>
                  <a:lnTo>
                    <a:pt x="33" y="12"/>
                  </a:lnTo>
                  <a:lnTo>
                    <a:pt x="40" y="8"/>
                  </a:lnTo>
                  <a:lnTo>
                    <a:pt x="49" y="5"/>
                  </a:lnTo>
                  <a:lnTo>
                    <a:pt x="56" y="0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73" y="3"/>
                  </a:lnTo>
                  <a:lnTo>
                    <a:pt x="80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330;p30">
              <a:extLst>
                <a:ext uri="{FF2B5EF4-FFF2-40B4-BE49-F238E27FC236}">
                  <a16:creationId xmlns:a16="http://schemas.microsoft.com/office/drawing/2014/main" id="{495338AE-B8E4-D170-2303-94486482AE65}"/>
                </a:ext>
              </a:extLst>
            </p:cNvPr>
            <p:cNvSpPr/>
            <p:nvPr/>
          </p:nvSpPr>
          <p:spPr>
            <a:xfrm>
              <a:off x="2150057" y="3922778"/>
              <a:ext cx="349393" cy="507899"/>
            </a:xfrm>
            <a:custGeom>
              <a:avLst/>
              <a:gdLst/>
              <a:ahLst/>
              <a:cxnLst/>
              <a:rect l="l" t="t" r="r" b="b"/>
              <a:pathLst>
                <a:path w="205" h="298" extrusionOk="0">
                  <a:moveTo>
                    <a:pt x="134" y="35"/>
                  </a:moveTo>
                  <a:lnTo>
                    <a:pt x="134" y="35"/>
                  </a:lnTo>
                  <a:lnTo>
                    <a:pt x="146" y="38"/>
                  </a:lnTo>
                  <a:lnTo>
                    <a:pt x="156" y="33"/>
                  </a:lnTo>
                  <a:lnTo>
                    <a:pt x="160" y="35"/>
                  </a:lnTo>
                  <a:lnTo>
                    <a:pt x="172" y="33"/>
                  </a:lnTo>
                  <a:lnTo>
                    <a:pt x="184" y="42"/>
                  </a:lnTo>
                  <a:lnTo>
                    <a:pt x="172" y="59"/>
                  </a:lnTo>
                  <a:lnTo>
                    <a:pt x="179" y="59"/>
                  </a:lnTo>
                  <a:lnTo>
                    <a:pt x="186" y="66"/>
                  </a:lnTo>
                  <a:lnTo>
                    <a:pt x="172" y="66"/>
                  </a:lnTo>
                  <a:lnTo>
                    <a:pt x="170" y="68"/>
                  </a:lnTo>
                  <a:lnTo>
                    <a:pt x="156" y="71"/>
                  </a:lnTo>
                  <a:lnTo>
                    <a:pt x="137" y="83"/>
                  </a:lnTo>
                  <a:lnTo>
                    <a:pt x="137" y="90"/>
                  </a:lnTo>
                  <a:lnTo>
                    <a:pt x="132" y="97"/>
                  </a:lnTo>
                  <a:lnTo>
                    <a:pt x="134" y="106"/>
                  </a:lnTo>
                  <a:lnTo>
                    <a:pt x="125" y="109"/>
                  </a:lnTo>
                  <a:lnTo>
                    <a:pt x="125" y="116"/>
                  </a:lnTo>
                  <a:lnTo>
                    <a:pt x="120" y="120"/>
                  </a:lnTo>
                  <a:lnTo>
                    <a:pt x="127" y="135"/>
                  </a:lnTo>
                  <a:lnTo>
                    <a:pt x="134" y="144"/>
                  </a:lnTo>
                  <a:lnTo>
                    <a:pt x="132" y="151"/>
                  </a:lnTo>
                  <a:lnTo>
                    <a:pt x="144" y="151"/>
                  </a:lnTo>
                  <a:lnTo>
                    <a:pt x="149" y="161"/>
                  </a:lnTo>
                  <a:lnTo>
                    <a:pt x="163" y="161"/>
                  </a:lnTo>
                  <a:lnTo>
                    <a:pt x="177" y="151"/>
                  </a:lnTo>
                  <a:lnTo>
                    <a:pt x="177" y="175"/>
                  </a:lnTo>
                  <a:lnTo>
                    <a:pt x="182" y="177"/>
                  </a:lnTo>
                  <a:lnTo>
                    <a:pt x="191" y="175"/>
                  </a:lnTo>
                  <a:lnTo>
                    <a:pt x="205" y="201"/>
                  </a:lnTo>
                  <a:lnTo>
                    <a:pt x="203" y="208"/>
                  </a:lnTo>
                  <a:lnTo>
                    <a:pt x="201" y="217"/>
                  </a:lnTo>
                  <a:lnTo>
                    <a:pt x="201" y="232"/>
                  </a:lnTo>
                  <a:lnTo>
                    <a:pt x="196" y="241"/>
                  </a:lnTo>
                  <a:lnTo>
                    <a:pt x="198" y="246"/>
                  </a:lnTo>
                  <a:lnTo>
                    <a:pt x="194" y="253"/>
                  </a:lnTo>
                  <a:lnTo>
                    <a:pt x="201" y="267"/>
                  </a:lnTo>
                  <a:lnTo>
                    <a:pt x="191" y="286"/>
                  </a:lnTo>
                  <a:lnTo>
                    <a:pt x="186" y="293"/>
                  </a:lnTo>
                  <a:lnTo>
                    <a:pt x="179" y="298"/>
                  </a:lnTo>
                  <a:lnTo>
                    <a:pt x="163" y="288"/>
                  </a:lnTo>
                  <a:lnTo>
                    <a:pt x="160" y="281"/>
                  </a:lnTo>
                  <a:lnTo>
                    <a:pt x="130" y="265"/>
                  </a:lnTo>
                  <a:lnTo>
                    <a:pt x="101" y="246"/>
                  </a:lnTo>
                  <a:lnTo>
                    <a:pt x="87" y="236"/>
                  </a:lnTo>
                  <a:lnTo>
                    <a:pt x="80" y="222"/>
                  </a:lnTo>
                  <a:lnTo>
                    <a:pt x="85" y="217"/>
                  </a:lnTo>
                  <a:lnTo>
                    <a:pt x="71" y="196"/>
                  </a:lnTo>
                  <a:lnTo>
                    <a:pt x="54" y="165"/>
                  </a:lnTo>
                  <a:lnTo>
                    <a:pt x="37" y="132"/>
                  </a:lnTo>
                  <a:lnTo>
                    <a:pt x="33" y="125"/>
                  </a:lnTo>
                  <a:lnTo>
                    <a:pt x="28" y="113"/>
                  </a:lnTo>
                  <a:lnTo>
                    <a:pt x="14" y="104"/>
                  </a:lnTo>
                  <a:lnTo>
                    <a:pt x="2" y="97"/>
                  </a:lnTo>
                  <a:lnTo>
                    <a:pt x="9" y="90"/>
                  </a:lnTo>
                  <a:lnTo>
                    <a:pt x="0" y="73"/>
                  </a:lnTo>
                  <a:lnTo>
                    <a:pt x="7" y="64"/>
                  </a:lnTo>
                  <a:lnTo>
                    <a:pt x="19" y="52"/>
                  </a:lnTo>
                  <a:lnTo>
                    <a:pt x="21" y="59"/>
                  </a:lnTo>
                  <a:lnTo>
                    <a:pt x="16" y="64"/>
                  </a:lnTo>
                  <a:lnTo>
                    <a:pt x="16" y="68"/>
                  </a:lnTo>
                  <a:lnTo>
                    <a:pt x="23" y="68"/>
                  </a:lnTo>
                  <a:lnTo>
                    <a:pt x="30" y="68"/>
                  </a:lnTo>
                  <a:lnTo>
                    <a:pt x="35" y="78"/>
                  </a:lnTo>
                  <a:lnTo>
                    <a:pt x="45" y="71"/>
                  </a:lnTo>
                  <a:lnTo>
                    <a:pt x="49" y="61"/>
                  </a:lnTo>
                  <a:lnTo>
                    <a:pt x="59" y="45"/>
                  </a:lnTo>
                  <a:lnTo>
                    <a:pt x="78" y="40"/>
                  </a:lnTo>
                  <a:lnTo>
                    <a:pt x="94" y="23"/>
                  </a:lnTo>
                  <a:lnTo>
                    <a:pt x="101" y="12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13" y="7"/>
                  </a:lnTo>
                  <a:lnTo>
                    <a:pt x="118" y="14"/>
                  </a:lnTo>
                  <a:lnTo>
                    <a:pt x="125" y="19"/>
                  </a:lnTo>
                  <a:lnTo>
                    <a:pt x="134" y="3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331;p30">
              <a:extLst>
                <a:ext uri="{FF2B5EF4-FFF2-40B4-BE49-F238E27FC236}">
                  <a16:creationId xmlns:a16="http://schemas.microsoft.com/office/drawing/2014/main" id="{B4DB059E-6353-CD9B-299A-64AA035511C5}"/>
                </a:ext>
              </a:extLst>
            </p:cNvPr>
            <p:cNvSpPr/>
            <p:nvPr/>
          </p:nvSpPr>
          <p:spPr>
            <a:xfrm>
              <a:off x="7631263" y="3401244"/>
              <a:ext cx="259062" cy="368142"/>
            </a:xfrm>
            <a:custGeom>
              <a:avLst/>
              <a:gdLst/>
              <a:ahLst/>
              <a:cxnLst/>
              <a:rect l="l" t="t" r="r" b="b"/>
              <a:pathLst>
                <a:path w="152" h="216" extrusionOk="0">
                  <a:moveTo>
                    <a:pt x="147" y="168"/>
                  </a:moveTo>
                  <a:lnTo>
                    <a:pt x="147" y="168"/>
                  </a:lnTo>
                  <a:lnTo>
                    <a:pt x="149" y="180"/>
                  </a:lnTo>
                  <a:lnTo>
                    <a:pt x="152" y="190"/>
                  </a:lnTo>
                  <a:lnTo>
                    <a:pt x="145" y="204"/>
                  </a:lnTo>
                  <a:lnTo>
                    <a:pt x="140" y="187"/>
                  </a:lnTo>
                  <a:lnTo>
                    <a:pt x="130" y="194"/>
                  </a:lnTo>
                  <a:lnTo>
                    <a:pt x="138" y="206"/>
                  </a:lnTo>
                  <a:lnTo>
                    <a:pt x="133" y="216"/>
                  </a:lnTo>
                  <a:lnTo>
                    <a:pt x="114" y="204"/>
                  </a:lnTo>
                  <a:lnTo>
                    <a:pt x="109" y="194"/>
                  </a:lnTo>
                  <a:lnTo>
                    <a:pt x="114" y="185"/>
                  </a:lnTo>
                  <a:lnTo>
                    <a:pt x="104" y="178"/>
                  </a:lnTo>
                  <a:lnTo>
                    <a:pt x="97" y="185"/>
                  </a:lnTo>
                  <a:lnTo>
                    <a:pt x="90" y="185"/>
                  </a:lnTo>
                  <a:lnTo>
                    <a:pt x="78" y="194"/>
                  </a:lnTo>
                  <a:lnTo>
                    <a:pt x="76" y="190"/>
                  </a:lnTo>
                  <a:lnTo>
                    <a:pt x="83" y="176"/>
                  </a:lnTo>
                  <a:lnTo>
                    <a:pt x="93" y="171"/>
                  </a:lnTo>
                  <a:lnTo>
                    <a:pt x="102" y="164"/>
                  </a:lnTo>
                  <a:lnTo>
                    <a:pt x="107" y="171"/>
                  </a:lnTo>
                  <a:lnTo>
                    <a:pt x="119" y="166"/>
                  </a:lnTo>
                  <a:lnTo>
                    <a:pt x="123" y="159"/>
                  </a:lnTo>
                  <a:lnTo>
                    <a:pt x="133" y="159"/>
                  </a:lnTo>
                  <a:lnTo>
                    <a:pt x="133" y="147"/>
                  </a:lnTo>
                  <a:lnTo>
                    <a:pt x="145" y="154"/>
                  </a:lnTo>
                  <a:lnTo>
                    <a:pt x="147" y="161"/>
                  </a:lnTo>
                  <a:lnTo>
                    <a:pt x="147" y="168"/>
                  </a:lnTo>
                  <a:close/>
                  <a:moveTo>
                    <a:pt x="109" y="138"/>
                  </a:moveTo>
                  <a:lnTo>
                    <a:pt x="109" y="138"/>
                  </a:lnTo>
                  <a:lnTo>
                    <a:pt x="104" y="142"/>
                  </a:lnTo>
                  <a:lnTo>
                    <a:pt x="97" y="154"/>
                  </a:lnTo>
                  <a:lnTo>
                    <a:pt x="93" y="159"/>
                  </a:lnTo>
                  <a:lnTo>
                    <a:pt x="83" y="147"/>
                  </a:lnTo>
                  <a:lnTo>
                    <a:pt x="86" y="142"/>
                  </a:lnTo>
                  <a:lnTo>
                    <a:pt x="90" y="138"/>
                  </a:lnTo>
                  <a:lnTo>
                    <a:pt x="93" y="128"/>
                  </a:lnTo>
                  <a:lnTo>
                    <a:pt x="102" y="128"/>
                  </a:lnTo>
                  <a:lnTo>
                    <a:pt x="100" y="138"/>
                  </a:lnTo>
                  <a:lnTo>
                    <a:pt x="112" y="123"/>
                  </a:lnTo>
                  <a:lnTo>
                    <a:pt x="109" y="138"/>
                  </a:lnTo>
                  <a:close/>
                  <a:moveTo>
                    <a:pt x="22" y="154"/>
                  </a:moveTo>
                  <a:lnTo>
                    <a:pt x="22" y="154"/>
                  </a:lnTo>
                  <a:lnTo>
                    <a:pt x="0" y="171"/>
                  </a:lnTo>
                  <a:lnTo>
                    <a:pt x="7" y="157"/>
                  </a:lnTo>
                  <a:lnTo>
                    <a:pt x="19" y="147"/>
                  </a:lnTo>
                  <a:lnTo>
                    <a:pt x="29" y="138"/>
                  </a:lnTo>
                  <a:lnTo>
                    <a:pt x="36" y="121"/>
                  </a:lnTo>
                  <a:lnTo>
                    <a:pt x="41" y="133"/>
                  </a:lnTo>
                  <a:lnTo>
                    <a:pt x="29" y="142"/>
                  </a:lnTo>
                  <a:lnTo>
                    <a:pt x="22" y="154"/>
                  </a:lnTo>
                  <a:close/>
                  <a:moveTo>
                    <a:pt x="76" y="112"/>
                  </a:moveTo>
                  <a:lnTo>
                    <a:pt x="76" y="112"/>
                  </a:lnTo>
                  <a:lnTo>
                    <a:pt x="86" y="116"/>
                  </a:lnTo>
                  <a:lnTo>
                    <a:pt x="95" y="116"/>
                  </a:lnTo>
                  <a:lnTo>
                    <a:pt x="95" y="123"/>
                  </a:lnTo>
                  <a:lnTo>
                    <a:pt x="88" y="131"/>
                  </a:lnTo>
                  <a:lnTo>
                    <a:pt x="78" y="135"/>
                  </a:lnTo>
                  <a:lnTo>
                    <a:pt x="78" y="128"/>
                  </a:lnTo>
                  <a:lnTo>
                    <a:pt x="78" y="119"/>
                  </a:lnTo>
                  <a:lnTo>
                    <a:pt x="76" y="112"/>
                  </a:lnTo>
                  <a:close/>
                  <a:moveTo>
                    <a:pt x="133" y="107"/>
                  </a:moveTo>
                  <a:lnTo>
                    <a:pt x="133" y="107"/>
                  </a:lnTo>
                  <a:lnTo>
                    <a:pt x="138" y="126"/>
                  </a:lnTo>
                  <a:lnTo>
                    <a:pt x="126" y="121"/>
                  </a:lnTo>
                  <a:lnTo>
                    <a:pt x="126" y="128"/>
                  </a:lnTo>
                  <a:lnTo>
                    <a:pt x="130" y="138"/>
                  </a:lnTo>
                  <a:lnTo>
                    <a:pt x="123" y="140"/>
                  </a:lnTo>
                  <a:lnTo>
                    <a:pt x="121" y="128"/>
                  </a:lnTo>
                  <a:lnTo>
                    <a:pt x="116" y="128"/>
                  </a:lnTo>
                  <a:lnTo>
                    <a:pt x="114" y="119"/>
                  </a:lnTo>
                  <a:lnTo>
                    <a:pt x="123" y="119"/>
                  </a:lnTo>
                  <a:lnTo>
                    <a:pt x="123" y="114"/>
                  </a:lnTo>
                  <a:lnTo>
                    <a:pt x="114" y="100"/>
                  </a:lnTo>
                  <a:lnTo>
                    <a:pt x="128" y="102"/>
                  </a:lnTo>
                  <a:lnTo>
                    <a:pt x="133" y="107"/>
                  </a:lnTo>
                  <a:close/>
                  <a:moveTo>
                    <a:pt x="69" y="93"/>
                  </a:moveTo>
                  <a:lnTo>
                    <a:pt x="69" y="93"/>
                  </a:lnTo>
                  <a:lnTo>
                    <a:pt x="64" y="107"/>
                  </a:lnTo>
                  <a:lnTo>
                    <a:pt x="60" y="97"/>
                  </a:lnTo>
                  <a:lnTo>
                    <a:pt x="50" y="86"/>
                  </a:lnTo>
                  <a:lnTo>
                    <a:pt x="64" y="86"/>
                  </a:lnTo>
                  <a:lnTo>
                    <a:pt x="69" y="93"/>
                  </a:lnTo>
                  <a:close/>
                  <a:moveTo>
                    <a:pt x="67" y="0"/>
                  </a:moveTo>
                  <a:lnTo>
                    <a:pt x="67" y="0"/>
                  </a:lnTo>
                  <a:lnTo>
                    <a:pt x="76" y="5"/>
                  </a:lnTo>
                  <a:lnTo>
                    <a:pt x="81" y="0"/>
                  </a:lnTo>
                  <a:lnTo>
                    <a:pt x="83" y="5"/>
                  </a:lnTo>
                  <a:lnTo>
                    <a:pt x="81" y="12"/>
                  </a:lnTo>
                  <a:lnTo>
                    <a:pt x="86" y="24"/>
                  </a:lnTo>
                  <a:lnTo>
                    <a:pt x="81" y="38"/>
                  </a:lnTo>
                  <a:lnTo>
                    <a:pt x="71" y="45"/>
                  </a:lnTo>
                  <a:lnTo>
                    <a:pt x="69" y="60"/>
                  </a:lnTo>
                  <a:lnTo>
                    <a:pt x="74" y="71"/>
                  </a:lnTo>
                  <a:lnTo>
                    <a:pt x="81" y="74"/>
                  </a:lnTo>
                  <a:lnTo>
                    <a:pt x="88" y="71"/>
                  </a:lnTo>
                  <a:lnTo>
                    <a:pt x="109" y="81"/>
                  </a:lnTo>
                  <a:lnTo>
                    <a:pt x="107" y="90"/>
                  </a:lnTo>
                  <a:lnTo>
                    <a:pt x="112" y="93"/>
                  </a:lnTo>
                  <a:lnTo>
                    <a:pt x="112" y="102"/>
                  </a:lnTo>
                  <a:lnTo>
                    <a:pt x="97" y="93"/>
                  </a:lnTo>
                  <a:lnTo>
                    <a:pt x="93" y="86"/>
                  </a:lnTo>
                  <a:lnTo>
                    <a:pt x="88" y="90"/>
                  </a:lnTo>
                  <a:lnTo>
                    <a:pt x="78" y="81"/>
                  </a:lnTo>
                  <a:lnTo>
                    <a:pt x="62" y="83"/>
                  </a:lnTo>
                  <a:lnTo>
                    <a:pt x="55" y="78"/>
                  </a:lnTo>
                  <a:lnTo>
                    <a:pt x="57" y="71"/>
                  </a:lnTo>
                  <a:lnTo>
                    <a:pt x="62" y="67"/>
                  </a:lnTo>
                  <a:lnTo>
                    <a:pt x="57" y="64"/>
                  </a:lnTo>
                  <a:lnTo>
                    <a:pt x="55" y="69"/>
                  </a:lnTo>
                  <a:lnTo>
                    <a:pt x="48" y="62"/>
                  </a:lnTo>
                  <a:lnTo>
                    <a:pt x="43" y="52"/>
                  </a:lnTo>
                  <a:lnTo>
                    <a:pt x="43" y="38"/>
                  </a:lnTo>
                  <a:lnTo>
                    <a:pt x="50" y="43"/>
                  </a:lnTo>
                  <a:lnTo>
                    <a:pt x="52" y="17"/>
                  </a:lnTo>
                  <a:lnTo>
                    <a:pt x="57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332;p30">
              <a:extLst>
                <a:ext uri="{FF2B5EF4-FFF2-40B4-BE49-F238E27FC236}">
                  <a16:creationId xmlns:a16="http://schemas.microsoft.com/office/drawing/2014/main" id="{B507FE80-94BA-9499-3441-78FA6BFA6DC7}"/>
                </a:ext>
              </a:extLst>
            </p:cNvPr>
            <p:cNvSpPr/>
            <p:nvPr/>
          </p:nvSpPr>
          <p:spPr>
            <a:xfrm>
              <a:off x="8289144" y="3987544"/>
              <a:ext cx="415863" cy="228384"/>
            </a:xfrm>
            <a:custGeom>
              <a:avLst/>
              <a:gdLst/>
              <a:ahLst/>
              <a:cxnLst/>
              <a:rect l="l" t="t" r="r" b="b"/>
              <a:pathLst>
                <a:path w="244" h="134" extrusionOk="0">
                  <a:moveTo>
                    <a:pt x="241" y="71"/>
                  </a:moveTo>
                  <a:lnTo>
                    <a:pt x="241" y="71"/>
                  </a:lnTo>
                  <a:lnTo>
                    <a:pt x="236" y="73"/>
                  </a:lnTo>
                  <a:lnTo>
                    <a:pt x="229" y="66"/>
                  </a:lnTo>
                  <a:lnTo>
                    <a:pt x="222" y="54"/>
                  </a:lnTo>
                  <a:lnTo>
                    <a:pt x="218" y="42"/>
                  </a:lnTo>
                  <a:lnTo>
                    <a:pt x="220" y="40"/>
                  </a:lnTo>
                  <a:lnTo>
                    <a:pt x="222" y="47"/>
                  </a:lnTo>
                  <a:lnTo>
                    <a:pt x="227" y="49"/>
                  </a:lnTo>
                  <a:lnTo>
                    <a:pt x="234" y="59"/>
                  </a:lnTo>
                  <a:lnTo>
                    <a:pt x="244" y="66"/>
                  </a:lnTo>
                  <a:lnTo>
                    <a:pt x="241" y="71"/>
                  </a:lnTo>
                  <a:close/>
                  <a:moveTo>
                    <a:pt x="177" y="49"/>
                  </a:moveTo>
                  <a:lnTo>
                    <a:pt x="177" y="49"/>
                  </a:lnTo>
                  <a:lnTo>
                    <a:pt x="168" y="49"/>
                  </a:lnTo>
                  <a:lnTo>
                    <a:pt x="168" y="54"/>
                  </a:lnTo>
                  <a:lnTo>
                    <a:pt x="158" y="59"/>
                  </a:lnTo>
                  <a:lnTo>
                    <a:pt x="149" y="61"/>
                  </a:lnTo>
                  <a:lnTo>
                    <a:pt x="139" y="61"/>
                  </a:lnTo>
                  <a:lnTo>
                    <a:pt x="128" y="56"/>
                  </a:lnTo>
                  <a:lnTo>
                    <a:pt x="118" y="54"/>
                  </a:lnTo>
                  <a:lnTo>
                    <a:pt x="118" y="47"/>
                  </a:lnTo>
                  <a:lnTo>
                    <a:pt x="135" y="49"/>
                  </a:lnTo>
                  <a:lnTo>
                    <a:pt x="142" y="49"/>
                  </a:lnTo>
                  <a:lnTo>
                    <a:pt x="144" y="40"/>
                  </a:lnTo>
                  <a:lnTo>
                    <a:pt x="147" y="40"/>
                  </a:lnTo>
                  <a:lnTo>
                    <a:pt x="149" y="49"/>
                  </a:lnTo>
                  <a:lnTo>
                    <a:pt x="158" y="47"/>
                  </a:lnTo>
                  <a:lnTo>
                    <a:pt x="163" y="42"/>
                  </a:lnTo>
                  <a:lnTo>
                    <a:pt x="173" y="37"/>
                  </a:lnTo>
                  <a:lnTo>
                    <a:pt x="170" y="28"/>
                  </a:lnTo>
                  <a:lnTo>
                    <a:pt x="180" y="26"/>
                  </a:lnTo>
                  <a:lnTo>
                    <a:pt x="182" y="28"/>
                  </a:lnTo>
                  <a:lnTo>
                    <a:pt x="182" y="37"/>
                  </a:lnTo>
                  <a:lnTo>
                    <a:pt x="177" y="49"/>
                  </a:lnTo>
                  <a:close/>
                  <a:moveTo>
                    <a:pt x="99" y="80"/>
                  </a:moveTo>
                  <a:lnTo>
                    <a:pt x="99" y="80"/>
                  </a:lnTo>
                  <a:lnTo>
                    <a:pt x="113" y="90"/>
                  </a:lnTo>
                  <a:lnTo>
                    <a:pt x="125" y="106"/>
                  </a:lnTo>
                  <a:lnTo>
                    <a:pt x="135" y="106"/>
                  </a:lnTo>
                  <a:lnTo>
                    <a:pt x="135" y="113"/>
                  </a:lnTo>
                  <a:lnTo>
                    <a:pt x="147" y="118"/>
                  </a:lnTo>
                  <a:lnTo>
                    <a:pt x="139" y="120"/>
                  </a:lnTo>
                  <a:lnTo>
                    <a:pt x="158" y="127"/>
                  </a:lnTo>
                  <a:lnTo>
                    <a:pt x="156" y="132"/>
                  </a:lnTo>
                  <a:lnTo>
                    <a:pt x="147" y="134"/>
                  </a:lnTo>
                  <a:lnTo>
                    <a:pt x="142" y="130"/>
                  </a:lnTo>
                  <a:lnTo>
                    <a:pt x="128" y="127"/>
                  </a:lnTo>
                  <a:lnTo>
                    <a:pt x="111" y="125"/>
                  </a:lnTo>
                  <a:lnTo>
                    <a:pt x="99" y="113"/>
                  </a:lnTo>
                  <a:lnTo>
                    <a:pt x="90" y="106"/>
                  </a:lnTo>
                  <a:lnTo>
                    <a:pt x="80" y="90"/>
                  </a:lnTo>
                  <a:lnTo>
                    <a:pt x="59" y="82"/>
                  </a:lnTo>
                  <a:lnTo>
                    <a:pt x="47" y="87"/>
                  </a:lnTo>
                  <a:lnTo>
                    <a:pt x="35" y="94"/>
                  </a:lnTo>
                  <a:lnTo>
                    <a:pt x="38" y="106"/>
                  </a:lnTo>
                  <a:lnTo>
                    <a:pt x="26" y="111"/>
                  </a:lnTo>
                  <a:lnTo>
                    <a:pt x="17" y="108"/>
                  </a:lnTo>
                  <a:lnTo>
                    <a:pt x="0" y="106"/>
                  </a:lnTo>
                  <a:lnTo>
                    <a:pt x="0" y="54"/>
                  </a:lnTo>
                  <a:lnTo>
                    <a:pt x="0" y="2"/>
                  </a:lnTo>
                  <a:lnTo>
                    <a:pt x="28" y="11"/>
                  </a:lnTo>
                  <a:lnTo>
                    <a:pt x="57" y="23"/>
                  </a:lnTo>
                  <a:lnTo>
                    <a:pt x="69" y="30"/>
                  </a:lnTo>
                  <a:lnTo>
                    <a:pt x="78" y="37"/>
                  </a:lnTo>
                  <a:lnTo>
                    <a:pt x="80" y="49"/>
                  </a:lnTo>
                  <a:lnTo>
                    <a:pt x="106" y="59"/>
                  </a:lnTo>
                  <a:lnTo>
                    <a:pt x="111" y="66"/>
                  </a:lnTo>
                  <a:lnTo>
                    <a:pt x="97" y="68"/>
                  </a:lnTo>
                  <a:lnTo>
                    <a:pt x="99" y="80"/>
                  </a:lnTo>
                  <a:close/>
                  <a:moveTo>
                    <a:pt x="196" y="33"/>
                  </a:moveTo>
                  <a:lnTo>
                    <a:pt x="196" y="33"/>
                  </a:lnTo>
                  <a:lnTo>
                    <a:pt x="192" y="37"/>
                  </a:lnTo>
                  <a:lnTo>
                    <a:pt x="187" y="28"/>
                  </a:lnTo>
                  <a:lnTo>
                    <a:pt x="184" y="21"/>
                  </a:lnTo>
                  <a:lnTo>
                    <a:pt x="177" y="16"/>
                  </a:lnTo>
                  <a:lnTo>
                    <a:pt x="168" y="9"/>
                  </a:lnTo>
                  <a:lnTo>
                    <a:pt x="156" y="4"/>
                  </a:lnTo>
                  <a:lnTo>
                    <a:pt x="161" y="0"/>
                  </a:lnTo>
                  <a:lnTo>
                    <a:pt x="168" y="4"/>
                  </a:lnTo>
                  <a:lnTo>
                    <a:pt x="175" y="7"/>
                  </a:lnTo>
                  <a:lnTo>
                    <a:pt x="182" y="11"/>
                  </a:lnTo>
                  <a:lnTo>
                    <a:pt x="187" y="19"/>
                  </a:lnTo>
                  <a:lnTo>
                    <a:pt x="194" y="23"/>
                  </a:lnTo>
                  <a:lnTo>
                    <a:pt x="196" y="3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333;p30">
              <a:extLst>
                <a:ext uri="{FF2B5EF4-FFF2-40B4-BE49-F238E27FC236}">
                  <a16:creationId xmlns:a16="http://schemas.microsoft.com/office/drawing/2014/main" id="{755F798E-EA43-2BD5-932A-918FECD805DC}"/>
                </a:ext>
              </a:extLst>
            </p:cNvPr>
            <p:cNvSpPr/>
            <p:nvPr/>
          </p:nvSpPr>
          <p:spPr>
            <a:xfrm>
              <a:off x="2540353" y="3401244"/>
              <a:ext cx="44313" cy="17044"/>
            </a:xfrm>
            <a:custGeom>
              <a:avLst/>
              <a:gdLst/>
              <a:ahLst/>
              <a:cxnLst/>
              <a:rect l="l" t="t" r="r" b="b"/>
              <a:pathLst>
                <a:path w="26" h="10" extrusionOk="0">
                  <a:moveTo>
                    <a:pt x="26" y="5"/>
                  </a:moveTo>
                  <a:lnTo>
                    <a:pt x="26" y="5"/>
                  </a:lnTo>
                  <a:lnTo>
                    <a:pt x="24" y="10"/>
                  </a:lnTo>
                  <a:lnTo>
                    <a:pt x="9" y="10"/>
                  </a:lnTo>
                  <a:lnTo>
                    <a:pt x="0" y="10"/>
                  </a:lnTo>
                  <a:lnTo>
                    <a:pt x="0" y="3"/>
                  </a:lnTo>
                  <a:lnTo>
                    <a:pt x="2" y="0"/>
                  </a:lnTo>
                  <a:lnTo>
                    <a:pt x="17" y="0"/>
                  </a:lnTo>
                  <a:lnTo>
                    <a:pt x="24" y="3"/>
                  </a:lnTo>
                  <a:lnTo>
                    <a:pt x="26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334;p30">
              <a:extLst>
                <a:ext uri="{FF2B5EF4-FFF2-40B4-BE49-F238E27FC236}">
                  <a16:creationId xmlns:a16="http://schemas.microsoft.com/office/drawing/2014/main" id="{205D8711-A120-A610-EC82-5261B6BF0F8B}"/>
                </a:ext>
              </a:extLst>
            </p:cNvPr>
            <p:cNvSpPr/>
            <p:nvPr/>
          </p:nvSpPr>
          <p:spPr>
            <a:xfrm>
              <a:off x="7825559" y="2610175"/>
              <a:ext cx="180661" cy="189184"/>
            </a:xfrm>
            <a:custGeom>
              <a:avLst/>
              <a:gdLst/>
              <a:ahLst/>
              <a:cxnLst/>
              <a:rect l="l" t="t" r="r" b="b"/>
              <a:pathLst>
                <a:path w="106" h="111" extrusionOk="0">
                  <a:moveTo>
                    <a:pt x="104" y="12"/>
                  </a:moveTo>
                  <a:lnTo>
                    <a:pt x="104" y="12"/>
                  </a:lnTo>
                  <a:lnTo>
                    <a:pt x="106" y="16"/>
                  </a:lnTo>
                  <a:lnTo>
                    <a:pt x="99" y="14"/>
                  </a:lnTo>
                  <a:lnTo>
                    <a:pt x="92" y="21"/>
                  </a:lnTo>
                  <a:lnTo>
                    <a:pt x="87" y="28"/>
                  </a:lnTo>
                  <a:lnTo>
                    <a:pt x="87" y="45"/>
                  </a:lnTo>
                  <a:lnTo>
                    <a:pt x="80" y="50"/>
                  </a:lnTo>
                  <a:lnTo>
                    <a:pt x="76" y="52"/>
                  </a:lnTo>
                  <a:lnTo>
                    <a:pt x="71" y="59"/>
                  </a:lnTo>
                  <a:lnTo>
                    <a:pt x="59" y="61"/>
                  </a:lnTo>
                  <a:lnTo>
                    <a:pt x="52" y="66"/>
                  </a:lnTo>
                  <a:lnTo>
                    <a:pt x="52" y="78"/>
                  </a:lnTo>
                  <a:lnTo>
                    <a:pt x="50" y="78"/>
                  </a:lnTo>
                  <a:lnTo>
                    <a:pt x="57" y="83"/>
                  </a:lnTo>
                  <a:lnTo>
                    <a:pt x="66" y="92"/>
                  </a:lnTo>
                  <a:lnTo>
                    <a:pt x="64" y="97"/>
                  </a:lnTo>
                  <a:lnTo>
                    <a:pt x="57" y="97"/>
                  </a:lnTo>
                  <a:lnTo>
                    <a:pt x="47" y="97"/>
                  </a:lnTo>
                  <a:lnTo>
                    <a:pt x="40" y="109"/>
                  </a:lnTo>
                  <a:lnTo>
                    <a:pt x="31" y="106"/>
                  </a:lnTo>
                  <a:lnTo>
                    <a:pt x="31" y="109"/>
                  </a:lnTo>
                  <a:lnTo>
                    <a:pt x="24" y="104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06"/>
                  </a:lnTo>
                  <a:lnTo>
                    <a:pt x="12" y="104"/>
                  </a:lnTo>
                  <a:lnTo>
                    <a:pt x="7" y="102"/>
                  </a:lnTo>
                  <a:lnTo>
                    <a:pt x="12" y="92"/>
                  </a:lnTo>
                  <a:lnTo>
                    <a:pt x="16" y="90"/>
                  </a:lnTo>
                  <a:lnTo>
                    <a:pt x="14" y="85"/>
                  </a:lnTo>
                  <a:lnTo>
                    <a:pt x="19" y="76"/>
                  </a:lnTo>
                  <a:lnTo>
                    <a:pt x="16" y="71"/>
                  </a:lnTo>
                  <a:lnTo>
                    <a:pt x="7" y="68"/>
                  </a:lnTo>
                  <a:lnTo>
                    <a:pt x="0" y="64"/>
                  </a:lnTo>
                  <a:lnTo>
                    <a:pt x="14" y="52"/>
                  </a:lnTo>
                  <a:lnTo>
                    <a:pt x="31" y="40"/>
                  </a:lnTo>
                  <a:lnTo>
                    <a:pt x="43" y="23"/>
                  </a:lnTo>
                  <a:lnTo>
                    <a:pt x="50" y="31"/>
                  </a:lnTo>
                  <a:lnTo>
                    <a:pt x="64" y="31"/>
                  </a:lnTo>
                  <a:lnTo>
                    <a:pt x="61" y="21"/>
                  </a:lnTo>
                  <a:lnTo>
                    <a:pt x="87" y="12"/>
                  </a:lnTo>
                  <a:lnTo>
                    <a:pt x="92" y="0"/>
                  </a:lnTo>
                  <a:lnTo>
                    <a:pt x="10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335;p30">
              <a:extLst>
                <a:ext uri="{FF2B5EF4-FFF2-40B4-BE49-F238E27FC236}">
                  <a16:creationId xmlns:a16="http://schemas.microsoft.com/office/drawing/2014/main" id="{32A836FC-9A5B-E48A-D999-8EA9832033EA}"/>
                </a:ext>
              </a:extLst>
            </p:cNvPr>
            <p:cNvSpPr/>
            <p:nvPr/>
          </p:nvSpPr>
          <p:spPr>
            <a:xfrm>
              <a:off x="4132221" y="2639394"/>
              <a:ext cx="88627" cy="194297"/>
            </a:xfrm>
            <a:custGeom>
              <a:avLst/>
              <a:gdLst/>
              <a:ahLst/>
              <a:cxnLst/>
              <a:rect l="l" t="t" r="r" b="b"/>
              <a:pathLst>
                <a:path w="52" h="114" extrusionOk="0">
                  <a:moveTo>
                    <a:pt x="22" y="0"/>
                  </a:moveTo>
                  <a:lnTo>
                    <a:pt x="22" y="0"/>
                  </a:lnTo>
                  <a:lnTo>
                    <a:pt x="26" y="9"/>
                  </a:lnTo>
                  <a:lnTo>
                    <a:pt x="36" y="9"/>
                  </a:lnTo>
                  <a:lnTo>
                    <a:pt x="38" y="7"/>
                  </a:lnTo>
                  <a:lnTo>
                    <a:pt x="48" y="7"/>
                  </a:lnTo>
                  <a:lnTo>
                    <a:pt x="52" y="19"/>
                  </a:lnTo>
                  <a:lnTo>
                    <a:pt x="43" y="24"/>
                  </a:lnTo>
                  <a:lnTo>
                    <a:pt x="43" y="43"/>
                  </a:lnTo>
                  <a:lnTo>
                    <a:pt x="41" y="45"/>
                  </a:lnTo>
                  <a:lnTo>
                    <a:pt x="41" y="54"/>
                  </a:lnTo>
                  <a:lnTo>
                    <a:pt x="33" y="57"/>
                  </a:lnTo>
                  <a:lnTo>
                    <a:pt x="41" y="69"/>
                  </a:lnTo>
                  <a:lnTo>
                    <a:pt x="36" y="83"/>
                  </a:lnTo>
                  <a:lnTo>
                    <a:pt x="41" y="88"/>
                  </a:lnTo>
                  <a:lnTo>
                    <a:pt x="38" y="95"/>
                  </a:lnTo>
                  <a:lnTo>
                    <a:pt x="33" y="102"/>
                  </a:lnTo>
                  <a:lnTo>
                    <a:pt x="33" y="109"/>
                  </a:lnTo>
                  <a:lnTo>
                    <a:pt x="29" y="114"/>
                  </a:lnTo>
                  <a:lnTo>
                    <a:pt x="19" y="111"/>
                  </a:lnTo>
                  <a:lnTo>
                    <a:pt x="10" y="111"/>
                  </a:lnTo>
                  <a:lnTo>
                    <a:pt x="15" y="97"/>
                  </a:lnTo>
                  <a:lnTo>
                    <a:pt x="12" y="85"/>
                  </a:lnTo>
                  <a:lnTo>
                    <a:pt x="5" y="83"/>
                  </a:lnTo>
                  <a:lnTo>
                    <a:pt x="0" y="76"/>
                  </a:lnTo>
                  <a:lnTo>
                    <a:pt x="3" y="62"/>
                  </a:lnTo>
                  <a:lnTo>
                    <a:pt x="10" y="54"/>
                  </a:lnTo>
                  <a:lnTo>
                    <a:pt x="10" y="45"/>
                  </a:lnTo>
                  <a:lnTo>
                    <a:pt x="12" y="33"/>
                  </a:lnTo>
                  <a:lnTo>
                    <a:pt x="12" y="24"/>
                  </a:lnTo>
                  <a:lnTo>
                    <a:pt x="10" y="17"/>
                  </a:lnTo>
                  <a:lnTo>
                    <a:pt x="10" y="7"/>
                  </a:lnTo>
                  <a:lnTo>
                    <a:pt x="15" y="2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336;p30">
              <a:extLst>
                <a:ext uri="{FF2B5EF4-FFF2-40B4-BE49-F238E27FC236}">
                  <a16:creationId xmlns:a16="http://schemas.microsoft.com/office/drawing/2014/main" id="{B956E917-AF1A-9D46-A883-AB5658B65112}"/>
                </a:ext>
              </a:extLst>
            </p:cNvPr>
            <p:cNvSpPr/>
            <p:nvPr/>
          </p:nvSpPr>
          <p:spPr>
            <a:xfrm>
              <a:off x="5797377" y="3179677"/>
              <a:ext cx="23861" cy="44313"/>
            </a:xfrm>
            <a:custGeom>
              <a:avLst/>
              <a:gdLst/>
              <a:ahLst/>
              <a:cxnLst/>
              <a:rect l="l" t="t" r="r" b="b"/>
              <a:pathLst>
                <a:path w="14" h="26" extrusionOk="0">
                  <a:moveTo>
                    <a:pt x="10" y="24"/>
                  </a:moveTo>
                  <a:lnTo>
                    <a:pt x="10" y="24"/>
                  </a:lnTo>
                  <a:lnTo>
                    <a:pt x="5" y="26"/>
                  </a:lnTo>
                  <a:lnTo>
                    <a:pt x="0" y="21"/>
                  </a:lnTo>
                  <a:lnTo>
                    <a:pt x="0" y="10"/>
                  </a:lnTo>
                  <a:lnTo>
                    <a:pt x="3" y="0"/>
                  </a:lnTo>
                  <a:lnTo>
                    <a:pt x="7" y="0"/>
                  </a:lnTo>
                  <a:lnTo>
                    <a:pt x="14" y="5"/>
                  </a:lnTo>
                  <a:lnTo>
                    <a:pt x="14" y="14"/>
                  </a:lnTo>
                  <a:lnTo>
                    <a:pt x="10" y="2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337;p30">
              <a:extLst>
                <a:ext uri="{FF2B5EF4-FFF2-40B4-BE49-F238E27FC236}">
                  <a16:creationId xmlns:a16="http://schemas.microsoft.com/office/drawing/2014/main" id="{5EFA0130-EB1D-A3C6-733F-D3AD826593DF}"/>
                </a:ext>
              </a:extLst>
            </p:cNvPr>
            <p:cNvSpPr/>
            <p:nvPr/>
          </p:nvSpPr>
          <p:spPr>
            <a:xfrm>
              <a:off x="3922585" y="3131955"/>
              <a:ext cx="238610" cy="201115"/>
            </a:xfrm>
            <a:custGeom>
              <a:avLst/>
              <a:gdLst/>
              <a:ahLst/>
              <a:cxnLst/>
              <a:rect l="l" t="t" r="r" b="b"/>
              <a:pathLst>
                <a:path w="140" h="118" extrusionOk="0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338;p30">
              <a:extLst>
                <a:ext uri="{FF2B5EF4-FFF2-40B4-BE49-F238E27FC236}">
                  <a16:creationId xmlns:a16="http://schemas.microsoft.com/office/drawing/2014/main" id="{ACE996C5-A397-2808-B488-98DAE7BB0378}"/>
                </a:ext>
              </a:extLst>
            </p:cNvPr>
            <p:cNvSpPr/>
            <p:nvPr/>
          </p:nvSpPr>
          <p:spPr>
            <a:xfrm>
              <a:off x="3922585" y="3131955"/>
              <a:ext cx="238610" cy="201115"/>
            </a:xfrm>
            <a:custGeom>
              <a:avLst/>
              <a:gdLst/>
              <a:ahLst/>
              <a:cxnLst/>
              <a:rect l="l" t="t" r="r" b="b"/>
              <a:pathLst>
                <a:path w="140" h="118" extrusionOk="0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339;p30">
              <a:extLst>
                <a:ext uri="{FF2B5EF4-FFF2-40B4-BE49-F238E27FC236}">
                  <a16:creationId xmlns:a16="http://schemas.microsoft.com/office/drawing/2014/main" id="{AD85D70A-58CB-8F69-2CCB-AA01C15770C4}"/>
                </a:ext>
              </a:extLst>
            </p:cNvPr>
            <p:cNvSpPr/>
            <p:nvPr/>
          </p:nvSpPr>
          <p:spPr>
            <a:xfrm>
              <a:off x="3910655" y="3459192"/>
              <a:ext cx="170436" cy="121010"/>
            </a:xfrm>
            <a:custGeom>
              <a:avLst/>
              <a:gdLst/>
              <a:ahLst/>
              <a:cxnLst/>
              <a:rect l="l" t="t" r="r" b="b"/>
              <a:pathLst>
                <a:path w="100" h="71" extrusionOk="0">
                  <a:moveTo>
                    <a:pt x="50" y="0"/>
                  </a:moveTo>
                  <a:lnTo>
                    <a:pt x="50" y="0"/>
                  </a:lnTo>
                  <a:lnTo>
                    <a:pt x="57" y="4"/>
                  </a:lnTo>
                  <a:lnTo>
                    <a:pt x="69" y="9"/>
                  </a:lnTo>
                  <a:lnTo>
                    <a:pt x="76" y="21"/>
                  </a:lnTo>
                  <a:lnTo>
                    <a:pt x="88" y="33"/>
                  </a:lnTo>
                  <a:lnTo>
                    <a:pt x="90" y="42"/>
                  </a:lnTo>
                  <a:lnTo>
                    <a:pt x="92" y="52"/>
                  </a:lnTo>
                  <a:lnTo>
                    <a:pt x="97" y="59"/>
                  </a:lnTo>
                  <a:lnTo>
                    <a:pt x="100" y="63"/>
                  </a:lnTo>
                  <a:lnTo>
                    <a:pt x="100" y="68"/>
                  </a:lnTo>
                  <a:lnTo>
                    <a:pt x="97" y="71"/>
                  </a:lnTo>
                  <a:lnTo>
                    <a:pt x="88" y="68"/>
                  </a:lnTo>
                  <a:lnTo>
                    <a:pt x="85" y="71"/>
                  </a:lnTo>
                  <a:lnTo>
                    <a:pt x="83" y="71"/>
                  </a:lnTo>
                  <a:lnTo>
                    <a:pt x="71" y="66"/>
                  </a:lnTo>
                  <a:lnTo>
                    <a:pt x="64" y="66"/>
                  </a:lnTo>
                  <a:lnTo>
                    <a:pt x="33" y="66"/>
                  </a:lnTo>
                  <a:lnTo>
                    <a:pt x="29" y="68"/>
                  </a:lnTo>
                  <a:lnTo>
                    <a:pt x="24" y="66"/>
                  </a:lnTo>
                  <a:lnTo>
                    <a:pt x="14" y="71"/>
                  </a:lnTo>
                  <a:lnTo>
                    <a:pt x="12" y="56"/>
                  </a:lnTo>
                  <a:lnTo>
                    <a:pt x="26" y="59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40" y="52"/>
                  </a:lnTo>
                  <a:lnTo>
                    <a:pt x="48" y="54"/>
                  </a:lnTo>
                  <a:lnTo>
                    <a:pt x="55" y="56"/>
                  </a:lnTo>
                  <a:lnTo>
                    <a:pt x="62" y="52"/>
                  </a:lnTo>
                  <a:lnTo>
                    <a:pt x="57" y="47"/>
                  </a:lnTo>
                  <a:lnTo>
                    <a:pt x="52" y="49"/>
                  </a:lnTo>
                  <a:lnTo>
                    <a:pt x="48" y="49"/>
                  </a:lnTo>
                  <a:lnTo>
                    <a:pt x="40" y="44"/>
                  </a:lnTo>
                  <a:lnTo>
                    <a:pt x="36" y="44"/>
                  </a:lnTo>
                  <a:lnTo>
                    <a:pt x="31" y="49"/>
                  </a:lnTo>
                  <a:lnTo>
                    <a:pt x="14" y="49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7" y="28"/>
                  </a:lnTo>
                  <a:lnTo>
                    <a:pt x="14" y="16"/>
                  </a:lnTo>
                  <a:lnTo>
                    <a:pt x="19" y="7"/>
                  </a:lnTo>
                  <a:lnTo>
                    <a:pt x="24" y="2"/>
                  </a:lnTo>
                  <a:lnTo>
                    <a:pt x="31" y="2"/>
                  </a:lnTo>
                  <a:lnTo>
                    <a:pt x="4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8" name="Google Shape;340;p30">
              <a:extLst>
                <a:ext uri="{FF2B5EF4-FFF2-40B4-BE49-F238E27FC236}">
                  <a16:creationId xmlns:a16="http://schemas.microsoft.com/office/drawing/2014/main" id="{F6F5014A-ED48-E0FD-6D47-D4320460A33C}"/>
                </a:ext>
              </a:extLst>
            </p:cNvPr>
            <p:cNvGrpSpPr/>
            <p:nvPr/>
          </p:nvGrpSpPr>
          <p:grpSpPr>
            <a:xfrm>
              <a:off x="4684410" y="-116555"/>
              <a:ext cx="4959651" cy="2796836"/>
              <a:chOff x="6245882" y="-155406"/>
              <a:chExt cx="6612868" cy="3729114"/>
            </a:xfrm>
            <a:grpFill/>
          </p:grpSpPr>
          <p:sp>
            <p:nvSpPr>
              <p:cNvPr id="569" name="Google Shape;341;p30">
                <a:extLst>
                  <a:ext uri="{FF2B5EF4-FFF2-40B4-BE49-F238E27FC236}">
                    <a16:creationId xmlns:a16="http://schemas.microsoft.com/office/drawing/2014/main" id="{45D6E40C-F9A6-A52B-6C0A-F53F7C017EED}"/>
                  </a:ext>
                </a:extLst>
              </p:cNvPr>
              <p:cNvSpPr/>
              <p:nvPr/>
            </p:nvSpPr>
            <p:spPr>
              <a:xfrm>
                <a:off x="6852085" y="567238"/>
                <a:ext cx="6006665" cy="3006470"/>
              </a:xfrm>
              <a:custGeom>
                <a:avLst/>
                <a:gdLst/>
                <a:ahLst/>
                <a:cxnLst/>
                <a:rect l="l" t="t" r="r" b="b"/>
                <a:pathLst>
                  <a:path w="6006665" h="3006470" extrusionOk="0">
                    <a:moveTo>
                      <a:pt x="1791129" y="817622"/>
                    </a:moveTo>
                    <a:lnTo>
                      <a:pt x="1782156" y="881716"/>
                    </a:lnTo>
                    <a:lnTo>
                      <a:pt x="1809554" y="895415"/>
                    </a:lnTo>
                    <a:close/>
                    <a:moveTo>
                      <a:pt x="2838307" y="0"/>
                    </a:moveTo>
                    <a:lnTo>
                      <a:pt x="2844246" y="4711"/>
                    </a:lnTo>
                    <a:lnTo>
                      <a:pt x="2850213" y="0"/>
                    </a:lnTo>
                    <a:lnTo>
                      <a:pt x="2916115" y="52267"/>
                    </a:lnTo>
                    <a:lnTo>
                      <a:pt x="2861576" y="90899"/>
                    </a:lnTo>
                    <a:lnTo>
                      <a:pt x="2947929" y="118168"/>
                    </a:lnTo>
                    <a:lnTo>
                      <a:pt x="2957621" y="186006"/>
                    </a:lnTo>
                    <a:lnTo>
                      <a:pt x="2979199" y="161345"/>
                    </a:lnTo>
                    <a:lnTo>
                      <a:pt x="2991106" y="161345"/>
                    </a:lnTo>
                    <a:lnTo>
                      <a:pt x="3086005" y="161345"/>
                    </a:lnTo>
                    <a:lnTo>
                      <a:pt x="3097912" y="161345"/>
                    </a:lnTo>
                    <a:lnTo>
                      <a:pt x="3179721" y="236336"/>
                    </a:lnTo>
                    <a:lnTo>
                      <a:pt x="3211535" y="295420"/>
                    </a:lnTo>
                    <a:lnTo>
                      <a:pt x="3200173" y="370412"/>
                    </a:lnTo>
                    <a:lnTo>
                      <a:pt x="3161541" y="413589"/>
                    </a:lnTo>
                    <a:lnTo>
                      <a:pt x="3066097" y="488580"/>
                    </a:lnTo>
                    <a:lnTo>
                      <a:pt x="3034283" y="531757"/>
                    </a:lnTo>
                    <a:lnTo>
                      <a:pt x="3082005" y="547664"/>
                    </a:lnTo>
                    <a:lnTo>
                      <a:pt x="3129459" y="575345"/>
                    </a:lnTo>
                    <a:lnTo>
                      <a:pt x="3156451" y="552209"/>
                    </a:lnTo>
                    <a:lnTo>
                      <a:pt x="3158460" y="560693"/>
                    </a:lnTo>
                    <a:lnTo>
                      <a:pt x="3168359" y="552209"/>
                    </a:lnTo>
                    <a:lnTo>
                      <a:pt x="3184984" y="622402"/>
                    </a:lnTo>
                    <a:lnTo>
                      <a:pt x="3192811" y="606748"/>
                    </a:lnTo>
                    <a:lnTo>
                      <a:pt x="3251895" y="586296"/>
                    </a:lnTo>
                    <a:lnTo>
                      <a:pt x="3259833" y="587670"/>
                    </a:lnTo>
                    <a:lnTo>
                      <a:pt x="3263802" y="586296"/>
                    </a:lnTo>
                    <a:lnTo>
                      <a:pt x="3381970" y="606748"/>
                    </a:lnTo>
                    <a:lnTo>
                      <a:pt x="3388787" y="665832"/>
                    </a:lnTo>
                    <a:lnTo>
                      <a:pt x="3531529" y="686823"/>
                    </a:lnTo>
                    <a:lnTo>
                      <a:pt x="3538225" y="590841"/>
                    </a:lnTo>
                    <a:lnTo>
                      <a:pt x="3549910" y="594028"/>
                    </a:lnTo>
                    <a:lnTo>
                      <a:pt x="3550132" y="590841"/>
                    </a:lnTo>
                    <a:lnTo>
                      <a:pt x="3625123" y="611293"/>
                    </a:lnTo>
                    <a:lnTo>
                      <a:pt x="3672301" y="611293"/>
                    </a:lnTo>
                    <a:lnTo>
                      <a:pt x="3684207" y="611293"/>
                    </a:lnTo>
                    <a:lnTo>
                      <a:pt x="3743291" y="677194"/>
                    </a:lnTo>
                    <a:lnTo>
                      <a:pt x="3759199" y="756731"/>
                    </a:lnTo>
                    <a:lnTo>
                      <a:pt x="3738747" y="806725"/>
                    </a:lnTo>
                    <a:lnTo>
                      <a:pt x="3786469" y="897623"/>
                    </a:lnTo>
                    <a:lnTo>
                      <a:pt x="3835603" y="933529"/>
                    </a:lnTo>
                    <a:lnTo>
                      <a:pt x="3865460" y="822632"/>
                    </a:lnTo>
                    <a:lnTo>
                      <a:pt x="3875077" y="831139"/>
                    </a:lnTo>
                    <a:lnTo>
                      <a:pt x="3877367" y="822632"/>
                    </a:lnTo>
                    <a:lnTo>
                      <a:pt x="3932151" y="871095"/>
                    </a:lnTo>
                    <a:lnTo>
                      <a:pt x="3988173" y="843084"/>
                    </a:lnTo>
                    <a:lnTo>
                      <a:pt x="3993852" y="846199"/>
                    </a:lnTo>
                    <a:lnTo>
                      <a:pt x="4000080" y="843084"/>
                    </a:lnTo>
                    <a:lnTo>
                      <a:pt x="4062426" y="877274"/>
                    </a:lnTo>
                    <a:lnTo>
                      <a:pt x="4085889" y="849902"/>
                    </a:lnTo>
                    <a:lnTo>
                      <a:pt x="4095563" y="852506"/>
                    </a:lnTo>
                    <a:lnTo>
                      <a:pt x="4097796" y="849902"/>
                    </a:lnTo>
                    <a:lnTo>
                      <a:pt x="4144150" y="862382"/>
                    </a:lnTo>
                    <a:lnTo>
                      <a:pt x="4117703" y="752186"/>
                    </a:lnTo>
                    <a:lnTo>
                      <a:pt x="4165425" y="697647"/>
                    </a:lnTo>
                    <a:lnTo>
                      <a:pt x="4175231" y="700048"/>
                    </a:lnTo>
                    <a:lnTo>
                      <a:pt x="4177332" y="697647"/>
                    </a:lnTo>
                    <a:lnTo>
                      <a:pt x="4511384" y="779455"/>
                    </a:lnTo>
                    <a:lnTo>
                      <a:pt x="4543199" y="849902"/>
                    </a:lnTo>
                    <a:lnTo>
                      <a:pt x="4639242" y="932544"/>
                    </a:lnTo>
                    <a:lnTo>
                      <a:pt x="4774445" y="913531"/>
                    </a:lnTo>
                    <a:lnTo>
                      <a:pt x="4778496" y="914635"/>
                    </a:lnTo>
                    <a:lnTo>
                      <a:pt x="4786352" y="913531"/>
                    </a:lnTo>
                    <a:lnTo>
                      <a:pt x="4861343" y="933983"/>
                    </a:lnTo>
                    <a:lnTo>
                      <a:pt x="4893158" y="977160"/>
                    </a:lnTo>
                    <a:lnTo>
                      <a:pt x="4888613" y="1058968"/>
                    </a:lnTo>
                    <a:lnTo>
                      <a:pt x="4927677" y="1083640"/>
                    </a:lnTo>
                    <a:lnTo>
                      <a:pt x="4967605" y="1070331"/>
                    </a:lnTo>
                    <a:lnTo>
                      <a:pt x="5038051" y="1063513"/>
                    </a:lnTo>
                    <a:lnTo>
                      <a:pt x="5040730" y="1064406"/>
                    </a:lnTo>
                    <a:lnTo>
                      <a:pt x="5049958" y="1063513"/>
                    </a:lnTo>
                    <a:lnTo>
                      <a:pt x="5114249" y="1084944"/>
                    </a:lnTo>
                    <a:lnTo>
                      <a:pt x="5176671" y="1074876"/>
                    </a:lnTo>
                    <a:lnTo>
                      <a:pt x="5177801" y="1076614"/>
                    </a:lnTo>
                    <a:lnTo>
                      <a:pt x="5188578" y="1074876"/>
                    </a:lnTo>
                    <a:lnTo>
                      <a:pt x="5243719" y="1159707"/>
                    </a:lnTo>
                    <a:lnTo>
                      <a:pt x="5283477" y="1129415"/>
                    </a:lnTo>
                    <a:lnTo>
                      <a:pt x="5258480" y="1063513"/>
                    </a:lnTo>
                    <a:lnTo>
                      <a:pt x="5267570" y="1015792"/>
                    </a:lnTo>
                    <a:lnTo>
                      <a:pt x="5278896" y="1018841"/>
                    </a:lnTo>
                    <a:lnTo>
                      <a:pt x="5279477" y="1015792"/>
                    </a:lnTo>
                    <a:lnTo>
                      <a:pt x="5395510" y="1047031"/>
                    </a:lnTo>
                    <a:lnTo>
                      <a:pt x="5463001" y="1043061"/>
                    </a:lnTo>
                    <a:lnTo>
                      <a:pt x="5464386" y="1043680"/>
                    </a:lnTo>
                    <a:lnTo>
                      <a:pt x="5474909" y="1043061"/>
                    </a:lnTo>
                    <a:lnTo>
                      <a:pt x="5581715" y="1090783"/>
                    </a:lnTo>
                    <a:lnTo>
                      <a:pt x="5633981" y="1133960"/>
                    </a:lnTo>
                    <a:lnTo>
                      <a:pt x="5720335" y="1213496"/>
                    </a:lnTo>
                    <a:lnTo>
                      <a:pt x="5822595" y="1311212"/>
                    </a:lnTo>
                    <a:lnTo>
                      <a:pt x="5818051" y="1365751"/>
                    </a:lnTo>
                    <a:lnTo>
                      <a:pt x="5825679" y="1373379"/>
                    </a:lnTo>
                    <a:lnTo>
                      <a:pt x="5822051" y="1322574"/>
                    </a:lnTo>
                    <a:lnTo>
                      <a:pt x="5834092" y="1324447"/>
                    </a:lnTo>
                    <a:lnTo>
                      <a:pt x="5833958" y="1322574"/>
                    </a:lnTo>
                    <a:lnTo>
                      <a:pt x="5936219" y="1338481"/>
                    </a:lnTo>
                    <a:lnTo>
                      <a:pt x="6006665" y="1418018"/>
                    </a:lnTo>
                    <a:lnTo>
                      <a:pt x="5968033" y="1456650"/>
                    </a:lnTo>
                    <a:lnTo>
                      <a:pt x="5908949" y="1468012"/>
                    </a:lnTo>
                    <a:lnTo>
                      <a:pt x="5908949" y="1554366"/>
                    </a:lnTo>
                    <a:lnTo>
                      <a:pt x="5893042" y="1570273"/>
                    </a:lnTo>
                    <a:lnTo>
                      <a:pt x="5881135" y="1570273"/>
                    </a:lnTo>
                    <a:lnTo>
                      <a:pt x="5861227" y="1570273"/>
                    </a:lnTo>
                    <a:lnTo>
                      <a:pt x="5849321" y="1570273"/>
                    </a:lnTo>
                    <a:lnTo>
                      <a:pt x="5817506" y="1536186"/>
                    </a:lnTo>
                    <a:lnTo>
                      <a:pt x="5767511" y="1511189"/>
                    </a:lnTo>
                    <a:lnTo>
                      <a:pt x="5762967" y="1477102"/>
                    </a:lnTo>
                    <a:lnTo>
                      <a:pt x="5729132" y="1463170"/>
                    </a:lnTo>
                    <a:lnTo>
                      <a:pt x="5695337" y="1472557"/>
                    </a:lnTo>
                    <a:lnTo>
                      <a:pt x="5693366" y="1469797"/>
                    </a:lnTo>
                    <a:lnTo>
                      <a:pt x="5683431" y="1472557"/>
                    </a:lnTo>
                    <a:lnTo>
                      <a:pt x="5660706" y="1440742"/>
                    </a:lnTo>
                    <a:lnTo>
                      <a:pt x="5669644" y="1415717"/>
                    </a:lnTo>
                    <a:lnTo>
                      <a:pt x="5640799" y="1429380"/>
                    </a:lnTo>
                    <a:lnTo>
                      <a:pt x="5656705" y="1472557"/>
                    </a:lnTo>
                    <a:lnTo>
                      <a:pt x="5633981" y="1511189"/>
                    </a:lnTo>
                    <a:lnTo>
                      <a:pt x="5586259" y="1547548"/>
                    </a:lnTo>
                    <a:lnTo>
                      <a:pt x="5575676" y="1546540"/>
                    </a:lnTo>
                    <a:lnTo>
                      <a:pt x="5574353" y="1547548"/>
                    </a:lnTo>
                    <a:lnTo>
                      <a:pt x="5539436" y="1544223"/>
                    </a:lnTo>
                    <a:lnTo>
                      <a:pt x="5570352" y="1586180"/>
                    </a:lnTo>
                    <a:lnTo>
                      <a:pt x="5593077" y="1649809"/>
                    </a:lnTo>
                    <a:lnTo>
                      <a:pt x="5608984" y="1677079"/>
                    </a:lnTo>
                    <a:lnTo>
                      <a:pt x="5613529" y="1708893"/>
                    </a:lnTo>
                    <a:lnTo>
                      <a:pt x="5608984" y="1731618"/>
                    </a:lnTo>
                    <a:lnTo>
                      <a:pt x="5597799" y="1728009"/>
                    </a:lnTo>
                    <a:lnTo>
                      <a:pt x="5597077" y="1731618"/>
                    </a:lnTo>
                    <a:lnTo>
                      <a:pt x="5534271" y="1711358"/>
                    </a:lnTo>
                    <a:lnTo>
                      <a:pt x="5436277" y="1767977"/>
                    </a:lnTo>
                    <a:lnTo>
                      <a:pt x="5397645" y="1779340"/>
                    </a:lnTo>
                    <a:lnTo>
                      <a:pt x="5345378" y="1833879"/>
                    </a:lnTo>
                    <a:lnTo>
                      <a:pt x="5290839" y="1881600"/>
                    </a:lnTo>
                    <a:lnTo>
                      <a:pt x="5274932" y="1913415"/>
                    </a:lnTo>
                    <a:lnTo>
                      <a:pt x="5267238" y="1904988"/>
                    </a:lnTo>
                    <a:lnTo>
                      <a:pt x="5263025" y="1913415"/>
                    </a:lnTo>
                    <a:lnTo>
                      <a:pt x="5219538" y="1865787"/>
                    </a:lnTo>
                    <a:lnTo>
                      <a:pt x="5129494" y="1920232"/>
                    </a:lnTo>
                    <a:lnTo>
                      <a:pt x="5126389" y="1914910"/>
                    </a:lnTo>
                    <a:lnTo>
                      <a:pt x="5117587" y="1920232"/>
                    </a:lnTo>
                    <a:lnTo>
                      <a:pt x="5105544" y="1899586"/>
                    </a:lnTo>
                    <a:lnTo>
                      <a:pt x="5074955" y="1924777"/>
                    </a:lnTo>
                    <a:lnTo>
                      <a:pt x="5065718" y="1922578"/>
                    </a:lnTo>
                    <a:lnTo>
                      <a:pt x="5063048" y="1924777"/>
                    </a:lnTo>
                    <a:lnTo>
                      <a:pt x="5026594" y="1916098"/>
                    </a:lnTo>
                    <a:lnTo>
                      <a:pt x="5015871" y="1961137"/>
                    </a:lnTo>
                    <a:lnTo>
                      <a:pt x="4974967" y="2027038"/>
                    </a:lnTo>
                    <a:lnTo>
                      <a:pt x="4974967" y="2058853"/>
                    </a:lnTo>
                    <a:lnTo>
                      <a:pt x="5015871" y="2074760"/>
                    </a:lnTo>
                    <a:lnTo>
                      <a:pt x="5011326" y="2172476"/>
                    </a:lnTo>
                    <a:lnTo>
                      <a:pt x="4999419" y="2172476"/>
                    </a:lnTo>
                    <a:lnTo>
                      <a:pt x="4974967" y="2172476"/>
                    </a:lnTo>
                    <a:lnTo>
                      <a:pt x="4963605" y="2224742"/>
                    </a:lnTo>
                    <a:lnTo>
                      <a:pt x="4974967" y="2252012"/>
                    </a:lnTo>
                    <a:lnTo>
                      <a:pt x="4909065" y="2286099"/>
                    </a:lnTo>
                    <a:lnTo>
                      <a:pt x="4897703" y="2354273"/>
                    </a:lnTo>
                    <a:lnTo>
                      <a:pt x="4845437" y="2370180"/>
                    </a:lnTo>
                    <a:lnTo>
                      <a:pt x="4834074" y="2429264"/>
                    </a:lnTo>
                    <a:lnTo>
                      <a:pt x="4779535" y="2488348"/>
                    </a:lnTo>
                    <a:lnTo>
                      <a:pt x="4777225" y="2477952"/>
                    </a:lnTo>
                    <a:lnTo>
                      <a:pt x="4767628" y="2488348"/>
                    </a:lnTo>
                    <a:lnTo>
                      <a:pt x="4758538" y="2447444"/>
                    </a:lnTo>
                    <a:lnTo>
                      <a:pt x="4742631" y="2361090"/>
                    </a:lnTo>
                    <a:lnTo>
                      <a:pt x="4715361" y="2220198"/>
                    </a:lnTo>
                    <a:lnTo>
                      <a:pt x="4735813" y="2129299"/>
                    </a:lnTo>
                    <a:lnTo>
                      <a:pt x="4767628" y="2086122"/>
                    </a:lnTo>
                    <a:lnTo>
                      <a:pt x="4767628" y="2058853"/>
                    </a:lnTo>
                    <a:lnTo>
                      <a:pt x="4826712" y="2042945"/>
                    </a:lnTo>
                    <a:lnTo>
                      <a:pt x="4892613" y="1952047"/>
                    </a:lnTo>
                    <a:lnTo>
                      <a:pt x="4956243" y="1877056"/>
                    </a:lnTo>
                    <a:lnTo>
                      <a:pt x="5022143" y="1817971"/>
                    </a:lnTo>
                    <a:lnTo>
                      <a:pt x="5046694" y="1710844"/>
                    </a:lnTo>
                    <a:lnTo>
                      <a:pt x="5015871" y="1715711"/>
                    </a:lnTo>
                    <a:lnTo>
                      <a:pt x="4995419" y="1779340"/>
                    </a:lnTo>
                    <a:lnTo>
                      <a:pt x="4904521" y="1865693"/>
                    </a:lnTo>
                    <a:lnTo>
                      <a:pt x="4901708" y="1857053"/>
                    </a:lnTo>
                    <a:lnTo>
                      <a:pt x="4892613" y="1865693"/>
                    </a:lnTo>
                    <a:lnTo>
                      <a:pt x="4861835" y="1771159"/>
                    </a:lnTo>
                    <a:lnTo>
                      <a:pt x="4779535" y="1795247"/>
                    </a:lnTo>
                    <a:lnTo>
                      <a:pt x="4684091" y="1920232"/>
                    </a:lnTo>
                    <a:lnTo>
                      <a:pt x="4715906" y="1967954"/>
                    </a:lnTo>
                    <a:lnTo>
                      <a:pt x="4636369" y="1983861"/>
                    </a:lnTo>
                    <a:lnTo>
                      <a:pt x="4577285" y="1988406"/>
                    </a:lnTo>
                    <a:lnTo>
                      <a:pt x="4577373" y="1987484"/>
                    </a:lnTo>
                    <a:lnTo>
                      <a:pt x="4565379" y="1988406"/>
                    </a:lnTo>
                    <a:lnTo>
                      <a:pt x="4569923" y="1940685"/>
                    </a:lnTo>
                    <a:lnTo>
                      <a:pt x="4520081" y="1931099"/>
                    </a:lnTo>
                    <a:lnTo>
                      <a:pt x="4475025" y="1961137"/>
                    </a:lnTo>
                    <a:lnTo>
                      <a:pt x="4464394" y="1960286"/>
                    </a:lnTo>
                    <a:lnTo>
                      <a:pt x="4463118" y="1961137"/>
                    </a:lnTo>
                    <a:lnTo>
                      <a:pt x="4357637" y="1952698"/>
                    </a:lnTo>
                    <a:lnTo>
                      <a:pt x="4243233" y="1972499"/>
                    </a:lnTo>
                    <a:lnTo>
                      <a:pt x="4125065" y="2106574"/>
                    </a:lnTo>
                    <a:lnTo>
                      <a:pt x="3984173" y="2263374"/>
                    </a:lnTo>
                    <a:lnTo>
                      <a:pt x="4038712" y="2267919"/>
                    </a:lnTo>
                    <a:lnTo>
                      <a:pt x="4059164" y="2311096"/>
                    </a:lnTo>
                    <a:lnTo>
                      <a:pt x="4087782" y="2319513"/>
                    </a:lnTo>
                    <a:lnTo>
                      <a:pt x="4106341" y="2290644"/>
                    </a:lnTo>
                    <a:lnTo>
                      <a:pt x="4117411" y="2291946"/>
                    </a:lnTo>
                    <a:lnTo>
                      <a:pt x="4118248" y="2290644"/>
                    </a:lnTo>
                    <a:lnTo>
                      <a:pt x="4156880" y="2295189"/>
                    </a:lnTo>
                    <a:lnTo>
                      <a:pt x="4211419" y="2365635"/>
                    </a:lnTo>
                    <a:lnTo>
                      <a:pt x="4215964" y="2413357"/>
                    </a:lnTo>
                    <a:lnTo>
                      <a:pt x="4184149" y="2472441"/>
                    </a:lnTo>
                    <a:lnTo>
                      <a:pt x="4177332" y="2542887"/>
                    </a:lnTo>
                    <a:lnTo>
                      <a:pt x="4161425" y="2629241"/>
                    </a:lnTo>
                    <a:lnTo>
                      <a:pt x="4109158" y="2708777"/>
                    </a:lnTo>
                    <a:lnTo>
                      <a:pt x="4097796" y="2747409"/>
                    </a:lnTo>
                    <a:lnTo>
                      <a:pt x="4043257" y="2806493"/>
                    </a:lnTo>
                    <a:lnTo>
                      <a:pt x="3995535" y="2865577"/>
                    </a:lnTo>
                    <a:lnTo>
                      <a:pt x="3975083" y="2897392"/>
                    </a:lnTo>
                    <a:lnTo>
                      <a:pt x="3925089" y="2924661"/>
                    </a:lnTo>
                    <a:lnTo>
                      <a:pt x="3913182" y="2924661"/>
                    </a:lnTo>
                    <a:lnTo>
                      <a:pt x="3904637" y="2924661"/>
                    </a:lnTo>
                    <a:lnTo>
                      <a:pt x="3892729" y="2924661"/>
                    </a:lnTo>
                    <a:lnTo>
                      <a:pt x="3871063" y="2908412"/>
                    </a:lnTo>
                    <a:lnTo>
                      <a:pt x="3829645" y="2936024"/>
                    </a:lnTo>
                    <a:lnTo>
                      <a:pt x="3822828" y="2956476"/>
                    </a:lnTo>
                    <a:lnTo>
                      <a:pt x="3818283" y="2947386"/>
                    </a:lnTo>
                    <a:lnTo>
                      <a:pt x="3818283" y="2935660"/>
                    </a:lnTo>
                    <a:lnTo>
                      <a:pt x="3817738" y="2936024"/>
                    </a:lnTo>
                    <a:lnTo>
                      <a:pt x="3810921" y="2956476"/>
                    </a:lnTo>
                    <a:lnTo>
                      <a:pt x="3806376" y="2947386"/>
                    </a:lnTo>
                    <a:lnTo>
                      <a:pt x="3806376" y="2920116"/>
                    </a:lnTo>
                    <a:lnTo>
                      <a:pt x="3818283" y="2920116"/>
                    </a:lnTo>
                    <a:lnTo>
                      <a:pt x="3826828" y="2920116"/>
                    </a:lnTo>
                    <a:lnTo>
                      <a:pt x="3833645" y="2861032"/>
                    </a:lnTo>
                    <a:lnTo>
                      <a:pt x="3822283" y="2817856"/>
                    </a:lnTo>
                    <a:lnTo>
                      <a:pt x="3849553" y="2795131"/>
                    </a:lnTo>
                    <a:lnTo>
                      <a:pt x="3858814" y="2797336"/>
                    </a:lnTo>
                    <a:lnTo>
                      <a:pt x="3861460" y="2795131"/>
                    </a:lnTo>
                    <a:lnTo>
                      <a:pt x="3898487" y="2803947"/>
                    </a:lnTo>
                    <a:lnTo>
                      <a:pt x="3919999" y="2758772"/>
                    </a:lnTo>
                    <a:lnTo>
                      <a:pt x="3935906" y="2699687"/>
                    </a:lnTo>
                    <a:lnTo>
                      <a:pt x="3947269" y="2676963"/>
                    </a:lnTo>
                    <a:lnTo>
                      <a:pt x="3966292" y="2632575"/>
                    </a:lnTo>
                    <a:lnTo>
                      <a:pt x="3915999" y="2645148"/>
                    </a:lnTo>
                    <a:lnTo>
                      <a:pt x="3888729" y="2667873"/>
                    </a:lnTo>
                    <a:lnTo>
                      <a:pt x="3876822" y="2667873"/>
                    </a:lnTo>
                    <a:lnTo>
                      <a:pt x="3829645" y="2667873"/>
                    </a:lnTo>
                    <a:lnTo>
                      <a:pt x="3817738" y="2667873"/>
                    </a:lnTo>
                    <a:lnTo>
                      <a:pt x="3801831" y="2613334"/>
                    </a:lnTo>
                    <a:lnTo>
                      <a:pt x="3758654" y="2574702"/>
                    </a:lnTo>
                    <a:lnTo>
                      <a:pt x="3692753" y="2558795"/>
                    </a:lnTo>
                    <a:lnTo>
                      <a:pt x="3683663" y="2499711"/>
                    </a:lnTo>
                    <a:lnTo>
                      <a:pt x="3672301" y="2467896"/>
                    </a:lnTo>
                    <a:lnTo>
                      <a:pt x="3656393" y="2440627"/>
                    </a:lnTo>
                    <a:lnTo>
                      <a:pt x="3633669" y="2381542"/>
                    </a:lnTo>
                    <a:lnTo>
                      <a:pt x="3601854" y="2361090"/>
                    </a:lnTo>
                    <a:lnTo>
                      <a:pt x="3545995" y="2339606"/>
                    </a:lnTo>
                    <a:lnTo>
                      <a:pt x="3506955" y="2345183"/>
                    </a:lnTo>
                    <a:lnTo>
                      <a:pt x="3463779" y="2354273"/>
                    </a:lnTo>
                    <a:lnTo>
                      <a:pt x="3431964" y="2381542"/>
                    </a:lnTo>
                    <a:lnTo>
                      <a:pt x="3452416" y="2397450"/>
                    </a:lnTo>
                    <a:lnTo>
                      <a:pt x="3452416" y="2429264"/>
                    </a:lnTo>
                    <a:lnTo>
                      <a:pt x="3431964" y="2451989"/>
                    </a:lnTo>
                    <a:lnTo>
                      <a:pt x="3400150" y="2511073"/>
                    </a:lnTo>
                    <a:lnTo>
                      <a:pt x="3400150" y="2538343"/>
                    </a:lnTo>
                    <a:lnTo>
                      <a:pt x="3350155" y="2570157"/>
                    </a:lnTo>
                    <a:lnTo>
                      <a:pt x="3342342" y="2567553"/>
                    </a:lnTo>
                    <a:lnTo>
                      <a:pt x="3338249" y="2570157"/>
                    </a:lnTo>
                    <a:lnTo>
                      <a:pt x="3290527" y="2554250"/>
                    </a:lnTo>
                    <a:lnTo>
                      <a:pt x="3259257" y="2554250"/>
                    </a:lnTo>
                    <a:lnTo>
                      <a:pt x="3247350" y="2554250"/>
                    </a:lnTo>
                    <a:lnTo>
                      <a:pt x="3231443" y="2538343"/>
                    </a:lnTo>
                    <a:lnTo>
                      <a:pt x="3213271" y="2533799"/>
                    </a:lnTo>
                    <a:lnTo>
                      <a:pt x="3168359" y="2570157"/>
                    </a:lnTo>
                    <a:lnTo>
                      <a:pt x="3120637" y="2581519"/>
                    </a:lnTo>
                    <a:lnTo>
                      <a:pt x="3082005" y="2597427"/>
                    </a:lnTo>
                    <a:lnTo>
                      <a:pt x="3074460" y="2595630"/>
                    </a:lnTo>
                    <a:lnTo>
                      <a:pt x="3070098" y="2597427"/>
                    </a:lnTo>
                    <a:lnTo>
                      <a:pt x="3022376" y="2586064"/>
                    </a:lnTo>
                    <a:lnTo>
                      <a:pt x="3000196" y="2586064"/>
                    </a:lnTo>
                    <a:lnTo>
                      <a:pt x="2988289" y="2586064"/>
                    </a:lnTo>
                    <a:lnTo>
                      <a:pt x="2967837" y="2554250"/>
                    </a:lnTo>
                    <a:lnTo>
                      <a:pt x="2929205" y="2526980"/>
                    </a:lnTo>
                    <a:lnTo>
                      <a:pt x="2902153" y="2523116"/>
                    </a:lnTo>
                    <a:lnTo>
                      <a:pt x="2861576" y="2526980"/>
                    </a:lnTo>
                    <a:lnTo>
                      <a:pt x="2822944" y="2538343"/>
                    </a:lnTo>
                    <a:lnTo>
                      <a:pt x="2818139" y="2536254"/>
                    </a:lnTo>
                    <a:lnTo>
                      <a:pt x="2811037" y="2538343"/>
                    </a:lnTo>
                    <a:lnTo>
                      <a:pt x="2758770" y="2515618"/>
                    </a:lnTo>
                    <a:lnTo>
                      <a:pt x="2751953" y="2472441"/>
                    </a:lnTo>
                    <a:lnTo>
                      <a:pt x="2708776" y="2456534"/>
                    </a:lnTo>
                    <a:lnTo>
                      <a:pt x="2676962" y="2451989"/>
                    </a:lnTo>
                    <a:lnTo>
                      <a:pt x="2642534" y="2430245"/>
                    </a:lnTo>
                    <a:lnTo>
                      <a:pt x="2609333" y="2488348"/>
                    </a:lnTo>
                    <a:lnTo>
                      <a:pt x="2625240" y="2522435"/>
                    </a:lnTo>
                    <a:lnTo>
                      <a:pt x="2586608" y="2558795"/>
                    </a:lnTo>
                    <a:lnTo>
                      <a:pt x="2577105" y="2556532"/>
                    </a:lnTo>
                    <a:lnTo>
                      <a:pt x="2574701" y="2558795"/>
                    </a:lnTo>
                    <a:lnTo>
                      <a:pt x="2526979" y="2547432"/>
                    </a:lnTo>
                    <a:lnTo>
                      <a:pt x="2490620" y="2542887"/>
                    </a:lnTo>
                    <a:lnTo>
                      <a:pt x="2463350" y="2515618"/>
                    </a:lnTo>
                    <a:lnTo>
                      <a:pt x="2436625" y="2515618"/>
                    </a:lnTo>
                    <a:lnTo>
                      <a:pt x="2424718" y="2515618"/>
                    </a:lnTo>
                    <a:lnTo>
                      <a:pt x="2398858" y="2502687"/>
                    </a:lnTo>
                    <a:lnTo>
                      <a:pt x="2350272" y="2526980"/>
                    </a:lnTo>
                    <a:lnTo>
                      <a:pt x="2282098" y="2574702"/>
                    </a:lnTo>
                    <a:lnTo>
                      <a:pt x="2238921" y="2586064"/>
                    </a:lnTo>
                    <a:lnTo>
                      <a:pt x="2227559" y="2590609"/>
                    </a:lnTo>
                    <a:lnTo>
                      <a:pt x="2225178" y="2586799"/>
                    </a:lnTo>
                    <a:lnTo>
                      <a:pt x="2215652" y="2590609"/>
                    </a:lnTo>
                    <a:lnTo>
                      <a:pt x="2193596" y="2555320"/>
                    </a:lnTo>
                    <a:lnTo>
                      <a:pt x="2157112" y="2558795"/>
                    </a:lnTo>
                    <a:lnTo>
                      <a:pt x="2156291" y="2557739"/>
                    </a:lnTo>
                    <a:lnTo>
                      <a:pt x="2145205" y="2558795"/>
                    </a:lnTo>
                    <a:lnTo>
                      <a:pt x="2129298" y="2538343"/>
                    </a:lnTo>
                    <a:lnTo>
                      <a:pt x="2102029" y="2526980"/>
                    </a:lnTo>
                    <a:lnTo>
                      <a:pt x="2086121" y="2495166"/>
                    </a:lnTo>
                    <a:lnTo>
                      <a:pt x="2070005" y="2486212"/>
                    </a:lnTo>
                    <a:lnTo>
                      <a:pt x="2027582" y="2499711"/>
                    </a:lnTo>
                    <a:lnTo>
                      <a:pt x="2023845" y="2497111"/>
                    </a:lnTo>
                    <a:lnTo>
                      <a:pt x="2015675" y="2499711"/>
                    </a:lnTo>
                    <a:lnTo>
                      <a:pt x="1971363" y="2468885"/>
                    </a:lnTo>
                    <a:lnTo>
                      <a:pt x="1952591" y="2495166"/>
                    </a:lnTo>
                    <a:lnTo>
                      <a:pt x="1947518" y="2485599"/>
                    </a:lnTo>
                    <a:lnTo>
                      <a:pt x="1940684" y="2495166"/>
                    </a:lnTo>
                    <a:lnTo>
                      <a:pt x="1861147" y="2345183"/>
                    </a:lnTo>
                    <a:lnTo>
                      <a:pt x="1811153" y="2295189"/>
                    </a:lnTo>
                    <a:lnTo>
                      <a:pt x="1813950" y="2292043"/>
                    </a:lnTo>
                    <a:lnTo>
                      <a:pt x="1748069" y="2333821"/>
                    </a:lnTo>
                    <a:lnTo>
                      <a:pt x="1711709" y="2338366"/>
                    </a:lnTo>
                    <a:lnTo>
                      <a:pt x="1711926" y="2336850"/>
                    </a:lnTo>
                    <a:lnTo>
                      <a:pt x="1699803" y="2338366"/>
                    </a:lnTo>
                    <a:lnTo>
                      <a:pt x="1704347" y="2306551"/>
                    </a:lnTo>
                    <a:lnTo>
                      <a:pt x="1662460" y="2288600"/>
                    </a:lnTo>
                    <a:lnTo>
                      <a:pt x="1629901" y="2302006"/>
                    </a:lnTo>
                    <a:lnTo>
                      <a:pt x="1629300" y="2297351"/>
                    </a:lnTo>
                    <a:lnTo>
                      <a:pt x="1617994" y="2302006"/>
                    </a:lnTo>
                    <a:lnTo>
                      <a:pt x="1608904" y="2231560"/>
                    </a:lnTo>
                    <a:lnTo>
                      <a:pt x="1552684" y="2221867"/>
                    </a:lnTo>
                    <a:lnTo>
                      <a:pt x="1518550" y="2247467"/>
                    </a:lnTo>
                    <a:lnTo>
                      <a:pt x="1425379" y="2267919"/>
                    </a:lnTo>
                    <a:lnTo>
                      <a:pt x="1409472" y="2286099"/>
                    </a:lnTo>
                    <a:lnTo>
                      <a:pt x="1270852" y="2306551"/>
                    </a:lnTo>
                    <a:lnTo>
                      <a:pt x="1254945" y="2327003"/>
                    </a:lnTo>
                    <a:lnTo>
                      <a:pt x="1282214" y="2370180"/>
                    </a:lnTo>
                    <a:lnTo>
                      <a:pt x="1243582" y="2386087"/>
                    </a:lnTo>
                    <a:lnTo>
                      <a:pt x="1254945" y="2404267"/>
                    </a:lnTo>
                    <a:lnTo>
                      <a:pt x="1216313" y="2429264"/>
                    </a:lnTo>
                    <a:lnTo>
                      <a:pt x="1275397" y="2472441"/>
                    </a:lnTo>
                    <a:lnTo>
                      <a:pt x="1270852" y="2499711"/>
                    </a:lnTo>
                    <a:lnTo>
                      <a:pt x="1259108" y="2498732"/>
                    </a:lnTo>
                    <a:lnTo>
                      <a:pt x="1258945" y="2499711"/>
                    </a:lnTo>
                    <a:lnTo>
                      <a:pt x="1215644" y="2496102"/>
                    </a:lnTo>
                    <a:lnTo>
                      <a:pt x="1204950" y="2511073"/>
                    </a:lnTo>
                    <a:lnTo>
                      <a:pt x="1196495" y="2506241"/>
                    </a:lnTo>
                    <a:lnTo>
                      <a:pt x="1193043" y="2511073"/>
                    </a:lnTo>
                    <a:lnTo>
                      <a:pt x="1145322" y="2483803"/>
                    </a:lnTo>
                    <a:lnTo>
                      <a:pt x="1098145" y="2483803"/>
                    </a:lnTo>
                    <a:lnTo>
                      <a:pt x="1061785" y="2511073"/>
                    </a:lnTo>
                    <a:lnTo>
                      <a:pt x="1055322" y="2506990"/>
                    </a:lnTo>
                    <a:lnTo>
                      <a:pt x="1049878" y="2511073"/>
                    </a:lnTo>
                    <a:lnTo>
                      <a:pt x="1006701" y="2483803"/>
                    </a:lnTo>
                    <a:lnTo>
                      <a:pt x="924893" y="2447444"/>
                    </a:lnTo>
                    <a:lnTo>
                      <a:pt x="877716" y="2447444"/>
                    </a:lnTo>
                    <a:lnTo>
                      <a:pt x="802724" y="2511073"/>
                    </a:lnTo>
                    <a:lnTo>
                      <a:pt x="798179" y="2554250"/>
                    </a:lnTo>
                    <a:lnTo>
                      <a:pt x="787406" y="2543477"/>
                    </a:lnTo>
                    <a:lnTo>
                      <a:pt x="786272" y="2554250"/>
                    </a:lnTo>
                    <a:lnTo>
                      <a:pt x="756063" y="2524040"/>
                    </a:lnTo>
                    <a:lnTo>
                      <a:pt x="732278" y="2581519"/>
                    </a:lnTo>
                    <a:lnTo>
                      <a:pt x="743640" y="2590609"/>
                    </a:lnTo>
                    <a:lnTo>
                      <a:pt x="723188" y="2633786"/>
                    </a:lnTo>
                    <a:lnTo>
                      <a:pt x="747026" y="2670627"/>
                    </a:lnTo>
                    <a:lnTo>
                      <a:pt x="763548" y="2667873"/>
                    </a:lnTo>
                    <a:lnTo>
                      <a:pt x="764871" y="2669637"/>
                    </a:lnTo>
                    <a:lnTo>
                      <a:pt x="775455" y="2667873"/>
                    </a:lnTo>
                    <a:lnTo>
                      <a:pt x="802724" y="2704232"/>
                    </a:lnTo>
                    <a:lnTo>
                      <a:pt x="798179" y="2731502"/>
                    </a:lnTo>
                    <a:lnTo>
                      <a:pt x="818632" y="2742864"/>
                    </a:lnTo>
                    <a:lnTo>
                      <a:pt x="802724" y="2774679"/>
                    </a:lnTo>
                    <a:lnTo>
                      <a:pt x="766365" y="2779224"/>
                    </a:lnTo>
                    <a:lnTo>
                      <a:pt x="727733" y="2838308"/>
                    </a:lnTo>
                    <a:lnTo>
                      <a:pt x="759548" y="2881485"/>
                    </a:lnTo>
                    <a:lnTo>
                      <a:pt x="759548" y="2920116"/>
                    </a:lnTo>
                    <a:lnTo>
                      <a:pt x="798179" y="2979201"/>
                    </a:lnTo>
                    <a:lnTo>
                      <a:pt x="775455" y="2995108"/>
                    </a:lnTo>
                    <a:lnTo>
                      <a:pt x="770910" y="3006470"/>
                    </a:lnTo>
                    <a:lnTo>
                      <a:pt x="759003" y="3006470"/>
                    </a:lnTo>
                    <a:lnTo>
                      <a:pt x="755003" y="3006470"/>
                    </a:lnTo>
                    <a:lnTo>
                      <a:pt x="743096" y="3006470"/>
                    </a:lnTo>
                    <a:lnTo>
                      <a:pt x="715826" y="2972383"/>
                    </a:lnTo>
                    <a:lnTo>
                      <a:pt x="704464" y="2972383"/>
                    </a:lnTo>
                    <a:lnTo>
                      <a:pt x="684012" y="2963293"/>
                    </a:lnTo>
                    <a:lnTo>
                      <a:pt x="672649" y="2940569"/>
                    </a:lnTo>
                    <a:lnTo>
                      <a:pt x="645222" y="2932732"/>
                    </a:lnTo>
                    <a:lnTo>
                      <a:pt x="625472" y="2936024"/>
                    </a:lnTo>
                    <a:lnTo>
                      <a:pt x="623771" y="2934323"/>
                    </a:lnTo>
                    <a:lnTo>
                      <a:pt x="613565" y="2936024"/>
                    </a:lnTo>
                    <a:lnTo>
                      <a:pt x="609020" y="2931479"/>
                    </a:lnTo>
                    <a:lnTo>
                      <a:pt x="559026" y="2904209"/>
                    </a:lnTo>
                    <a:lnTo>
                      <a:pt x="506760" y="2897392"/>
                    </a:lnTo>
                    <a:lnTo>
                      <a:pt x="483280" y="2890683"/>
                    </a:lnTo>
                    <a:lnTo>
                      <a:pt x="480035" y="2892847"/>
                    </a:lnTo>
                    <a:lnTo>
                      <a:pt x="475042" y="2888329"/>
                    </a:lnTo>
                    <a:lnTo>
                      <a:pt x="474945" y="2888302"/>
                    </a:lnTo>
                    <a:lnTo>
                      <a:pt x="468128" y="2892847"/>
                    </a:lnTo>
                    <a:lnTo>
                      <a:pt x="420406" y="2849670"/>
                    </a:lnTo>
                    <a:lnTo>
                      <a:pt x="381774" y="2833763"/>
                    </a:lnTo>
                    <a:lnTo>
                      <a:pt x="349960" y="2801948"/>
                    </a:lnTo>
                    <a:lnTo>
                      <a:pt x="377229" y="2795131"/>
                    </a:lnTo>
                    <a:lnTo>
                      <a:pt x="404499" y="2747409"/>
                    </a:lnTo>
                    <a:lnTo>
                      <a:pt x="388591" y="2731502"/>
                    </a:lnTo>
                    <a:lnTo>
                      <a:pt x="440858" y="2704232"/>
                    </a:lnTo>
                    <a:lnTo>
                      <a:pt x="440858" y="2701176"/>
                    </a:lnTo>
                    <a:lnTo>
                      <a:pt x="416406" y="2704232"/>
                    </a:lnTo>
                    <a:lnTo>
                      <a:pt x="416406" y="2702744"/>
                    </a:lnTo>
                    <a:lnTo>
                      <a:pt x="404499" y="2704232"/>
                    </a:lnTo>
                    <a:lnTo>
                      <a:pt x="404499" y="2683780"/>
                    </a:lnTo>
                    <a:lnTo>
                      <a:pt x="424951" y="2667873"/>
                    </a:lnTo>
                    <a:lnTo>
                      <a:pt x="463583" y="2661056"/>
                    </a:lnTo>
                    <a:lnTo>
                      <a:pt x="468128" y="2645148"/>
                    </a:lnTo>
                    <a:lnTo>
                      <a:pt x="456765" y="2613334"/>
                    </a:lnTo>
                    <a:lnTo>
                      <a:pt x="474945" y="2586064"/>
                    </a:lnTo>
                    <a:lnTo>
                      <a:pt x="474945" y="2565612"/>
                    </a:lnTo>
                    <a:lnTo>
                      <a:pt x="420406" y="2547432"/>
                    </a:lnTo>
                    <a:lnTo>
                      <a:pt x="409588" y="2547432"/>
                    </a:lnTo>
                    <a:lnTo>
                      <a:pt x="397681" y="2547432"/>
                    </a:lnTo>
                    <a:lnTo>
                      <a:pt x="379485" y="2525193"/>
                    </a:lnTo>
                    <a:lnTo>
                      <a:pt x="357322" y="2531525"/>
                    </a:lnTo>
                    <a:lnTo>
                      <a:pt x="352842" y="2529403"/>
                    </a:lnTo>
                    <a:lnTo>
                      <a:pt x="345415" y="2531525"/>
                    </a:lnTo>
                    <a:lnTo>
                      <a:pt x="302238" y="2511073"/>
                    </a:lnTo>
                    <a:lnTo>
                      <a:pt x="302238" y="2499711"/>
                    </a:lnTo>
                    <a:lnTo>
                      <a:pt x="286331" y="2472441"/>
                    </a:lnTo>
                    <a:lnTo>
                      <a:pt x="270968" y="2472441"/>
                    </a:lnTo>
                    <a:lnTo>
                      <a:pt x="259061" y="2472441"/>
                    </a:lnTo>
                    <a:lnTo>
                      <a:pt x="254516" y="2456534"/>
                    </a:lnTo>
                    <a:lnTo>
                      <a:pt x="263606" y="2440627"/>
                    </a:lnTo>
                    <a:lnTo>
                      <a:pt x="243991" y="2410114"/>
                    </a:lnTo>
                    <a:lnTo>
                      <a:pt x="216429" y="2413357"/>
                    </a:lnTo>
                    <a:lnTo>
                      <a:pt x="212956" y="2412365"/>
                    </a:lnTo>
                    <a:lnTo>
                      <a:pt x="204522" y="2413357"/>
                    </a:lnTo>
                    <a:lnTo>
                      <a:pt x="199623" y="2411957"/>
                    </a:lnTo>
                    <a:lnTo>
                      <a:pt x="195977" y="2424719"/>
                    </a:lnTo>
                    <a:lnTo>
                      <a:pt x="184968" y="2421574"/>
                    </a:lnTo>
                    <a:lnTo>
                      <a:pt x="184070" y="2424719"/>
                    </a:lnTo>
                    <a:lnTo>
                      <a:pt x="168163" y="2420174"/>
                    </a:lnTo>
                    <a:lnTo>
                      <a:pt x="156800" y="2381542"/>
                    </a:lnTo>
                    <a:lnTo>
                      <a:pt x="152255" y="2365635"/>
                    </a:lnTo>
                    <a:lnTo>
                      <a:pt x="156800" y="2361090"/>
                    </a:lnTo>
                    <a:lnTo>
                      <a:pt x="168707" y="2361090"/>
                    </a:lnTo>
                    <a:lnTo>
                      <a:pt x="188615" y="2361090"/>
                    </a:lnTo>
                    <a:lnTo>
                      <a:pt x="199977" y="2349728"/>
                    </a:lnTo>
                    <a:lnTo>
                      <a:pt x="188615" y="2327003"/>
                    </a:lnTo>
                    <a:lnTo>
                      <a:pt x="168163" y="2317914"/>
                    </a:lnTo>
                    <a:lnTo>
                      <a:pt x="168163" y="2311096"/>
                    </a:lnTo>
                    <a:lnTo>
                      <a:pt x="152255" y="2295189"/>
                    </a:lnTo>
                    <a:lnTo>
                      <a:pt x="129531" y="2258829"/>
                    </a:lnTo>
                    <a:lnTo>
                      <a:pt x="140893" y="2236105"/>
                    </a:lnTo>
                    <a:lnTo>
                      <a:pt x="136348" y="2208835"/>
                    </a:lnTo>
                    <a:lnTo>
                      <a:pt x="103789" y="2195428"/>
                    </a:lnTo>
                    <a:lnTo>
                      <a:pt x="93716" y="2199745"/>
                    </a:lnTo>
                    <a:lnTo>
                      <a:pt x="91868" y="2195434"/>
                    </a:lnTo>
                    <a:lnTo>
                      <a:pt x="81809" y="2199745"/>
                    </a:lnTo>
                    <a:lnTo>
                      <a:pt x="74992" y="2183838"/>
                    </a:lnTo>
                    <a:lnTo>
                      <a:pt x="34087" y="2172476"/>
                    </a:lnTo>
                    <a:lnTo>
                      <a:pt x="22725" y="2129299"/>
                    </a:lnTo>
                    <a:lnTo>
                      <a:pt x="22725" y="2097484"/>
                    </a:lnTo>
                    <a:lnTo>
                      <a:pt x="0" y="2081577"/>
                    </a:lnTo>
                    <a:lnTo>
                      <a:pt x="15907" y="2058853"/>
                    </a:lnTo>
                    <a:lnTo>
                      <a:pt x="6818" y="1995224"/>
                    </a:lnTo>
                    <a:lnTo>
                      <a:pt x="34087" y="1952047"/>
                    </a:lnTo>
                    <a:lnTo>
                      <a:pt x="27270" y="1940685"/>
                    </a:lnTo>
                    <a:lnTo>
                      <a:pt x="70447" y="1902053"/>
                    </a:lnTo>
                    <a:lnTo>
                      <a:pt x="27270" y="1865693"/>
                    </a:lnTo>
                    <a:lnTo>
                      <a:pt x="109078" y="1767977"/>
                    </a:lnTo>
                    <a:lnTo>
                      <a:pt x="145438" y="1724800"/>
                    </a:lnTo>
                    <a:lnTo>
                      <a:pt x="156800" y="1681624"/>
                    </a:lnTo>
                    <a:lnTo>
                      <a:pt x="102261" y="1629357"/>
                    </a:lnTo>
                    <a:lnTo>
                      <a:pt x="118168" y="1574818"/>
                    </a:lnTo>
                    <a:lnTo>
                      <a:pt x="86354" y="1511189"/>
                    </a:lnTo>
                    <a:lnTo>
                      <a:pt x="109078" y="1436197"/>
                    </a:lnTo>
                    <a:lnTo>
                      <a:pt x="70447" y="1333936"/>
                    </a:lnTo>
                    <a:lnTo>
                      <a:pt x="102261" y="1263490"/>
                    </a:lnTo>
                    <a:lnTo>
                      <a:pt x="43177" y="1197589"/>
                    </a:lnTo>
                    <a:lnTo>
                      <a:pt x="49994" y="1122597"/>
                    </a:lnTo>
                    <a:lnTo>
                      <a:pt x="81809" y="1118052"/>
                    </a:lnTo>
                    <a:lnTo>
                      <a:pt x="145438" y="1074876"/>
                    </a:lnTo>
                    <a:lnTo>
                      <a:pt x="184070" y="1036244"/>
                    </a:lnTo>
                    <a:lnTo>
                      <a:pt x="189699" y="1042522"/>
                    </a:lnTo>
                    <a:lnTo>
                      <a:pt x="195977" y="1036244"/>
                    </a:lnTo>
                    <a:lnTo>
                      <a:pt x="255061" y="1102145"/>
                    </a:lnTo>
                    <a:lnTo>
                      <a:pt x="350504" y="1122597"/>
                    </a:lnTo>
                    <a:lnTo>
                      <a:pt x="491397" y="1236221"/>
                    </a:lnTo>
                    <a:lnTo>
                      <a:pt x="523211" y="1283942"/>
                    </a:lnTo>
                    <a:lnTo>
                      <a:pt x="523211" y="1343026"/>
                    </a:lnTo>
                    <a:lnTo>
                      <a:pt x="486852" y="1397565"/>
                    </a:lnTo>
                    <a:lnTo>
                      <a:pt x="420951" y="1418018"/>
                    </a:lnTo>
                    <a:lnTo>
                      <a:pt x="415909" y="1415887"/>
                    </a:lnTo>
                    <a:lnTo>
                      <a:pt x="409044" y="1418018"/>
                    </a:lnTo>
                    <a:lnTo>
                      <a:pt x="252950" y="1352062"/>
                    </a:lnTo>
                    <a:lnTo>
                      <a:pt x="232336" y="1358934"/>
                    </a:lnTo>
                    <a:lnTo>
                      <a:pt x="291420" y="1429380"/>
                    </a:lnTo>
                    <a:lnTo>
                      <a:pt x="291420" y="1468012"/>
                    </a:lnTo>
                    <a:lnTo>
                      <a:pt x="298238" y="1554366"/>
                    </a:lnTo>
                    <a:lnTo>
                      <a:pt x="345959" y="1586180"/>
                    </a:lnTo>
                    <a:lnTo>
                      <a:pt x="362087" y="1595588"/>
                    </a:lnTo>
                    <a:lnTo>
                      <a:pt x="365867" y="1563455"/>
                    </a:lnTo>
                    <a:lnTo>
                      <a:pt x="345415" y="1527096"/>
                    </a:lnTo>
                    <a:lnTo>
                      <a:pt x="365867" y="1495281"/>
                    </a:lnTo>
                    <a:lnTo>
                      <a:pt x="374560" y="1500280"/>
                    </a:lnTo>
                    <a:lnTo>
                      <a:pt x="377774" y="1495281"/>
                    </a:lnTo>
                    <a:lnTo>
                      <a:pt x="461933" y="1543673"/>
                    </a:lnTo>
                    <a:lnTo>
                      <a:pt x="484035" y="1527096"/>
                    </a:lnTo>
                    <a:lnTo>
                      <a:pt x="463583" y="1461194"/>
                    </a:lnTo>
                    <a:lnTo>
                      <a:pt x="549936" y="1374841"/>
                    </a:lnTo>
                    <a:lnTo>
                      <a:pt x="559742" y="1376942"/>
                    </a:lnTo>
                    <a:lnTo>
                      <a:pt x="561843" y="1374841"/>
                    </a:lnTo>
                    <a:lnTo>
                      <a:pt x="593658" y="1381658"/>
                    </a:lnTo>
                    <a:lnTo>
                      <a:pt x="620945" y="1405535"/>
                    </a:lnTo>
                    <a:lnTo>
                      <a:pt x="640835" y="1349844"/>
                    </a:lnTo>
                    <a:lnTo>
                      <a:pt x="609020" y="1295305"/>
                    </a:lnTo>
                    <a:lnTo>
                      <a:pt x="624928" y="1236221"/>
                    </a:lnTo>
                    <a:lnTo>
                      <a:pt x="597658" y="1177136"/>
                    </a:lnTo>
                    <a:lnTo>
                      <a:pt x="611562" y="1181462"/>
                    </a:lnTo>
                    <a:lnTo>
                      <a:pt x="609565" y="1177136"/>
                    </a:lnTo>
                    <a:lnTo>
                      <a:pt x="711826" y="1208951"/>
                    </a:lnTo>
                    <a:lnTo>
                      <a:pt x="732278" y="1263490"/>
                    </a:lnTo>
                    <a:lnTo>
                      <a:pt x="684556" y="1274852"/>
                    </a:lnTo>
                    <a:lnTo>
                      <a:pt x="684556" y="1327119"/>
                    </a:lnTo>
                    <a:lnTo>
                      <a:pt x="713309" y="1355872"/>
                    </a:lnTo>
                    <a:lnTo>
                      <a:pt x="763548" y="1338481"/>
                    </a:lnTo>
                    <a:lnTo>
                      <a:pt x="770365" y="1279397"/>
                    </a:lnTo>
                    <a:lnTo>
                      <a:pt x="845357" y="1231676"/>
                    </a:lnTo>
                    <a:lnTo>
                      <a:pt x="972614" y="1145322"/>
                    </a:lnTo>
                    <a:lnTo>
                      <a:pt x="982566" y="1146649"/>
                    </a:lnTo>
                    <a:lnTo>
                      <a:pt x="984521" y="1145322"/>
                    </a:lnTo>
                    <a:lnTo>
                      <a:pt x="1018608" y="1149867"/>
                    </a:lnTo>
                    <a:lnTo>
                      <a:pt x="979977" y="1213496"/>
                    </a:lnTo>
                    <a:lnTo>
                      <a:pt x="1012666" y="1218657"/>
                    </a:lnTo>
                    <a:lnTo>
                      <a:pt x="1038516" y="1188499"/>
                    </a:lnTo>
                    <a:lnTo>
                      <a:pt x="1050423" y="1188499"/>
                    </a:lnTo>
                    <a:lnTo>
                      <a:pt x="1108962" y="1188499"/>
                    </a:lnTo>
                    <a:lnTo>
                      <a:pt x="1161229" y="1145322"/>
                    </a:lnTo>
                    <a:lnTo>
                      <a:pt x="1165711" y="1151456"/>
                    </a:lnTo>
                    <a:lnTo>
                      <a:pt x="1173136" y="1145322"/>
                    </a:lnTo>
                    <a:lnTo>
                      <a:pt x="1210035" y="1195815"/>
                    </a:lnTo>
                    <a:lnTo>
                      <a:pt x="1247583" y="1138505"/>
                    </a:lnTo>
                    <a:lnTo>
                      <a:pt x="1211223" y="1079421"/>
                    </a:lnTo>
                    <a:lnTo>
                      <a:pt x="1227130" y="1043061"/>
                    </a:lnTo>
                    <a:lnTo>
                      <a:pt x="1237665" y="1046199"/>
                    </a:lnTo>
                    <a:lnTo>
                      <a:pt x="1239037" y="1043061"/>
                    </a:lnTo>
                    <a:lnTo>
                      <a:pt x="1345843" y="1074876"/>
                    </a:lnTo>
                    <a:lnTo>
                      <a:pt x="1400382" y="1106690"/>
                    </a:lnTo>
                    <a:lnTo>
                      <a:pt x="1519756" y="1213274"/>
                    </a:lnTo>
                    <a:lnTo>
                      <a:pt x="1543003" y="1172592"/>
                    </a:lnTo>
                    <a:lnTo>
                      <a:pt x="1506643" y="1118052"/>
                    </a:lnTo>
                    <a:lnTo>
                      <a:pt x="1506643" y="1095328"/>
                    </a:lnTo>
                    <a:lnTo>
                      <a:pt x="1463467" y="1086238"/>
                    </a:lnTo>
                    <a:lnTo>
                      <a:pt x="1472556" y="1036244"/>
                    </a:lnTo>
                    <a:lnTo>
                      <a:pt x="1452104" y="949890"/>
                    </a:lnTo>
                    <a:lnTo>
                      <a:pt x="1452104" y="913531"/>
                    </a:lnTo>
                    <a:lnTo>
                      <a:pt x="1522551" y="811270"/>
                    </a:lnTo>
                    <a:lnTo>
                      <a:pt x="1543003" y="697647"/>
                    </a:lnTo>
                    <a:lnTo>
                      <a:pt x="1570272" y="677194"/>
                    </a:lnTo>
                    <a:lnTo>
                      <a:pt x="1578688" y="679813"/>
                    </a:lnTo>
                    <a:lnTo>
                      <a:pt x="1582179" y="677194"/>
                    </a:lnTo>
                    <a:lnTo>
                      <a:pt x="1684440" y="709009"/>
                    </a:lnTo>
                    <a:lnTo>
                      <a:pt x="1688985" y="779455"/>
                    </a:lnTo>
                    <a:lnTo>
                      <a:pt x="1652625" y="870354"/>
                    </a:lnTo>
                    <a:lnTo>
                      <a:pt x="1679895" y="908986"/>
                    </a:lnTo>
                    <a:lnTo>
                      <a:pt x="1688985" y="983977"/>
                    </a:lnTo>
                    <a:lnTo>
                      <a:pt x="1679895" y="1129415"/>
                    </a:lnTo>
                    <a:lnTo>
                      <a:pt x="1723072" y="1193044"/>
                    </a:lnTo>
                    <a:lnTo>
                      <a:pt x="1704892" y="1256673"/>
                    </a:lnTo>
                    <a:lnTo>
                      <a:pt x="1636718" y="1393021"/>
                    </a:lnTo>
                    <a:lnTo>
                      <a:pt x="1662494" y="1399465"/>
                    </a:lnTo>
                    <a:lnTo>
                      <a:pt x="1677078" y="1370296"/>
                    </a:lnTo>
                    <a:lnTo>
                      <a:pt x="1720255" y="1349844"/>
                    </a:lnTo>
                    <a:lnTo>
                      <a:pt x="1731617" y="1299850"/>
                    </a:lnTo>
                    <a:lnTo>
                      <a:pt x="1758887" y="1256673"/>
                    </a:lnTo>
                    <a:lnTo>
                      <a:pt x="1736162" y="1197589"/>
                    </a:lnTo>
                    <a:lnTo>
                      <a:pt x="1758887" y="1133960"/>
                    </a:lnTo>
                    <a:lnTo>
                      <a:pt x="1715710" y="1122597"/>
                    </a:lnTo>
                    <a:lnTo>
                      <a:pt x="1704347" y="1070331"/>
                    </a:lnTo>
                    <a:lnTo>
                      <a:pt x="1736162" y="961252"/>
                    </a:lnTo>
                    <a:lnTo>
                      <a:pt x="1688440" y="865809"/>
                    </a:lnTo>
                    <a:lnTo>
                      <a:pt x="1752069" y="788545"/>
                    </a:lnTo>
                    <a:lnTo>
                      <a:pt x="1747524" y="704464"/>
                    </a:lnTo>
                    <a:lnTo>
                      <a:pt x="1763431" y="697647"/>
                    </a:lnTo>
                    <a:lnTo>
                      <a:pt x="1764877" y="702130"/>
                    </a:lnTo>
                    <a:lnTo>
                      <a:pt x="1775339" y="697647"/>
                    </a:lnTo>
                    <a:lnTo>
                      <a:pt x="1798063" y="768093"/>
                    </a:lnTo>
                    <a:lnTo>
                      <a:pt x="1791454" y="815304"/>
                    </a:lnTo>
                    <a:lnTo>
                      <a:pt x="1854330" y="772638"/>
                    </a:lnTo>
                    <a:lnTo>
                      <a:pt x="1931594" y="763548"/>
                    </a:lnTo>
                    <a:lnTo>
                      <a:pt x="1932772" y="764810"/>
                    </a:lnTo>
                    <a:lnTo>
                      <a:pt x="1943501" y="763548"/>
                    </a:lnTo>
                    <a:lnTo>
                      <a:pt x="1988608" y="811877"/>
                    </a:lnTo>
                    <a:lnTo>
                      <a:pt x="1963408" y="736278"/>
                    </a:lnTo>
                    <a:lnTo>
                      <a:pt x="1963408" y="595386"/>
                    </a:lnTo>
                    <a:lnTo>
                      <a:pt x="2027037" y="574934"/>
                    </a:lnTo>
                    <a:lnTo>
                      <a:pt x="2037269" y="575472"/>
                    </a:lnTo>
                    <a:lnTo>
                      <a:pt x="2038944" y="574934"/>
                    </a:lnTo>
                    <a:lnTo>
                      <a:pt x="2115414" y="578958"/>
                    </a:lnTo>
                    <a:lnTo>
                      <a:pt x="2192927" y="559026"/>
                    </a:lnTo>
                    <a:lnTo>
                      <a:pt x="2167930" y="493125"/>
                    </a:lnTo>
                    <a:lnTo>
                      <a:pt x="2204289" y="402226"/>
                    </a:lnTo>
                    <a:lnTo>
                      <a:pt x="2247466" y="397681"/>
                    </a:lnTo>
                    <a:lnTo>
                      <a:pt x="2317913" y="322690"/>
                    </a:lnTo>
                    <a:lnTo>
                      <a:pt x="2420173" y="304510"/>
                    </a:lnTo>
                    <a:lnTo>
                      <a:pt x="2429263" y="263606"/>
                    </a:lnTo>
                    <a:lnTo>
                      <a:pt x="2526979" y="252244"/>
                    </a:lnTo>
                    <a:lnTo>
                      <a:pt x="2528058" y="253503"/>
                    </a:lnTo>
                    <a:lnTo>
                      <a:pt x="2538886" y="252244"/>
                    </a:lnTo>
                    <a:lnTo>
                      <a:pt x="2560820" y="277833"/>
                    </a:lnTo>
                    <a:lnTo>
                      <a:pt x="2640602" y="202249"/>
                    </a:lnTo>
                    <a:lnTo>
                      <a:pt x="2652509" y="202249"/>
                    </a:lnTo>
                    <a:lnTo>
                      <a:pt x="2704231" y="202249"/>
                    </a:lnTo>
                    <a:lnTo>
                      <a:pt x="2715593" y="134075"/>
                    </a:lnTo>
                    <a:lnTo>
                      <a:pt x="2751953" y="68174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342;p30">
                <a:extLst>
                  <a:ext uri="{FF2B5EF4-FFF2-40B4-BE49-F238E27FC236}">
                    <a16:creationId xmlns:a16="http://schemas.microsoft.com/office/drawing/2014/main" id="{345885D5-1D6E-77BA-44F4-54ED18DB6A59}"/>
                  </a:ext>
                </a:extLst>
              </p:cNvPr>
              <p:cNvSpPr/>
              <p:nvPr/>
            </p:nvSpPr>
            <p:spPr>
              <a:xfrm>
                <a:off x="10902160" y="812664"/>
                <a:ext cx="299965" cy="227246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00" extrusionOk="0">
                    <a:moveTo>
                      <a:pt x="59" y="83"/>
                    </a:moveTo>
                    <a:lnTo>
                      <a:pt x="120" y="86"/>
                    </a:lnTo>
                    <a:lnTo>
                      <a:pt x="132" y="38"/>
                    </a:lnTo>
                    <a:lnTo>
                      <a:pt x="73" y="5"/>
                    </a:lnTo>
                    <a:lnTo>
                      <a:pt x="30" y="0"/>
                    </a:lnTo>
                    <a:lnTo>
                      <a:pt x="9" y="15"/>
                    </a:lnTo>
                    <a:lnTo>
                      <a:pt x="0" y="57"/>
                    </a:lnTo>
                    <a:lnTo>
                      <a:pt x="33" y="100"/>
                    </a:lnTo>
                    <a:lnTo>
                      <a:pt x="59" y="83"/>
                    </a:lnTo>
                    <a:lnTo>
                      <a:pt x="59" y="83"/>
                    </a:lnTo>
                    <a:lnTo>
                      <a:pt x="59" y="83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343;p30">
                <a:extLst>
                  <a:ext uri="{FF2B5EF4-FFF2-40B4-BE49-F238E27FC236}">
                    <a16:creationId xmlns:a16="http://schemas.microsoft.com/office/drawing/2014/main" id="{64296DD7-183A-856B-1ACA-FBC5D0CD6C02}"/>
                  </a:ext>
                </a:extLst>
              </p:cNvPr>
              <p:cNvSpPr/>
              <p:nvPr/>
            </p:nvSpPr>
            <p:spPr>
              <a:xfrm>
                <a:off x="11008965" y="1142170"/>
                <a:ext cx="140893" cy="79537"/>
              </a:xfrm>
              <a:custGeom>
                <a:avLst/>
                <a:gdLst/>
                <a:ahLst/>
                <a:cxnLst/>
                <a:rect l="l" t="t" r="r" b="b"/>
                <a:pathLst>
                  <a:path w="62" h="35" extrusionOk="0">
                    <a:moveTo>
                      <a:pt x="17" y="5"/>
                    </a:moveTo>
                    <a:lnTo>
                      <a:pt x="0" y="26"/>
                    </a:lnTo>
                    <a:lnTo>
                      <a:pt x="2" y="31"/>
                    </a:lnTo>
                    <a:lnTo>
                      <a:pt x="36" y="35"/>
                    </a:lnTo>
                    <a:lnTo>
                      <a:pt x="62" y="35"/>
                    </a:lnTo>
                    <a:lnTo>
                      <a:pt x="59" y="21"/>
                    </a:lnTo>
                    <a:lnTo>
                      <a:pt x="36" y="0"/>
                    </a:lnTo>
                    <a:lnTo>
                      <a:pt x="17" y="5"/>
                    </a:lnTo>
                    <a:lnTo>
                      <a:pt x="17" y="5"/>
                    </a:lnTo>
                    <a:lnTo>
                      <a:pt x="17" y="5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344;p30">
                <a:extLst>
                  <a:ext uri="{FF2B5EF4-FFF2-40B4-BE49-F238E27FC236}">
                    <a16:creationId xmlns:a16="http://schemas.microsoft.com/office/drawing/2014/main" id="{01C36D04-D7F9-E115-6C20-2F1E479CEE59}"/>
                  </a:ext>
                </a:extLst>
              </p:cNvPr>
              <p:cNvSpPr/>
              <p:nvPr/>
            </p:nvSpPr>
            <p:spPr>
              <a:xfrm>
                <a:off x="9520502" y="264999"/>
                <a:ext cx="220430" cy="25906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4" extrusionOk="0">
                    <a:moveTo>
                      <a:pt x="92" y="85"/>
                    </a:moveTo>
                    <a:lnTo>
                      <a:pt x="97" y="52"/>
                    </a:lnTo>
                    <a:lnTo>
                      <a:pt x="57" y="5"/>
                    </a:lnTo>
                    <a:lnTo>
                      <a:pt x="42" y="0"/>
                    </a:lnTo>
                    <a:lnTo>
                      <a:pt x="31" y="7"/>
                    </a:lnTo>
                    <a:lnTo>
                      <a:pt x="0" y="114"/>
                    </a:lnTo>
                    <a:lnTo>
                      <a:pt x="92" y="85"/>
                    </a:lnTo>
                    <a:lnTo>
                      <a:pt x="92" y="85"/>
                    </a:lnTo>
                    <a:lnTo>
                      <a:pt x="92" y="85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345;p30">
                <a:extLst>
                  <a:ext uri="{FF2B5EF4-FFF2-40B4-BE49-F238E27FC236}">
                    <a16:creationId xmlns:a16="http://schemas.microsoft.com/office/drawing/2014/main" id="{97085D6B-8F0F-D907-14BF-6401B8FA8B88}"/>
                  </a:ext>
                </a:extLst>
              </p:cNvPr>
              <p:cNvSpPr/>
              <p:nvPr/>
            </p:nvSpPr>
            <p:spPr>
              <a:xfrm>
                <a:off x="11233940" y="910379"/>
                <a:ext cx="172707" cy="11816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2" extrusionOk="0">
                    <a:moveTo>
                      <a:pt x="57" y="52"/>
                    </a:moveTo>
                    <a:lnTo>
                      <a:pt x="76" y="26"/>
                    </a:lnTo>
                    <a:lnTo>
                      <a:pt x="36" y="9"/>
                    </a:lnTo>
                    <a:lnTo>
                      <a:pt x="5" y="0"/>
                    </a:lnTo>
                    <a:lnTo>
                      <a:pt x="0" y="21"/>
                    </a:lnTo>
                    <a:lnTo>
                      <a:pt x="31" y="45"/>
                    </a:lnTo>
                    <a:lnTo>
                      <a:pt x="57" y="52"/>
                    </a:lnTo>
                    <a:lnTo>
                      <a:pt x="57" y="52"/>
                    </a:lnTo>
                    <a:lnTo>
                      <a:pt x="57" y="52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346;p30">
                <a:extLst>
                  <a:ext uri="{FF2B5EF4-FFF2-40B4-BE49-F238E27FC236}">
                    <a16:creationId xmlns:a16="http://schemas.microsoft.com/office/drawing/2014/main" id="{03036135-CBE1-0C88-EEC5-93493FC0F0A5}"/>
                  </a:ext>
                </a:extLst>
              </p:cNvPr>
              <p:cNvSpPr/>
              <p:nvPr/>
            </p:nvSpPr>
            <p:spPr>
              <a:xfrm>
                <a:off x="12438345" y="1421684"/>
                <a:ext cx="134076" cy="86354"/>
              </a:xfrm>
              <a:custGeom>
                <a:avLst/>
                <a:gdLst/>
                <a:ahLst/>
                <a:cxnLst/>
                <a:rect l="l" t="t" r="r" b="b"/>
                <a:pathLst>
                  <a:path w="59" h="38" extrusionOk="0">
                    <a:moveTo>
                      <a:pt x="21" y="35"/>
                    </a:moveTo>
                    <a:lnTo>
                      <a:pt x="40" y="33"/>
                    </a:lnTo>
                    <a:lnTo>
                      <a:pt x="57" y="21"/>
                    </a:lnTo>
                    <a:lnTo>
                      <a:pt x="59" y="14"/>
                    </a:lnTo>
                    <a:lnTo>
                      <a:pt x="36" y="0"/>
                    </a:lnTo>
                    <a:lnTo>
                      <a:pt x="24" y="0"/>
                    </a:lnTo>
                    <a:lnTo>
                      <a:pt x="21" y="2"/>
                    </a:lnTo>
                    <a:lnTo>
                      <a:pt x="0" y="24"/>
                    </a:lnTo>
                    <a:lnTo>
                      <a:pt x="3" y="38"/>
                    </a:lnTo>
                    <a:lnTo>
                      <a:pt x="21" y="35"/>
                    </a:lnTo>
                    <a:lnTo>
                      <a:pt x="21" y="35"/>
                    </a:lnTo>
                    <a:lnTo>
                      <a:pt x="21" y="35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347;p30">
                <a:extLst>
                  <a:ext uri="{FF2B5EF4-FFF2-40B4-BE49-F238E27FC236}">
                    <a16:creationId xmlns:a16="http://schemas.microsoft.com/office/drawing/2014/main" id="{9C151938-8949-3975-1A93-AF097E6FD950}"/>
                  </a:ext>
                </a:extLst>
              </p:cNvPr>
              <p:cNvSpPr/>
              <p:nvPr/>
            </p:nvSpPr>
            <p:spPr>
              <a:xfrm>
                <a:off x="9218264" y="-155406"/>
                <a:ext cx="334053" cy="53403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35" extrusionOk="0">
                    <a:moveTo>
                      <a:pt x="33" y="178"/>
                    </a:moveTo>
                    <a:lnTo>
                      <a:pt x="62" y="209"/>
                    </a:lnTo>
                    <a:lnTo>
                      <a:pt x="107" y="235"/>
                    </a:lnTo>
                    <a:lnTo>
                      <a:pt x="142" y="223"/>
                    </a:lnTo>
                    <a:lnTo>
                      <a:pt x="147" y="145"/>
                    </a:lnTo>
                    <a:lnTo>
                      <a:pt x="109" y="52"/>
                    </a:lnTo>
                    <a:lnTo>
                      <a:pt x="76" y="0"/>
                    </a:lnTo>
                    <a:lnTo>
                      <a:pt x="43" y="24"/>
                    </a:lnTo>
                    <a:lnTo>
                      <a:pt x="0" y="93"/>
                    </a:lnTo>
                    <a:lnTo>
                      <a:pt x="22" y="112"/>
                    </a:lnTo>
                    <a:lnTo>
                      <a:pt x="33" y="178"/>
                    </a:lnTo>
                    <a:lnTo>
                      <a:pt x="33" y="178"/>
                    </a:lnTo>
                    <a:lnTo>
                      <a:pt x="33" y="178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348;p30">
                <a:extLst>
                  <a:ext uri="{FF2B5EF4-FFF2-40B4-BE49-F238E27FC236}">
                    <a16:creationId xmlns:a16="http://schemas.microsoft.com/office/drawing/2014/main" id="{276330B4-342C-E636-CEBF-3B94794F010D}"/>
                  </a:ext>
                </a:extLst>
              </p:cNvPr>
              <p:cNvSpPr/>
              <p:nvPr/>
            </p:nvSpPr>
            <p:spPr>
              <a:xfrm>
                <a:off x="7757071" y="689951"/>
                <a:ext cx="638563" cy="838540"/>
              </a:xfrm>
              <a:custGeom>
                <a:avLst/>
                <a:gdLst/>
                <a:ahLst/>
                <a:cxnLst/>
                <a:rect l="l" t="t" r="r" b="b"/>
                <a:pathLst>
                  <a:path w="281" h="369" extrusionOk="0">
                    <a:moveTo>
                      <a:pt x="17" y="289"/>
                    </a:moveTo>
                    <a:lnTo>
                      <a:pt x="0" y="298"/>
                    </a:lnTo>
                    <a:lnTo>
                      <a:pt x="2" y="327"/>
                    </a:lnTo>
                    <a:lnTo>
                      <a:pt x="31" y="338"/>
                    </a:lnTo>
                    <a:lnTo>
                      <a:pt x="35" y="362"/>
                    </a:lnTo>
                    <a:lnTo>
                      <a:pt x="88" y="369"/>
                    </a:lnTo>
                    <a:lnTo>
                      <a:pt x="97" y="364"/>
                    </a:lnTo>
                    <a:lnTo>
                      <a:pt x="66" y="322"/>
                    </a:lnTo>
                    <a:lnTo>
                      <a:pt x="64" y="279"/>
                    </a:lnTo>
                    <a:lnTo>
                      <a:pt x="90" y="227"/>
                    </a:lnTo>
                    <a:lnTo>
                      <a:pt x="114" y="170"/>
                    </a:lnTo>
                    <a:lnTo>
                      <a:pt x="163" y="114"/>
                    </a:lnTo>
                    <a:lnTo>
                      <a:pt x="213" y="83"/>
                    </a:lnTo>
                    <a:lnTo>
                      <a:pt x="270" y="50"/>
                    </a:lnTo>
                    <a:lnTo>
                      <a:pt x="281" y="28"/>
                    </a:lnTo>
                    <a:lnTo>
                      <a:pt x="270" y="0"/>
                    </a:lnTo>
                    <a:lnTo>
                      <a:pt x="239" y="9"/>
                    </a:lnTo>
                    <a:lnTo>
                      <a:pt x="211" y="35"/>
                    </a:lnTo>
                    <a:lnTo>
                      <a:pt x="158" y="47"/>
                    </a:lnTo>
                    <a:lnTo>
                      <a:pt x="104" y="90"/>
                    </a:lnTo>
                    <a:lnTo>
                      <a:pt x="66" y="125"/>
                    </a:lnTo>
                    <a:lnTo>
                      <a:pt x="71" y="151"/>
                    </a:lnTo>
                    <a:lnTo>
                      <a:pt x="33" y="204"/>
                    </a:lnTo>
                    <a:lnTo>
                      <a:pt x="47" y="211"/>
                    </a:lnTo>
                    <a:lnTo>
                      <a:pt x="17" y="258"/>
                    </a:lnTo>
                    <a:lnTo>
                      <a:pt x="17" y="289"/>
                    </a:lnTo>
                    <a:lnTo>
                      <a:pt x="17" y="289"/>
                    </a:lnTo>
                    <a:lnTo>
                      <a:pt x="17" y="289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349;p30">
                <a:extLst>
                  <a:ext uri="{FF2B5EF4-FFF2-40B4-BE49-F238E27FC236}">
                    <a16:creationId xmlns:a16="http://schemas.microsoft.com/office/drawing/2014/main" id="{A1B6ABA7-9D8F-7F00-2683-5B08870414CD}"/>
                  </a:ext>
                </a:extLst>
              </p:cNvPr>
              <p:cNvSpPr/>
              <p:nvPr/>
            </p:nvSpPr>
            <p:spPr>
              <a:xfrm>
                <a:off x="7516190" y="-73597"/>
                <a:ext cx="240881" cy="19770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87" extrusionOk="0">
                    <a:moveTo>
                      <a:pt x="26" y="66"/>
                    </a:moveTo>
                    <a:lnTo>
                      <a:pt x="42" y="87"/>
                    </a:lnTo>
                    <a:lnTo>
                      <a:pt x="61" y="73"/>
                    </a:lnTo>
                    <a:lnTo>
                      <a:pt x="63" y="57"/>
                    </a:lnTo>
                    <a:lnTo>
                      <a:pt x="78" y="50"/>
                    </a:lnTo>
                    <a:lnTo>
                      <a:pt x="99" y="35"/>
                    </a:lnTo>
                    <a:lnTo>
                      <a:pt x="106" y="21"/>
                    </a:lnTo>
                    <a:lnTo>
                      <a:pt x="82" y="0"/>
                    </a:lnTo>
                    <a:lnTo>
                      <a:pt x="66" y="16"/>
                    </a:lnTo>
                    <a:lnTo>
                      <a:pt x="59" y="40"/>
                    </a:lnTo>
                    <a:lnTo>
                      <a:pt x="54" y="14"/>
                    </a:lnTo>
                    <a:lnTo>
                      <a:pt x="30" y="14"/>
                    </a:lnTo>
                    <a:lnTo>
                      <a:pt x="0" y="31"/>
                    </a:lnTo>
                    <a:lnTo>
                      <a:pt x="35" y="35"/>
                    </a:lnTo>
                    <a:lnTo>
                      <a:pt x="26" y="66"/>
                    </a:lnTo>
                    <a:lnTo>
                      <a:pt x="26" y="66"/>
                    </a:lnTo>
                    <a:lnTo>
                      <a:pt x="26" y="66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350;p30">
                <a:extLst>
                  <a:ext uri="{FF2B5EF4-FFF2-40B4-BE49-F238E27FC236}">
                    <a16:creationId xmlns:a16="http://schemas.microsoft.com/office/drawing/2014/main" id="{22F74973-29FE-F55B-F96B-A304B966FBB3}"/>
                  </a:ext>
                </a:extLst>
              </p:cNvPr>
              <p:cNvSpPr/>
              <p:nvPr/>
            </p:nvSpPr>
            <p:spPr>
              <a:xfrm>
                <a:off x="6245882" y="-14513"/>
                <a:ext cx="624928" cy="731733"/>
              </a:xfrm>
              <a:custGeom>
                <a:avLst/>
                <a:gdLst/>
                <a:ahLst/>
                <a:cxnLst/>
                <a:rect l="l" t="t" r="r" b="b"/>
                <a:pathLst>
                  <a:path w="275" h="322" extrusionOk="0">
                    <a:moveTo>
                      <a:pt x="232" y="244"/>
                    </a:moveTo>
                    <a:lnTo>
                      <a:pt x="232" y="244"/>
                    </a:lnTo>
                    <a:lnTo>
                      <a:pt x="197" y="272"/>
                    </a:lnTo>
                    <a:lnTo>
                      <a:pt x="168" y="256"/>
                    </a:lnTo>
                    <a:lnTo>
                      <a:pt x="178" y="237"/>
                    </a:lnTo>
                    <a:lnTo>
                      <a:pt x="168" y="211"/>
                    </a:lnTo>
                    <a:lnTo>
                      <a:pt x="201" y="196"/>
                    </a:lnTo>
                    <a:lnTo>
                      <a:pt x="209" y="225"/>
                    </a:lnTo>
                    <a:lnTo>
                      <a:pt x="232" y="244"/>
                    </a:lnTo>
                    <a:close/>
                    <a:moveTo>
                      <a:pt x="126" y="90"/>
                    </a:moveTo>
                    <a:lnTo>
                      <a:pt x="126" y="90"/>
                    </a:lnTo>
                    <a:lnTo>
                      <a:pt x="180" y="154"/>
                    </a:lnTo>
                    <a:lnTo>
                      <a:pt x="140" y="187"/>
                    </a:lnTo>
                    <a:lnTo>
                      <a:pt x="130" y="244"/>
                    </a:lnTo>
                    <a:lnTo>
                      <a:pt x="116" y="258"/>
                    </a:lnTo>
                    <a:lnTo>
                      <a:pt x="109" y="319"/>
                    </a:lnTo>
                    <a:lnTo>
                      <a:pt x="88" y="322"/>
                    </a:lnTo>
                    <a:lnTo>
                      <a:pt x="55" y="277"/>
                    </a:lnTo>
                    <a:lnTo>
                      <a:pt x="69" y="251"/>
                    </a:lnTo>
                    <a:lnTo>
                      <a:pt x="45" y="230"/>
                    </a:lnTo>
                    <a:lnTo>
                      <a:pt x="12" y="161"/>
                    </a:lnTo>
                    <a:lnTo>
                      <a:pt x="0" y="95"/>
                    </a:lnTo>
                    <a:lnTo>
                      <a:pt x="45" y="61"/>
                    </a:lnTo>
                    <a:lnTo>
                      <a:pt x="52" y="95"/>
                    </a:lnTo>
                    <a:lnTo>
                      <a:pt x="76" y="92"/>
                    </a:lnTo>
                    <a:lnTo>
                      <a:pt x="83" y="61"/>
                    </a:lnTo>
                    <a:lnTo>
                      <a:pt x="107" y="57"/>
                    </a:lnTo>
                    <a:lnTo>
                      <a:pt x="126" y="90"/>
                    </a:lnTo>
                    <a:close/>
                    <a:moveTo>
                      <a:pt x="244" y="24"/>
                    </a:moveTo>
                    <a:lnTo>
                      <a:pt x="244" y="24"/>
                    </a:lnTo>
                    <a:lnTo>
                      <a:pt x="275" y="57"/>
                    </a:lnTo>
                    <a:lnTo>
                      <a:pt x="251" y="106"/>
                    </a:lnTo>
                    <a:lnTo>
                      <a:pt x="204" y="116"/>
                    </a:lnTo>
                    <a:lnTo>
                      <a:pt x="156" y="102"/>
                    </a:lnTo>
                    <a:lnTo>
                      <a:pt x="154" y="76"/>
                    </a:lnTo>
                    <a:lnTo>
                      <a:pt x="130" y="73"/>
                    </a:lnTo>
                    <a:lnTo>
                      <a:pt x="112" y="31"/>
                    </a:lnTo>
                    <a:lnTo>
                      <a:pt x="164" y="5"/>
                    </a:lnTo>
                    <a:lnTo>
                      <a:pt x="187" y="28"/>
                    </a:lnTo>
                    <a:lnTo>
                      <a:pt x="201" y="0"/>
                    </a:lnTo>
                    <a:lnTo>
                      <a:pt x="244" y="24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9" name="Google Shape;351;p30">
              <a:extLst>
                <a:ext uri="{FF2B5EF4-FFF2-40B4-BE49-F238E27FC236}">
                  <a16:creationId xmlns:a16="http://schemas.microsoft.com/office/drawing/2014/main" id="{8776EDBC-FF78-D4A8-B286-0694D00E0190}"/>
                </a:ext>
              </a:extLst>
            </p:cNvPr>
            <p:cNvSpPr/>
            <p:nvPr/>
          </p:nvSpPr>
          <p:spPr>
            <a:xfrm>
              <a:off x="8716937" y="4100030"/>
              <a:ext cx="160210" cy="115897"/>
            </a:xfrm>
            <a:custGeom>
              <a:avLst/>
              <a:gdLst/>
              <a:ahLst/>
              <a:cxnLst/>
              <a:rect l="l" t="t" r="r" b="b"/>
              <a:pathLst>
                <a:path w="94" h="68" extrusionOk="0">
                  <a:moveTo>
                    <a:pt x="90" y="64"/>
                  </a:moveTo>
                  <a:lnTo>
                    <a:pt x="90" y="64"/>
                  </a:lnTo>
                  <a:lnTo>
                    <a:pt x="94" y="68"/>
                  </a:lnTo>
                  <a:lnTo>
                    <a:pt x="82" y="68"/>
                  </a:lnTo>
                  <a:lnTo>
                    <a:pt x="78" y="59"/>
                  </a:lnTo>
                  <a:lnTo>
                    <a:pt x="87" y="64"/>
                  </a:lnTo>
                  <a:lnTo>
                    <a:pt x="90" y="64"/>
                  </a:lnTo>
                  <a:close/>
                  <a:moveTo>
                    <a:pt x="71" y="54"/>
                  </a:moveTo>
                  <a:lnTo>
                    <a:pt x="71" y="54"/>
                  </a:lnTo>
                  <a:lnTo>
                    <a:pt x="64" y="54"/>
                  </a:lnTo>
                  <a:lnTo>
                    <a:pt x="54" y="52"/>
                  </a:lnTo>
                  <a:lnTo>
                    <a:pt x="49" y="50"/>
                  </a:lnTo>
                  <a:lnTo>
                    <a:pt x="52" y="42"/>
                  </a:lnTo>
                  <a:lnTo>
                    <a:pt x="61" y="47"/>
                  </a:lnTo>
                  <a:lnTo>
                    <a:pt x="68" y="50"/>
                  </a:lnTo>
                  <a:lnTo>
                    <a:pt x="71" y="54"/>
                  </a:lnTo>
                  <a:close/>
                  <a:moveTo>
                    <a:pt x="82" y="50"/>
                  </a:moveTo>
                  <a:lnTo>
                    <a:pt x="82" y="50"/>
                  </a:lnTo>
                  <a:lnTo>
                    <a:pt x="80" y="52"/>
                  </a:lnTo>
                  <a:lnTo>
                    <a:pt x="68" y="38"/>
                  </a:lnTo>
                  <a:lnTo>
                    <a:pt x="66" y="28"/>
                  </a:lnTo>
                  <a:lnTo>
                    <a:pt x="71" y="28"/>
                  </a:lnTo>
                  <a:lnTo>
                    <a:pt x="78" y="40"/>
                  </a:lnTo>
                  <a:lnTo>
                    <a:pt x="82" y="50"/>
                  </a:lnTo>
                  <a:close/>
                  <a:moveTo>
                    <a:pt x="54" y="28"/>
                  </a:moveTo>
                  <a:lnTo>
                    <a:pt x="54" y="28"/>
                  </a:lnTo>
                  <a:lnTo>
                    <a:pt x="54" y="33"/>
                  </a:lnTo>
                  <a:lnTo>
                    <a:pt x="42" y="26"/>
                  </a:lnTo>
                  <a:lnTo>
                    <a:pt x="33" y="19"/>
                  </a:lnTo>
                  <a:lnTo>
                    <a:pt x="28" y="14"/>
                  </a:lnTo>
                  <a:lnTo>
                    <a:pt x="30" y="12"/>
                  </a:lnTo>
                  <a:lnTo>
                    <a:pt x="38" y="16"/>
                  </a:lnTo>
                  <a:lnTo>
                    <a:pt x="49" y="24"/>
                  </a:lnTo>
                  <a:lnTo>
                    <a:pt x="54" y="28"/>
                  </a:lnTo>
                  <a:close/>
                  <a:moveTo>
                    <a:pt x="16" y="12"/>
                  </a:moveTo>
                  <a:lnTo>
                    <a:pt x="16" y="12"/>
                  </a:lnTo>
                  <a:lnTo>
                    <a:pt x="14" y="14"/>
                  </a:lnTo>
                  <a:lnTo>
                    <a:pt x="7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9" y="7"/>
                  </a:lnTo>
                  <a:lnTo>
                    <a:pt x="16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352;p30">
              <a:extLst>
                <a:ext uri="{FF2B5EF4-FFF2-40B4-BE49-F238E27FC236}">
                  <a16:creationId xmlns:a16="http://schemas.microsoft.com/office/drawing/2014/main" id="{3981C6D6-3B4D-4EE9-DBE0-8AB195144C61}"/>
                </a:ext>
              </a:extLst>
            </p:cNvPr>
            <p:cNvSpPr/>
            <p:nvPr/>
          </p:nvSpPr>
          <p:spPr>
            <a:xfrm>
              <a:off x="1911447" y="3518843"/>
              <a:ext cx="64767" cy="35792"/>
            </a:xfrm>
            <a:custGeom>
              <a:avLst/>
              <a:gdLst/>
              <a:ahLst/>
              <a:cxnLst/>
              <a:rect l="l" t="t" r="r" b="b"/>
              <a:pathLst>
                <a:path w="38" h="21" extrusionOk="0">
                  <a:moveTo>
                    <a:pt x="24" y="7"/>
                  </a:moveTo>
                  <a:lnTo>
                    <a:pt x="24" y="7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6" y="9"/>
                  </a:lnTo>
                  <a:lnTo>
                    <a:pt x="38" y="12"/>
                  </a:lnTo>
                  <a:lnTo>
                    <a:pt x="36" y="19"/>
                  </a:lnTo>
                  <a:lnTo>
                    <a:pt x="36" y="21"/>
                  </a:lnTo>
                  <a:lnTo>
                    <a:pt x="26" y="21"/>
                  </a:lnTo>
                  <a:lnTo>
                    <a:pt x="19" y="19"/>
                  </a:lnTo>
                  <a:lnTo>
                    <a:pt x="14" y="17"/>
                  </a:lnTo>
                  <a:lnTo>
                    <a:pt x="5" y="14"/>
                  </a:lnTo>
                  <a:lnTo>
                    <a:pt x="0" y="12"/>
                  </a:lnTo>
                  <a:lnTo>
                    <a:pt x="0" y="9"/>
                  </a:lnTo>
                  <a:lnTo>
                    <a:pt x="5" y="5"/>
                  </a:lnTo>
                  <a:lnTo>
                    <a:pt x="9" y="2"/>
                  </a:lnTo>
                  <a:lnTo>
                    <a:pt x="7" y="2"/>
                  </a:lnTo>
                  <a:lnTo>
                    <a:pt x="12" y="0"/>
                  </a:lnTo>
                  <a:lnTo>
                    <a:pt x="17" y="2"/>
                  </a:lnTo>
                  <a:lnTo>
                    <a:pt x="19" y="5"/>
                  </a:lnTo>
                  <a:lnTo>
                    <a:pt x="24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353;p30">
              <a:extLst>
                <a:ext uri="{FF2B5EF4-FFF2-40B4-BE49-F238E27FC236}">
                  <a16:creationId xmlns:a16="http://schemas.microsoft.com/office/drawing/2014/main" id="{CD96949D-ED2E-F28A-4F91-3EE31816A6C3}"/>
                </a:ext>
              </a:extLst>
            </p:cNvPr>
            <p:cNvSpPr/>
            <p:nvPr/>
          </p:nvSpPr>
          <p:spPr>
            <a:xfrm>
              <a:off x="5520944" y="3587018"/>
              <a:ext cx="281219" cy="380072"/>
            </a:xfrm>
            <a:custGeom>
              <a:avLst/>
              <a:gdLst/>
              <a:ahLst/>
              <a:cxnLst/>
              <a:rect l="l" t="t" r="r" b="b"/>
              <a:pathLst>
                <a:path w="165" h="223" extrusionOk="0">
                  <a:moveTo>
                    <a:pt x="12" y="218"/>
                  </a:moveTo>
                  <a:lnTo>
                    <a:pt x="12" y="218"/>
                  </a:lnTo>
                  <a:lnTo>
                    <a:pt x="9" y="223"/>
                  </a:lnTo>
                  <a:lnTo>
                    <a:pt x="0" y="209"/>
                  </a:lnTo>
                  <a:lnTo>
                    <a:pt x="0" y="149"/>
                  </a:lnTo>
                  <a:lnTo>
                    <a:pt x="14" y="133"/>
                  </a:lnTo>
                  <a:lnTo>
                    <a:pt x="19" y="126"/>
                  </a:lnTo>
                  <a:lnTo>
                    <a:pt x="28" y="126"/>
                  </a:lnTo>
                  <a:lnTo>
                    <a:pt x="42" y="116"/>
                  </a:lnTo>
                  <a:lnTo>
                    <a:pt x="64" y="114"/>
                  </a:lnTo>
                  <a:lnTo>
                    <a:pt x="111" y="67"/>
                  </a:lnTo>
                  <a:lnTo>
                    <a:pt x="120" y="52"/>
                  </a:lnTo>
                  <a:lnTo>
                    <a:pt x="130" y="43"/>
                  </a:lnTo>
                  <a:lnTo>
                    <a:pt x="130" y="33"/>
                  </a:lnTo>
                  <a:lnTo>
                    <a:pt x="130" y="17"/>
                  </a:lnTo>
                  <a:lnTo>
                    <a:pt x="130" y="10"/>
                  </a:lnTo>
                  <a:lnTo>
                    <a:pt x="130" y="10"/>
                  </a:lnTo>
                  <a:lnTo>
                    <a:pt x="135" y="10"/>
                  </a:lnTo>
                  <a:lnTo>
                    <a:pt x="142" y="7"/>
                  </a:lnTo>
                  <a:lnTo>
                    <a:pt x="149" y="5"/>
                  </a:lnTo>
                  <a:lnTo>
                    <a:pt x="158" y="0"/>
                  </a:lnTo>
                  <a:lnTo>
                    <a:pt x="165" y="0"/>
                  </a:lnTo>
                  <a:lnTo>
                    <a:pt x="165" y="5"/>
                  </a:lnTo>
                  <a:lnTo>
                    <a:pt x="163" y="14"/>
                  </a:lnTo>
                  <a:lnTo>
                    <a:pt x="163" y="24"/>
                  </a:lnTo>
                  <a:lnTo>
                    <a:pt x="161" y="29"/>
                  </a:lnTo>
                  <a:lnTo>
                    <a:pt x="156" y="45"/>
                  </a:lnTo>
                  <a:lnTo>
                    <a:pt x="146" y="64"/>
                  </a:lnTo>
                  <a:lnTo>
                    <a:pt x="137" y="85"/>
                  </a:lnTo>
                  <a:lnTo>
                    <a:pt x="123" y="109"/>
                  </a:lnTo>
                  <a:lnTo>
                    <a:pt x="109" y="128"/>
                  </a:lnTo>
                  <a:lnTo>
                    <a:pt x="90" y="149"/>
                  </a:lnTo>
                  <a:lnTo>
                    <a:pt x="73" y="164"/>
                  </a:lnTo>
                  <a:lnTo>
                    <a:pt x="49" y="178"/>
                  </a:lnTo>
                  <a:lnTo>
                    <a:pt x="35" y="192"/>
                  </a:lnTo>
                  <a:lnTo>
                    <a:pt x="16" y="211"/>
                  </a:lnTo>
                  <a:lnTo>
                    <a:pt x="12" y="218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354;p30">
              <a:extLst>
                <a:ext uri="{FF2B5EF4-FFF2-40B4-BE49-F238E27FC236}">
                  <a16:creationId xmlns:a16="http://schemas.microsoft.com/office/drawing/2014/main" id="{22F3B13C-F1BA-02F6-ADD0-E6D834B9D691}"/>
                </a:ext>
              </a:extLst>
            </p:cNvPr>
            <p:cNvSpPr/>
            <p:nvPr/>
          </p:nvSpPr>
          <p:spPr>
            <a:xfrm>
              <a:off x="2794303" y="3752342"/>
              <a:ext cx="112487" cy="117602"/>
            </a:xfrm>
            <a:custGeom>
              <a:avLst/>
              <a:gdLst/>
              <a:ahLst/>
              <a:cxnLst/>
              <a:rect l="l" t="t" r="r" b="b"/>
              <a:pathLst>
                <a:path w="66" h="69" extrusionOk="0">
                  <a:moveTo>
                    <a:pt x="50" y="0"/>
                  </a:moveTo>
                  <a:lnTo>
                    <a:pt x="50" y="0"/>
                  </a:lnTo>
                  <a:lnTo>
                    <a:pt x="66" y="5"/>
                  </a:lnTo>
                  <a:lnTo>
                    <a:pt x="57" y="19"/>
                  </a:lnTo>
                  <a:lnTo>
                    <a:pt x="59" y="31"/>
                  </a:lnTo>
                  <a:lnTo>
                    <a:pt x="66" y="38"/>
                  </a:lnTo>
                  <a:lnTo>
                    <a:pt x="64" y="48"/>
                  </a:lnTo>
                  <a:lnTo>
                    <a:pt x="62" y="55"/>
                  </a:lnTo>
                  <a:lnTo>
                    <a:pt x="57" y="59"/>
                  </a:lnTo>
                  <a:lnTo>
                    <a:pt x="47" y="57"/>
                  </a:lnTo>
                  <a:lnTo>
                    <a:pt x="40" y="59"/>
                  </a:lnTo>
                  <a:lnTo>
                    <a:pt x="33" y="57"/>
                  </a:lnTo>
                  <a:lnTo>
                    <a:pt x="31" y="62"/>
                  </a:lnTo>
                  <a:lnTo>
                    <a:pt x="36" y="64"/>
                  </a:lnTo>
                  <a:lnTo>
                    <a:pt x="33" y="69"/>
                  </a:lnTo>
                  <a:lnTo>
                    <a:pt x="26" y="67"/>
                  </a:lnTo>
                  <a:lnTo>
                    <a:pt x="14" y="55"/>
                  </a:lnTo>
                  <a:lnTo>
                    <a:pt x="12" y="43"/>
                  </a:lnTo>
                  <a:lnTo>
                    <a:pt x="7" y="43"/>
                  </a:lnTo>
                  <a:lnTo>
                    <a:pt x="0" y="33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12" y="17"/>
                  </a:lnTo>
                  <a:lnTo>
                    <a:pt x="14" y="3"/>
                  </a:lnTo>
                  <a:lnTo>
                    <a:pt x="33" y="5"/>
                  </a:lnTo>
                  <a:lnTo>
                    <a:pt x="36" y="3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355;p30">
              <a:extLst>
                <a:ext uri="{FF2B5EF4-FFF2-40B4-BE49-F238E27FC236}">
                  <a16:creationId xmlns:a16="http://schemas.microsoft.com/office/drawing/2014/main" id="{7760CCF0-BD1D-986B-C46E-0A84C4067966}"/>
                </a:ext>
              </a:extLst>
            </p:cNvPr>
            <p:cNvSpPr/>
            <p:nvPr/>
          </p:nvSpPr>
          <p:spPr>
            <a:xfrm>
              <a:off x="4861685" y="2353061"/>
              <a:ext cx="158506" cy="73289"/>
            </a:xfrm>
            <a:custGeom>
              <a:avLst/>
              <a:gdLst/>
              <a:ahLst/>
              <a:cxnLst/>
              <a:rect l="l" t="t" r="r" b="b"/>
              <a:pathLst>
                <a:path w="93" h="43" extrusionOk="0">
                  <a:moveTo>
                    <a:pt x="41" y="0"/>
                  </a:moveTo>
                  <a:lnTo>
                    <a:pt x="41" y="0"/>
                  </a:lnTo>
                  <a:lnTo>
                    <a:pt x="48" y="9"/>
                  </a:lnTo>
                  <a:lnTo>
                    <a:pt x="57" y="2"/>
                  </a:lnTo>
                  <a:lnTo>
                    <a:pt x="64" y="5"/>
                  </a:lnTo>
                  <a:lnTo>
                    <a:pt x="76" y="2"/>
                  </a:lnTo>
                  <a:lnTo>
                    <a:pt x="93" y="12"/>
                  </a:lnTo>
                  <a:lnTo>
                    <a:pt x="88" y="17"/>
                  </a:lnTo>
                  <a:lnTo>
                    <a:pt x="86" y="28"/>
                  </a:lnTo>
                  <a:lnTo>
                    <a:pt x="81" y="31"/>
                  </a:lnTo>
                  <a:lnTo>
                    <a:pt x="64" y="24"/>
                  </a:lnTo>
                  <a:lnTo>
                    <a:pt x="60" y="24"/>
                  </a:lnTo>
                  <a:lnTo>
                    <a:pt x="55" y="31"/>
                  </a:lnTo>
                  <a:lnTo>
                    <a:pt x="48" y="33"/>
                  </a:lnTo>
                  <a:lnTo>
                    <a:pt x="45" y="31"/>
                  </a:lnTo>
                  <a:lnTo>
                    <a:pt x="38" y="35"/>
                  </a:lnTo>
                  <a:lnTo>
                    <a:pt x="31" y="35"/>
                  </a:lnTo>
                  <a:lnTo>
                    <a:pt x="29" y="40"/>
                  </a:lnTo>
                  <a:lnTo>
                    <a:pt x="17" y="43"/>
                  </a:lnTo>
                  <a:lnTo>
                    <a:pt x="10" y="40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3" y="19"/>
                  </a:lnTo>
                  <a:lnTo>
                    <a:pt x="10" y="19"/>
                  </a:lnTo>
                  <a:lnTo>
                    <a:pt x="17" y="17"/>
                  </a:lnTo>
                  <a:lnTo>
                    <a:pt x="17" y="14"/>
                  </a:lnTo>
                  <a:lnTo>
                    <a:pt x="19" y="12"/>
                  </a:lnTo>
                  <a:lnTo>
                    <a:pt x="22" y="7"/>
                  </a:lnTo>
                  <a:lnTo>
                    <a:pt x="24" y="7"/>
                  </a:lnTo>
                  <a:lnTo>
                    <a:pt x="26" y="2"/>
                  </a:lnTo>
                  <a:lnTo>
                    <a:pt x="31" y="0"/>
                  </a:lnTo>
                  <a:lnTo>
                    <a:pt x="34" y="2"/>
                  </a:lnTo>
                  <a:lnTo>
                    <a:pt x="41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356;p30">
              <a:extLst>
                <a:ext uri="{FF2B5EF4-FFF2-40B4-BE49-F238E27FC236}">
                  <a16:creationId xmlns:a16="http://schemas.microsoft.com/office/drawing/2014/main" id="{04AEE164-6AF8-897F-C54F-C37EE9EE45D4}"/>
                </a:ext>
              </a:extLst>
            </p:cNvPr>
            <p:cNvSpPr/>
            <p:nvPr/>
          </p:nvSpPr>
          <p:spPr>
            <a:xfrm>
              <a:off x="4773059" y="2462140"/>
              <a:ext cx="81810" cy="56245"/>
            </a:xfrm>
            <a:custGeom>
              <a:avLst/>
              <a:gdLst/>
              <a:ahLst/>
              <a:cxnLst/>
              <a:rect l="l" t="t" r="r" b="b"/>
              <a:pathLst>
                <a:path w="48" h="33" extrusionOk="0">
                  <a:moveTo>
                    <a:pt x="48" y="9"/>
                  </a:moveTo>
                  <a:lnTo>
                    <a:pt x="48" y="9"/>
                  </a:lnTo>
                  <a:lnTo>
                    <a:pt x="34" y="14"/>
                  </a:lnTo>
                  <a:lnTo>
                    <a:pt x="34" y="24"/>
                  </a:lnTo>
                  <a:lnTo>
                    <a:pt x="26" y="26"/>
                  </a:lnTo>
                  <a:lnTo>
                    <a:pt x="26" y="33"/>
                  </a:lnTo>
                  <a:lnTo>
                    <a:pt x="22" y="33"/>
                  </a:lnTo>
                  <a:lnTo>
                    <a:pt x="15" y="28"/>
                  </a:lnTo>
                  <a:lnTo>
                    <a:pt x="12" y="33"/>
                  </a:lnTo>
                  <a:lnTo>
                    <a:pt x="0" y="33"/>
                  </a:lnTo>
                  <a:lnTo>
                    <a:pt x="5" y="31"/>
                  </a:lnTo>
                  <a:lnTo>
                    <a:pt x="0" y="21"/>
                  </a:lnTo>
                  <a:lnTo>
                    <a:pt x="3" y="9"/>
                  </a:lnTo>
                  <a:lnTo>
                    <a:pt x="17" y="9"/>
                  </a:lnTo>
                  <a:lnTo>
                    <a:pt x="24" y="5"/>
                  </a:lnTo>
                  <a:lnTo>
                    <a:pt x="38" y="5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8" y="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357;p30">
              <a:extLst>
                <a:ext uri="{FF2B5EF4-FFF2-40B4-BE49-F238E27FC236}">
                  <a16:creationId xmlns:a16="http://schemas.microsoft.com/office/drawing/2014/main" id="{5F3FBCD2-82A4-CC9C-4E92-2AE943B1785D}"/>
                </a:ext>
              </a:extLst>
            </p:cNvPr>
            <p:cNvSpPr/>
            <p:nvPr/>
          </p:nvSpPr>
          <p:spPr>
            <a:xfrm>
              <a:off x="4701475" y="1263976"/>
              <a:ext cx="354506" cy="826616"/>
            </a:xfrm>
            <a:custGeom>
              <a:avLst/>
              <a:gdLst/>
              <a:ahLst/>
              <a:cxnLst/>
              <a:rect l="l" t="t" r="r" b="b"/>
              <a:pathLst>
                <a:path w="208" h="485" extrusionOk="0">
                  <a:moveTo>
                    <a:pt x="177" y="21"/>
                  </a:moveTo>
                  <a:lnTo>
                    <a:pt x="177" y="21"/>
                  </a:lnTo>
                  <a:lnTo>
                    <a:pt x="203" y="52"/>
                  </a:lnTo>
                  <a:lnTo>
                    <a:pt x="203" y="116"/>
                  </a:lnTo>
                  <a:lnTo>
                    <a:pt x="208" y="130"/>
                  </a:lnTo>
                  <a:lnTo>
                    <a:pt x="182" y="142"/>
                  </a:lnTo>
                  <a:lnTo>
                    <a:pt x="165" y="170"/>
                  </a:lnTo>
                  <a:lnTo>
                    <a:pt x="168" y="192"/>
                  </a:lnTo>
                  <a:lnTo>
                    <a:pt x="142" y="222"/>
                  </a:lnTo>
                  <a:lnTo>
                    <a:pt x="111" y="253"/>
                  </a:lnTo>
                  <a:lnTo>
                    <a:pt x="99" y="300"/>
                  </a:lnTo>
                  <a:lnTo>
                    <a:pt x="111" y="324"/>
                  </a:lnTo>
                  <a:lnTo>
                    <a:pt x="125" y="343"/>
                  </a:lnTo>
                  <a:lnTo>
                    <a:pt x="111" y="379"/>
                  </a:lnTo>
                  <a:lnTo>
                    <a:pt x="94" y="386"/>
                  </a:lnTo>
                  <a:lnTo>
                    <a:pt x="87" y="435"/>
                  </a:lnTo>
                  <a:lnTo>
                    <a:pt x="78" y="464"/>
                  </a:lnTo>
                  <a:lnTo>
                    <a:pt x="59" y="461"/>
                  </a:lnTo>
                  <a:lnTo>
                    <a:pt x="49" y="483"/>
                  </a:lnTo>
                  <a:lnTo>
                    <a:pt x="31" y="485"/>
                  </a:lnTo>
                  <a:lnTo>
                    <a:pt x="26" y="457"/>
                  </a:lnTo>
                  <a:lnTo>
                    <a:pt x="12" y="424"/>
                  </a:lnTo>
                  <a:lnTo>
                    <a:pt x="0" y="381"/>
                  </a:lnTo>
                  <a:lnTo>
                    <a:pt x="7" y="362"/>
                  </a:lnTo>
                  <a:lnTo>
                    <a:pt x="19" y="341"/>
                  </a:lnTo>
                  <a:lnTo>
                    <a:pt x="26" y="303"/>
                  </a:lnTo>
                  <a:lnTo>
                    <a:pt x="14" y="286"/>
                  </a:lnTo>
                  <a:lnTo>
                    <a:pt x="14" y="239"/>
                  </a:lnTo>
                  <a:lnTo>
                    <a:pt x="26" y="206"/>
                  </a:lnTo>
                  <a:lnTo>
                    <a:pt x="40" y="206"/>
                  </a:lnTo>
                  <a:lnTo>
                    <a:pt x="45" y="192"/>
                  </a:lnTo>
                  <a:lnTo>
                    <a:pt x="40" y="177"/>
                  </a:lnTo>
                  <a:lnTo>
                    <a:pt x="66" y="125"/>
                  </a:lnTo>
                  <a:lnTo>
                    <a:pt x="83" y="78"/>
                  </a:lnTo>
                  <a:lnTo>
                    <a:pt x="92" y="47"/>
                  </a:lnTo>
                  <a:lnTo>
                    <a:pt x="109" y="50"/>
                  </a:lnTo>
                  <a:lnTo>
                    <a:pt x="113" y="24"/>
                  </a:lnTo>
                  <a:lnTo>
                    <a:pt x="144" y="31"/>
                  </a:lnTo>
                  <a:lnTo>
                    <a:pt x="146" y="2"/>
                  </a:lnTo>
                  <a:lnTo>
                    <a:pt x="156" y="0"/>
                  </a:lnTo>
                  <a:lnTo>
                    <a:pt x="177" y="2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358;p30">
              <a:extLst>
                <a:ext uri="{FF2B5EF4-FFF2-40B4-BE49-F238E27FC236}">
                  <a16:creationId xmlns:a16="http://schemas.microsoft.com/office/drawing/2014/main" id="{45CBBA0A-0319-CFA7-D758-6247F85C45E5}"/>
                </a:ext>
              </a:extLst>
            </p:cNvPr>
            <p:cNvSpPr/>
            <p:nvPr/>
          </p:nvSpPr>
          <p:spPr>
            <a:xfrm>
              <a:off x="5241757" y="4648834"/>
              <a:ext cx="40986" cy="53079"/>
            </a:xfrm>
            <a:custGeom>
              <a:avLst/>
              <a:gdLst/>
              <a:ahLst/>
              <a:cxnLst/>
              <a:rect l="l" t="t" r="r" b="b"/>
              <a:pathLst>
                <a:path w="54648" h="70772" extrusionOk="0">
                  <a:moveTo>
                    <a:pt x="15908" y="0"/>
                  </a:moveTo>
                  <a:lnTo>
                    <a:pt x="27270" y="0"/>
                  </a:lnTo>
                  <a:lnTo>
                    <a:pt x="47722" y="4545"/>
                  </a:lnTo>
                  <a:lnTo>
                    <a:pt x="49107" y="11467"/>
                  </a:lnTo>
                  <a:lnTo>
                    <a:pt x="50103" y="11688"/>
                  </a:lnTo>
                  <a:lnTo>
                    <a:pt x="54648" y="34413"/>
                  </a:lnTo>
                  <a:lnTo>
                    <a:pt x="54648" y="50320"/>
                  </a:lnTo>
                  <a:lnTo>
                    <a:pt x="50103" y="66227"/>
                  </a:lnTo>
                  <a:lnTo>
                    <a:pt x="29651" y="70772"/>
                  </a:lnTo>
                  <a:lnTo>
                    <a:pt x="2381" y="50320"/>
                  </a:lnTo>
                  <a:lnTo>
                    <a:pt x="2381" y="44963"/>
                  </a:lnTo>
                  <a:lnTo>
                    <a:pt x="0" y="43177"/>
                  </a:lnTo>
                  <a:lnTo>
                    <a:pt x="0" y="31815"/>
                  </a:lnTo>
                  <a:lnTo>
                    <a:pt x="11363" y="1590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359;p30">
              <a:extLst>
                <a:ext uri="{FF2B5EF4-FFF2-40B4-BE49-F238E27FC236}">
                  <a16:creationId xmlns:a16="http://schemas.microsoft.com/office/drawing/2014/main" id="{D53EC86F-EF4D-B530-7A1A-18AA5F9A9ACD}"/>
                </a:ext>
              </a:extLst>
            </p:cNvPr>
            <p:cNvSpPr/>
            <p:nvPr/>
          </p:nvSpPr>
          <p:spPr>
            <a:xfrm>
              <a:off x="4769650" y="3261485"/>
              <a:ext cx="286332" cy="455065"/>
            </a:xfrm>
            <a:custGeom>
              <a:avLst/>
              <a:gdLst/>
              <a:ahLst/>
              <a:cxnLst/>
              <a:rect l="l" t="t" r="r" b="b"/>
              <a:pathLst>
                <a:path w="168" h="267" extrusionOk="0">
                  <a:moveTo>
                    <a:pt x="168" y="66"/>
                  </a:moveTo>
                  <a:lnTo>
                    <a:pt x="168" y="66"/>
                  </a:lnTo>
                  <a:lnTo>
                    <a:pt x="168" y="132"/>
                  </a:lnTo>
                  <a:lnTo>
                    <a:pt x="154" y="130"/>
                  </a:lnTo>
                  <a:lnTo>
                    <a:pt x="147" y="144"/>
                  </a:lnTo>
                  <a:lnTo>
                    <a:pt x="142" y="153"/>
                  </a:lnTo>
                  <a:lnTo>
                    <a:pt x="144" y="158"/>
                  </a:lnTo>
                  <a:lnTo>
                    <a:pt x="140" y="163"/>
                  </a:lnTo>
                  <a:lnTo>
                    <a:pt x="142" y="170"/>
                  </a:lnTo>
                  <a:lnTo>
                    <a:pt x="137" y="177"/>
                  </a:lnTo>
                  <a:lnTo>
                    <a:pt x="135" y="182"/>
                  </a:lnTo>
                  <a:lnTo>
                    <a:pt x="142" y="182"/>
                  </a:lnTo>
                  <a:lnTo>
                    <a:pt x="144" y="189"/>
                  </a:lnTo>
                  <a:lnTo>
                    <a:pt x="144" y="196"/>
                  </a:lnTo>
                  <a:lnTo>
                    <a:pt x="151" y="203"/>
                  </a:lnTo>
                  <a:lnTo>
                    <a:pt x="151" y="205"/>
                  </a:lnTo>
                  <a:lnTo>
                    <a:pt x="140" y="210"/>
                  </a:lnTo>
                  <a:lnTo>
                    <a:pt x="132" y="215"/>
                  </a:lnTo>
                  <a:lnTo>
                    <a:pt x="121" y="234"/>
                  </a:lnTo>
                  <a:lnTo>
                    <a:pt x="106" y="241"/>
                  </a:lnTo>
                  <a:lnTo>
                    <a:pt x="90" y="239"/>
                  </a:lnTo>
                  <a:lnTo>
                    <a:pt x="85" y="241"/>
                  </a:lnTo>
                  <a:lnTo>
                    <a:pt x="88" y="248"/>
                  </a:lnTo>
                  <a:lnTo>
                    <a:pt x="78" y="253"/>
                  </a:lnTo>
                  <a:lnTo>
                    <a:pt x="73" y="260"/>
                  </a:lnTo>
                  <a:lnTo>
                    <a:pt x="52" y="265"/>
                  </a:lnTo>
                  <a:lnTo>
                    <a:pt x="47" y="262"/>
                  </a:lnTo>
                  <a:lnTo>
                    <a:pt x="45" y="262"/>
                  </a:lnTo>
                  <a:lnTo>
                    <a:pt x="43" y="265"/>
                  </a:lnTo>
                  <a:lnTo>
                    <a:pt x="28" y="267"/>
                  </a:lnTo>
                  <a:lnTo>
                    <a:pt x="31" y="262"/>
                  </a:lnTo>
                  <a:lnTo>
                    <a:pt x="26" y="250"/>
                  </a:lnTo>
                  <a:lnTo>
                    <a:pt x="24" y="243"/>
                  </a:lnTo>
                  <a:lnTo>
                    <a:pt x="17" y="241"/>
                  </a:lnTo>
                  <a:lnTo>
                    <a:pt x="7" y="231"/>
                  </a:lnTo>
                  <a:lnTo>
                    <a:pt x="9" y="224"/>
                  </a:lnTo>
                  <a:lnTo>
                    <a:pt x="19" y="227"/>
                  </a:lnTo>
                  <a:lnTo>
                    <a:pt x="21" y="224"/>
                  </a:lnTo>
                  <a:lnTo>
                    <a:pt x="31" y="224"/>
                  </a:lnTo>
                  <a:lnTo>
                    <a:pt x="21" y="210"/>
                  </a:lnTo>
                  <a:lnTo>
                    <a:pt x="24" y="198"/>
                  </a:lnTo>
                  <a:lnTo>
                    <a:pt x="21" y="189"/>
                  </a:lnTo>
                  <a:lnTo>
                    <a:pt x="17" y="177"/>
                  </a:lnTo>
                  <a:lnTo>
                    <a:pt x="17" y="170"/>
                  </a:lnTo>
                  <a:lnTo>
                    <a:pt x="7" y="170"/>
                  </a:lnTo>
                  <a:lnTo>
                    <a:pt x="7" y="158"/>
                  </a:lnTo>
                  <a:lnTo>
                    <a:pt x="0" y="153"/>
                  </a:lnTo>
                  <a:lnTo>
                    <a:pt x="7" y="130"/>
                  </a:lnTo>
                  <a:lnTo>
                    <a:pt x="28" y="116"/>
                  </a:lnTo>
                  <a:lnTo>
                    <a:pt x="28" y="94"/>
                  </a:lnTo>
                  <a:lnTo>
                    <a:pt x="36" y="59"/>
                  </a:lnTo>
                  <a:lnTo>
                    <a:pt x="38" y="52"/>
                  </a:lnTo>
                  <a:lnTo>
                    <a:pt x="31" y="44"/>
                  </a:lnTo>
                  <a:lnTo>
                    <a:pt x="31" y="40"/>
                  </a:lnTo>
                  <a:lnTo>
                    <a:pt x="26" y="35"/>
                  </a:lnTo>
                  <a:lnTo>
                    <a:pt x="21" y="9"/>
                  </a:lnTo>
                  <a:lnTo>
                    <a:pt x="38" y="0"/>
                  </a:lnTo>
                  <a:lnTo>
                    <a:pt x="102" y="33"/>
                  </a:lnTo>
                  <a:lnTo>
                    <a:pt x="168" y="6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360;p30">
              <a:extLst>
                <a:ext uri="{FF2B5EF4-FFF2-40B4-BE49-F238E27FC236}">
                  <a16:creationId xmlns:a16="http://schemas.microsoft.com/office/drawing/2014/main" id="{26ECC4B6-F47D-9F0B-751A-832B26BAC9B4}"/>
                </a:ext>
              </a:extLst>
            </p:cNvPr>
            <p:cNvSpPr/>
            <p:nvPr/>
          </p:nvSpPr>
          <p:spPr>
            <a:xfrm>
              <a:off x="7846012" y="4147753"/>
              <a:ext cx="64767" cy="28975"/>
            </a:xfrm>
            <a:custGeom>
              <a:avLst/>
              <a:gdLst/>
              <a:ahLst/>
              <a:cxnLst/>
              <a:rect l="l" t="t" r="r" b="b"/>
              <a:pathLst>
                <a:path w="38" h="17" extrusionOk="0">
                  <a:moveTo>
                    <a:pt x="14" y="12"/>
                  </a:moveTo>
                  <a:lnTo>
                    <a:pt x="14" y="12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5"/>
                  </a:lnTo>
                  <a:lnTo>
                    <a:pt x="16" y="3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38" y="0"/>
                  </a:lnTo>
                  <a:lnTo>
                    <a:pt x="33" y="5"/>
                  </a:lnTo>
                  <a:lnTo>
                    <a:pt x="1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361;p30">
              <a:extLst>
                <a:ext uri="{FF2B5EF4-FFF2-40B4-BE49-F238E27FC236}">
                  <a16:creationId xmlns:a16="http://schemas.microsoft.com/office/drawing/2014/main" id="{EDF17E38-7D15-0FDE-89E1-4AC52A8CA636}"/>
                </a:ext>
              </a:extLst>
            </p:cNvPr>
            <p:cNvSpPr/>
            <p:nvPr/>
          </p:nvSpPr>
          <p:spPr>
            <a:xfrm>
              <a:off x="4604328" y="2813238"/>
              <a:ext cx="109080" cy="233498"/>
            </a:xfrm>
            <a:custGeom>
              <a:avLst/>
              <a:gdLst/>
              <a:ahLst/>
              <a:cxnLst/>
              <a:rect l="l" t="t" r="r" b="b"/>
              <a:pathLst>
                <a:path w="64" h="137" extrusionOk="0">
                  <a:moveTo>
                    <a:pt x="43" y="2"/>
                  </a:moveTo>
                  <a:lnTo>
                    <a:pt x="43" y="2"/>
                  </a:lnTo>
                  <a:lnTo>
                    <a:pt x="43" y="14"/>
                  </a:lnTo>
                  <a:lnTo>
                    <a:pt x="57" y="7"/>
                  </a:lnTo>
                  <a:lnTo>
                    <a:pt x="57" y="9"/>
                  </a:lnTo>
                  <a:lnTo>
                    <a:pt x="50" y="21"/>
                  </a:lnTo>
                  <a:lnTo>
                    <a:pt x="50" y="28"/>
                  </a:lnTo>
                  <a:lnTo>
                    <a:pt x="54" y="33"/>
                  </a:lnTo>
                  <a:lnTo>
                    <a:pt x="52" y="52"/>
                  </a:lnTo>
                  <a:lnTo>
                    <a:pt x="43" y="61"/>
                  </a:lnTo>
                  <a:lnTo>
                    <a:pt x="45" y="71"/>
                  </a:lnTo>
                  <a:lnTo>
                    <a:pt x="54" y="71"/>
                  </a:lnTo>
                  <a:lnTo>
                    <a:pt x="57" y="80"/>
                  </a:lnTo>
                  <a:lnTo>
                    <a:pt x="64" y="85"/>
                  </a:lnTo>
                  <a:lnTo>
                    <a:pt x="62" y="99"/>
                  </a:lnTo>
                  <a:lnTo>
                    <a:pt x="54" y="104"/>
                  </a:lnTo>
                  <a:lnTo>
                    <a:pt x="50" y="109"/>
                  </a:lnTo>
                  <a:lnTo>
                    <a:pt x="38" y="118"/>
                  </a:lnTo>
                  <a:lnTo>
                    <a:pt x="40" y="125"/>
                  </a:lnTo>
                  <a:lnTo>
                    <a:pt x="38" y="132"/>
                  </a:lnTo>
                  <a:lnTo>
                    <a:pt x="31" y="137"/>
                  </a:lnTo>
                  <a:lnTo>
                    <a:pt x="24" y="104"/>
                  </a:lnTo>
                  <a:lnTo>
                    <a:pt x="14" y="97"/>
                  </a:lnTo>
                  <a:lnTo>
                    <a:pt x="14" y="92"/>
                  </a:lnTo>
                  <a:lnTo>
                    <a:pt x="2" y="80"/>
                  </a:lnTo>
                  <a:lnTo>
                    <a:pt x="0" y="66"/>
                  </a:lnTo>
                  <a:lnTo>
                    <a:pt x="10" y="54"/>
                  </a:lnTo>
                  <a:lnTo>
                    <a:pt x="14" y="38"/>
                  </a:lnTo>
                  <a:lnTo>
                    <a:pt x="10" y="19"/>
                  </a:lnTo>
                  <a:lnTo>
                    <a:pt x="14" y="9"/>
                  </a:lnTo>
                  <a:lnTo>
                    <a:pt x="33" y="0"/>
                  </a:lnTo>
                  <a:lnTo>
                    <a:pt x="43" y="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362;p30">
              <a:extLst>
                <a:ext uri="{FF2B5EF4-FFF2-40B4-BE49-F238E27FC236}">
                  <a16:creationId xmlns:a16="http://schemas.microsoft.com/office/drawing/2014/main" id="{1CBE0392-1707-0F05-3F90-6D37019EFFAD}"/>
                </a:ext>
              </a:extLst>
            </p:cNvPr>
            <p:cNvSpPr/>
            <p:nvPr/>
          </p:nvSpPr>
          <p:spPr>
            <a:xfrm>
              <a:off x="5115635" y="2642802"/>
              <a:ext cx="516420" cy="223272"/>
            </a:xfrm>
            <a:custGeom>
              <a:avLst/>
              <a:gdLst/>
              <a:ahLst/>
              <a:cxnLst/>
              <a:rect l="l" t="t" r="r" b="b"/>
              <a:pathLst>
                <a:path w="303" h="131" extrusionOk="0">
                  <a:moveTo>
                    <a:pt x="175" y="19"/>
                  </a:moveTo>
                  <a:lnTo>
                    <a:pt x="175" y="19"/>
                  </a:lnTo>
                  <a:lnTo>
                    <a:pt x="199" y="26"/>
                  </a:lnTo>
                  <a:lnTo>
                    <a:pt x="218" y="24"/>
                  </a:lnTo>
                  <a:lnTo>
                    <a:pt x="232" y="24"/>
                  </a:lnTo>
                  <a:lnTo>
                    <a:pt x="251" y="15"/>
                  </a:lnTo>
                  <a:lnTo>
                    <a:pt x="268" y="12"/>
                  </a:lnTo>
                  <a:lnTo>
                    <a:pt x="284" y="24"/>
                  </a:lnTo>
                  <a:lnTo>
                    <a:pt x="287" y="31"/>
                  </a:lnTo>
                  <a:lnTo>
                    <a:pt x="284" y="41"/>
                  </a:lnTo>
                  <a:lnTo>
                    <a:pt x="296" y="45"/>
                  </a:lnTo>
                  <a:lnTo>
                    <a:pt x="303" y="52"/>
                  </a:lnTo>
                  <a:lnTo>
                    <a:pt x="291" y="60"/>
                  </a:lnTo>
                  <a:lnTo>
                    <a:pt x="296" y="83"/>
                  </a:lnTo>
                  <a:lnTo>
                    <a:pt x="294" y="88"/>
                  </a:lnTo>
                  <a:lnTo>
                    <a:pt x="301" y="105"/>
                  </a:lnTo>
                  <a:lnTo>
                    <a:pt x="296" y="107"/>
                  </a:lnTo>
                  <a:lnTo>
                    <a:pt x="289" y="102"/>
                  </a:lnTo>
                  <a:lnTo>
                    <a:pt x="270" y="100"/>
                  </a:lnTo>
                  <a:lnTo>
                    <a:pt x="263" y="105"/>
                  </a:lnTo>
                  <a:lnTo>
                    <a:pt x="244" y="107"/>
                  </a:lnTo>
                  <a:lnTo>
                    <a:pt x="237" y="107"/>
                  </a:lnTo>
                  <a:lnTo>
                    <a:pt x="218" y="114"/>
                  </a:lnTo>
                  <a:lnTo>
                    <a:pt x="204" y="114"/>
                  </a:lnTo>
                  <a:lnTo>
                    <a:pt x="197" y="109"/>
                  </a:lnTo>
                  <a:lnTo>
                    <a:pt x="178" y="116"/>
                  </a:lnTo>
                  <a:lnTo>
                    <a:pt x="173" y="112"/>
                  </a:lnTo>
                  <a:lnTo>
                    <a:pt x="171" y="123"/>
                  </a:lnTo>
                  <a:lnTo>
                    <a:pt x="168" y="126"/>
                  </a:lnTo>
                  <a:lnTo>
                    <a:pt x="164" y="131"/>
                  </a:lnTo>
                  <a:lnTo>
                    <a:pt x="157" y="123"/>
                  </a:lnTo>
                  <a:lnTo>
                    <a:pt x="164" y="114"/>
                  </a:lnTo>
                  <a:lnTo>
                    <a:pt x="154" y="116"/>
                  </a:lnTo>
                  <a:lnTo>
                    <a:pt x="140" y="112"/>
                  </a:lnTo>
                  <a:lnTo>
                    <a:pt x="128" y="123"/>
                  </a:lnTo>
                  <a:lnTo>
                    <a:pt x="105" y="126"/>
                  </a:lnTo>
                  <a:lnTo>
                    <a:pt x="90" y="114"/>
                  </a:lnTo>
                  <a:lnTo>
                    <a:pt x="74" y="114"/>
                  </a:lnTo>
                  <a:lnTo>
                    <a:pt x="69" y="123"/>
                  </a:lnTo>
                  <a:lnTo>
                    <a:pt x="60" y="126"/>
                  </a:lnTo>
                  <a:lnTo>
                    <a:pt x="43" y="114"/>
                  </a:lnTo>
                  <a:lnTo>
                    <a:pt x="26" y="114"/>
                  </a:lnTo>
                  <a:lnTo>
                    <a:pt x="15" y="95"/>
                  </a:lnTo>
                  <a:lnTo>
                    <a:pt x="5" y="83"/>
                  </a:lnTo>
                  <a:lnTo>
                    <a:pt x="12" y="67"/>
                  </a:lnTo>
                  <a:lnTo>
                    <a:pt x="0" y="57"/>
                  </a:lnTo>
                  <a:lnTo>
                    <a:pt x="19" y="38"/>
                  </a:lnTo>
                  <a:lnTo>
                    <a:pt x="45" y="36"/>
                  </a:lnTo>
                  <a:lnTo>
                    <a:pt x="50" y="22"/>
                  </a:lnTo>
                  <a:lnTo>
                    <a:pt x="83" y="24"/>
                  </a:lnTo>
                  <a:lnTo>
                    <a:pt x="102" y="10"/>
                  </a:lnTo>
                  <a:lnTo>
                    <a:pt x="121" y="5"/>
                  </a:lnTo>
                  <a:lnTo>
                    <a:pt x="147" y="3"/>
                  </a:lnTo>
                  <a:lnTo>
                    <a:pt x="175" y="19"/>
                  </a:lnTo>
                  <a:close/>
                  <a:moveTo>
                    <a:pt x="17" y="31"/>
                  </a:moveTo>
                  <a:lnTo>
                    <a:pt x="17" y="31"/>
                  </a:lnTo>
                  <a:lnTo>
                    <a:pt x="5" y="43"/>
                  </a:lnTo>
                  <a:lnTo>
                    <a:pt x="0" y="34"/>
                  </a:lnTo>
                  <a:lnTo>
                    <a:pt x="0" y="29"/>
                  </a:lnTo>
                  <a:lnTo>
                    <a:pt x="3" y="26"/>
                  </a:lnTo>
                  <a:lnTo>
                    <a:pt x="10" y="12"/>
                  </a:lnTo>
                  <a:lnTo>
                    <a:pt x="0" y="7"/>
                  </a:lnTo>
                  <a:lnTo>
                    <a:pt x="17" y="0"/>
                  </a:lnTo>
                  <a:lnTo>
                    <a:pt x="31" y="5"/>
                  </a:lnTo>
                  <a:lnTo>
                    <a:pt x="34" y="12"/>
                  </a:lnTo>
                  <a:lnTo>
                    <a:pt x="48" y="19"/>
                  </a:lnTo>
                  <a:lnTo>
                    <a:pt x="45" y="24"/>
                  </a:lnTo>
                  <a:lnTo>
                    <a:pt x="24" y="24"/>
                  </a:lnTo>
                  <a:lnTo>
                    <a:pt x="17" y="3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363;p30">
              <a:extLst>
                <a:ext uri="{FF2B5EF4-FFF2-40B4-BE49-F238E27FC236}">
                  <a16:creationId xmlns:a16="http://schemas.microsoft.com/office/drawing/2014/main" id="{7E5CF331-40F2-9103-D9DD-936C828AF97D}"/>
                </a:ext>
              </a:extLst>
            </p:cNvPr>
            <p:cNvSpPr/>
            <p:nvPr/>
          </p:nvSpPr>
          <p:spPr>
            <a:xfrm>
              <a:off x="7713072" y="3200128"/>
              <a:ext cx="47723" cy="10055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16" y="45"/>
                  </a:moveTo>
                  <a:lnTo>
                    <a:pt x="16" y="45"/>
                  </a:lnTo>
                  <a:lnTo>
                    <a:pt x="9" y="59"/>
                  </a:lnTo>
                  <a:lnTo>
                    <a:pt x="0" y="45"/>
                  </a:lnTo>
                  <a:lnTo>
                    <a:pt x="0" y="31"/>
                  </a:lnTo>
                  <a:lnTo>
                    <a:pt x="9" y="14"/>
                  </a:lnTo>
                  <a:lnTo>
                    <a:pt x="21" y="0"/>
                  </a:lnTo>
                  <a:lnTo>
                    <a:pt x="28" y="7"/>
                  </a:lnTo>
                  <a:lnTo>
                    <a:pt x="26" y="17"/>
                  </a:lnTo>
                  <a:lnTo>
                    <a:pt x="16" y="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364;p30">
              <a:extLst>
                <a:ext uri="{FF2B5EF4-FFF2-40B4-BE49-F238E27FC236}">
                  <a16:creationId xmlns:a16="http://schemas.microsoft.com/office/drawing/2014/main" id="{06A1A083-40B7-F18D-B943-366E45BA7CA1}"/>
                </a:ext>
              </a:extLst>
            </p:cNvPr>
            <p:cNvSpPr/>
            <p:nvPr/>
          </p:nvSpPr>
          <p:spPr>
            <a:xfrm>
              <a:off x="5008260" y="2232052"/>
              <a:ext cx="495975" cy="330650"/>
            </a:xfrm>
            <a:custGeom>
              <a:avLst/>
              <a:gdLst/>
              <a:ahLst/>
              <a:cxnLst/>
              <a:rect l="l" t="t" r="r" b="b"/>
              <a:pathLst>
                <a:path w="10000" h="10000" extrusionOk="0">
                  <a:moveTo>
                    <a:pt x="6495" y="0"/>
                  </a:moveTo>
                  <a:lnTo>
                    <a:pt x="6495" y="0"/>
                  </a:lnTo>
                  <a:lnTo>
                    <a:pt x="6804" y="722"/>
                  </a:lnTo>
                  <a:lnTo>
                    <a:pt x="6667" y="979"/>
                  </a:lnTo>
                  <a:cubicBezTo>
                    <a:pt x="6690" y="1099"/>
                    <a:pt x="6712" y="1220"/>
                    <a:pt x="6735" y="1340"/>
                  </a:cubicBezTo>
                  <a:lnTo>
                    <a:pt x="7148" y="1443"/>
                  </a:lnTo>
                  <a:lnTo>
                    <a:pt x="7388" y="2062"/>
                  </a:lnTo>
                  <a:lnTo>
                    <a:pt x="7388" y="2320"/>
                  </a:lnTo>
                  <a:lnTo>
                    <a:pt x="8041" y="2784"/>
                  </a:lnTo>
                  <a:lnTo>
                    <a:pt x="8522" y="2577"/>
                  </a:lnTo>
                  <a:lnTo>
                    <a:pt x="8832" y="3144"/>
                  </a:lnTo>
                  <a:lnTo>
                    <a:pt x="9175" y="3144"/>
                  </a:lnTo>
                  <a:lnTo>
                    <a:pt x="10000" y="3557"/>
                  </a:lnTo>
                  <a:lnTo>
                    <a:pt x="10000" y="3918"/>
                  </a:lnTo>
                  <a:lnTo>
                    <a:pt x="9725" y="4536"/>
                  </a:lnTo>
                  <a:cubicBezTo>
                    <a:pt x="9782" y="4777"/>
                    <a:pt x="9840" y="5017"/>
                    <a:pt x="9897" y="5258"/>
                  </a:cubicBezTo>
                  <a:cubicBezTo>
                    <a:pt x="9874" y="5413"/>
                    <a:pt x="9851" y="5567"/>
                    <a:pt x="9828" y="5722"/>
                  </a:cubicBezTo>
                  <a:lnTo>
                    <a:pt x="9424" y="5830"/>
                  </a:lnTo>
                  <a:cubicBezTo>
                    <a:pt x="9380" y="6058"/>
                    <a:pt x="9155" y="6178"/>
                    <a:pt x="9111" y="6406"/>
                  </a:cubicBezTo>
                  <a:lnTo>
                    <a:pt x="9003" y="6701"/>
                  </a:lnTo>
                  <a:lnTo>
                    <a:pt x="8522" y="6804"/>
                  </a:lnTo>
                  <a:lnTo>
                    <a:pt x="8110" y="7216"/>
                  </a:lnTo>
                  <a:lnTo>
                    <a:pt x="7629" y="7216"/>
                  </a:lnTo>
                  <a:lnTo>
                    <a:pt x="7148" y="7680"/>
                  </a:lnTo>
                  <a:lnTo>
                    <a:pt x="7148" y="8402"/>
                  </a:lnTo>
                  <a:lnTo>
                    <a:pt x="7457" y="8763"/>
                  </a:lnTo>
                  <a:lnTo>
                    <a:pt x="8041" y="8660"/>
                  </a:lnTo>
                  <a:cubicBezTo>
                    <a:pt x="8007" y="8780"/>
                    <a:pt x="7972" y="8901"/>
                    <a:pt x="7938" y="9021"/>
                  </a:cubicBezTo>
                  <a:lnTo>
                    <a:pt x="7285" y="9278"/>
                  </a:lnTo>
                  <a:lnTo>
                    <a:pt x="6564" y="10000"/>
                  </a:lnTo>
                  <a:lnTo>
                    <a:pt x="6254" y="9639"/>
                  </a:lnTo>
                  <a:cubicBezTo>
                    <a:pt x="6277" y="9467"/>
                    <a:pt x="6300" y="9296"/>
                    <a:pt x="6323" y="9124"/>
                  </a:cubicBezTo>
                  <a:lnTo>
                    <a:pt x="5773" y="8763"/>
                  </a:lnTo>
                  <a:cubicBezTo>
                    <a:pt x="5796" y="8694"/>
                    <a:pt x="5819" y="8626"/>
                    <a:pt x="5842" y="8557"/>
                  </a:cubicBezTo>
                  <a:lnTo>
                    <a:pt x="6323" y="8196"/>
                  </a:lnTo>
                  <a:lnTo>
                    <a:pt x="6254" y="7938"/>
                  </a:lnTo>
                  <a:lnTo>
                    <a:pt x="5361" y="7577"/>
                  </a:lnTo>
                  <a:lnTo>
                    <a:pt x="5361" y="7216"/>
                  </a:lnTo>
                  <a:lnTo>
                    <a:pt x="4777" y="7320"/>
                  </a:lnTo>
                  <a:cubicBezTo>
                    <a:pt x="4697" y="7526"/>
                    <a:pt x="4616" y="7732"/>
                    <a:pt x="4536" y="7938"/>
                  </a:cubicBezTo>
                  <a:lnTo>
                    <a:pt x="4124" y="8918"/>
                  </a:lnTo>
                  <a:lnTo>
                    <a:pt x="3883" y="8660"/>
                  </a:lnTo>
                  <a:lnTo>
                    <a:pt x="3643" y="8763"/>
                  </a:lnTo>
                  <a:lnTo>
                    <a:pt x="3402" y="8660"/>
                  </a:lnTo>
                  <a:cubicBezTo>
                    <a:pt x="3425" y="8626"/>
                    <a:pt x="3448" y="8591"/>
                    <a:pt x="3471" y="8557"/>
                  </a:cubicBezTo>
                  <a:cubicBezTo>
                    <a:pt x="3528" y="8385"/>
                    <a:pt x="3586" y="8213"/>
                    <a:pt x="3643" y="8041"/>
                  </a:cubicBezTo>
                  <a:lnTo>
                    <a:pt x="3814" y="7680"/>
                  </a:lnTo>
                  <a:cubicBezTo>
                    <a:pt x="3780" y="7594"/>
                    <a:pt x="3745" y="7509"/>
                    <a:pt x="3711" y="7423"/>
                  </a:cubicBezTo>
                  <a:lnTo>
                    <a:pt x="3883" y="7423"/>
                  </a:lnTo>
                  <a:lnTo>
                    <a:pt x="3883" y="7577"/>
                  </a:lnTo>
                  <a:lnTo>
                    <a:pt x="4227" y="7577"/>
                  </a:lnTo>
                  <a:cubicBezTo>
                    <a:pt x="4273" y="7526"/>
                    <a:pt x="4318" y="7474"/>
                    <a:pt x="4364" y="7423"/>
                  </a:cubicBezTo>
                  <a:cubicBezTo>
                    <a:pt x="4341" y="7389"/>
                    <a:pt x="4319" y="7354"/>
                    <a:pt x="4296" y="7320"/>
                  </a:cubicBezTo>
                  <a:lnTo>
                    <a:pt x="4364" y="7216"/>
                  </a:lnTo>
                  <a:lnTo>
                    <a:pt x="4124" y="6804"/>
                  </a:lnTo>
                  <a:cubicBezTo>
                    <a:pt x="4101" y="6649"/>
                    <a:pt x="4078" y="6495"/>
                    <a:pt x="4055" y="6340"/>
                  </a:cubicBezTo>
                  <a:lnTo>
                    <a:pt x="3883" y="6237"/>
                  </a:lnTo>
                  <a:lnTo>
                    <a:pt x="3883" y="5722"/>
                  </a:lnTo>
                  <a:lnTo>
                    <a:pt x="3643" y="5464"/>
                  </a:lnTo>
                  <a:lnTo>
                    <a:pt x="3402" y="5361"/>
                  </a:lnTo>
                  <a:lnTo>
                    <a:pt x="2990" y="5000"/>
                  </a:lnTo>
                  <a:lnTo>
                    <a:pt x="2577" y="5103"/>
                  </a:lnTo>
                  <a:cubicBezTo>
                    <a:pt x="2554" y="5189"/>
                    <a:pt x="2532" y="5275"/>
                    <a:pt x="2509" y="5361"/>
                  </a:cubicBezTo>
                  <a:lnTo>
                    <a:pt x="2268" y="5361"/>
                  </a:lnTo>
                  <a:lnTo>
                    <a:pt x="2096" y="5619"/>
                  </a:lnTo>
                  <a:lnTo>
                    <a:pt x="1684" y="5722"/>
                  </a:lnTo>
                  <a:lnTo>
                    <a:pt x="1546" y="5876"/>
                  </a:lnTo>
                  <a:lnTo>
                    <a:pt x="1271" y="5619"/>
                  </a:lnTo>
                  <a:lnTo>
                    <a:pt x="893" y="5619"/>
                  </a:lnTo>
                  <a:lnTo>
                    <a:pt x="550" y="5464"/>
                  </a:lnTo>
                  <a:lnTo>
                    <a:pt x="309" y="5722"/>
                  </a:lnTo>
                  <a:lnTo>
                    <a:pt x="309" y="5361"/>
                  </a:lnTo>
                  <a:lnTo>
                    <a:pt x="0" y="5000"/>
                  </a:lnTo>
                  <a:cubicBezTo>
                    <a:pt x="23" y="4845"/>
                    <a:pt x="46" y="4691"/>
                    <a:pt x="69" y="4536"/>
                  </a:cubicBezTo>
                  <a:lnTo>
                    <a:pt x="241" y="4278"/>
                  </a:lnTo>
                  <a:lnTo>
                    <a:pt x="378" y="4278"/>
                  </a:lnTo>
                  <a:cubicBezTo>
                    <a:pt x="332" y="4072"/>
                    <a:pt x="287" y="3866"/>
                    <a:pt x="241" y="3660"/>
                  </a:cubicBezTo>
                  <a:lnTo>
                    <a:pt x="722" y="2680"/>
                  </a:lnTo>
                  <a:lnTo>
                    <a:pt x="962" y="2423"/>
                  </a:lnTo>
                  <a:lnTo>
                    <a:pt x="1031" y="2216"/>
                  </a:lnTo>
                  <a:cubicBezTo>
                    <a:pt x="951" y="1804"/>
                    <a:pt x="870" y="1391"/>
                    <a:pt x="790" y="979"/>
                  </a:cubicBezTo>
                  <a:lnTo>
                    <a:pt x="1031" y="979"/>
                  </a:lnTo>
                  <a:lnTo>
                    <a:pt x="1375" y="619"/>
                  </a:lnTo>
                  <a:lnTo>
                    <a:pt x="1787" y="464"/>
                  </a:lnTo>
                  <a:lnTo>
                    <a:pt x="2337" y="619"/>
                  </a:lnTo>
                  <a:lnTo>
                    <a:pt x="2990" y="979"/>
                  </a:lnTo>
                  <a:lnTo>
                    <a:pt x="3402" y="979"/>
                  </a:lnTo>
                  <a:lnTo>
                    <a:pt x="3574" y="1237"/>
                  </a:lnTo>
                  <a:lnTo>
                    <a:pt x="3814" y="979"/>
                  </a:lnTo>
                  <a:lnTo>
                    <a:pt x="3952" y="1237"/>
                  </a:lnTo>
                  <a:lnTo>
                    <a:pt x="4467" y="1237"/>
                  </a:lnTo>
                  <a:lnTo>
                    <a:pt x="4708" y="1340"/>
                  </a:lnTo>
                  <a:lnTo>
                    <a:pt x="4708" y="619"/>
                  </a:lnTo>
                  <a:lnTo>
                    <a:pt x="4880" y="361"/>
                  </a:lnTo>
                  <a:lnTo>
                    <a:pt x="5361" y="258"/>
                  </a:lnTo>
                  <a:lnTo>
                    <a:pt x="5601" y="361"/>
                  </a:lnTo>
                  <a:cubicBezTo>
                    <a:pt x="5624" y="241"/>
                    <a:pt x="5647" y="120"/>
                    <a:pt x="5670" y="0"/>
                  </a:cubicBezTo>
                  <a:lnTo>
                    <a:pt x="5911" y="0"/>
                  </a:lnTo>
                  <a:lnTo>
                    <a:pt x="649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365;p30">
              <a:extLst>
                <a:ext uri="{FF2B5EF4-FFF2-40B4-BE49-F238E27FC236}">
                  <a16:creationId xmlns:a16="http://schemas.microsoft.com/office/drawing/2014/main" id="{99E55537-484E-BB29-9EF5-02CDABBB96F5}"/>
                </a:ext>
              </a:extLst>
            </p:cNvPr>
            <p:cNvSpPr/>
            <p:nvPr/>
          </p:nvSpPr>
          <p:spPr>
            <a:xfrm>
              <a:off x="2785781" y="4785183"/>
              <a:ext cx="141462" cy="158506"/>
            </a:xfrm>
            <a:custGeom>
              <a:avLst/>
              <a:gdLst/>
              <a:ahLst/>
              <a:cxnLst/>
              <a:rect l="l" t="t" r="r" b="b"/>
              <a:pathLst>
                <a:path w="83" h="93" extrusionOk="0">
                  <a:moveTo>
                    <a:pt x="22" y="0"/>
                  </a:moveTo>
                  <a:lnTo>
                    <a:pt x="22" y="0"/>
                  </a:lnTo>
                  <a:lnTo>
                    <a:pt x="41" y="14"/>
                  </a:lnTo>
                  <a:lnTo>
                    <a:pt x="45" y="14"/>
                  </a:lnTo>
                  <a:lnTo>
                    <a:pt x="62" y="26"/>
                  </a:lnTo>
                  <a:lnTo>
                    <a:pt x="74" y="36"/>
                  </a:lnTo>
                  <a:lnTo>
                    <a:pt x="83" y="50"/>
                  </a:lnTo>
                  <a:lnTo>
                    <a:pt x="76" y="59"/>
                  </a:lnTo>
                  <a:lnTo>
                    <a:pt x="81" y="69"/>
                  </a:lnTo>
                  <a:lnTo>
                    <a:pt x="74" y="81"/>
                  </a:lnTo>
                  <a:lnTo>
                    <a:pt x="57" y="93"/>
                  </a:lnTo>
                  <a:lnTo>
                    <a:pt x="43" y="88"/>
                  </a:lnTo>
                  <a:lnTo>
                    <a:pt x="36" y="90"/>
                  </a:lnTo>
                  <a:lnTo>
                    <a:pt x="19" y="83"/>
                  </a:lnTo>
                  <a:lnTo>
                    <a:pt x="10" y="83"/>
                  </a:lnTo>
                  <a:lnTo>
                    <a:pt x="0" y="74"/>
                  </a:lnTo>
                  <a:lnTo>
                    <a:pt x="0" y="59"/>
                  </a:lnTo>
                  <a:lnTo>
                    <a:pt x="5" y="55"/>
                  </a:lnTo>
                  <a:lnTo>
                    <a:pt x="5" y="36"/>
                  </a:lnTo>
                  <a:lnTo>
                    <a:pt x="10" y="17"/>
                  </a:lnTo>
                  <a:lnTo>
                    <a:pt x="12" y="3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366;p30">
              <a:extLst>
                <a:ext uri="{FF2B5EF4-FFF2-40B4-BE49-F238E27FC236}">
                  <a16:creationId xmlns:a16="http://schemas.microsoft.com/office/drawing/2014/main" id="{D1A27CF7-F7F5-F62B-7259-6FFB87F584AC}"/>
                </a:ext>
              </a:extLst>
            </p:cNvPr>
            <p:cNvSpPr/>
            <p:nvPr/>
          </p:nvSpPr>
          <p:spPr>
            <a:xfrm>
              <a:off x="-341711" y="1081608"/>
              <a:ext cx="2890586" cy="2312817"/>
            </a:xfrm>
            <a:custGeom>
              <a:avLst/>
              <a:gdLst/>
              <a:ahLst/>
              <a:cxnLst/>
              <a:rect l="l" t="t" r="r" b="b"/>
              <a:pathLst>
                <a:path w="1696" h="1357" extrusionOk="0">
                  <a:moveTo>
                    <a:pt x="262" y="1352"/>
                  </a:moveTo>
                  <a:lnTo>
                    <a:pt x="262" y="1352"/>
                  </a:lnTo>
                  <a:lnTo>
                    <a:pt x="260" y="1357"/>
                  </a:lnTo>
                  <a:lnTo>
                    <a:pt x="255" y="1352"/>
                  </a:lnTo>
                  <a:lnTo>
                    <a:pt x="255" y="1347"/>
                  </a:lnTo>
                  <a:lnTo>
                    <a:pt x="253" y="1342"/>
                  </a:lnTo>
                  <a:lnTo>
                    <a:pt x="253" y="1340"/>
                  </a:lnTo>
                  <a:lnTo>
                    <a:pt x="258" y="1338"/>
                  </a:lnTo>
                  <a:lnTo>
                    <a:pt x="255" y="1335"/>
                  </a:lnTo>
                  <a:lnTo>
                    <a:pt x="255" y="1333"/>
                  </a:lnTo>
                  <a:lnTo>
                    <a:pt x="258" y="1333"/>
                  </a:lnTo>
                  <a:lnTo>
                    <a:pt x="265" y="1335"/>
                  </a:lnTo>
                  <a:lnTo>
                    <a:pt x="267" y="1335"/>
                  </a:lnTo>
                  <a:lnTo>
                    <a:pt x="269" y="1340"/>
                  </a:lnTo>
                  <a:lnTo>
                    <a:pt x="274" y="1345"/>
                  </a:lnTo>
                  <a:lnTo>
                    <a:pt x="274" y="1347"/>
                  </a:lnTo>
                  <a:lnTo>
                    <a:pt x="267" y="1350"/>
                  </a:lnTo>
                  <a:lnTo>
                    <a:pt x="262" y="1352"/>
                  </a:lnTo>
                  <a:lnTo>
                    <a:pt x="262" y="1352"/>
                  </a:lnTo>
                  <a:lnTo>
                    <a:pt x="262" y="1352"/>
                  </a:lnTo>
                  <a:close/>
                  <a:moveTo>
                    <a:pt x="253" y="1326"/>
                  </a:moveTo>
                  <a:lnTo>
                    <a:pt x="253" y="1326"/>
                  </a:lnTo>
                  <a:lnTo>
                    <a:pt x="248" y="1328"/>
                  </a:lnTo>
                  <a:lnTo>
                    <a:pt x="246" y="1323"/>
                  </a:lnTo>
                  <a:lnTo>
                    <a:pt x="243" y="1321"/>
                  </a:lnTo>
                  <a:lnTo>
                    <a:pt x="243" y="1321"/>
                  </a:lnTo>
                  <a:lnTo>
                    <a:pt x="243" y="1319"/>
                  </a:lnTo>
                  <a:lnTo>
                    <a:pt x="251" y="1321"/>
                  </a:lnTo>
                  <a:lnTo>
                    <a:pt x="253" y="1323"/>
                  </a:lnTo>
                  <a:lnTo>
                    <a:pt x="253" y="1326"/>
                  </a:lnTo>
                  <a:lnTo>
                    <a:pt x="253" y="1326"/>
                  </a:lnTo>
                  <a:lnTo>
                    <a:pt x="253" y="1326"/>
                  </a:lnTo>
                  <a:close/>
                  <a:moveTo>
                    <a:pt x="241" y="1316"/>
                  </a:moveTo>
                  <a:lnTo>
                    <a:pt x="241" y="1316"/>
                  </a:lnTo>
                  <a:lnTo>
                    <a:pt x="241" y="1319"/>
                  </a:lnTo>
                  <a:lnTo>
                    <a:pt x="234" y="1316"/>
                  </a:lnTo>
                  <a:lnTo>
                    <a:pt x="234" y="1316"/>
                  </a:lnTo>
                  <a:lnTo>
                    <a:pt x="241" y="1316"/>
                  </a:lnTo>
                  <a:lnTo>
                    <a:pt x="241" y="1316"/>
                  </a:lnTo>
                  <a:lnTo>
                    <a:pt x="241" y="1316"/>
                  </a:lnTo>
                  <a:close/>
                  <a:moveTo>
                    <a:pt x="227" y="1314"/>
                  </a:moveTo>
                  <a:lnTo>
                    <a:pt x="227" y="1314"/>
                  </a:lnTo>
                  <a:lnTo>
                    <a:pt x="227" y="1314"/>
                  </a:lnTo>
                  <a:lnTo>
                    <a:pt x="225" y="1314"/>
                  </a:lnTo>
                  <a:lnTo>
                    <a:pt x="220" y="1314"/>
                  </a:lnTo>
                  <a:lnTo>
                    <a:pt x="217" y="1312"/>
                  </a:lnTo>
                  <a:lnTo>
                    <a:pt x="217" y="1309"/>
                  </a:lnTo>
                  <a:lnTo>
                    <a:pt x="222" y="1307"/>
                  </a:lnTo>
                  <a:lnTo>
                    <a:pt x="225" y="1309"/>
                  </a:lnTo>
                  <a:lnTo>
                    <a:pt x="227" y="1314"/>
                  </a:lnTo>
                  <a:lnTo>
                    <a:pt x="227" y="1314"/>
                  </a:lnTo>
                  <a:lnTo>
                    <a:pt x="227" y="1314"/>
                  </a:lnTo>
                  <a:close/>
                  <a:moveTo>
                    <a:pt x="201" y="1302"/>
                  </a:moveTo>
                  <a:lnTo>
                    <a:pt x="201" y="1302"/>
                  </a:lnTo>
                  <a:lnTo>
                    <a:pt x="199" y="1305"/>
                  </a:lnTo>
                  <a:lnTo>
                    <a:pt x="194" y="1300"/>
                  </a:lnTo>
                  <a:lnTo>
                    <a:pt x="194" y="1300"/>
                  </a:lnTo>
                  <a:lnTo>
                    <a:pt x="196" y="1297"/>
                  </a:lnTo>
                  <a:lnTo>
                    <a:pt x="201" y="1297"/>
                  </a:lnTo>
                  <a:lnTo>
                    <a:pt x="201" y="1302"/>
                  </a:lnTo>
                  <a:lnTo>
                    <a:pt x="201" y="1302"/>
                  </a:lnTo>
                  <a:lnTo>
                    <a:pt x="201" y="1302"/>
                  </a:lnTo>
                  <a:close/>
                  <a:moveTo>
                    <a:pt x="1244" y="748"/>
                  </a:moveTo>
                  <a:lnTo>
                    <a:pt x="1244" y="748"/>
                  </a:lnTo>
                  <a:lnTo>
                    <a:pt x="1249" y="763"/>
                  </a:lnTo>
                  <a:lnTo>
                    <a:pt x="1253" y="767"/>
                  </a:lnTo>
                  <a:lnTo>
                    <a:pt x="1265" y="767"/>
                  </a:lnTo>
                  <a:lnTo>
                    <a:pt x="1282" y="772"/>
                  </a:lnTo>
                  <a:lnTo>
                    <a:pt x="1296" y="779"/>
                  </a:lnTo>
                  <a:lnTo>
                    <a:pt x="1310" y="777"/>
                  </a:lnTo>
                  <a:lnTo>
                    <a:pt x="1329" y="784"/>
                  </a:lnTo>
                  <a:lnTo>
                    <a:pt x="1336" y="784"/>
                  </a:lnTo>
                  <a:lnTo>
                    <a:pt x="1350" y="777"/>
                  </a:lnTo>
                  <a:lnTo>
                    <a:pt x="1365" y="784"/>
                  </a:lnTo>
                  <a:lnTo>
                    <a:pt x="1381" y="793"/>
                  </a:lnTo>
                  <a:lnTo>
                    <a:pt x="1393" y="803"/>
                  </a:lnTo>
                  <a:lnTo>
                    <a:pt x="1405" y="810"/>
                  </a:lnTo>
                  <a:lnTo>
                    <a:pt x="1407" y="815"/>
                  </a:lnTo>
                  <a:lnTo>
                    <a:pt x="1412" y="817"/>
                  </a:lnTo>
                  <a:lnTo>
                    <a:pt x="1410" y="819"/>
                  </a:lnTo>
                  <a:lnTo>
                    <a:pt x="1414" y="822"/>
                  </a:lnTo>
                  <a:lnTo>
                    <a:pt x="1419" y="819"/>
                  </a:lnTo>
                  <a:lnTo>
                    <a:pt x="1419" y="824"/>
                  </a:lnTo>
                  <a:lnTo>
                    <a:pt x="1424" y="829"/>
                  </a:lnTo>
                  <a:lnTo>
                    <a:pt x="1426" y="829"/>
                  </a:lnTo>
                  <a:lnTo>
                    <a:pt x="1428" y="831"/>
                  </a:lnTo>
                  <a:lnTo>
                    <a:pt x="1426" y="834"/>
                  </a:lnTo>
                  <a:lnTo>
                    <a:pt x="1445" y="845"/>
                  </a:lnTo>
                  <a:lnTo>
                    <a:pt x="1447" y="867"/>
                  </a:lnTo>
                  <a:lnTo>
                    <a:pt x="1452" y="886"/>
                  </a:lnTo>
                  <a:lnTo>
                    <a:pt x="1445" y="897"/>
                  </a:lnTo>
                  <a:lnTo>
                    <a:pt x="1438" y="912"/>
                  </a:lnTo>
                  <a:lnTo>
                    <a:pt x="1436" y="919"/>
                  </a:lnTo>
                  <a:lnTo>
                    <a:pt x="1436" y="919"/>
                  </a:lnTo>
                  <a:lnTo>
                    <a:pt x="1436" y="923"/>
                  </a:lnTo>
                  <a:lnTo>
                    <a:pt x="1443" y="926"/>
                  </a:lnTo>
                  <a:lnTo>
                    <a:pt x="1445" y="926"/>
                  </a:lnTo>
                  <a:lnTo>
                    <a:pt x="1464" y="914"/>
                  </a:lnTo>
                  <a:lnTo>
                    <a:pt x="1481" y="912"/>
                  </a:lnTo>
                  <a:lnTo>
                    <a:pt x="1502" y="902"/>
                  </a:lnTo>
                  <a:lnTo>
                    <a:pt x="1504" y="900"/>
                  </a:lnTo>
                  <a:lnTo>
                    <a:pt x="1502" y="893"/>
                  </a:lnTo>
                  <a:lnTo>
                    <a:pt x="1499" y="888"/>
                  </a:lnTo>
                  <a:lnTo>
                    <a:pt x="1507" y="883"/>
                  </a:lnTo>
                  <a:lnTo>
                    <a:pt x="1521" y="883"/>
                  </a:lnTo>
                  <a:lnTo>
                    <a:pt x="1537" y="883"/>
                  </a:lnTo>
                  <a:lnTo>
                    <a:pt x="1542" y="874"/>
                  </a:lnTo>
                  <a:lnTo>
                    <a:pt x="1544" y="874"/>
                  </a:lnTo>
                  <a:lnTo>
                    <a:pt x="1561" y="857"/>
                  </a:lnTo>
                  <a:lnTo>
                    <a:pt x="1568" y="852"/>
                  </a:lnTo>
                  <a:lnTo>
                    <a:pt x="1592" y="852"/>
                  </a:lnTo>
                  <a:lnTo>
                    <a:pt x="1622" y="852"/>
                  </a:lnTo>
                  <a:lnTo>
                    <a:pt x="1625" y="848"/>
                  </a:lnTo>
                  <a:lnTo>
                    <a:pt x="1630" y="845"/>
                  </a:lnTo>
                  <a:lnTo>
                    <a:pt x="1637" y="843"/>
                  </a:lnTo>
                  <a:lnTo>
                    <a:pt x="1644" y="831"/>
                  </a:lnTo>
                  <a:lnTo>
                    <a:pt x="1646" y="815"/>
                  </a:lnTo>
                  <a:lnTo>
                    <a:pt x="1660" y="796"/>
                  </a:lnTo>
                  <a:lnTo>
                    <a:pt x="1665" y="803"/>
                  </a:lnTo>
                  <a:lnTo>
                    <a:pt x="1677" y="798"/>
                  </a:lnTo>
                  <a:lnTo>
                    <a:pt x="1682" y="805"/>
                  </a:lnTo>
                  <a:lnTo>
                    <a:pt x="1682" y="838"/>
                  </a:lnTo>
                  <a:lnTo>
                    <a:pt x="1693" y="850"/>
                  </a:lnTo>
                  <a:lnTo>
                    <a:pt x="1696" y="857"/>
                  </a:lnTo>
                  <a:lnTo>
                    <a:pt x="1679" y="869"/>
                  </a:lnTo>
                  <a:lnTo>
                    <a:pt x="1663" y="876"/>
                  </a:lnTo>
                  <a:lnTo>
                    <a:pt x="1646" y="883"/>
                  </a:lnTo>
                  <a:lnTo>
                    <a:pt x="1637" y="895"/>
                  </a:lnTo>
                  <a:lnTo>
                    <a:pt x="1634" y="900"/>
                  </a:lnTo>
                  <a:lnTo>
                    <a:pt x="1634" y="912"/>
                  </a:lnTo>
                  <a:lnTo>
                    <a:pt x="1639" y="923"/>
                  </a:lnTo>
                  <a:lnTo>
                    <a:pt x="1646" y="923"/>
                  </a:lnTo>
                  <a:lnTo>
                    <a:pt x="1644" y="916"/>
                  </a:lnTo>
                  <a:lnTo>
                    <a:pt x="1648" y="921"/>
                  </a:lnTo>
                  <a:lnTo>
                    <a:pt x="1648" y="928"/>
                  </a:lnTo>
                  <a:lnTo>
                    <a:pt x="1637" y="931"/>
                  </a:lnTo>
                  <a:lnTo>
                    <a:pt x="1630" y="931"/>
                  </a:lnTo>
                  <a:lnTo>
                    <a:pt x="1618" y="935"/>
                  </a:lnTo>
                  <a:lnTo>
                    <a:pt x="1611" y="935"/>
                  </a:lnTo>
                  <a:lnTo>
                    <a:pt x="1601" y="935"/>
                  </a:lnTo>
                  <a:lnTo>
                    <a:pt x="1587" y="942"/>
                  </a:lnTo>
                  <a:lnTo>
                    <a:pt x="1611" y="938"/>
                  </a:lnTo>
                  <a:lnTo>
                    <a:pt x="1615" y="942"/>
                  </a:lnTo>
                  <a:lnTo>
                    <a:pt x="1594" y="950"/>
                  </a:lnTo>
                  <a:lnTo>
                    <a:pt x="1582" y="950"/>
                  </a:lnTo>
                  <a:lnTo>
                    <a:pt x="1585" y="947"/>
                  </a:lnTo>
                  <a:lnTo>
                    <a:pt x="1577" y="952"/>
                  </a:lnTo>
                  <a:lnTo>
                    <a:pt x="1585" y="954"/>
                  </a:lnTo>
                  <a:lnTo>
                    <a:pt x="1580" y="968"/>
                  </a:lnTo>
                  <a:lnTo>
                    <a:pt x="1568" y="985"/>
                  </a:lnTo>
                  <a:lnTo>
                    <a:pt x="1566" y="978"/>
                  </a:lnTo>
                  <a:lnTo>
                    <a:pt x="1563" y="978"/>
                  </a:lnTo>
                  <a:lnTo>
                    <a:pt x="1559" y="973"/>
                  </a:lnTo>
                  <a:lnTo>
                    <a:pt x="1561" y="983"/>
                  </a:lnTo>
                  <a:lnTo>
                    <a:pt x="1566" y="987"/>
                  </a:lnTo>
                  <a:lnTo>
                    <a:pt x="1566" y="997"/>
                  </a:lnTo>
                  <a:lnTo>
                    <a:pt x="1561" y="1004"/>
                  </a:lnTo>
                  <a:lnTo>
                    <a:pt x="1551" y="1021"/>
                  </a:lnTo>
                  <a:lnTo>
                    <a:pt x="1549" y="1018"/>
                  </a:lnTo>
                  <a:lnTo>
                    <a:pt x="1554" y="1004"/>
                  </a:lnTo>
                  <a:lnTo>
                    <a:pt x="1547" y="997"/>
                  </a:lnTo>
                  <a:lnTo>
                    <a:pt x="1544" y="980"/>
                  </a:lnTo>
                  <a:lnTo>
                    <a:pt x="1542" y="990"/>
                  </a:lnTo>
                  <a:lnTo>
                    <a:pt x="1544" y="1002"/>
                  </a:lnTo>
                  <a:lnTo>
                    <a:pt x="1533" y="999"/>
                  </a:lnTo>
                  <a:lnTo>
                    <a:pt x="1544" y="1006"/>
                  </a:lnTo>
                  <a:lnTo>
                    <a:pt x="1547" y="1025"/>
                  </a:lnTo>
                  <a:lnTo>
                    <a:pt x="1551" y="1025"/>
                  </a:lnTo>
                  <a:lnTo>
                    <a:pt x="1551" y="1032"/>
                  </a:lnTo>
                  <a:lnTo>
                    <a:pt x="1554" y="1054"/>
                  </a:lnTo>
                  <a:lnTo>
                    <a:pt x="1544" y="1068"/>
                  </a:lnTo>
                  <a:lnTo>
                    <a:pt x="1528" y="1073"/>
                  </a:lnTo>
                  <a:lnTo>
                    <a:pt x="1516" y="1084"/>
                  </a:lnTo>
                  <a:lnTo>
                    <a:pt x="1509" y="1084"/>
                  </a:lnTo>
                  <a:lnTo>
                    <a:pt x="1502" y="1094"/>
                  </a:lnTo>
                  <a:lnTo>
                    <a:pt x="1499" y="1099"/>
                  </a:lnTo>
                  <a:lnTo>
                    <a:pt x="1481" y="1113"/>
                  </a:lnTo>
                  <a:lnTo>
                    <a:pt x="1471" y="1120"/>
                  </a:lnTo>
                  <a:lnTo>
                    <a:pt x="1464" y="1132"/>
                  </a:lnTo>
                  <a:lnTo>
                    <a:pt x="1462" y="1146"/>
                  </a:lnTo>
                  <a:lnTo>
                    <a:pt x="1464" y="1158"/>
                  </a:lnTo>
                  <a:lnTo>
                    <a:pt x="1469" y="1174"/>
                  </a:lnTo>
                  <a:lnTo>
                    <a:pt x="1476" y="1189"/>
                  </a:lnTo>
                  <a:lnTo>
                    <a:pt x="1476" y="1196"/>
                  </a:lnTo>
                  <a:lnTo>
                    <a:pt x="1485" y="1217"/>
                  </a:lnTo>
                  <a:lnTo>
                    <a:pt x="1483" y="1229"/>
                  </a:lnTo>
                  <a:lnTo>
                    <a:pt x="1483" y="1236"/>
                  </a:lnTo>
                  <a:lnTo>
                    <a:pt x="1478" y="1245"/>
                  </a:lnTo>
                  <a:lnTo>
                    <a:pt x="1473" y="1248"/>
                  </a:lnTo>
                  <a:lnTo>
                    <a:pt x="1466" y="1245"/>
                  </a:lnTo>
                  <a:lnTo>
                    <a:pt x="1464" y="1238"/>
                  </a:lnTo>
                  <a:lnTo>
                    <a:pt x="1457" y="1234"/>
                  </a:lnTo>
                  <a:lnTo>
                    <a:pt x="1450" y="1219"/>
                  </a:lnTo>
                  <a:lnTo>
                    <a:pt x="1440" y="1205"/>
                  </a:lnTo>
                  <a:lnTo>
                    <a:pt x="1438" y="1198"/>
                  </a:lnTo>
                  <a:lnTo>
                    <a:pt x="1443" y="1186"/>
                  </a:lnTo>
                  <a:lnTo>
                    <a:pt x="1438" y="1177"/>
                  </a:lnTo>
                  <a:lnTo>
                    <a:pt x="1424" y="1160"/>
                  </a:lnTo>
                  <a:lnTo>
                    <a:pt x="1419" y="1158"/>
                  </a:lnTo>
                  <a:lnTo>
                    <a:pt x="1402" y="1167"/>
                  </a:lnTo>
                  <a:lnTo>
                    <a:pt x="1400" y="1165"/>
                  </a:lnTo>
                  <a:lnTo>
                    <a:pt x="1393" y="1155"/>
                  </a:lnTo>
                  <a:lnTo>
                    <a:pt x="1381" y="1151"/>
                  </a:lnTo>
                  <a:lnTo>
                    <a:pt x="1362" y="1153"/>
                  </a:lnTo>
                  <a:lnTo>
                    <a:pt x="1348" y="1151"/>
                  </a:lnTo>
                  <a:lnTo>
                    <a:pt x="1336" y="1153"/>
                  </a:lnTo>
                  <a:lnTo>
                    <a:pt x="1329" y="1155"/>
                  </a:lnTo>
                  <a:lnTo>
                    <a:pt x="1334" y="1160"/>
                  </a:lnTo>
                  <a:lnTo>
                    <a:pt x="1331" y="1167"/>
                  </a:lnTo>
                  <a:lnTo>
                    <a:pt x="1336" y="1172"/>
                  </a:lnTo>
                  <a:lnTo>
                    <a:pt x="1334" y="1174"/>
                  </a:lnTo>
                  <a:lnTo>
                    <a:pt x="1327" y="1172"/>
                  </a:lnTo>
                  <a:lnTo>
                    <a:pt x="1320" y="1174"/>
                  </a:lnTo>
                  <a:lnTo>
                    <a:pt x="1310" y="1174"/>
                  </a:lnTo>
                  <a:lnTo>
                    <a:pt x="1296" y="1165"/>
                  </a:lnTo>
                  <a:lnTo>
                    <a:pt x="1282" y="1167"/>
                  </a:lnTo>
                  <a:lnTo>
                    <a:pt x="1270" y="1163"/>
                  </a:lnTo>
                  <a:lnTo>
                    <a:pt x="1261" y="1165"/>
                  </a:lnTo>
                  <a:lnTo>
                    <a:pt x="1246" y="1167"/>
                  </a:lnTo>
                  <a:lnTo>
                    <a:pt x="1232" y="1181"/>
                  </a:lnTo>
                  <a:lnTo>
                    <a:pt x="1216" y="1191"/>
                  </a:lnTo>
                  <a:lnTo>
                    <a:pt x="1208" y="1198"/>
                  </a:lnTo>
                  <a:lnTo>
                    <a:pt x="1204" y="1208"/>
                  </a:lnTo>
                  <a:lnTo>
                    <a:pt x="1204" y="1219"/>
                  </a:lnTo>
                  <a:lnTo>
                    <a:pt x="1204" y="1229"/>
                  </a:lnTo>
                  <a:lnTo>
                    <a:pt x="1208" y="1234"/>
                  </a:lnTo>
                  <a:lnTo>
                    <a:pt x="1201" y="1234"/>
                  </a:lnTo>
                  <a:lnTo>
                    <a:pt x="1190" y="1231"/>
                  </a:lnTo>
                  <a:lnTo>
                    <a:pt x="1178" y="1226"/>
                  </a:lnTo>
                  <a:lnTo>
                    <a:pt x="1173" y="1217"/>
                  </a:lnTo>
                  <a:lnTo>
                    <a:pt x="1168" y="1205"/>
                  </a:lnTo>
                  <a:lnTo>
                    <a:pt x="1159" y="1193"/>
                  </a:lnTo>
                  <a:lnTo>
                    <a:pt x="1154" y="1184"/>
                  </a:lnTo>
                  <a:lnTo>
                    <a:pt x="1147" y="1170"/>
                  </a:lnTo>
                  <a:lnTo>
                    <a:pt x="1135" y="1163"/>
                  </a:lnTo>
                  <a:lnTo>
                    <a:pt x="1121" y="1165"/>
                  </a:lnTo>
                  <a:lnTo>
                    <a:pt x="1112" y="1179"/>
                  </a:lnTo>
                  <a:lnTo>
                    <a:pt x="1097" y="1172"/>
                  </a:lnTo>
                  <a:lnTo>
                    <a:pt x="1090" y="1167"/>
                  </a:lnTo>
                  <a:lnTo>
                    <a:pt x="1085" y="1158"/>
                  </a:lnTo>
                  <a:lnTo>
                    <a:pt x="1081" y="1146"/>
                  </a:lnTo>
                  <a:lnTo>
                    <a:pt x="1069" y="1139"/>
                  </a:lnTo>
                  <a:lnTo>
                    <a:pt x="1062" y="1132"/>
                  </a:lnTo>
                  <a:lnTo>
                    <a:pt x="1055" y="1127"/>
                  </a:lnTo>
                  <a:lnTo>
                    <a:pt x="1029" y="1127"/>
                  </a:lnTo>
                  <a:lnTo>
                    <a:pt x="1029" y="1134"/>
                  </a:lnTo>
                  <a:lnTo>
                    <a:pt x="1015" y="1134"/>
                  </a:lnTo>
                  <a:lnTo>
                    <a:pt x="984" y="1134"/>
                  </a:lnTo>
                  <a:lnTo>
                    <a:pt x="946" y="1120"/>
                  </a:lnTo>
                  <a:lnTo>
                    <a:pt x="922" y="1110"/>
                  </a:lnTo>
                  <a:lnTo>
                    <a:pt x="922" y="1108"/>
                  </a:lnTo>
                  <a:lnTo>
                    <a:pt x="903" y="1110"/>
                  </a:lnTo>
                  <a:lnTo>
                    <a:pt x="884" y="1110"/>
                  </a:lnTo>
                  <a:lnTo>
                    <a:pt x="882" y="1101"/>
                  </a:lnTo>
                  <a:lnTo>
                    <a:pt x="870" y="1089"/>
                  </a:lnTo>
                  <a:lnTo>
                    <a:pt x="863" y="1087"/>
                  </a:lnTo>
                  <a:lnTo>
                    <a:pt x="861" y="1082"/>
                  </a:lnTo>
                  <a:lnTo>
                    <a:pt x="851" y="1082"/>
                  </a:lnTo>
                  <a:lnTo>
                    <a:pt x="847" y="1077"/>
                  </a:lnTo>
                  <a:lnTo>
                    <a:pt x="832" y="1075"/>
                  </a:lnTo>
                  <a:lnTo>
                    <a:pt x="828" y="1073"/>
                  </a:lnTo>
                  <a:lnTo>
                    <a:pt x="825" y="1061"/>
                  </a:lnTo>
                  <a:lnTo>
                    <a:pt x="809" y="1042"/>
                  </a:lnTo>
                  <a:lnTo>
                    <a:pt x="797" y="1013"/>
                  </a:lnTo>
                  <a:lnTo>
                    <a:pt x="797" y="1009"/>
                  </a:lnTo>
                  <a:lnTo>
                    <a:pt x="790" y="1002"/>
                  </a:lnTo>
                  <a:lnTo>
                    <a:pt x="776" y="985"/>
                  </a:lnTo>
                  <a:lnTo>
                    <a:pt x="773" y="966"/>
                  </a:lnTo>
                  <a:lnTo>
                    <a:pt x="766" y="957"/>
                  </a:lnTo>
                  <a:lnTo>
                    <a:pt x="769" y="938"/>
                  </a:lnTo>
                  <a:lnTo>
                    <a:pt x="769" y="919"/>
                  </a:lnTo>
                  <a:lnTo>
                    <a:pt x="764" y="902"/>
                  </a:lnTo>
                  <a:lnTo>
                    <a:pt x="771" y="883"/>
                  </a:lnTo>
                  <a:lnTo>
                    <a:pt x="771" y="862"/>
                  </a:lnTo>
                  <a:lnTo>
                    <a:pt x="773" y="841"/>
                  </a:lnTo>
                  <a:lnTo>
                    <a:pt x="771" y="810"/>
                  </a:lnTo>
                  <a:lnTo>
                    <a:pt x="766" y="789"/>
                  </a:lnTo>
                  <a:lnTo>
                    <a:pt x="761" y="779"/>
                  </a:lnTo>
                  <a:lnTo>
                    <a:pt x="764" y="774"/>
                  </a:lnTo>
                  <a:lnTo>
                    <a:pt x="787" y="781"/>
                  </a:lnTo>
                  <a:lnTo>
                    <a:pt x="795" y="805"/>
                  </a:lnTo>
                  <a:lnTo>
                    <a:pt x="799" y="798"/>
                  </a:lnTo>
                  <a:lnTo>
                    <a:pt x="797" y="779"/>
                  </a:lnTo>
                  <a:lnTo>
                    <a:pt x="792" y="758"/>
                  </a:lnTo>
                  <a:lnTo>
                    <a:pt x="837" y="758"/>
                  </a:lnTo>
                  <a:lnTo>
                    <a:pt x="884" y="758"/>
                  </a:lnTo>
                  <a:lnTo>
                    <a:pt x="901" y="758"/>
                  </a:lnTo>
                  <a:lnTo>
                    <a:pt x="951" y="758"/>
                  </a:lnTo>
                  <a:lnTo>
                    <a:pt x="998" y="758"/>
                  </a:lnTo>
                  <a:lnTo>
                    <a:pt x="1048" y="758"/>
                  </a:lnTo>
                  <a:lnTo>
                    <a:pt x="1097" y="758"/>
                  </a:lnTo>
                  <a:lnTo>
                    <a:pt x="1152" y="758"/>
                  </a:lnTo>
                  <a:lnTo>
                    <a:pt x="1206" y="758"/>
                  </a:lnTo>
                  <a:lnTo>
                    <a:pt x="1239" y="758"/>
                  </a:lnTo>
                  <a:lnTo>
                    <a:pt x="1239" y="748"/>
                  </a:lnTo>
                  <a:lnTo>
                    <a:pt x="1244" y="748"/>
                  </a:lnTo>
                  <a:lnTo>
                    <a:pt x="1244" y="748"/>
                  </a:lnTo>
                  <a:lnTo>
                    <a:pt x="1244" y="748"/>
                  </a:lnTo>
                  <a:close/>
                  <a:moveTo>
                    <a:pt x="303" y="540"/>
                  </a:moveTo>
                  <a:lnTo>
                    <a:pt x="303" y="540"/>
                  </a:lnTo>
                  <a:lnTo>
                    <a:pt x="286" y="552"/>
                  </a:lnTo>
                  <a:lnTo>
                    <a:pt x="279" y="545"/>
                  </a:lnTo>
                  <a:lnTo>
                    <a:pt x="277" y="531"/>
                  </a:lnTo>
                  <a:lnTo>
                    <a:pt x="291" y="521"/>
                  </a:lnTo>
                  <a:lnTo>
                    <a:pt x="300" y="516"/>
                  </a:lnTo>
                  <a:lnTo>
                    <a:pt x="310" y="516"/>
                  </a:lnTo>
                  <a:lnTo>
                    <a:pt x="317" y="526"/>
                  </a:lnTo>
                  <a:lnTo>
                    <a:pt x="303" y="540"/>
                  </a:lnTo>
                  <a:lnTo>
                    <a:pt x="303" y="540"/>
                  </a:lnTo>
                  <a:lnTo>
                    <a:pt x="303" y="540"/>
                  </a:lnTo>
                  <a:close/>
                  <a:moveTo>
                    <a:pt x="99" y="455"/>
                  </a:moveTo>
                  <a:lnTo>
                    <a:pt x="99" y="455"/>
                  </a:lnTo>
                  <a:lnTo>
                    <a:pt x="90" y="460"/>
                  </a:lnTo>
                  <a:lnTo>
                    <a:pt x="78" y="455"/>
                  </a:lnTo>
                  <a:lnTo>
                    <a:pt x="68" y="445"/>
                  </a:lnTo>
                  <a:lnTo>
                    <a:pt x="85" y="441"/>
                  </a:lnTo>
                  <a:lnTo>
                    <a:pt x="97" y="443"/>
                  </a:lnTo>
                  <a:lnTo>
                    <a:pt x="99" y="455"/>
                  </a:lnTo>
                  <a:lnTo>
                    <a:pt x="99" y="455"/>
                  </a:lnTo>
                  <a:lnTo>
                    <a:pt x="99" y="455"/>
                  </a:lnTo>
                  <a:close/>
                  <a:moveTo>
                    <a:pt x="0" y="322"/>
                  </a:moveTo>
                  <a:lnTo>
                    <a:pt x="0" y="322"/>
                  </a:lnTo>
                  <a:lnTo>
                    <a:pt x="9" y="329"/>
                  </a:lnTo>
                  <a:lnTo>
                    <a:pt x="19" y="327"/>
                  </a:lnTo>
                  <a:lnTo>
                    <a:pt x="33" y="336"/>
                  </a:lnTo>
                  <a:lnTo>
                    <a:pt x="49" y="341"/>
                  </a:lnTo>
                  <a:lnTo>
                    <a:pt x="47" y="344"/>
                  </a:lnTo>
                  <a:lnTo>
                    <a:pt x="35" y="351"/>
                  </a:lnTo>
                  <a:lnTo>
                    <a:pt x="23" y="344"/>
                  </a:lnTo>
                  <a:lnTo>
                    <a:pt x="16" y="339"/>
                  </a:lnTo>
                  <a:lnTo>
                    <a:pt x="2" y="341"/>
                  </a:lnTo>
                  <a:lnTo>
                    <a:pt x="0" y="336"/>
                  </a:lnTo>
                  <a:lnTo>
                    <a:pt x="0" y="322"/>
                  </a:lnTo>
                  <a:lnTo>
                    <a:pt x="0" y="322"/>
                  </a:lnTo>
                  <a:lnTo>
                    <a:pt x="0" y="322"/>
                  </a:lnTo>
                  <a:close/>
                  <a:moveTo>
                    <a:pt x="269" y="12"/>
                  </a:moveTo>
                  <a:lnTo>
                    <a:pt x="269" y="12"/>
                  </a:lnTo>
                  <a:lnTo>
                    <a:pt x="281" y="33"/>
                  </a:lnTo>
                  <a:lnTo>
                    <a:pt x="288" y="24"/>
                  </a:lnTo>
                  <a:lnTo>
                    <a:pt x="317" y="26"/>
                  </a:lnTo>
                  <a:lnTo>
                    <a:pt x="314" y="38"/>
                  </a:lnTo>
                  <a:lnTo>
                    <a:pt x="340" y="48"/>
                  </a:lnTo>
                  <a:lnTo>
                    <a:pt x="357" y="41"/>
                  </a:lnTo>
                  <a:lnTo>
                    <a:pt x="390" y="57"/>
                  </a:lnTo>
                  <a:lnTo>
                    <a:pt x="421" y="62"/>
                  </a:lnTo>
                  <a:lnTo>
                    <a:pt x="433" y="67"/>
                  </a:lnTo>
                  <a:lnTo>
                    <a:pt x="456" y="60"/>
                  </a:lnTo>
                  <a:lnTo>
                    <a:pt x="480" y="74"/>
                  </a:lnTo>
                  <a:lnTo>
                    <a:pt x="497" y="81"/>
                  </a:lnTo>
                  <a:lnTo>
                    <a:pt x="497" y="81"/>
                  </a:lnTo>
                  <a:lnTo>
                    <a:pt x="497" y="239"/>
                  </a:lnTo>
                  <a:lnTo>
                    <a:pt x="497" y="443"/>
                  </a:lnTo>
                  <a:lnTo>
                    <a:pt x="513" y="443"/>
                  </a:lnTo>
                  <a:lnTo>
                    <a:pt x="530" y="452"/>
                  </a:lnTo>
                  <a:lnTo>
                    <a:pt x="541" y="467"/>
                  </a:lnTo>
                  <a:lnTo>
                    <a:pt x="556" y="488"/>
                  </a:lnTo>
                  <a:lnTo>
                    <a:pt x="570" y="469"/>
                  </a:lnTo>
                  <a:lnTo>
                    <a:pt x="586" y="460"/>
                  </a:lnTo>
                  <a:lnTo>
                    <a:pt x="596" y="474"/>
                  </a:lnTo>
                  <a:lnTo>
                    <a:pt x="605" y="488"/>
                  </a:lnTo>
                  <a:lnTo>
                    <a:pt x="622" y="502"/>
                  </a:lnTo>
                  <a:lnTo>
                    <a:pt x="631" y="523"/>
                  </a:lnTo>
                  <a:lnTo>
                    <a:pt x="648" y="559"/>
                  </a:lnTo>
                  <a:lnTo>
                    <a:pt x="676" y="576"/>
                  </a:lnTo>
                  <a:lnTo>
                    <a:pt x="676" y="594"/>
                  </a:lnTo>
                  <a:lnTo>
                    <a:pt x="667" y="606"/>
                  </a:lnTo>
                  <a:lnTo>
                    <a:pt x="657" y="597"/>
                  </a:lnTo>
                  <a:lnTo>
                    <a:pt x="643" y="587"/>
                  </a:lnTo>
                  <a:lnTo>
                    <a:pt x="638" y="564"/>
                  </a:lnTo>
                  <a:lnTo>
                    <a:pt x="617" y="538"/>
                  </a:lnTo>
                  <a:lnTo>
                    <a:pt x="608" y="512"/>
                  </a:lnTo>
                  <a:lnTo>
                    <a:pt x="594" y="509"/>
                  </a:lnTo>
                  <a:lnTo>
                    <a:pt x="567" y="509"/>
                  </a:lnTo>
                  <a:lnTo>
                    <a:pt x="549" y="500"/>
                  </a:lnTo>
                  <a:lnTo>
                    <a:pt x="515" y="467"/>
                  </a:lnTo>
                  <a:lnTo>
                    <a:pt x="499" y="462"/>
                  </a:lnTo>
                  <a:lnTo>
                    <a:pt x="471" y="450"/>
                  </a:lnTo>
                  <a:lnTo>
                    <a:pt x="449" y="452"/>
                  </a:lnTo>
                  <a:lnTo>
                    <a:pt x="416" y="438"/>
                  </a:lnTo>
                  <a:lnTo>
                    <a:pt x="400" y="424"/>
                  </a:lnTo>
                  <a:lnTo>
                    <a:pt x="381" y="431"/>
                  </a:lnTo>
                  <a:lnTo>
                    <a:pt x="385" y="452"/>
                  </a:lnTo>
                  <a:lnTo>
                    <a:pt x="374" y="455"/>
                  </a:lnTo>
                  <a:lnTo>
                    <a:pt x="357" y="462"/>
                  </a:lnTo>
                  <a:lnTo>
                    <a:pt x="340" y="474"/>
                  </a:lnTo>
                  <a:lnTo>
                    <a:pt x="324" y="478"/>
                  </a:lnTo>
                  <a:lnTo>
                    <a:pt x="322" y="460"/>
                  </a:lnTo>
                  <a:lnTo>
                    <a:pt x="329" y="429"/>
                  </a:lnTo>
                  <a:lnTo>
                    <a:pt x="345" y="417"/>
                  </a:lnTo>
                  <a:lnTo>
                    <a:pt x="340" y="410"/>
                  </a:lnTo>
                  <a:lnTo>
                    <a:pt x="322" y="429"/>
                  </a:lnTo>
                  <a:lnTo>
                    <a:pt x="310" y="450"/>
                  </a:lnTo>
                  <a:lnTo>
                    <a:pt x="286" y="474"/>
                  </a:lnTo>
                  <a:lnTo>
                    <a:pt x="298" y="488"/>
                  </a:lnTo>
                  <a:lnTo>
                    <a:pt x="284" y="509"/>
                  </a:lnTo>
                  <a:lnTo>
                    <a:pt x="265" y="523"/>
                  </a:lnTo>
                  <a:lnTo>
                    <a:pt x="251" y="533"/>
                  </a:lnTo>
                  <a:lnTo>
                    <a:pt x="246" y="545"/>
                  </a:lnTo>
                  <a:lnTo>
                    <a:pt x="220" y="559"/>
                  </a:lnTo>
                  <a:lnTo>
                    <a:pt x="215" y="573"/>
                  </a:lnTo>
                  <a:lnTo>
                    <a:pt x="196" y="585"/>
                  </a:lnTo>
                  <a:lnTo>
                    <a:pt x="184" y="583"/>
                  </a:lnTo>
                  <a:lnTo>
                    <a:pt x="170" y="592"/>
                  </a:lnTo>
                  <a:lnTo>
                    <a:pt x="154" y="602"/>
                  </a:lnTo>
                  <a:lnTo>
                    <a:pt x="139" y="611"/>
                  </a:lnTo>
                  <a:lnTo>
                    <a:pt x="113" y="618"/>
                  </a:lnTo>
                  <a:lnTo>
                    <a:pt x="109" y="613"/>
                  </a:lnTo>
                  <a:lnTo>
                    <a:pt x="128" y="602"/>
                  </a:lnTo>
                  <a:lnTo>
                    <a:pt x="142" y="592"/>
                  </a:lnTo>
                  <a:lnTo>
                    <a:pt x="161" y="578"/>
                  </a:lnTo>
                  <a:lnTo>
                    <a:pt x="180" y="573"/>
                  </a:lnTo>
                  <a:lnTo>
                    <a:pt x="189" y="561"/>
                  </a:lnTo>
                  <a:lnTo>
                    <a:pt x="210" y="545"/>
                  </a:lnTo>
                  <a:lnTo>
                    <a:pt x="215" y="538"/>
                  </a:lnTo>
                  <a:lnTo>
                    <a:pt x="227" y="528"/>
                  </a:lnTo>
                  <a:lnTo>
                    <a:pt x="229" y="505"/>
                  </a:lnTo>
                  <a:lnTo>
                    <a:pt x="236" y="486"/>
                  </a:lnTo>
                  <a:lnTo>
                    <a:pt x="220" y="495"/>
                  </a:lnTo>
                  <a:lnTo>
                    <a:pt x="213" y="490"/>
                  </a:lnTo>
                  <a:lnTo>
                    <a:pt x="206" y="502"/>
                  </a:lnTo>
                  <a:lnTo>
                    <a:pt x="194" y="486"/>
                  </a:lnTo>
                  <a:lnTo>
                    <a:pt x="189" y="497"/>
                  </a:lnTo>
                  <a:lnTo>
                    <a:pt x="184" y="481"/>
                  </a:lnTo>
                  <a:lnTo>
                    <a:pt x="168" y="495"/>
                  </a:lnTo>
                  <a:lnTo>
                    <a:pt x="158" y="495"/>
                  </a:lnTo>
                  <a:lnTo>
                    <a:pt x="156" y="474"/>
                  </a:lnTo>
                  <a:lnTo>
                    <a:pt x="158" y="464"/>
                  </a:lnTo>
                  <a:lnTo>
                    <a:pt x="149" y="452"/>
                  </a:lnTo>
                  <a:lnTo>
                    <a:pt x="128" y="460"/>
                  </a:lnTo>
                  <a:lnTo>
                    <a:pt x="113" y="443"/>
                  </a:lnTo>
                  <a:lnTo>
                    <a:pt x="104" y="436"/>
                  </a:lnTo>
                  <a:lnTo>
                    <a:pt x="104" y="417"/>
                  </a:lnTo>
                  <a:lnTo>
                    <a:pt x="90" y="403"/>
                  </a:lnTo>
                  <a:lnTo>
                    <a:pt x="97" y="384"/>
                  </a:lnTo>
                  <a:lnTo>
                    <a:pt x="111" y="365"/>
                  </a:lnTo>
                  <a:lnTo>
                    <a:pt x="116" y="346"/>
                  </a:lnTo>
                  <a:lnTo>
                    <a:pt x="130" y="344"/>
                  </a:lnTo>
                  <a:lnTo>
                    <a:pt x="139" y="348"/>
                  </a:lnTo>
                  <a:lnTo>
                    <a:pt x="154" y="332"/>
                  </a:lnTo>
                  <a:lnTo>
                    <a:pt x="165" y="334"/>
                  </a:lnTo>
                  <a:lnTo>
                    <a:pt x="177" y="325"/>
                  </a:lnTo>
                  <a:lnTo>
                    <a:pt x="175" y="306"/>
                  </a:lnTo>
                  <a:lnTo>
                    <a:pt x="165" y="301"/>
                  </a:lnTo>
                  <a:lnTo>
                    <a:pt x="177" y="284"/>
                  </a:lnTo>
                  <a:lnTo>
                    <a:pt x="168" y="287"/>
                  </a:lnTo>
                  <a:lnTo>
                    <a:pt x="149" y="294"/>
                  </a:lnTo>
                  <a:lnTo>
                    <a:pt x="144" y="303"/>
                  </a:lnTo>
                  <a:lnTo>
                    <a:pt x="132" y="294"/>
                  </a:lnTo>
                  <a:lnTo>
                    <a:pt x="109" y="299"/>
                  </a:lnTo>
                  <a:lnTo>
                    <a:pt x="85" y="289"/>
                  </a:lnTo>
                  <a:lnTo>
                    <a:pt x="78" y="275"/>
                  </a:lnTo>
                  <a:lnTo>
                    <a:pt x="59" y="251"/>
                  </a:lnTo>
                  <a:lnTo>
                    <a:pt x="80" y="235"/>
                  </a:lnTo>
                  <a:lnTo>
                    <a:pt x="118" y="216"/>
                  </a:lnTo>
                  <a:lnTo>
                    <a:pt x="130" y="216"/>
                  </a:lnTo>
                  <a:lnTo>
                    <a:pt x="128" y="235"/>
                  </a:lnTo>
                  <a:lnTo>
                    <a:pt x="163" y="235"/>
                  </a:lnTo>
                  <a:lnTo>
                    <a:pt x="149" y="209"/>
                  </a:lnTo>
                  <a:lnTo>
                    <a:pt x="130" y="194"/>
                  </a:lnTo>
                  <a:lnTo>
                    <a:pt x="118" y="173"/>
                  </a:lnTo>
                  <a:lnTo>
                    <a:pt x="102" y="154"/>
                  </a:lnTo>
                  <a:lnTo>
                    <a:pt x="80" y="140"/>
                  </a:lnTo>
                  <a:lnTo>
                    <a:pt x="87" y="119"/>
                  </a:lnTo>
                  <a:lnTo>
                    <a:pt x="118" y="116"/>
                  </a:lnTo>
                  <a:lnTo>
                    <a:pt x="139" y="95"/>
                  </a:lnTo>
                  <a:lnTo>
                    <a:pt x="142" y="74"/>
                  </a:lnTo>
                  <a:lnTo>
                    <a:pt x="158" y="52"/>
                  </a:lnTo>
                  <a:lnTo>
                    <a:pt x="175" y="45"/>
                  </a:lnTo>
                  <a:lnTo>
                    <a:pt x="206" y="24"/>
                  </a:lnTo>
                  <a:lnTo>
                    <a:pt x="220" y="26"/>
                  </a:lnTo>
                  <a:lnTo>
                    <a:pt x="246" y="0"/>
                  </a:lnTo>
                  <a:lnTo>
                    <a:pt x="269" y="12"/>
                  </a:lnTo>
                  <a:lnTo>
                    <a:pt x="269" y="12"/>
                  </a:lnTo>
                  <a:lnTo>
                    <a:pt x="269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367;p30">
              <a:extLst>
                <a:ext uri="{FF2B5EF4-FFF2-40B4-BE49-F238E27FC236}">
                  <a16:creationId xmlns:a16="http://schemas.microsoft.com/office/drawing/2014/main" id="{32E297D5-C7DF-81B5-2617-0D61A024BEFF}"/>
                </a:ext>
              </a:extLst>
            </p:cNvPr>
            <p:cNvSpPr/>
            <p:nvPr/>
          </p:nvSpPr>
          <p:spPr>
            <a:xfrm>
              <a:off x="2375032" y="3583609"/>
              <a:ext cx="371550" cy="318715"/>
            </a:xfrm>
            <a:custGeom>
              <a:avLst/>
              <a:gdLst/>
              <a:ahLst/>
              <a:cxnLst/>
              <a:rect l="l" t="t" r="r" b="b"/>
              <a:pathLst>
                <a:path w="218" h="187" extrusionOk="0">
                  <a:moveTo>
                    <a:pt x="83" y="26"/>
                  </a:moveTo>
                  <a:lnTo>
                    <a:pt x="83" y="26"/>
                  </a:lnTo>
                  <a:lnTo>
                    <a:pt x="97" y="26"/>
                  </a:lnTo>
                  <a:lnTo>
                    <a:pt x="114" y="26"/>
                  </a:lnTo>
                  <a:lnTo>
                    <a:pt x="123" y="33"/>
                  </a:lnTo>
                  <a:lnTo>
                    <a:pt x="135" y="35"/>
                  </a:lnTo>
                  <a:lnTo>
                    <a:pt x="144" y="28"/>
                  </a:lnTo>
                  <a:lnTo>
                    <a:pt x="144" y="26"/>
                  </a:lnTo>
                  <a:lnTo>
                    <a:pt x="166" y="24"/>
                  </a:lnTo>
                  <a:lnTo>
                    <a:pt x="185" y="24"/>
                  </a:lnTo>
                  <a:lnTo>
                    <a:pt x="170" y="28"/>
                  </a:lnTo>
                  <a:lnTo>
                    <a:pt x="175" y="35"/>
                  </a:lnTo>
                  <a:lnTo>
                    <a:pt x="189" y="38"/>
                  </a:lnTo>
                  <a:lnTo>
                    <a:pt x="201" y="45"/>
                  </a:lnTo>
                  <a:lnTo>
                    <a:pt x="203" y="59"/>
                  </a:lnTo>
                  <a:lnTo>
                    <a:pt x="213" y="59"/>
                  </a:lnTo>
                  <a:lnTo>
                    <a:pt x="218" y="61"/>
                  </a:lnTo>
                  <a:lnTo>
                    <a:pt x="206" y="71"/>
                  </a:lnTo>
                  <a:lnTo>
                    <a:pt x="203" y="78"/>
                  </a:lnTo>
                  <a:lnTo>
                    <a:pt x="211" y="83"/>
                  </a:lnTo>
                  <a:lnTo>
                    <a:pt x="206" y="87"/>
                  </a:lnTo>
                  <a:lnTo>
                    <a:pt x="196" y="90"/>
                  </a:lnTo>
                  <a:lnTo>
                    <a:pt x="196" y="97"/>
                  </a:lnTo>
                  <a:lnTo>
                    <a:pt x="192" y="102"/>
                  </a:lnTo>
                  <a:lnTo>
                    <a:pt x="203" y="113"/>
                  </a:lnTo>
                  <a:lnTo>
                    <a:pt x="206" y="118"/>
                  </a:lnTo>
                  <a:lnTo>
                    <a:pt x="199" y="125"/>
                  </a:lnTo>
                  <a:lnTo>
                    <a:pt x="182" y="130"/>
                  </a:lnTo>
                  <a:lnTo>
                    <a:pt x="168" y="132"/>
                  </a:lnTo>
                  <a:lnTo>
                    <a:pt x="166" y="137"/>
                  </a:lnTo>
                  <a:lnTo>
                    <a:pt x="151" y="132"/>
                  </a:lnTo>
                  <a:lnTo>
                    <a:pt x="140" y="130"/>
                  </a:lnTo>
                  <a:lnTo>
                    <a:pt x="137" y="132"/>
                  </a:lnTo>
                  <a:lnTo>
                    <a:pt x="144" y="137"/>
                  </a:lnTo>
                  <a:lnTo>
                    <a:pt x="142" y="147"/>
                  </a:lnTo>
                  <a:lnTo>
                    <a:pt x="144" y="156"/>
                  </a:lnTo>
                  <a:lnTo>
                    <a:pt x="159" y="158"/>
                  </a:lnTo>
                  <a:lnTo>
                    <a:pt x="161" y="161"/>
                  </a:lnTo>
                  <a:lnTo>
                    <a:pt x="149" y="166"/>
                  </a:lnTo>
                  <a:lnTo>
                    <a:pt x="147" y="175"/>
                  </a:lnTo>
                  <a:lnTo>
                    <a:pt x="140" y="175"/>
                  </a:lnTo>
                  <a:lnTo>
                    <a:pt x="128" y="180"/>
                  </a:lnTo>
                  <a:lnTo>
                    <a:pt x="125" y="184"/>
                  </a:lnTo>
                  <a:lnTo>
                    <a:pt x="114" y="187"/>
                  </a:lnTo>
                  <a:lnTo>
                    <a:pt x="104" y="177"/>
                  </a:lnTo>
                  <a:lnTo>
                    <a:pt x="99" y="161"/>
                  </a:lnTo>
                  <a:lnTo>
                    <a:pt x="95" y="156"/>
                  </a:lnTo>
                  <a:lnTo>
                    <a:pt x="88" y="151"/>
                  </a:lnTo>
                  <a:lnTo>
                    <a:pt x="97" y="144"/>
                  </a:lnTo>
                  <a:lnTo>
                    <a:pt x="97" y="140"/>
                  </a:lnTo>
                  <a:lnTo>
                    <a:pt x="90" y="135"/>
                  </a:lnTo>
                  <a:lnTo>
                    <a:pt x="88" y="125"/>
                  </a:lnTo>
                  <a:lnTo>
                    <a:pt x="90" y="113"/>
                  </a:lnTo>
                  <a:lnTo>
                    <a:pt x="92" y="109"/>
                  </a:lnTo>
                  <a:lnTo>
                    <a:pt x="95" y="99"/>
                  </a:lnTo>
                  <a:lnTo>
                    <a:pt x="90" y="97"/>
                  </a:lnTo>
                  <a:lnTo>
                    <a:pt x="80" y="97"/>
                  </a:lnTo>
                  <a:lnTo>
                    <a:pt x="69" y="97"/>
                  </a:lnTo>
                  <a:lnTo>
                    <a:pt x="62" y="99"/>
                  </a:lnTo>
                  <a:lnTo>
                    <a:pt x="52" y="85"/>
                  </a:lnTo>
                  <a:lnTo>
                    <a:pt x="43" y="83"/>
                  </a:lnTo>
                  <a:lnTo>
                    <a:pt x="21" y="85"/>
                  </a:lnTo>
                  <a:lnTo>
                    <a:pt x="17" y="80"/>
                  </a:lnTo>
                  <a:lnTo>
                    <a:pt x="14" y="78"/>
                  </a:lnTo>
                  <a:lnTo>
                    <a:pt x="12" y="73"/>
                  </a:lnTo>
                  <a:lnTo>
                    <a:pt x="14" y="69"/>
                  </a:lnTo>
                  <a:lnTo>
                    <a:pt x="14" y="61"/>
                  </a:lnTo>
                  <a:lnTo>
                    <a:pt x="10" y="59"/>
                  </a:lnTo>
                  <a:lnTo>
                    <a:pt x="7" y="50"/>
                  </a:lnTo>
                  <a:lnTo>
                    <a:pt x="0" y="50"/>
                  </a:lnTo>
                  <a:lnTo>
                    <a:pt x="5" y="40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7" y="16"/>
                  </a:lnTo>
                  <a:lnTo>
                    <a:pt x="21" y="9"/>
                  </a:lnTo>
                  <a:lnTo>
                    <a:pt x="31" y="7"/>
                  </a:lnTo>
                  <a:lnTo>
                    <a:pt x="31" y="9"/>
                  </a:lnTo>
                  <a:lnTo>
                    <a:pt x="21" y="12"/>
                  </a:lnTo>
                  <a:lnTo>
                    <a:pt x="26" y="19"/>
                  </a:lnTo>
                  <a:lnTo>
                    <a:pt x="26" y="28"/>
                  </a:lnTo>
                  <a:lnTo>
                    <a:pt x="19" y="38"/>
                  </a:lnTo>
                  <a:lnTo>
                    <a:pt x="26" y="50"/>
                  </a:lnTo>
                  <a:lnTo>
                    <a:pt x="33" y="50"/>
                  </a:lnTo>
                  <a:lnTo>
                    <a:pt x="36" y="38"/>
                  </a:lnTo>
                  <a:lnTo>
                    <a:pt x="31" y="33"/>
                  </a:lnTo>
                  <a:lnTo>
                    <a:pt x="31" y="19"/>
                  </a:lnTo>
                  <a:lnTo>
                    <a:pt x="50" y="14"/>
                  </a:lnTo>
                  <a:lnTo>
                    <a:pt x="47" y="5"/>
                  </a:lnTo>
                  <a:lnTo>
                    <a:pt x="54" y="0"/>
                  </a:lnTo>
                  <a:lnTo>
                    <a:pt x="59" y="12"/>
                  </a:lnTo>
                  <a:lnTo>
                    <a:pt x="71" y="12"/>
                  </a:lnTo>
                  <a:lnTo>
                    <a:pt x="83" y="21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2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368;p30">
              <a:extLst>
                <a:ext uri="{FF2B5EF4-FFF2-40B4-BE49-F238E27FC236}">
                  <a16:creationId xmlns:a16="http://schemas.microsoft.com/office/drawing/2014/main" id="{31936E51-9F69-1820-F043-63757A313B7D}"/>
                </a:ext>
              </a:extLst>
            </p:cNvPr>
            <p:cNvSpPr/>
            <p:nvPr/>
          </p:nvSpPr>
          <p:spPr>
            <a:xfrm>
              <a:off x="8994748" y="4325006"/>
              <a:ext cx="35792" cy="57949"/>
            </a:xfrm>
            <a:custGeom>
              <a:avLst/>
              <a:gdLst/>
              <a:ahLst/>
              <a:cxnLst/>
              <a:rect l="l" t="t" r="r" b="b"/>
              <a:pathLst>
                <a:path w="21" h="34" extrusionOk="0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369;p30">
              <a:extLst>
                <a:ext uri="{FF2B5EF4-FFF2-40B4-BE49-F238E27FC236}">
                  <a16:creationId xmlns:a16="http://schemas.microsoft.com/office/drawing/2014/main" id="{6AACEA30-6BDF-4358-C0F7-86CB4010F462}"/>
                </a:ext>
              </a:extLst>
            </p:cNvPr>
            <p:cNvSpPr/>
            <p:nvPr/>
          </p:nvSpPr>
          <p:spPr>
            <a:xfrm>
              <a:off x="8994748" y="4325007"/>
              <a:ext cx="35792" cy="57949"/>
            </a:xfrm>
            <a:custGeom>
              <a:avLst/>
              <a:gdLst/>
              <a:ahLst/>
              <a:cxnLst/>
              <a:rect l="l" t="t" r="r" b="b"/>
              <a:pathLst>
                <a:path w="21" h="34" extrusionOk="0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370;p30">
              <a:extLst>
                <a:ext uri="{FF2B5EF4-FFF2-40B4-BE49-F238E27FC236}">
                  <a16:creationId xmlns:a16="http://schemas.microsoft.com/office/drawing/2014/main" id="{4860D892-CB45-7C8A-F3D5-7B284134572C}"/>
                </a:ext>
              </a:extLst>
            </p:cNvPr>
            <p:cNvSpPr/>
            <p:nvPr/>
          </p:nvSpPr>
          <p:spPr>
            <a:xfrm>
              <a:off x="5139804" y="4740837"/>
              <a:ext cx="68006" cy="68500"/>
            </a:xfrm>
            <a:custGeom>
              <a:avLst/>
              <a:gdLst/>
              <a:ahLst/>
              <a:cxnLst/>
              <a:rect l="l" t="t" r="r" b="b"/>
              <a:pathLst>
                <a:path w="90674" h="91333" extrusionOk="0">
                  <a:moveTo>
                    <a:pt x="60915" y="0"/>
                  </a:moveTo>
                  <a:lnTo>
                    <a:pt x="76822" y="11363"/>
                  </a:lnTo>
                  <a:lnTo>
                    <a:pt x="85912" y="22725"/>
                  </a:lnTo>
                  <a:lnTo>
                    <a:pt x="84892" y="25021"/>
                  </a:lnTo>
                  <a:lnTo>
                    <a:pt x="90674" y="32249"/>
                  </a:lnTo>
                  <a:lnTo>
                    <a:pt x="81584" y="52701"/>
                  </a:lnTo>
                  <a:lnTo>
                    <a:pt x="74767" y="68609"/>
                  </a:lnTo>
                  <a:lnTo>
                    <a:pt x="54314" y="75426"/>
                  </a:lnTo>
                  <a:lnTo>
                    <a:pt x="49769" y="84516"/>
                  </a:lnTo>
                  <a:lnTo>
                    <a:pt x="38407" y="91333"/>
                  </a:lnTo>
                  <a:lnTo>
                    <a:pt x="36041" y="88798"/>
                  </a:lnTo>
                  <a:lnTo>
                    <a:pt x="31815" y="91333"/>
                  </a:lnTo>
                  <a:lnTo>
                    <a:pt x="0" y="57246"/>
                  </a:lnTo>
                  <a:lnTo>
                    <a:pt x="5007" y="51126"/>
                  </a:lnTo>
                  <a:lnTo>
                    <a:pt x="1830" y="47722"/>
                  </a:lnTo>
                  <a:lnTo>
                    <a:pt x="22283" y="22725"/>
                  </a:lnTo>
                  <a:lnTo>
                    <a:pt x="45007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Shape 4">
            <a:extLst>
              <a:ext uri="{FF2B5EF4-FFF2-40B4-BE49-F238E27FC236}">
                <a16:creationId xmlns:a16="http://schemas.microsoft.com/office/drawing/2014/main" id="{2EEB04ED-4670-B639-58D0-BA7A9EF52365}"/>
              </a:ext>
            </a:extLst>
          </p:cNvPr>
          <p:cNvSpPr/>
          <p:nvPr/>
        </p:nvSpPr>
        <p:spPr>
          <a:xfrm>
            <a:off x="571500" y="9853574"/>
            <a:ext cx="95098" cy="95098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92201B51-30D0-C158-78D4-F26A85A2ED11}"/>
              </a:ext>
            </a:extLst>
          </p:cNvPr>
          <p:cNvSpPr txBox="1"/>
          <p:nvPr/>
        </p:nvSpPr>
        <p:spPr>
          <a:xfrm>
            <a:off x="743407" y="9810598"/>
            <a:ext cx="312907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· Capacidad completa de entrega</a:t>
            </a:r>
            <a:endParaRPr lang="en-US" sz="975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FE4D491B-0A59-C1C9-4C08-63BD6CB8CA94}"/>
              </a:ext>
            </a:extLst>
          </p:cNvPr>
          <p:cNvSpPr/>
          <p:nvPr/>
        </p:nvSpPr>
        <p:spPr>
          <a:xfrm>
            <a:off x="3716122" y="9862718"/>
            <a:ext cx="75895" cy="75895"/>
          </a:xfrm>
          <a:prstGeom prst="ellipse">
            <a:avLst/>
          </a:prstGeom>
          <a:solidFill>
            <a:srgbClr val="E6A817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BD5F4B6F-83D2-B3C7-CADB-18808222229F}"/>
              </a:ext>
            </a:extLst>
          </p:cNvPr>
          <p:cNvSpPr txBox="1"/>
          <p:nvPr/>
        </p:nvSpPr>
        <p:spPr>
          <a:xfrm>
            <a:off x="3868826" y="9810598"/>
            <a:ext cx="276606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Oficina de desarrollo de negocio</a:t>
            </a:r>
            <a:endParaRPr lang="en-US" sz="975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23413A5-F712-8D16-F533-E426FB72C4F6}"/>
              </a:ext>
            </a:extLst>
          </p:cNvPr>
          <p:cNvSpPr txBox="1"/>
          <p:nvPr/>
        </p:nvSpPr>
        <p:spPr>
          <a:xfrm>
            <a:off x="12859207" y="9810598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hubs · +25 países · un solo equipo</a:t>
            </a:r>
            <a:endParaRPr lang="en-US" sz="1050" dirty="0"/>
          </a:p>
        </p:txBody>
      </p:sp>
      <p:pic>
        <p:nvPicPr>
          <p:cNvPr id="24" name="Image 1" descr="gen-dedup-3fc9b6bd6bd01734c54b10a0f11af3f3.png">
            <a:extLst>
              <a:ext uri="{FF2B5EF4-FFF2-40B4-BE49-F238E27FC236}">
                <a16:creationId xmlns:a16="http://schemas.microsoft.com/office/drawing/2014/main" id="{1F1F5002-098B-43B6-64AF-3FBCE6966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5a09eb1f34288b436e57a041e43161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524805"/>
            <a:ext cx="3905402" cy="4306575"/>
          </a:xfrm>
          <a:prstGeom prst="roundRect">
            <a:avLst>
              <a:gd name="adj" fmla="val 19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238598" y="5524805"/>
            <a:ext cx="3905402" cy="4306575"/>
          </a:xfrm>
          <a:prstGeom prst="roundRect">
            <a:avLst>
              <a:gd name="adj" fmla="val 19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334195" y="5524805"/>
            <a:ext cx="3905402" cy="4306575"/>
          </a:xfrm>
          <a:prstGeom prst="roundRect">
            <a:avLst>
              <a:gd name="adj" fmla="val 19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430707" y="5524805"/>
            <a:ext cx="3905402" cy="4306575"/>
          </a:xfrm>
          <a:prstGeom prst="roundRect">
            <a:avLst>
              <a:gd name="adj" fmla="val 1992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524305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3" descr="gen-dedup-1eacaf7a8c601fb3ca4f6adf4b4f192c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1524305" y="8287207"/>
            <a:ext cx="381305" cy="192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619902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4" descr="gen-dedup-1eacaf7a8c601fb3ca4f6adf4b4f192c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5619902" y="8287207"/>
            <a:ext cx="381305" cy="19202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9715500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5" descr="gen-dedup-1eacaf7a8c601fb3ca4f6adf4b4f192c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9715500" y="8287207"/>
            <a:ext cx="381305" cy="19202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13811098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0A0F1E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6" descr="gen-dedup-bf32672133d061a5c1accb4804bec1af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13811098" y="8287207"/>
            <a:ext cx="381305" cy="19202"/>
          </a:xfrm>
          <a:prstGeom prst="rect">
            <a:avLst/>
          </a:prstGeom>
        </p:spPr>
      </p:pic>
      <p:pic>
        <p:nvPicPr>
          <p:cNvPr id="17" name="Image 7" descr="gen-dedup-0113424e0df92296bf5e61a0b6035e32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676095" y="6057900"/>
            <a:ext cx="304495" cy="304495"/>
          </a:xfrm>
          <a:prstGeom prst="rect">
            <a:avLst/>
          </a:prstGeom>
        </p:spPr>
      </p:pic>
      <p:pic>
        <p:nvPicPr>
          <p:cNvPr id="18" name="Image 8" descr="gen-dedup-b867514278944b07393dfc986030d764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72607" y="6057900"/>
            <a:ext cx="304495" cy="304495"/>
          </a:xfrm>
          <a:prstGeom prst="rect">
            <a:avLst/>
          </a:prstGeom>
        </p:spPr>
      </p:pic>
      <p:pic>
        <p:nvPicPr>
          <p:cNvPr id="19" name="Image 9" descr="gen-dedup-6b7cda802fae2b4896161d9ae253451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68205" y="6057900"/>
            <a:ext cx="304495" cy="304495"/>
          </a:xfrm>
          <a:prstGeom prst="rect">
            <a:avLst/>
          </a:prstGeom>
        </p:spPr>
      </p:pic>
      <p:pic>
        <p:nvPicPr>
          <p:cNvPr id="20" name="Image 10" descr="gen-dedup-c2ad12cf8fbbac21265105de29b9e670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963802" y="6057900"/>
            <a:ext cx="304495" cy="304495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MTi · 06</a:t>
            </a:r>
            <a:endParaRPr lang="en-US" sz="975" dirty="0"/>
          </a:p>
        </p:txBody>
      </p:sp>
      <p:sp>
        <p:nvSpPr>
          <p:cNvPr id="22" name="Text 9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pilares estratégicos</a:t>
            </a:r>
            <a:endParaRPr lang="en-US" sz="1125" dirty="0"/>
          </a:p>
        </p:txBody>
      </p:sp>
      <p:sp>
        <p:nvSpPr>
          <p:cNvPr id="23" name="Text 10"/>
          <p:cNvSpPr txBox="1"/>
          <p:nvPr/>
        </p:nvSpPr>
        <p:spPr>
          <a:xfrm>
            <a:off x="1143000" y="2857500"/>
            <a:ext cx="15240305" cy="163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850" b="1" kern="0" spc="-1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Tecnología que opera donde</a:t>
            </a:r>
            <a:endParaRPr lang="en-US" sz="5850" b="1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5850" b="1" kern="0" spc="-14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importa.</a:t>
            </a:r>
            <a:endParaRPr lang="en-US" sz="5850" b="1" dirty="0"/>
          </a:p>
        </p:txBody>
      </p:sp>
      <p:sp>
        <p:nvSpPr>
          <p:cNvPr id="24" name="Text 11"/>
          <p:cNvSpPr txBox="1"/>
          <p:nvPr/>
        </p:nvSpPr>
        <p:spPr>
          <a:xfrm>
            <a:off x="1524305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01</a:t>
            </a:r>
            <a:endParaRPr lang="en-US" sz="900" dirty="0"/>
          </a:p>
        </p:txBody>
      </p:sp>
      <p:sp>
        <p:nvSpPr>
          <p:cNvPr id="25" name="Text 12"/>
          <p:cNvSpPr txBox="1"/>
          <p:nvPr/>
        </p:nvSpPr>
        <p:spPr>
          <a:xfrm>
            <a:off x="1524305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en lo</a:t>
            </a:r>
            <a:endParaRPr lang="en-US" sz="2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crítico</a:t>
            </a:r>
            <a:endParaRPr lang="en-US" sz="2700" dirty="0"/>
          </a:p>
        </p:txBody>
      </p:sp>
      <p:sp>
        <p:nvSpPr>
          <p:cNvPr id="26" name="Text 13"/>
          <p:cNvSpPr txBox="1"/>
          <p:nvPr/>
        </p:nvSpPr>
        <p:spPr>
          <a:xfrm>
            <a:off x="1524305" y="8477402"/>
            <a:ext cx="3238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Entregamos donde fallar no es una opción — aeropuertos, metros, hospitales, plantas industriales, infraestructura soberana.</a:t>
            </a:r>
            <a:endParaRPr lang="en-US" sz="1200" dirty="0"/>
          </a:p>
        </p:txBody>
      </p:sp>
      <p:sp>
        <p:nvSpPr>
          <p:cNvPr id="27" name="Text 14"/>
          <p:cNvSpPr txBox="1"/>
          <p:nvPr/>
        </p:nvSpPr>
        <p:spPr>
          <a:xfrm>
            <a:off x="5619902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02</a:t>
            </a:r>
            <a:endParaRPr lang="en-US" sz="900" dirty="0"/>
          </a:p>
        </p:txBody>
      </p:sp>
      <p:sp>
        <p:nvSpPr>
          <p:cNvPr id="28" name="Text 15"/>
          <p:cNvSpPr txBox="1"/>
          <p:nvPr/>
        </p:nvSpPr>
        <p:spPr>
          <a:xfrm>
            <a:off x="5619902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</a:t>
            </a:r>
            <a:endParaRPr lang="en-US" sz="2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extremo a extremo</a:t>
            </a:r>
            <a:endParaRPr lang="en-US" sz="2700" dirty="0"/>
          </a:p>
        </p:txBody>
      </p:sp>
      <p:sp>
        <p:nvSpPr>
          <p:cNvPr id="29" name="Text 16"/>
          <p:cNvSpPr txBox="1"/>
          <p:nvPr/>
        </p:nvSpPr>
        <p:spPr>
          <a:xfrm>
            <a:off x="5619902" y="8477402"/>
            <a:ext cx="3238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Concepto, ingeniería, integración, despliegue y operación. Un único responsable desde la oferta hasta el mantenimiento 24/7.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9715500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03</a:t>
            </a:r>
            <a:endParaRPr lang="en-US" sz="900" dirty="0"/>
          </a:p>
        </p:txBody>
      </p:sp>
      <p:sp>
        <p:nvSpPr>
          <p:cNvPr id="31" name="Text 18"/>
          <p:cNvSpPr txBox="1"/>
          <p:nvPr/>
        </p:nvSpPr>
        <p:spPr>
          <a:xfrm>
            <a:off x="9715500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Plataformas</a:t>
            </a:r>
            <a:endParaRPr lang="en-US" sz="2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propias</a:t>
            </a:r>
            <a:endParaRPr lang="en-US" sz="2700" dirty="0"/>
          </a:p>
        </p:txBody>
      </p:sp>
      <p:sp>
        <p:nvSpPr>
          <p:cNvPr id="32" name="Text 19"/>
          <p:cNvSpPr txBox="1"/>
          <p:nvPr/>
        </p:nvSpPr>
        <p:spPr>
          <a:xfrm>
            <a:off x="9715500" y="8477402"/>
            <a:ext cx="3238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Plataformas propias de IoT, Gemelo Digital, Smart City OS e IA Agéntica — nunca reventa. Roadmap y propiedad intelectual bajo control total.</a:t>
            </a:r>
            <a:endParaRPr lang="en-US" sz="1200" dirty="0"/>
          </a:p>
        </p:txBody>
      </p:sp>
      <p:sp>
        <p:nvSpPr>
          <p:cNvPr id="33" name="Text 20"/>
          <p:cNvSpPr txBox="1"/>
          <p:nvPr/>
        </p:nvSpPr>
        <p:spPr>
          <a:xfrm>
            <a:off x="13811098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04</a:t>
            </a:r>
            <a:endParaRPr lang="en-US" sz="900" dirty="0"/>
          </a:p>
        </p:txBody>
      </p:sp>
      <p:sp>
        <p:nvSpPr>
          <p:cNvPr id="34" name="Text 21"/>
          <p:cNvSpPr txBox="1"/>
          <p:nvPr/>
        </p:nvSpPr>
        <p:spPr>
          <a:xfrm>
            <a:off x="13811098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</a:t>
            </a:r>
            <a:endParaRPr lang="en-US" sz="2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medible</a:t>
            </a:r>
            <a:endParaRPr lang="en-US" sz="2700" dirty="0"/>
          </a:p>
        </p:txBody>
      </p:sp>
      <p:sp>
        <p:nvSpPr>
          <p:cNvPr id="35" name="Text 22"/>
          <p:cNvSpPr txBox="1"/>
          <p:nvPr/>
        </p:nvSpPr>
        <p:spPr>
          <a:xfrm>
            <a:off x="13811098" y="8477402"/>
            <a:ext cx="3238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proyecto reporta impacto cuantificado — horas ahorradas, ofertas generadas, paradas evitadas y ROI desde el primer día.</a:t>
            </a:r>
            <a:endParaRPr lang="en-US" sz="1200" dirty="0"/>
          </a:p>
        </p:txBody>
      </p:sp>
      <p:pic>
        <p:nvPicPr>
          <p:cNvPr id="37" name="Image 1" descr="gen-dedup-3fc9b6bd6bd01734c54b10a0f11af3f3.png">
            <a:extLst>
              <a:ext uri="{FF2B5EF4-FFF2-40B4-BE49-F238E27FC236}">
                <a16:creationId xmlns:a16="http://schemas.microsoft.com/office/drawing/2014/main" id="{B7B77A3D-4A56-ED7B-8DD6-C9AE4C2BD7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858207"/>
            <a:ext cx="3810305" cy="2190902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0" y="4858207"/>
            <a:ext cx="3810305" cy="2190902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4858207"/>
            <a:ext cx="3810305" cy="2190902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44500" y="4858207"/>
            <a:ext cx="4000500" cy="2190902"/>
          </a:xfrm>
          <a:prstGeom prst="roundRect">
            <a:avLst>
              <a:gd name="adj" fmla="val 262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7334402"/>
            <a:ext cx="5333695" cy="2190902"/>
          </a:xfrm>
          <a:prstGeom prst="roundRect">
            <a:avLst>
              <a:gd name="adj" fmla="val 262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67805" y="7334402"/>
            <a:ext cx="5333695" cy="2190902"/>
          </a:xfrm>
          <a:prstGeom prst="roundRect">
            <a:avLst>
              <a:gd name="adj" fmla="val 262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191695" y="7334402"/>
            <a:ext cx="4953305" cy="2190902"/>
          </a:xfrm>
          <a:prstGeom prst="roundRect">
            <a:avLst>
              <a:gd name="adj" fmla="val 262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pic>
        <p:nvPicPr>
          <p:cNvPr id="11" name="Image 2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143000" y="4858207"/>
            <a:ext cx="761695" cy="38405"/>
          </a:xfrm>
          <a:prstGeom prst="rect">
            <a:avLst/>
          </a:prstGeom>
        </p:spPr>
      </p:pic>
      <p:pic>
        <p:nvPicPr>
          <p:cNvPr id="12" name="Image 3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5143500" y="4858207"/>
            <a:ext cx="761695" cy="38405"/>
          </a:xfrm>
          <a:prstGeom prst="rect">
            <a:avLst/>
          </a:prstGeom>
        </p:spPr>
      </p:pic>
      <p:pic>
        <p:nvPicPr>
          <p:cNvPr id="13" name="Image 4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144000" y="4858207"/>
            <a:ext cx="761695" cy="38405"/>
          </a:xfrm>
          <a:prstGeom prst="rect">
            <a:avLst/>
          </a:prstGeom>
        </p:spPr>
      </p:pic>
      <p:pic>
        <p:nvPicPr>
          <p:cNvPr id="14" name="Image 5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3144500" y="4858207"/>
            <a:ext cx="761695" cy="38405"/>
          </a:xfrm>
          <a:prstGeom prst="rect">
            <a:avLst/>
          </a:prstGeom>
        </p:spPr>
      </p:pic>
      <p:pic>
        <p:nvPicPr>
          <p:cNvPr id="15" name="Image 6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143000" y="7334402"/>
            <a:ext cx="761695" cy="38405"/>
          </a:xfrm>
          <a:prstGeom prst="rect">
            <a:avLst/>
          </a:prstGeom>
        </p:spPr>
      </p:pic>
      <p:pic>
        <p:nvPicPr>
          <p:cNvPr id="16" name="Image 7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6667805" y="7334402"/>
            <a:ext cx="761695" cy="38405"/>
          </a:xfrm>
          <a:prstGeom prst="rect">
            <a:avLst/>
          </a:prstGeom>
        </p:spPr>
      </p:pic>
      <p:pic>
        <p:nvPicPr>
          <p:cNvPr id="17" name="Image 8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2191695" y="7334402"/>
            <a:ext cx="761695" cy="38405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cifras · 04</a:t>
            </a:r>
            <a:endParaRPr lang="en-US" sz="975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Probado a gran escala</a:t>
            </a:r>
            <a:endParaRPr lang="en-US" sz="1125" dirty="0"/>
          </a:p>
        </p:txBody>
      </p:sp>
      <p:sp>
        <p:nvSpPr>
          <p:cNvPr id="20" name="Text 9"/>
          <p:cNvSpPr txBox="1"/>
          <p:nvPr/>
        </p:nvSpPr>
        <p:spPr>
          <a:xfrm>
            <a:off x="1143000" y="2857500"/>
            <a:ext cx="15621610" cy="9244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kern="0" spc="-20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modelo de entrega </a:t>
            </a:r>
            <a:r>
              <a:rPr lang="en-US" sz="6900" b="1" kern="0" spc="-20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integrado.</a:t>
            </a:r>
            <a:endParaRPr lang="en-US" sz="6900" dirty="0"/>
          </a:p>
        </p:txBody>
      </p:sp>
      <p:sp>
        <p:nvSpPr>
          <p:cNvPr id="21" name="Text 10"/>
          <p:cNvSpPr txBox="1"/>
          <p:nvPr/>
        </p:nvSpPr>
        <p:spPr>
          <a:xfrm>
            <a:off x="1429207" y="5238598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Años de innovación</a:t>
            </a:r>
            <a:endParaRPr lang="en-US" sz="900" dirty="0"/>
          </a:p>
        </p:txBody>
      </p:sp>
      <p:sp>
        <p:nvSpPr>
          <p:cNvPr id="22" name="Text 11"/>
          <p:cNvSpPr txBox="1"/>
          <p:nvPr/>
        </p:nvSpPr>
        <p:spPr>
          <a:xfrm>
            <a:off x="1429207" y="5477256"/>
            <a:ext cx="3238805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23" name="Text 12"/>
          <p:cNvSpPr txBox="1"/>
          <p:nvPr/>
        </p:nvSpPr>
        <p:spPr>
          <a:xfrm>
            <a:off x="1429207" y="666140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Operando desde 2016</a:t>
            </a:r>
            <a:endParaRPr lang="en-US" sz="1200" dirty="0"/>
          </a:p>
        </p:txBody>
      </p:sp>
      <p:sp>
        <p:nvSpPr>
          <p:cNvPr id="24" name="Text 13"/>
          <p:cNvSpPr txBox="1"/>
          <p:nvPr/>
        </p:nvSpPr>
        <p:spPr>
          <a:xfrm>
            <a:off x="5429707" y="5238598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Dispositivos IoT conectados</a:t>
            </a:r>
            <a:endParaRPr lang="en-US" sz="900" dirty="0"/>
          </a:p>
        </p:txBody>
      </p:sp>
      <p:sp>
        <p:nvSpPr>
          <p:cNvPr id="25" name="Text 14"/>
          <p:cNvSpPr txBox="1"/>
          <p:nvPr/>
        </p:nvSpPr>
        <p:spPr>
          <a:xfrm>
            <a:off x="5429707" y="5477256"/>
            <a:ext cx="3677717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26" name="Text 15"/>
          <p:cNvSpPr txBox="1"/>
          <p:nvPr/>
        </p:nvSpPr>
        <p:spPr>
          <a:xfrm>
            <a:off x="5429707" y="666140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vía plataforma thethings.io</a:t>
            </a:r>
            <a:endParaRPr lang="en-US" sz="1200" dirty="0"/>
          </a:p>
        </p:txBody>
      </p:sp>
      <p:sp>
        <p:nvSpPr>
          <p:cNvPr id="27" name="Text 16"/>
          <p:cNvSpPr txBox="1"/>
          <p:nvPr/>
        </p:nvSpPr>
        <p:spPr>
          <a:xfrm>
            <a:off x="9430207" y="5238598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Administraciones atendidas</a:t>
            </a:r>
            <a:endParaRPr lang="en-US" sz="900" dirty="0"/>
          </a:p>
        </p:txBody>
      </p:sp>
      <p:sp>
        <p:nvSpPr>
          <p:cNvPr id="28" name="Text 17"/>
          <p:cNvSpPr txBox="1"/>
          <p:nvPr/>
        </p:nvSpPr>
        <p:spPr>
          <a:xfrm>
            <a:off x="9430207" y="5477256"/>
            <a:ext cx="5048402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800" dirty="0"/>
          </a:p>
        </p:txBody>
      </p:sp>
      <p:sp>
        <p:nvSpPr>
          <p:cNvPr id="29" name="Text 18"/>
          <p:cNvSpPr txBox="1"/>
          <p:nvPr/>
        </p:nvSpPr>
        <p:spPr>
          <a:xfrm>
            <a:off x="9430207" y="666140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AENA · TMB · KAFD · Ciudades</a:t>
            </a:r>
            <a:endParaRPr lang="en-US" sz="1200" dirty="0"/>
          </a:p>
        </p:txBody>
      </p:sp>
      <p:sp>
        <p:nvSpPr>
          <p:cNvPr id="30" name="Text 19"/>
          <p:cNvSpPr txBox="1"/>
          <p:nvPr/>
        </p:nvSpPr>
        <p:spPr>
          <a:xfrm>
            <a:off x="13430707" y="52385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IA en producción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13430707" y="5477256"/>
            <a:ext cx="342900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32" name="Text 21"/>
          <p:cNvSpPr txBox="1"/>
          <p:nvPr/>
        </p:nvSpPr>
        <p:spPr>
          <a:xfrm>
            <a:off x="13430707" y="6661404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Agéntica, despliegues reales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1429207" y="7715707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Países de operación</a:t>
            </a:r>
            <a:endParaRPr lang="en-US" sz="900" dirty="0"/>
          </a:p>
        </p:txBody>
      </p:sp>
      <p:sp>
        <p:nvSpPr>
          <p:cNvPr id="34" name="Text 23"/>
          <p:cNvSpPr txBox="1"/>
          <p:nvPr/>
        </p:nvSpPr>
        <p:spPr>
          <a:xfrm>
            <a:off x="1429207" y="7953451"/>
            <a:ext cx="476311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35" name="Text 24"/>
          <p:cNvSpPr txBox="1"/>
          <p:nvPr/>
        </p:nvSpPr>
        <p:spPr>
          <a:xfrm>
            <a:off x="1429207" y="9138514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global · ejecución local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6953098" y="7715707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de referencia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6953098" y="7953451"/>
            <a:ext cx="476311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38" name="Text 27"/>
          <p:cNvSpPr txBox="1"/>
          <p:nvPr/>
        </p:nvSpPr>
        <p:spPr>
          <a:xfrm>
            <a:off x="6953098" y="9138514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Navantia · TMB · AENA · Abertis · Fujitsu · Indra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12477902" y="7715707"/>
            <a:ext cx="4381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Certificación ISO</a:t>
            </a:r>
            <a:endParaRPr lang="en-US" sz="900" dirty="0"/>
          </a:p>
        </p:txBody>
      </p:sp>
      <p:sp>
        <p:nvSpPr>
          <p:cNvPr id="40" name="Text 29"/>
          <p:cNvSpPr txBox="1"/>
          <p:nvPr/>
        </p:nvSpPr>
        <p:spPr>
          <a:xfrm>
            <a:off x="12477902" y="8048549"/>
            <a:ext cx="470916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9001</a:t>
            </a:r>
            <a:r>
              <a:rPr lang="en-US" sz="6000" b="1" kern="0" spc="-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6000" dirty="0"/>
          </a:p>
        </p:txBody>
      </p:sp>
      <p:sp>
        <p:nvSpPr>
          <p:cNvPr id="41" name="Text 30"/>
          <p:cNvSpPr txBox="1"/>
          <p:nvPr/>
        </p:nvSpPr>
        <p:spPr>
          <a:xfrm>
            <a:off x="12477902" y="8982151"/>
            <a:ext cx="4381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27001 y 14001 en curso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1143000" y="9810598"/>
            <a:ext cx="7620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Group · Presentación Corporativa</a:t>
            </a:r>
            <a:endParaRPr lang="en-US" sz="975" dirty="0"/>
          </a:p>
        </p:txBody>
      </p:sp>
      <p:pic>
        <p:nvPicPr>
          <p:cNvPr id="44" name="Image 1" descr="gen-dedup-3fc9b6bd6bd01734c54b10a0f11af3f3.png">
            <a:extLst>
              <a:ext uri="{FF2B5EF4-FFF2-40B4-BE49-F238E27FC236}">
                <a16:creationId xmlns:a16="http://schemas.microsoft.com/office/drawing/2014/main" id="{05084004-CB19-5691-9B3D-2970E85DB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8103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15354" y="38103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287707" y="3810305"/>
            <a:ext cx="4858207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66678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15354" y="66678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287707" y="6667805"/>
            <a:ext cx="4858207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gen-dedup-96ab480cbdaae70610a0dffdd0c2b6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810305"/>
            <a:ext cx="2097509" cy="2667305"/>
          </a:xfrm>
          <a:prstGeom prst="rect">
            <a:avLst/>
          </a:prstGeom>
        </p:spPr>
      </p:pic>
      <p:pic>
        <p:nvPicPr>
          <p:cNvPr id="9" name="Image 1" descr="gen-dedup-a33ad67954a55759bca49c0de1455b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3810305"/>
            <a:ext cx="2095805" cy="2668429"/>
          </a:xfrm>
          <a:prstGeom prst="rect">
            <a:avLst/>
          </a:prstGeom>
        </p:spPr>
      </p:pic>
      <p:pic>
        <p:nvPicPr>
          <p:cNvPr id="10" name="Image 2" descr="gen-dedup-bad7156babdac6f5efbe62e518bdcc0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707" y="3810305"/>
            <a:ext cx="1904695" cy="2668056"/>
          </a:xfrm>
          <a:prstGeom prst="rect">
            <a:avLst/>
          </a:prstGeom>
        </p:spPr>
      </p:pic>
      <p:pic>
        <p:nvPicPr>
          <p:cNvPr id="11" name="Image 3" descr="gen-dedup-f8ca8ceb4f70a0b428c85cf59ed8a28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6667805"/>
            <a:ext cx="2096798" cy="2667305"/>
          </a:xfrm>
          <a:prstGeom prst="rect">
            <a:avLst/>
          </a:prstGeom>
        </p:spPr>
      </p:pic>
      <p:pic>
        <p:nvPicPr>
          <p:cNvPr id="12" name="Image 4" descr="gen-dedup-01d29c7bd8c0c62cfc5d9c750a4043f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354" y="6667805"/>
            <a:ext cx="2096798" cy="2667305"/>
          </a:xfrm>
          <a:prstGeom prst="rect">
            <a:avLst/>
          </a:prstGeom>
        </p:spPr>
      </p:pic>
      <p:pic>
        <p:nvPicPr>
          <p:cNvPr id="13" name="Image 5" descr="gen-dedup-ed2ee9f620afd25721d937ea60c30f6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87707" y="6667805"/>
            <a:ext cx="1905641" cy="2667305"/>
          </a:xfrm>
          <a:prstGeom prst="rect">
            <a:avLst/>
          </a:prstGeom>
        </p:spPr>
      </p:pic>
      <p:pic>
        <p:nvPicPr>
          <p:cNvPr id="15" name="Image 7" descr="gen-dedup-07d4da1bf1910daef42c9babebc62b73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16" name="Image 8" descr="gen-dedup-15a73e749e0a7d8b2774d77c55981ad9.png"/>
          <p:cNvPicPr>
            <a:picLocks noChangeAspect="1"/>
          </p:cNvPicPr>
          <p:nvPr/>
        </p:nvPicPr>
        <p:blipFill>
          <a:blip r:embed="rId10"/>
          <a:srcRect l="-2083" r="-2083"/>
          <a:stretch/>
        </p:blipFill>
        <p:spPr>
          <a:xfrm>
            <a:off x="1143000" y="9525305"/>
            <a:ext cx="16002000" cy="9144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Sectores · 07</a:t>
            </a:r>
            <a:endParaRPr lang="en-US" sz="975" dirty="0"/>
          </a:p>
        </p:txBody>
      </p:sp>
      <p:sp>
        <p:nvSpPr>
          <p:cNvPr id="18" name="Text 7"/>
          <p:cNvSpPr txBox="1"/>
          <p:nvPr/>
        </p:nvSpPr>
        <p:spPr>
          <a:xfrm>
            <a:off x="1143000" y="2190902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Sectores de actividad</a:t>
            </a:r>
            <a:endParaRPr lang="en-US" sz="1125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2619756"/>
            <a:ext cx="142875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250" b="1" kern="0" spc="-15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Entendemos </a:t>
            </a:r>
            <a:r>
              <a:rPr lang="en-US" sz="5250" b="1" kern="0" spc="-15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sector.</a:t>
            </a:r>
            <a:endParaRPr lang="en-US" sz="5250" dirty="0"/>
          </a:p>
        </p:txBody>
      </p:sp>
      <p:sp>
        <p:nvSpPr>
          <p:cNvPr id="20" name="Text 9"/>
          <p:cNvSpPr txBox="1"/>
          <p:nvPr/>
        </p:nvSpPr>
        <p:spPr>
          <a:xfrm>
            <a:off x="3429000" y="40480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Prioridad</a:t>
            </a:r>
            <a:endParaRPr lang="en-US" sz="825" dirty="0"/>
          </a:p>
        </p:txBody>
      </p:sp>
      <p:sp>
        <p:nvSpPr>
          <p:cNvPr id="21" name="Text 10"/>
          <p:cNvSpPr txBox="1"/>
          <p:nvPr/>
        </p:nvSpPr>
        <p:spPr>
          <a:xfrm>
            <a:off x="3429000" y="4257446"/>
            <a:ext cx="2953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</a:t>
            </a:r>
            <a:endParaRPr lang="en-US" sz="2400" dirty="0"/>
          </a:p>
        </p:txBody>
      </p:sp>
      <p:sp>
        <p:nvSpPr>
          <p:cNvPr id="22" name="Text 11"/>
          <p:cNvSpPr txBox="1"/>
          <p:nvPr/>
        </p:nvSpPr>
        <p:spPr>
          <a:xfrm>
            <a:off x="3429000" y="47247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CCTV, VMS, control de accesos, perímetro y operación de sala de control.</a:t>
            </a:r>
            <a:endParaRPr lang="en-US" sz="1050" dirty="0"/>
          </a:p>
        </p:txBody>
      </p:sp>
      <p:sp>
        <p:nvSpPr>
          <p:cNvPr id="23" name="Text 12"/>
          <p:cNvSpPr txBox="1"/>
          <p:nvPr/>
        </p:nvSpPr>
        <p:spPr>
          <a:xfrm>
            <a:off x="3429000" y="52578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AENA · SIPA · Metro · Aeropuertos</a:t>
            </a:r>
            <a:endParaRPr lang="en-US" sz="825" dirty="0"/>
          </a:p>
        </p:txBody>
      </p:sp>
      <p:sp>
        <p:nvSpPr>
          <p:cNvPr id="24" name="Text 13"/>
          <p:cNvSpPr txBox="1"/>
          <p:nvPr/>
        </p:nvSpPr>
        <p:spPr>
          <a:xfrm>
            <a:off x="9001354" y="40480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Foco</a:t>
            </a:r>
            <a:endParaRPr lang="en-US" sz="825" dirty="0"/>
          </a:p>
        </p:txBody>
      </p:sp>
      <p:sp>
        <p:nvSpPr>
          <p:cNvPr id="25" name="Text 14"/>
          <p:cNvSpPr txBox="1"/>
          <p:nvPr/>
        </p:nvSpPr>
        <p:spPr>
          <a:xfrm>
            <a:off x="9001354" y="4257446"/>
            <a:ext cx="2953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Cities</a:t>
            </a:r>
            <a:endParaRPr lang="en-US" sz="2400" dirty="0"/>
          </a:p>
        </p:txBody>
      </p:sp>
      <p:sp>
        <p:nvSpPr>
          <p:cNvPr id="26" name="Text 15"/>
          <p:cNvSpPr txBox="1"/>
          <p:nvPr/>
        </p:nvSpPr>
        <p:spPr>
          <a:xfrm>
            <a:off x="9001354" y="47247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Centros de mando, residuos, alumbrado, movilidad, utilities y telemedida IoT.</a:t>
            </a:r>
            <a:endParaRPr lang="en-US" sz="1050" dirty="0"/>
          </a:p>
        </p:txBody>
      </p:sp>
      <p:sp>
        <p:nvSpPr>
          <p:cNvPr id="27" name="Text 16"/>
          <p:cNvSpPr txBox="1"/>
          <p:nvPr/>
        </p:nvSpPr>
        <p:spPr>
          <a:xfrm>
            <a:off x="9001354" y="52578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KAFD · Qatar · Hospitalet · NSU</a:t>
            </a:r>
            <a:endParaRPr lang="en-US" sz="825" dirty="0"/>
          </a:p>
        </p:txBody>
      </p:sp>
      <p:sp>
        <p:nvSpPr>
          <p:cNvPr id="28" name="Text 17"/>
          <p:cNvSpPr txBox="1"/>
          <p:nvPr/>
        </p:nvSpPr>
        <p:spPr>
          <a:xfrm>
            <a:off x="14382598" y="4048049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Profundidad</a:t>
            </a:r>
            <a:endParaRPr lang="en-US" sz="825" dirty="0"/>
          </a:p>
        </p:txBody>
      </p:sp>
      <p:sp>
        <p:nvSpPr>
          <p:cNvPr id="29" name="Text 18"/>
          <p:cNvSpPr txBox="1"/>
          <p:nvPr/>
        </p:nvSpPr>
        <p:spPr>
          <a:xfrm>
            <a:off x="14382598" y="4257446"/>
            <a:ext cx="317388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 y Naval</a:t>
            </a:r>
            <a:endParaRPr lang="en-US" sz="2400" dirty="0"/>
          </a:p>
        </p:txBody>
      </p:sp>
      <p:sp>
        <p:nvSpPr>
          <p:cNvPr id="30" name="Text 19"/>
          <p:cNvSpPr txBox="1"/>
          <p:nvPr/>
        </p:nvSpPr>
        <p:spPr>
          <a:xfrm>
            <a:off x="14382598" y="4724705"/>
            <a:ext cx="2667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Gemelo Digital, SCADA, Industria 4.0 y fábricas digitales en astilleros.</a:t>
            </a:r>
            <a:endParaRPr lang="en-US" sz="1050" dirty="0"/>
          </a:p>
        </p:txBody>
      </p:sp>
      <p:sp>
        <p:nvSpPr>
          <p:cNvPr id="31" name="Text 20"/>
          <p:cNvSpPr txBox="1"/>
          <p:nvPr/>
        </p:nvSpPr>
        <p:spPr>
          <a:xfrm>
            <a:off x="14382598" y="5257800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Navantia · Freire · Industria 4.0</a:t>
            </a:r>
            <a:endParaRPr lang="en-US" sz="825" dirty="0"/>
          </a:p>
        </p:txBody>
      </p:sp>
      <p:sp>
        <p:nvSpPr>
          <p:cNvPr id="32" name="Text 21"/>
          <p:cNvSpPr txBox="1"/>
          <p:nvPr/>
        </p:nvSpPr>
        <p:spPr>
          <a:xfrm>
            <a:off x="3429000" y="69055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Capa</a:t>
            </a:r>
            <a:endParaRPr lang="en-US" sz="825" dirty="0"/>
          </a:p>
        </p:txBody>
      </p:sp>
      <p:sp>
        <p:nvSpPr>
          <p:cNvPr id="33" name="Text 22"/>
          <p:cNvSpPr txBox="1"/>
          <p:nvPr/>
        </p:nvSpPr>
        <p:spPr>
          <a:xfrm>
            <a:off x="3429000" y="7114946"/>
            <a:ext cx="2953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Ciberseguridad</a:t>
            </a:r>
            <a:endParaRPr lang="en-US" sz="2400" dirty="0"/>
          </a:p>
        </p:txBody>
      </p:sp>
      <p:sp>
        <p:nvSpPr>
          <p:cNvPr id="34" name="Text 23"/>
          <p:cNvSpPr txBox="1"/>
          <p:nvPr/>
        </p:nvSpPr>
        <p:spPr>
          <a:xfrm>
            <a:off x="3429000" y="75822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de SOC, segmentación de red y cumplimiento NIS2 e ISO 27001.</a:t>
            </a:r>
            <a:endParaRPr lang="en-US" sz="1050" dirty="0"/>
          </a:p>
        </p:txBody>
      </p:sp>
      <p:sp>
        <p:nvSpPr>
          <p:cNvPr id="35" name="Text 24"/>
          <p:cNvSpPr txBox="1"/>
          <p:nvPr/>
        </p:nvSpPr>
        <p:spPr>
          <a:xfrm>
            <a:off x="3429000" y="81153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Zero-trust · Red cifrada</a:t>
            </a:r>
            <a:endParaRPr lang="en-US" sz="825" dirty="0"/>
          </a:p>
        </p:txBody>
      </p:sp>
      <p:sp>
        <p:nvSpPr>
          <p:cNvPr id="36" name="Text 25"/>
          <p:cNvSpPr txBox="1"/>
          <p:nvPr/>
        </p:nvSpPr>
        <p:spPr>
          <a:xfrm>
            <a:off x="9001354" y="69055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Recintos</a:t>
            </a:r>
            <a:endParaRPr lang="en-US" sz="825" dirty="0"/>
          </a:p>
        </p:txBody>
      </p:sp>
      <p:sp>
        <p:nvSpPr>
          <p:cNvPr id="37" name="Text 26"/>
          <p:cNvSpPr txBox="1"/>
          <p:nvPr/>
        </p:nvSpPr>
        <p:spPr>
          <a:xfrm>
            <a:off x="9001354" y="7114946"/>
            <a:ext cx="351038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Recintos Deportivos</a:t>
            </a:r>
            <a:endParaRPr lang="en-US" sz="2400" dirty="0"/>
          </a:p>
        </p:txBody>
      </p:sp>
      <p:sp>
        <p:nvSpPr>
          <p:cNvPr id="38" name="Text 27"/>
          <p:cNvSpPr txBox="1"/>
          <p:nvPr/>
        </p:nvSpPr>
        <p:spPr>
          <a:xfrm>
            <a:off x="9001354" y="75822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 de estadio, accesos, IoT y gemelo digital del recinto.</a:t>
            </a:r>
            <a:endParaRPr lang="en-US" sz="1050" dirty="0"/>
          </a:p>
        </p:txBody>
      </p:sp>
      <p:sp>
        <p:nvSpPr>
          <p:cNvPr id="39" name="Text 28"/>
          <p:cNvSpPr txBox="1"/>
          <p:nvPr/>
        </p:nvSpPr>
        <p:spPr>
          <a:xfrm>
            <a:off x="9001354" y="81153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 Barcelona · PortAventura</a:t>
            </a:r>
            <a:endParaRPr lang="en-US" sz="825" dirty="0"/>
          </a:p>
        </p:txBody>
      </p:sp>
      <p:sp>
        <p:nvSpPr>
          <p:cNvPr id="40" name="Text 29"/>
          <p:cNvSpPr txBox="1"/>
          <p:nvPr/>
        </p:nvSpPr>
        <p:spPr>
          <a:xfrm>
            <a:off x="14382598" y="6905549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Escala</a:t>
            </a:r>
            <a:endParaRPr lang="en-US" sz="825" dirty="0"/>
          </a:p>
        </p:txBody>
      </p:sp>
      <p:sp>
        <p:nvSpPr>
          <p:cNvPr id="41" name="Text 30"/>
          <p:cNvSpPr txBox="1"/>
          <p:nvPr/>
        </p:nvSpPr>
        <p:spPr>
          <a:xfrm>
            <a:off x="14382598" y="7114946"/>
            <a:ext cx="2667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</a:t>
            </a:r>
            <a:endParaRPr lang="en-US" sz="2400" dirty="0"/>
          </a:p>
        </p:txBody>
      </p:sp>
      <p:sp>
        <p:nvSpPr>
          <p:cNvPr id="42" name="Text 31"/>
          <p:cNvSpPr txBox="1"/>
          <p:nvPr/>
        </p:nvSpPr>
        <p:spPr>
          <a:xfrm>
            <a:off x="14382598" y="7582205"/>
            <a:ext cx="2667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Metros, autobuses y aeropuertos — VMS, ITxPT, SIU y CCTV embarcado.</a:t>
            </a:r>
            <a:endParaRPr lang="en-US" sz="1050" dirty="0"/>
          </a:p>
        </p:txBody>
      </p:sp>
      <p:sp>
        <p:nvSpPr>
          <p:cNvPr id="43" name="Text 32"/>
          <p:cNvSpPr txBox="1"/>
          <p:nvPr/>
        </p:nvSpPr>
        <p:spPr>
          <a:xfrm>
            <a:off x="14382598" y="8115300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TMB · Moventia · AENA</a:t>
            </a:r>
            <a:endParaRPr lang="en-US" sz="825" dirty="0"/>
          </a:p>
        </p:txBody>
      </p:sp>
      <p:sp>
        <p:nvSpPr>
          <p:cNvPr id="44" name="Text 33"/>
          <p:cNvSpPr txBox="1"/>
          <p:nvPr/>
        </p:nvSpPr>
        <p:spPr>
          <a:xfrm>
            <a:off x="1143000" y="9667951"/>
            <a:ext cx="381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También servimos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3238805" y="9667951"/>
            <a:ext cx="1390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Agua y Utilities · Centros de Datos · Telecomunicaciones · Sanidad y Campus · Edificios Públicos · Retail y Hostelería</a:t>
            </a:r>
            <a:endParaRPr lang="en-US" sz="1200" dirty="0"/>
          </a:p>
        </p:txBody>
      </p:sp>
      <p:pic>
        <p:nvPicPr>
          <p:cNvPr id="47" name="Image 1" descr="gen-dedup-3fc9b6bd6bd01734c54b10a0f11af3f3.png">
            <a:extLst>
              <a:ext uri="{FF2B5EF4-FFF2-40B4-BE49-F238E27FC236}">
                <a16:creationId xmlns:a16="http://schemas.microsoft.com/office/drawing/2014/main" id="{950620CE-B10A-65E8-05FE-C97AC4DD77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667098"/>
            <a:ext cx="16002000" cy="2667305"/>
          </a:xfrm>
          <a:prstGeom prst="roundRect">
            <a:avLst>
              <a:gd name="adj" fmla="val 144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7619695"/>
            <a:ext cx="7810805" cy="2190902"/>
          </a:xfrm>
          <a:prstGeom prst="roundRect">
            <a:avLst>
              <a:gd name="adj" fmla="val 17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34195" y="7619695"/>
            <a:ext cx="7810805" cy="2190902"/>
          </a:xfrm>
          <a:prstGeom prst="roundRect">
            <a:avLst>
              <a:gd name="adj" fmla="val 1753"/>
            </a:avLst>
          </a:prstGeom>
          <a:solidFill>
            <a:srgbClr val="F1F5F9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7" name="Image 2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4667098"/>
            <a:ext cx="914400" cy="3840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Referencias · 08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Confían en nosotros · Público + Privado</a:t>
            </a:r>
            <a:endParaRPr lang="en-US" sz="1125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2619756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5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década de </a:t>
            </a:r>
            <a:r>
              <a:rPr lang="en-US" sz="5100" b="1" kern="0" spc="-153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despliegues</a:t>
            </a:r>
            <a:r>
              <a:rPr lang="en-US" sz="5100" b="1" kern="0" spc="-15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100" b="1" kern="0" spc="-153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críticos</a:t>
            </a:r>
            <a:r>
              <a:rPr lang="en-US" sz="5100" b="1" kern="0" spc="-15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1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3715207"/>
            <a:ext cx="14287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aeropuertos nacionales y ayuntamientos hasta astilleros y grupos industriales — MTi entrega tanto en licitación pública regulada como a operadores privados exigentes.</a:t>
            </a:r>
            <a:endParaRPr lang="en-US" sz="1425" dirty="0"/>
          </a:p>
        </p:txBody>
      </p:sp>
      <p:sp>
        <p:nvSpPr>
          <p:cNvPr id="12" name="Text 7"/>
          <p:cNvSpPr txBox="1"/>
          <p:nvPr/>
        </p:nvSpPr>
        <p:spPr>
          <a:xfrm>
            <a:off x="1429207" y="4858207"/>
            <a:ext cx="7620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seleccionados</a:t>
            </a:r>
            <a:endParaRPr lang="en-US" sz="900" dirty="0"/>
          </a:p>
        </p:txBody>
      </p:sp>
      <p:pic>
        <p:nvPicPr>
          <p:cNvPr id="25" name="Image 14" descr="gen-dedup-336319fed47658988bd452b623b0c21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7905902"/>
            <a:ext cx="571500" cy="571500"/>
          </a:xfrm>
          <a:prstGeom prst="rect">
            <a:avLst/>
          </a:prstGeom>
        </p:spPr>
      </p:pic>
      <p:sp>
        <p:nvSpPr>
          <p:cNvPr id="26" name="Text 9"/>
          <p:cNvSpPr txBox="1"/>
          <p:nvPr/>
        </p:nvSpPr>
        <p:spPr>
          <a:xfrm>
            <a:off x="2190902" y="8001000"/>
            <a:ext cx="6477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público · Administraciones · Ayuntamientos</a:t>
            </a:r>
            <a:endParaRPr lang="en-US" sz="900" dirty="0"/>
          </a:p>
        </p:txBody>
      </p:sp>
      <p:sp>
        <p:nvSpPr>
          <p:cNvPr id="27" name="Text 10"/>
          <p:cNvSpPr txBox="1"/>
          <p:nvPr/>
        </p:nvSpPr>
        <p:spPr>
          <a:xfrm>
            <a:off x="2190902" y="8238744"/>
            <a:ext cx="6477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entrega en licitación pública.</a:t>
            </a:r>
            <a:endParaRPr lang="en-US" sz="2400" dirty="0"/>
          </a:p>
        </p:txBody>
      </p:sp>
      <p:sp>
        <p:nvSpPr>
          <p:cNvPr id="28" name="Text 11"/>
          <p:cNvSpPr txBox="1"/>
          <p:nvPr/>
        </p:nvSpPr>
        <p:spPr>
          <a:xfrm>
            <a:off x="2190902" y="8725205"/>
            <a:ext cx="6477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Autoridades nacionales, ayuntamientos y operadores de transporte público eligen a MTi para proyectos críticos — sujetos a licitación pública, habilitación de seguridad y compromisos SLA a largo plazo.</a:t>
            </a:r>
            <a:endParaRPr lang="en-US" sz="1050" dirty="0"/>
          </a:p>
        </p:txBody>
      </p:sp>
      <p:sp>
        <p:nvSpPr>
          <p:cNvPr id="29" name="Text 12"/>
          <p:cNvSpPr txBox="1"/>
          <p:nvPr/>
        </p:nvSpPr>
        <p:spPr>
          <a:xfrm>
            <a:off x="2190902" y="9477756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E6A817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AENA · TMB · Hospitalet · KAFD · Ministerio de Defensa · NSU Florida</a:t>
            </a:r>
            <a:endParaRPr lang="en-US" sz="825" dirty="0"/>
          </a:p>
        </p:txBody>
      </p:sp>
      <p:pic>
        <p:nvPicPr>
          <p:cNvPr id="30" name="Image 15" descr="gen-dedup-95aa97ed32d028ecf4abce15d6e509b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20402" y="7905902"/>
            <a:ext cx="571500" cy="571500"/>
          </a:xfrm>
          <a:prstGeom prst="rect">
            <a:avLst/>
          </a:prstGeom>
        </p:spPr>
      </p:pic>
      <p:sp>
        <p:nvSpPr>
          <p:cNvPr id="31" name="Text 13"/>
          <p:cNvSpPr txBox="1"/>
          <p:nvPr/>
        </p:nvSpPr>
        <p:spPr>
          <a:xfrm>
            <a:off x="10382098" y="8001000"/>
            <a:ext cx="65727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privado · Industria · Corporativo</a:t>
            </a:r>
            <a:endParaRPr lang="en-US" sz="900" dirty="0"/>
          </a:p>
        </p:txBody>
      </p:sp>
      <p:sp>
        <p:nvSpPr>
          <p:cNvPr id="32" name="Text 14"/>
          <p:cNvSpPr txBox="1"/>
          <p:nvPr/>
        </p:nvSpPr>
        <p:spPr>
          <a:xfrm>
            <a:off x="10382098" y="8238744"/>
            <a:ext cx="65727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a operadores privados.</a:t>
            </a:r>
            <a:endParaRPr lang="en-US" sz="2400" dirty="0"/>
          </a:p>
        </p:txBody>
      </p:sp>
      <p:sp>
        <p:nvSpPr>
          <p:cNvPr id="33" name="Text 15"/>
          <p:cNvSpPr txBox="1"/>
          <p:nvPr/>
        </p:nvSpPr>
        <p:spPr>
          <a:xfrm>
            <a:off x="10382098" y="8725205"/>
            <a:ext cx="65727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Astilleros, grupos industriales, recintos deportivos y operadores de servicios — nos eligen por SLAs exigentes, integración segura y ROI medible en operación.</a:t>
            </a:r>
            <a:endParaRPr lang="en-US" sz="1050" dirty="0"/>
          </a:p>
        </p:txBody>
      </p:sp>
      <p:sp>
        <p:nvSpPr>
          <p:cNvPr id="34" name="Text 16"/>
          <p:cNvSpPr txBox="1"/>
          <p:nvPr/>
        </p:nvSpPr>
        <p:spPr>
          <a:xfrm>
            <a:off x="10382098" y="9271102"/>
            <a:ext cx="6572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Navantia · Abertis · Moventia · Freire · FC Barcelona · PortAventura</a:t>
            </a:r>
            <a:endParaRPr lang="en-US" sz="825" dirty="0"/>
          </a:p>
        </p:txBody>
      </p:sp>
      <p:pic>
        <p:nvPicPr>
          <p:cNvPr id="36" name="Image 6" descr="gen-dedup-780ad63badfcdea4b0623a917cbe2c89.jpg">
            <a:extLst>
              <a:ext uri="{FF2B5EF4-FFF2-40B4-BE49-F238E27FC236}">
                <a16:creationId xmlns:a16="http://schemas.microsoft.com/office/drawing/2014/main" id="{1E0A8B2B-BE1F-B145-6DED-D432030666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47625" b="-47625"/>
          <a:stretch/>
        </p:blipFill>
        <p:spPr>
          <a:xfrm>
            <a:off x="8191195" y="5333695"/>
            <a:ext cx="1904695" cy="666598"/>
          </a:xfrm>
          <a:prstGeom prst="rect">
            <a:avLst/>
          </a:prstGeom>
        </p:spPr>
      </p:pic>
      <p:pic>
        <p:nvPicPr>
          <p:cNvPr id="38" name="Image 9" descr="gen-dedup-da108b5ea3b4c453445e71c9f9e8014e.png">
            <a:extLst>
              <a:ext uri="{FF2B5EF4-FFF2-40B4-BE49-F238E27FC236}">
                <a16:creationId xmlns:a16="http://schemas.microsoft.com/office/drawing/2014/main" id="{A14F2057-327D-BAF7-512B-C762A27E91A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92867" r="-92867"/>
          <a:stretch/>
        </p:blipFill>
        <p:spPr>
          <a:xfrm>
            <a:off x="9711583" y="6053968"/>
            <a:ext cx="3466771" cy="1213287"/>
          </a:xfrm>
          <a:prstGeom prst="rect">
            <a:avLst/>
          </a:prstGeom>
        </p:spPr>
      </p:pic>
      <p:pic>
        <p:nvPicPr>
          <p:cNvPr id="40" name="Picture 39" descr="Archivo:Aena Logo New.svg - Wikipedia, la enciclopedia libre">
            <a:extLst>
              <a:ext uri="{FF2B5EF4-FFF2-40B4-BE49-F238E27FC236}">
                <a16:creationId xmlns:a16="http://schemas.microsoft.com/office/drawing/2014/main" id="{43DB1AD7-6184-9B54-69FD-D83C068D73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8927" y="5404938"/>
            <a:ext cx="1351483" cy="638787"/>
          </a:xfrm>
          <a:prstGeom prst="rect">
            <a:avLst/>
          </a:prstGeom>
        </p:spPr>
      </p:pic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AFFF8238-954F-0FC6-61B1-7225547021D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298710" y="5367965"/>
            <a:ext cx="661098" cy="661098"/>
          </a:xfrm>
          <a:prstGeom prst="rect">
            <a:avLst/>
          </a:prstGeom>
        </p:spPr>
      </p:pic>
      <p:pic>
        <p:nvPicPr>
          <p:cNvPr id="44" name="Image 3" descr="preencoded.png">
            <a:extLst>
              <a:ext uri="{FF2B5EF4-FFF2-40B4-BE49-F238E27FC236}">
                <a16:creationId xmlns:a16="http://schemas.microsoft.com/office/drawing/2014/main" id="{6A7C5597-1A84-9A42-46D0-0A3B45CF84B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4858641" y="6362674"/>
            <a:ext cx="921716" cy="921716"/>
          </a:xfrm>
          <a:prstGeom prst="rect">
            <a:avLst/>
          </a:prstGeom>
        </p:spPr>
      </p:pic>
      <p:pic>
        <p:nvPicPr>
          <p:cNvPr id="48" name="Image 5" descr="preencoded.png">
            <a:extLst>
              <a:ext uri="{FF2B5EF4-FFF2-40B4-BE49-F238E27FC236}">
                <a16:creationId xmlns:a16="http://schemas.microsoft.com/office/drawing/2014/main" id="{7228B8F2-1C11-92FC-A6BF-1928FBDBF4E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430" b="430"/>
          <a:stretch/>
        </p:blipFill>
        <p:spPr>
          <a:xfrm>
            <a:off x="12299989" y="6369075"/>
            <a:ext cx="878365" cy="609570"/>
          </a:xfrm>
          <a:prstGeom prst="rect">
            <a:avLst/>
          </a:prstGeom>
        </p:spPr>
      </p:pic>
      <p:pic>
        <p:nvPicPr>
          <p:cNvPr id="50" name="Image 7" descr="preencoded.png">
            <a:extLst>
              <a:ext uri="{FF2B5EF4-FFF2-40B4-BE49-F238E27FC236}">
                <a16:creationId xmlns:a16="http://schemas.microsoft.com/office/drawing/2014/main" id="{242E5DF2-0D45-1C31-14D1-9E325D8857F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2183861" y="5265211"/>
            <a:ext cx="918240" cy="918240"/>
          </a:xfrm>
          <a:prstGeom prst="rect">
            <a:avLst/>
          </a:prstGeom>
        </p:spPr>
      </p:pic>
      <p:pic>
        <p:nvPicPr>
          <p:cNvPr id="52" name="Image 9" descr="preencoded.png">
            <a:extLst>
              <a:ext uri="{FF2B5EF4-FFF2-40B4-BE49-F238E27FC236}">
                <a16:creationId xmlns:a16="http://schemas.microsoft.com/office/drawing/2014/main" id="{D6C19BE5-CEBF-216C-8F5B-7DA418E65F4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47" b="247"/>
          <a:stretch/>
        </p:blipFill>
        <p:spPr>
          <a:xfrm>
            <a:off x="16033089" y="6647080"/>
            <a:ext cx="921716" cy="371704"/>
          </a:xfrm>
          <a:prstGeom prst="rect">
            <a:avLst/>
          </a:prstGeom>
        </p:spPr>
      </p:pic>
      <p:pic>
        <p:nvPicPr>
          <p:cNvPr id="54" name="Picture 53" descr="A logo for a company&#10;&#10;AI-generated content may be incorrect.">
            <a:extLst>
              <a:ext uri="{FF2B5EF4-FFF2-40B4-BE49-F238E27FC236}">
                <a16:creationId xmlns:a16="http://schemas.microsoft.com/office/drawing/2014/main" id="{DB97A6C4-FBCA-2317-05E0-21209A082D3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6649" t="37457" r="4981" b="41659"/>
          <a:stretch>
            <a:fillRect/>
          </a:stretch>
        </p:blipFill>
        <p:spPr>
          <a:xfrm>
            <a:off x="14511890" y="5533390"/>
            <a:ext cx="1572776" cy="371703"/>
          </a:xfrm>
          <a:prstGeom prst="rect">
            <a:avLst/>
          </a:prstGeom>
        </p:spPr>
      </p:pic>
      <p:pic>
        <p:nvPicPr>
          <p:cNvPr id="56" name="Imagen 15" descr="COPLEGAL | LinkedIn">
            <a:extLst>
              <a:ext uri="{FF2B5EF4-FFF2-40B4-BE49-F238E27FC236}">
                <a16:creationId xmlns:a16="http://schemas.microsoft.com/office/drawing/2014/main" id="{8E25785C-99F4-8CB9-3573-DA6C13706CE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1730" b="4454"/>
          <a:stretch>
            <a:fillRect/>
          </a:stretch>
        </p:blipFill>
        <p:spPr>
          <a:xfrm>
            <a:off x="16382422" y="5519881"/>
            <a:ext cx="447584" cy="419906"/>
          </a:xfrm>
          <a:prstGeom prst="rect">
            <a:avLst/>
          </a:prstGeom>
        </p:spPr>
      </p:pic>
      <p:pic>
        <p:nvPicPr>
          <p:cNvPr id="58" name="Picture 57" descr="GMV">
            <a:extLst>
              <a:ext uri="{FF2B5EF4-FFF2-40B4-BE49-F238E27FC236}">
                <a16:creationId xmlns:a16="http://schemas.microsoft.com/office/drawing/2014/main" id="{863FB5B0-352B-41D4-3F1E-4ED8CFA34F8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4292" y="6439433"/>
            <a:ext cx="1755611" cy="1009270"/>
          </a:xfrm>
          <a:prstGeom prst="rect">
            <a:avLst/>
          </a:prstGeom>
        </p:spPr>
      </p:pic>
      <p:pic>
        <p:nvPicPr>
          <p:cNvPr id="60" name="Picture 59" descr="Navantia, S.A.">
            <a:extLst>
              <a:ext uri="{FF2B5EF4-FFF2-40B4-BE49-F238E27FC236}">
                <a16:creationId xmlns:a16="http://schemas.microsoft.com/office/drawing/2014/main" id="{85C0C28B-FD69-2D57-9E04-A402FD3DBC8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07248" y="5172760"/>
            <a:ext cx="1470496" cy="1009270"/>
          </a:xfrm>
          <a:prstGeom prst="rect">
            <a:avLst/>
          </a:prstGeom>
        </p:spPr>
      </p:pic>
      <p:pic>
        <p:nvPicPr>
          <p:cNvPr id="62" name="Picture 61" descr="File:FC Barcelona (crest).svg - Wikipedia">
            <a:extLst>
              <a:ext uri="{FF2B5EF4-FFF2-40B4-BE49-F238E27FC236}">
                <a16:creationId xmlns:a16="http://schemas.microsoft.com/office/drawing/2014/main" id="{66D57DB9-CE51-C2F1-704E-1E87F481FB4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4886" y="6457899"/>
            <a:ext cx="764061" cy="775005"/>
          </a:xfrm>
          <a:prstGeom prst="rect">
            <a:avLst/>
          </a:prstGeom>
        </p:spPr>
      </p:pic>
      <p:pic>
        <p:nvPicPr>
          <p:cNvPr id="64" name="Picture 63" descr="File:Indra-Sistemas-Logo.svg - Wikimedia Commons">
            <a:extLst>
              <a:ext uri="{FF2B5EF4-FFF2-40B4-BE49-F238E27FC236}">
                <a16:creationId xmlns:a16="http://schemas.microsoft.com/office/drawing/2014/main" id="{C82D9CE1-3342-D44C-E8A4-8AFEFB3CB2B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62991" y="6546875"/>
            <a:ext cx="1845364" cy="595418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B082BEF7-6351-36C6-43EF-925607D57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63951" y="5505452"/>
            <a:ext cx="1904695" cy="44876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153FFF6-483B-F0F3-FDA5-7F042EBCA0C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22945" y="6323178"/>
            <a:ext cx="2249913" cy="793329"/>
          </a:xfrm>
          <a:prstGeom prst="rect">
            <a:avLst/>
          </a:prstGeom>
        </p:spPr>
      </p:pic>
      <p:pic>
        <p:nvPicPr>
          <p:cNvPr id="70" name="Image 8" descr="gen-dedup-2c20352ed2acdcd6868ab8fdad6acf09.png">
            <a:extLst>
              <a:ext uri="{FF2B5EF4-FFF2-40B4-BE49-F238E27FC236}">
                <a16:creationId xmlns:a16="http://schemas.microsoft.com/office/drawing/2014/main" id="{5EC7E1CF-0403-6D49-5B04-1AE87971D1C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92867" r="-92867"/>
          <a:stretch/>
        </p:blipFill>
        <p:spPr>
          <a:xfrm>
            <a:off x="9445081" y="4964179"/>
            <a:ext cx="3522559" cy="1232812"/>
          </a:xfrm>
          <a:prstGeom prst="rect">
            <a:avLst/>
          </a:prstGeom>
        </p:spPr>
      </p:pic>
      <p:pic>
        <p:nvPicPr>
          <p:cNvPr id="14" name="Image 1" descr="gen-dedup-3fc9b6bd6bd01734c54b10a0f11af3f3.png">
            <a:extLst>
              <a:ext uri="{FF2B5EF4-FFF2-40B4-BE49-F238E27FC236}">
                <a16:creationId xmlns:a16="http://schemas.microsoft.com/office/drawing/2014/main" id="{965CB276-EFB3-68C1-8084-2ECBE855C03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  <p:pic>
        <p:nvPicPr>
          <p:cNvPr id="16" name="Imagen 1" descr="Productos de Aspol en las tiendas de El Corte Inglés">
            <a:extLst>
              <a:ext uri="{FF2B5EF4-FFF2-40B4-BE49-F238E27FC236}">
                <a16:creationId xmlns:a16="http://schemas.microsoft.com/office/drawing/2014/main" id="{D2D46D75-1E0D-3AA5-FBCB-BF371F04B027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0754" b="24774"/>
          <a:stretch>
            <a:fillRect/>
          </a:stretch>
        </p:blipFill>
        <p:spPr>
          <a:xfrm>
            <a:off x="13502678" y="6494447"/>
            <a:ext cx="1085622" cy="591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de91546ecaf4d0e3a3097926441929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4143146"/>
            <a:ext cx="914400" cy="38405"/>
          </a:xfrm>
          <a:prstGeom prst="rect">
            <a:avLst/>
          </a:prstGeom>
        </p:spPr>
      </p:pic>
      <p:pic>
        <p:nvPicPr>
          <p:cNvPr id="4" name="Image 2" descr="gen-dedup-88517622ce00ba509b5675516fbb8565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6954805" y="1143000"/>
            <a:ext cx="19202" cy="8001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7616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Capitulo · IA </a:t>
            </a:r>
            <a:r>
              <a:rPr lang="en-US" sz="975" b="1" kern="0" spc="234" dirty="0" err="1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Agentiva</a:t>
            </a:r>
            <a:endParaRPr lang="en-US" sz="975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3619195"/>
            <a:ext cx="7620610" cy="293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b="1" kern="0" spc="-1050" dirty="0">
                <a:solidFill>
                  <a:srgbClr val="E6A817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1000" dirty="0"/>
          </a:p>
        </p:txBody>
      </p:sp>
      <p:sp>
        <p:nvSpPr>
          <p:cNvPr id="9" name="Text 3"/>
          <p:cNvSpPr txBox="1"/>
          <p:nvPr/>
        </p:nvSpPr>
        <p:spPr>
          <a:xfrm>
            <a:off x="3238805" y="4429354"/>
            <a:ext cx="9525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3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Nuestros </a:t>
            </a:r>
            <a:r>
              <a:rPr lang="en-US" sz="1200" b="1" kern="0" spc="33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Servicios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3238805" y="4858207"/>
            <a:ext cx="13335610" cy="1429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0" b="1" kern="0" spc="-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</a:t>
            </a:r>
            <a:r>
              <a:rPr lang="en-US" sz="11250" b="1" kern="0" spc="-450" dirty="0" err="1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Agentiva</a:t>
            </a:r>
            <a:endParaRPr lang="en-US" sz="11250" dirty="0">
              <a:solidFill>
                <a:srgbClr val="FFC000"/>
              </a:solidFill>
            </a:endParaRPr>
          </a:p>
        </p:txBody>
      </p:sp>
      <p:sp>
        <p:nvSpPr>
          <p:cNvPr id="11" name="Text 5"/>
          <p:cNvSpPr txBox="1"/>
          <p:nvPr/>
        </p:nvSpPr>
        <p:spPr>
          <a:xfrm>
            <a:off x="3238805" y="6953098"/>
            <a:ext cx="12382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75"/>
              </a:lnSpc>
              <a:buNone/>
            </a:pPr>
            <a:endParaRPr lang="en-US" sz="2250" dirty="0"/>
          </a:p>
        </p:txBody>
      </p:sp>
      <p:pic>
        <p:nvPicPr>
          <p:cNvPr id="12" name="Image 4" descr="gen-dedup-265bb08fe2905cdc8d45275c3826a70d.png"/>
          <p:cNvPicPr>
            <a:picLocks noChangeAspect="1"/>
          </p:cNvPicPr>
          <p:nvPr/>
        </p:nvPicPr>
        <p:blipFill>
          <a:blip r:embed="rId6"/>
          <a:srcRect l="-10" r="-10"/>
          <a:stretch/>
        </p:blipFill>
        <p:spPr>
          <a:xfrm>
            <a:off x="3238805" y="8762695"/>
            <a:ext cx="13334695" cy="6665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1695" y="6476695"/>
            <a:ext cx="4953305" cy="2857500"/>
          </a:xfrm>
          <a:prstGeom prst="roundRect">
            <a:avLst>
              <a:gd name="adj" fmla="val 201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pic>
        <p:nvPicPr>
          <p:cNvPr id="5" name="Image 2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2191695" y="6476695"/>
            <a:ext cx="761695" cy="3840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creemos</a:t>
            </a:r>
            <a:endParaRPr lang="en-US" sz="1125" dirty="0"/>
          </a:p>
        </p:txBody>
      </p:sp>
      <p:sp>
        <p:nvSpPr>
          <p:cNvPr id="8" name="Text 3"/>
          <p:cNvSpPr txBox="1"/>
          <p:nvPr/>
        </p:nvSpPr>
        <p:spPr>
          <a:xfrm>
            <a:off x="1142999" y="3143707"/>
            <a:ext cx="15454745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mayoría de la "IA" se queda en un chat.</a:t>
            </a:r>
            <a:endParaRPr lang="en-US" sz="5700" b="1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nuestra empieza donde ocurre el </a:t>
            </a:r>
            <a:r>
              <a:rPr lang="en-US" sz="5700" b="1" kern="0" spc="-17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trabajo</a:t>
            </a: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700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7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6476695"/>
            <a:ext cx="9379857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41"/>
              </a:lnSpc>
              <a:buNone/>
            </a:pPr>
            <a:r>
              <a:rPr lang="es-ES" sz="15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Diseñamos soluciones de IA que se integran con tus sistemas, datos y procesos. Combinamos Machine </a:t>
            </a:r>
            <a:r>
              <a:rPr lang="es-ES" sz="1575" dirty="0" err="1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r>
              <a:rPr lang="es-ES" sz="15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IA Generativa e IA Agentiva para predecir, clasificar, optimizar, automatizar tareas y ejecutar acciones directamente sobre tus herramientas de negocio.</a:t>
            </a:r>
            <a:endParaRPr lang="en-US" sz="1575" dirty="0"/>
          </a:p>
        </p:txBody>
      </p:sp>
      <p:sp>
        <p:nvSpPr>
          <p:cNvPr id="10" name="Text 5"/>
          <p:cNvSpPr txBox="1"/>
          <p:nvPr/>
        </p:nvSpPr>
        <p:spPr>
          <a:xfrm>
            <a:off x="12477902" y="6858000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pocas palabras</a:t>
            </a:r>
            <a:endParaRPr lang="en-US" sz="975" dirty="0"/>
          </a:p>
        </p:txBody>
      </p:sp>
      <p:sp>
        <p:nvSpPr>
          <p:cNvPr id="11" name="Text 6"/>
          <p:cNvSpPr txBox="1"/>
          <p:nvPr/>
        </p:nvSpPr>
        <p:spPr>
          <a:xfrm>
            <a:off x="12477902" y="7434979"/>
            <a:ext cx="4381805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s-E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que se integra en tus sistemas, </a:t>
            </a:r>
            <a:r>
              <a:rPr lang="es-ES" sz="21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entiende tus procesos </a:t>
            </a:r>
            <a:r>
              <a:rPr lang="es-E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ejecuta tareas reales dentro de la operación.</a:t>
            </a:r>
          </a:p>
        </p:txBody>
      </p:sp>
      <p:sp>
        <p:nvSpPr>
          <p:cNvPr id="12" name="Text 7"/>
          <p:cNvSpPr txBox="1"/>
          <p:nvPr/>
        </p:nvSpPr>
        <p:spPr>
          <a:xfrm>
            <a:off x="1143000" y="8667598"/>
            <a:ext cx="31153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Resultado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8906256"/>
            <a:ext cx="31153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Hecho para ROI medible, no para presentaciones.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4826203" y="8667598"/>
            <a:ext cx="31153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Integración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4826203" y="8906256"/>
            <a:ext cx="31153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Nativo con tu ERP, IoT, CRM y stack documental.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8509406" y="8667598"/>
            <a:ext cx="31153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Confianza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8509406" y="8906256"/>
            <a:ext cx="31153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decisión auditable. Cada acción trazable.</a:t>
            </a:r>
            <a:endParaRPr lang="en-US" sz="1350" dirty="0"/>
          </a:p>
        </p:txBody>
      </p:sp>
      <p:pic>
        <p:nvPicPr>
          <p:cNvPr id="18" name="Image 1" descr="gen-dedup-3fc9b6bd6bd01734c54b10a0f11af3f3.png">
            <a:extLst>
              <a:ext uri="{FF2B5EF4-FFF2-40B4-BE49-F238E27FC236}">
                <a16:creationId xmlns:a16="http://schemas.microsoft.com/office/drawing/2014/main" id="{31316359-8181-71C3-1BC0-E8667A8F8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572000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34195" y="4572000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0" y="7048195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34195" y="7048195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pic>
        <p:nvPicPr>
          <p:cNvPr id="8" name="Image 2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143000" y="4572000"/>
            <a:ext cx="761695" cy="38405"/>
          </a:xfrm>
          <a:prstGeom prst="rect">
            <a:avLst/>
          </a:prstGeom>
        </p:spPr>
      </p:pic>
      <p:pic>
        <p:nvPicPr>
          <p:cNvPr id="9" name="Image 3" descr="gen-dedup-e65000f84d4627e6571a7e1e30eddc0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24305" y="4953305"/>
            <a:ext cx="533095" cy="533095"/>
          </a:xfrm>
          <a:prstGeom prst="rect">
            <a:avLst/>
          </a:prstGeom>
        </p:spPr>
      </p:pic>
      <p:pic>
        <p:nvPicPr>
          <p:cNvPr id="10" name="Image 4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334195" y="4572000"/>
            <a:ext cx="761695" cy="38405"/>
          </a:xfrm>
          <a:prstGeom prst="rect">
            <a:avLst/>
          </a:prstGeom>
        </p:spPr>
      </p:pic>
      <p:pic>
        <p:nvPicPr>
          <p:cNvPr id="11" name="Image 5" descr="gen-dedup-75037bf2af15d86d4f656abe3c5f96e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15500" y="4953305"/>
            <a:ext cx="533095" cy="533095"/>
          </a:xfrm>
          <a:prstGeom prst="rect">
            <a:avLst/>
          </a:prstGeom>
        </p:spPr>
      </p:pic>
      <p:pic>
        <p:nvPicPr>
          <p:cNvPr id="12" name="Image 6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143000" y="7048195"/>
            <a:ext cx="761695" cy="38405"/>
          </a:xfrm>
          <a:prstGeom prst="rect">
            <a:avLst/>
          </a:prstGeom>
        </p:spPr>
      </p:pic>
      <p:pic>
        <p:nvPicPr>
          <p:cNvPr id="13" name="Image 7" descr="gen-dedup-7cf54043d6be2bdfc97b0a09fe86cbf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24305" y="7429500"/>
            <a:ext cx="533095" cy="533095"/>
          </a:xfrm>
          <a:prstGeom prst="rect">
            <a:avLst/>
          </a:prstGeom>
        </p:spPr>
      </p:pic>
      <p:pic>
        <p:nvPicPr>
          <p:cNvPr id="14" name="Image 8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334195" y="7048195"/>
            <a:ext cx="761695" cy="38405"/>
          </a:xfrm>
          <a:prstGeom prst="rect">
            <a:avLst/>
          </a:prstGeom>
        </p:spPr>
      </p:pic>
      <p:pic>
        <p:nvPicPr>
          <p:cNvPr id="15" name="Image 9" descr="gen-dedup-ccd1d4577eb098e764a56a61e7ac302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715500" y="7429500"/>
            <a:ext cx="533095" cy="533095"/>
          </a:xfrm>
          <a:prstGeom prst="rect">
            <a:avLst/>
          </a:prstGeom>
        </p:spPr>
      </p:pic>
      <p:sp>
        <p:nvSpPr>
          <p:cNvPr id="17" name="Text 5"/>
          <p:cNvSpPr txBox="1"/>
          <p:nvPr/>
        </p:nvSpPr>
        <p:spPr>
          <a:xfrm>
            <a:off x="1143000" y="2381098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es Agentive AI</a:t>
            </a:r>
            <a:endParaRPr lang="en-US" sz="1125" dirty="0"/>
          </a:p>
        </p:txBody>
      </p:sp>
      <p:sp>
        <p:nvSpPr>
          <p:cNvPr id="18" name="Text 6"/>
          <p:cNvSpPr txBox="1"/>
          <p:nvPr/>
        </p:nvSpPr>
        <p:spPr>
          <a:xfrm>
            <a:off x="1143000" y="2857500"/>
            <a:ext cx="1657350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62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</a:t>
            </a: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400" b="1" kern="0" spc="-162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</a:t>
            </a: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400" b="1" kern="0" spc="-162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actúan</a:t>
            </a: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400" b="1" kern="0" spc="-162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</a:t>
            </a: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400" b="1" kern="0" spc="-162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</a:t>
            </a:r>
            <a:endParaRPr lang="en-US" sz="5400" dirty="0"/>
          </a:p>
        </p:txBody>
      </p:sp>
      <p:sp>
        <p:nvSpPr>
          <p:cNvPr id="19" name="Text 7"/>
          <p:cNvSpPr txBox="1"/>
          <p:nvPr/>
        </p:nvSpPr>
        <p:spPr>
          <a:xfrm>
            <a:off x="2286000" y="4953305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AUTÓNOMO</a:t>
            </a:r>
            <a:endParaRPr lang="en-US" sz="825" dirty="0"/>
          </a:p>
        </p:txBody>
      </p:sp>
      <p:sp>
        <p:nvSpPr>
          <p:cNvPr id="20" name="Text 8"/>
          <p:cNvSpPr txBox="1"/>
          <p:nvPr/>
        </p:nvSpPr>
        <p:spPr>
          <a:xfrm>
            <a:off x="2286000" y="5143500"/>
            <a:ext cx="6477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Decide, y luego actúa.</a:t>
            </a:r>
            <a:endParaRPr lang="en-US" sz="1950" dirty="0"/>
          </a:p>
        </p:txBody>
      </p:sp>
      <p:sp>
        <p:nvSpPr>
          <p:cNvPr id="21" name="Text 9"/>
          <p:cNvSpPr txBox="1"/>
          <p:nvPr/>
        </p:nvSpPr>
        <p:spPr>
          <a:xfrm>
            <a:off x="2286000" y="5533949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 trabajo multi-paso, llama a las herramientas adecuadas, se recupera de errores y pide ayuda solo cuando una persona es realmente necesaria.</a:t>
            </a:r>
            <a:endParaRPr lang="en-US" sz="1200" dirty="0"/>
          </a:p>
        </p:txBody>
      </p:sp>
      <p:sp>
        <p:nvSpPr>
          <p:cNvPr id="22" name="Text 10"/>
          <p:cNvSpPr txBox="1"/>
          <p:nvPr/>
        </p:nvSpPr>
        <p:spPr>
          <a:xfrm>
            <a:off x="10477195" y="4953305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INTEGRADO</a:t>
            </a:r>
            <a:endParaRPr lang="en-US" sz="825" dirty="0"/>
          </a:p>
        </p:txBody>
      </p:sp>
      <p:sp>
        <p:nvSpPr>
          <p:cNvPr id="23" name="Text 11"/>
          <p:cNvSpPr txBox="1"/>
          <p:nvPr/>
        </p:nvSpPr>
        <p:spPr>
          <a:xfrm>
            <a:off x="10477195" y="5143500"/>
            <a:ext cx="6477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Habla con tus sistemas.</a:t>
            </a:r>
            <a:endParaRPr lang="en-US" sz="1950" dirty="0"/>
          </a:p>
        </p:txBody>
      </p:sp>
      <p:sp>
        <p:nvSpPr>
          <p:cNvPr id="24" name="Text 12"/>
          <p:cNvSpPr txBox="1"/>
          <p:nvPr/>
        </p:nvSpPr>
        <p:spPr>
          <a:xfrm>
            <a:off x="10477195" y="5533949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Conectores nativos a SAP, Odoo, Dynamics, SAGE, SharePoint, HubSpot, Salesforce, IMAP, servidores MCP y hubs IoT.</a:t>
            </a:r>
            <a:endParaRPr lang="en-US" sz="1200" dirty="0"/>
          </a:p>
        </p:txBody>
      </p:sp>
      <p:sp>
        <p:nvSpPr>
          <p:cNvPr id="25" name="Text 13"/>
          <p:cNvSpPr txBox="1"/>
          <p:nvPr/>
        </p:nvSpPr>
        <p:spPr>
          <a:xfrm>
            <a:off x="2286000" y="7429500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EXPLICABLE</a:t>
            </a:r>
            <a:endParaRPr lang="en-US" sz="825" dirty="0"/>
          </a:p>
        </p:txBody>
      </p:sp>
      <p:sp>
        <p:nvSpPr>
          <p:cNvPr id="26" name="Text 14"/>
          <p:cNvSpPr txBox="1"/>
          <p:nvPr/>
        </p:nvSpPr>
        <p:spPr>
          <a:xfrm>
            <a:off x="2286000" y="7619695"/>
            <a:ext cx="6477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Muestra su trabajo.</a:t>
            </a:r>
            <a:endParaRPr lang="en-US" sz="1950" dirty="0"/>
          </a:p>
        </p:txBody>
      </p:sp>
      <p:sp>
        <p:nvSpPr>
          <p:cNvPr id="27" name="Text 15"/>
          <p:cNvSpPr txBox="1"/>
          <p:nvPr/>
        </p:nvSpPr>
        <p:spPr>
          <a:xfrm>
            <a:off x="2286000" y="8010144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decisión queda registrada con entradas, fuentes y confianza. Trazas de auditoría que tu equipo de compliance puede defender en un concurso.</a:t>
            </a:r>
            <a:endParaRPr lang="en-US" sz="1200" dirty="0"/>
          </a:p>
        </p:txBody>
      </p:sp>
      <p:sp>
        <p:nvSpPr>
          <p:cNvPr id="28" name="Text 16"/>
          <p:cNvSpPr txBox="1"/>
          <p:nvPr/>
        </p:nvSpPr>
        <p:spPr>
          <a:xfrm>
            <a:off x="10477195" y="7429500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PRODUCTIVIZADO</a:t>
            </a:r>
            <a:endParaRPr lang="en-US" sz="825" dirty="0"/>
          </a:p>
        </p:txBody>
      </p:sp>
      <p:sp>
        <p:nvSpPr>
          <p:cNvPr id="29" name="Text 17"/>
          <p:cNvSpPr txBox="1"/>
          <p:nvPr/>
        </p:nvSpPr>
        <p:spPr>
          <a:xfrm>
            <a:off x="10477195" y="7619695"/>
            <a:ext cx="6477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Aceleramos la implantación, adaptándonos a ti.</a:t>
            </a:r>
            <a:endParaRPr lang="en-US" sz="1950" dirty="0"/>
          </a:p>
        </p:txBody>
      </p:sp>
      <p:sp>
        <p:nvSpPr>
          <p:cNvPr id="30" name="Text 18"/>
          <p:cNvSpPr txBox="1"/>
          <p:nvPr/>
        </p:nvSpPr>
        <p:spPr>
          <a:xfrm>
            <a:off x="10477195" y="8010144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ES" sz="12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Partimos de agentes, componentes e integraciones ya desarrollados y probados. Los configuramos y adaptamos a tus procesos, datos, sistemas y requisitos específicos.</a:t>
            </a:r>
            <a:endParaRPr lang="en-US" sz="1200" dirty="0"/>
          </a:p>
        </p:txBody>
      </p:sp>
      <p:pic>
        <p:nvPicPr>
          <p:cNvPr id="31" name="Image 1" descr="gen-dedup-3fc9b6bd6bd01734c54b10a0f11af3f3.png">
            <a:extLst>
              <a:ext uri="{FF2B5EF4-FFF2-40B4-BE49-F238E27FC236}">
                <a16:creationId xmlns:a16="http://schemas.microsoft.com/office/drawing/2014/main" id="{5FF4F503-B6D9-1E04-6377-120CC58A23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667098"/>
            <a:ext cx="3810305" cy="2095805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0" y="4667098"/>
            <a:ext cx="3810305" cy="2095805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4667098"/>
            <a:ext cx="3810305" cy="2095805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44500" y="4667098"/>
            <a:ext cx="4000500" cy="2095805"/>
          </a:xfrm>
          <a:prstGeom prst="roundRect">
            <a:avLst>
              <a:gd name="adj" fmla="val 274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7048195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34195" y="7048195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pic>
        <p:nvPicPr>
          <p:cNvPr id="10" name="Image 2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143000" y="4667098"/>
            <a:ext cx="761695" cy="38405"/>
          </a:xfrm>
          <a:prstGeom prst="rect">
            <a:avLst/>
          </a:prstGeom>
        </p:spPr>
      </p:pic>
      <p:pic>
        <p:nvPicPr>
          <p:cNvPr id="11" name="Image 3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5143500" y="4667098"/>
            <a:ext cx="761695" cy="38405"/>
          </a:xfrm>
          <a:prstGeom prst="rect">
            <a:avLst/>
          </a:prstGeom>
        </p:spPr>
      </p:pic>
      <p:pic>
        <p:nvPicPr>
          <p:cNvPr id="12" name="Image 4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144000" y="4667098"/>
            <a:ext cx="761695" cy="38405"/>
          </a:xfrm>
          <a:prstGeom prst="rect">
            <a:avLst/>
          </a:prstGeom>
        </p:spPr>
      </p:pic>
      <p:pic>
        <p:nvPicPr>
          <p:cNvPr id="13" name="Image 5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3144500" y="4667098"/>
            <a:ext cx="761695" cy="38405"/>
          </a:xfrm>
          <a:prstGeom prst="rect">
            <a:avLst/>
          </a:prstGeom>
        </p:spPr>
      </p:pic>
      <p:pic>
        <p:nvPicPr>
          <p:cNvPr id="14" name="Image 6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143000" y="7048195"/>
            <a:ext cx="761695" cy="38405"/>
          </a:xfrm>
          <a:prstGeom prst="rect">
            <a:avLst/>
          </a:prstGeom>
        </p:spPr>
      </p:pic>
      <p:pic>
        <p:nvPicPr>
          <p:cNvPr id="15" name="Image 7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334195" y="7048195"/>
            <a:ext cx="761695" cy="38405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números detrás</a:t>
            </a:r>
            <a:endParaRPr lang="en-US" sz="1125" dirty="0"/>
          </a:p>
        </p:txBody>
      </p:sp>
      <p:sp>
        <p:nvSpPr>
          <p:cNvPr id="18" name="Text 8"/>
          <p:cNvSpPr txBox="1"/>
          <p:nvPr/>
        </p:nvSpPr>
        <p:spPr>
          <a:xfrm>
            <a:off x="1143000" y="2857500"/>
            <a:ext cx="142875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Trayectoria real, </a:t>
            </a:r>
            <a:r>
              <a:rPr lang="en-US" sz="6000" b="1" kern="0" spc="-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teoría.</a:t>
            </a:r>
            <a:endParaRPr lang="en-US" sz="6000" dirty="0"/>
          </a:p>
        </p:txBody>
      </p:sp>
      <p:sp>
        <p:nvSpPr>
          <p:cNvPr id="19" name="Text 9"/>
          <p:cNvSpPr txBox="1"/>
          <p:nvPr/>
        </p:nvSpPr>
        <p:spPr>
          <a:xfrm>
            <a:off x="1429207" y="50484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Despliegues en producción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1429207" y="5248656"/>
            <a:ext cx="3238805" cy="1133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100" b="1" kern="0" spc="-32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r>
              <a:rPr lang="en-US" sz="8100" b="1" kern="0" spc="-3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8100" dirty="0"/>
          </a:p>
        </p:txBody>
      </p:sp>
      <p:sp>
        <p:nvSpPr>
          <p:cNvPr id="21" name="Text 11"/>
          <p:cNvSpPr txBox="1"/>
          <p:nvPr/>
        </p:nvSpPr>
        <p:spPr>
          <a:xfrm>
            <a:off x="1429207" y="6437376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Detallados en este mazo</a:t>
            </a:r>
            <a:endParaRPr lang="en-US" sz="1050" dirty="0"/>
          </a:p>
        </p:txBody>
      </p:sp>
      <p:sp>
        <p:nvSpPr>
          <p:cNvPr id="22" name="Text 12"/>
          <p:cNvSpPr txBox="1"/>
          <p:nvPr/>
        </p:nvSpPr>
        <p:spPr>
          <a:xfrm>
            <a:off x="5429707" y="50484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productivizados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5429707" y="5248656"/>
            <a:ext cx="3238805" cy="1133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100" b="1" kern="0" spc="-32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100" dirty="0"/>
          </a:p>
        </p:txBody>
      </p:sp>
      <p:sp>
        <p:nvSpPr>
          <p:cNvPr id="24" name="Text 14"/>
          <p:cNvSpPr txBox="1"/>
          <p:nvPr/>
        </p:nvSpPr>
        <p:spPr>
          <a:xfrm>
            <a:off x="5429707" y="6437376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reutilizable</a:t>
            </a:r>
            <a:endParaRPr lang="en-US" sz="1050" dirty="0"/>
          </a:p>
        </p:txBody>
      </p:sp>
      <p:sp>
        <p:nvSpPr>
          <p:cNvPr id="25" name="Text 15"/>
          <p:cNvSpPr txBox="1"/>
          <p:nvPr/>
        </p:nvSpPr>
        <p:spPr>
          <a:xfrm>
            <a:off x="9430207" y="50484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activos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9430207" y="5248656"/>
            <a:ext cx="3238805" cy="1133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100" b="1" kern="0" spc="-32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r>
              <a:rPr lang="en-US" sz="8100" b="1" kern="0" spc="-3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8100" dirty="0"/>
          </a:p>
        </p:txBody>
      </p:sp>
      <p:sp>
        <p:nvSpPr>
          <p:cNvPr id="27" name="Text 17"/>
          <p:cNvSpPr txBox="1"/>
          <p:nvPr/>
        </p:nvSpPr>
        <p:spPr>
          <a:xfrm>
            <a:off x="9430207" y="6437376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 · Logística · Medios · Salud</a:t>
            </a:r>
            <a:endParaRPr lang="en-US" sz="1050" dirty="0"/>
          </a:p>
        </p:txBody>
      </p:sp>
      <p:sp>
        <p:nvSpPr>
          <p:cNvPr id="28" name="Text 18"/>
          <p:cNvSpPr txBox="1"/>
          <p:nvPr/>
        </p:nvSpPr>
        <p:spPr>
          <a:xfrm>
            <a:off x="13430707" y="5048402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Sectores atendidos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13430707" y="5248656"/>
            <a:ext cx="3620110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8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r>
              <a:rPr lang="en-US" sz="6300" b="1" kern="0" spc="-18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6300" dirty="0"/>
          </a:p>
        </p:txBody>
      </p:sp>
      <p:sp>
        <p:nvSpPr>
          <p:cNvPr id="30" name="Text 20"/>
          <p:cNvSpPr txBox="1"/>
          <p:nvPr/>
        </p:nvSpPr>
        <p:spPr>
          <a:xfrm>
            <a:off x="13430707" y="6185916"/>
            <a:ext cx="395478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 · Logística · Medios · Salud · Público</a:t>
            </a:r>
            <a:endParaRPr lang="en-US" sz="1050" dirty="0"/>
          </a:p>
        </p:txBody>
      </p:sp>
      <p:sp>
        <p:nvSpPr>
          <p:cNvPr id="31" name="Text 21"/>
          <p:cNvSpPr txBox="1"/>
          <p:nvPr/>
        </p:nvSpPr>
        <p:spPr>
          <a:xfrm>
            <a:off x="1429207" y="7429500"/>
            <a:ext cx="7239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medio en despliegues activos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1429207" y="7744054"/>
            <a:ext cx="2162556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−70%</a:t>
            </a:r>
            <a:endParaRPr lang="en-US" sz="6000" dirty="0"/>
          </a:p>
        </p:txBody>
      </p:sp>
      <p:sp>
        <p:nvSpPr>
          <p:cNvPr id="33" name="Text 23"/>
          <p:cNvSpPr txBox="1"/>
          <p:nvPr/>
        </p:nvSpPr>
        <p:spPr>
          <a:xfrm>
            <a:off x="1429207" y="8581644"/>
            <a:ext cx="21625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ciclo manual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4059936" y="7744054"/>
            <a:ext cx="2086661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6000" dirty="0"/>
          </a:p>
        </p:txBody>
      </p:sp>
      <p:sp>
        <p:nvSpPr>
          <p:cNvPr id="35" name="Text 25"/>
          <p:cNvSpPr txBox="1"/>
          <p:nvPr/>
        </p:nvSpPr>
        <p:spPr>
          <a:xfrm>
            <a:off x="4059936" y="8581644"/>
            <a:ext cx="20866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6620256" y="7744054"/>
            <a:ext cx="17529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</a:t>
            </a:r>
            <a:endParaRPr lang="en-US" sz="6000" dirty="0"/>
          </a:p>
        </p:txBody>
      </p:sp>
      <p:sp>
        <p:nvSpPr>
          <p:cNvPr id="37" name="Text 27"/>
          <p:cNvSpPr txBox="1"/>
          <p:nvPr/>
        </p:nvSpPr>
        <p:spPr>
          <a:xfrm>
            <a:off x="6620256" y="8581644"/>
            <a:ext cx="17529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Aumento de capacidad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9620402" y="7429500"/>
            <a:ext cx="7239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Promesa MTi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9620402" y="7744054"/>
            <a:ext cx="7239305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agente que entregamos es el mismo que mantenemos </a:t>
            </a:r>
            <a:r>
              <a:rPr lang="en-US" sz="21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 para nuestros clientes</a:t>
            </a: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nada de teatro de laboratorio.</a:t>
            </a:r>
            <a:endParaRPr lang="en-US" sz="2100" dirty="0"/>
          </a:p>
        </p:txBody>
      </p:sp>
      <p:pic>
        <p:nvPicPr>
          <p:cNvPr id="40" name="Image 1" descr="gen-dedup-3fc9b6bd6bd01734c54b10a0f11af3f3.png">
            <a:extLst>
              <a:ext uri="{FF2B5EF4-FFF2-40B4-BE49-F238E27FC236}">
                <a16:creationId xmlns:a16="http://schemas.microsoft.com/office/drawing/2014/main" id="{B6AE66DB-A055-B8D2-E179-D917C6729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1a8abf2060b92af45f9c8f43812e23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91195" y="1904695"/>
            <a:ext cx="8953805" cy="7619695"/>
          </a:xfrm>
          <a:prstGeom prst="roundRect">
            <a:avLst>
              <a:gd name="adj" fmla="val 50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gen-dedup-b6a52952c9142ad3987a5fa8d761f478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8191195" y="1904695"/>
            <a:ext cx="8953805" cy="761969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477402" y="24953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9896551" y="24953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11306556" y="24953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2725705" y="24953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4144854" y="24953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5553944" y="24953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gen-dedup-6470f82838f8eaefa691db0b3fb6ffe7.png"/>
          <p:cNvPicPr>
            <a:picLocks noChangeAspect="1"/>
          </p:cNvPicPr>
          <p:nvPr/>
        </p:nvPicPr>
        <p:blipFill>
          <a:blip r:embed="rId5"/>
          <a:srcRect t="-9" b="-9"/>
          <a:stretch/>
        </p:blipFill>
        <p:spPr>
          <a:xfrm>
            <a:off x="8477402" y="4114800"/>
            <a:ext cx="8382305" cy="70500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477402" y="4990795"/>
            <a:ext cx="2009851" cy="819302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10601554" y="4990795"/>
            <a:ext cx="2009851" cy="819302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12725705" y="4990795"/>
            <a:ext cx="2009851" cy="819302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14849856" y="4990795"/>
            <a:ext cx="2009851" cy="819302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477402" y="5924398"/>
            <a:ext cx="2009851" cy="819302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0601554" y="5924398"/>
            <a:ext cx="2009851" cy="819302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12725705" y="5924398"/>
            <a:ext cx="2009851" cy="819302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4849856" y="5924398"/>
            <a:ext cx="2009851" cy="819302"/>
          </a:xfrm>
          <a:prstGeom prst="roundRect">
            <a:avLst>
              <a:gd name="adj" fmla="val 4688"/>
            </a:avLst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477402" y="6877202"/>
            <a:ext cx="8382305" cy="286207"/>
          </a:xfrm>
          <a:prstGeom prst="roundRect">
            <a:avLst>
              <a:gd name="adj" fmla="val 670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477402" y="79817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896551" y="79817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1306556" y="79817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2725705" y="79817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14144854" y="79817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15553944" y="7981798"/>
            <a:ext cx="1304849" cy="1123798"/>
          </a:xfrm>
          <a:prstGeom prst="roundRect">
            <a:avLst>
              <a:gd name="adj" fmla="val 3417"/>
            </a:avLst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gen-dedup-07d4da1bf1910daef42c9babebc62b73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43000" y="2000707"/>
            <a:ext cx="914400" cy="3840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1143000" y="6953098"/>
            <a:ext cx="514807" cy="5148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1143000" y="7858354"/>
            <a:ext cx="514807" cy="514807"/>
          </a:xfrm>
          <a:prstGeom prst="ellipse">
            <a:avLst/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143000" y="8762695"/>
            <a:ext cx="514807" cy="514807"/>
          </a:xfrm>
          <a:prstGeom prst="ellipse">
            <a:avLst/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gen-dedup-6c01634806e618f071e52d838cffeea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6995" y="2609698"/>
            <a:ext cx="495605" cy="495605"/>
          </a:xfrm>
          <a:prstGeom prst="rect">
            <a:avLst/>
          </a:prstGeom>
        </p:spPr>
      </p:pic>
      <p:pic>
        <p:nvPicPr>
          <p:cNvPr id="33" name="Image 6" descr="gen-dedup-d5390a1e52d8342fca00c00d4ff28a3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6144" y="2609698"/>
            <a:ext cx="495605" cy="495605"/>
          </a:xfrm>
          <a:prstGeom prst="rect">
            <a:avLst/>
          </a:prstGeom>
        </p:spPr>
      </p:pic>
      <p:pic>
        <p:nvPicPr>
          <p:cNvPr id="34" name="Image 7" descr="gen-dedup-e84900834d0ca8208fb9ed4ef03c988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6149" y="2609698"/>
            <a:ext cx="495605" cy="495605"/>
          </a:xfrm>
          <a:prstGeom prst="rect">
            <a:avLst/>
          </a:prstGeom>
        </p:spPr>
      </p:pic>
      <p:pic>
        <p:nvPicPr>
          <p:cNvPr id="35" name="Image 8" descr="gen-dedup-fbdff483d9e2246896928880356edde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25298" y="2609698"/>
            <a:ext cx="495605" cy="495605"/>
          </a:xfrm>
          <a:prstGeom prst="rect">
            <a:avLst/>
          </a:prstGeom>
        </p:spPr>
      </p:pic>
      <p:pic>
        <p:nvPicPr>
          <p:cNvPr id="36" name="Image 9" descr="gen-dedup-11bbdc8443defc1589ac0e7714823b7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44446" y="2609698"/>
            <a:ext cx="495605" cy="495605"/>
          </a:xfrm>
          <a:prstGeom prst="rect">
            <a:avLst/>
          </a:prstGeom>
        </p:spPr>
      </p:pic>
      <p:pic>
        <p:nvPicPr>
          <p:cNvPr id="37" name="Image 10" descr="gen-dedup-f39bef1bf5d1f8f042b38ad996f2942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6995" y="8096098"/>
            <a:ext cx="495605" cy="495605"/>
          </a:xfrm>
          <a:prstGeom prst="rect">
            <a:avLst/>
          </a:prstGeom>
        </p:spPr>
      </p:pic>
      <p:pic>
        <p:nvPicPr>
          <p:cNvPr id="38" name="Image 11" descr="gen-dedup-f845ce7168086f7f078dcb0c2bfbca2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96144" y="8096098"/>
            <a:ext cx="495605" cy="495605"/>
          </a:xfrm>
          <a:prstGeom prst="rect">
            <a:avLst/>
          </a:prstGeom>
        </p:spPr>
      </p:pic>
      <p:pic>
        <p:nvPicPr>
          <p:cNvPr id="39" name="Image 12" descr="gen-dedup-8fd52ab13d988b57ac3031f3becf570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06149" y="8096098"/>
            <a:ext cx="495605" cy="495605"/>
          </a:xfrm>
          <a:prstGeom prst="rect">
            <a:avLst/>
          </a:prstGeom>
        </p:spPr>
      </p:pic>
      <p:pic>
        <p:nvPicPr>
          <p:cNvPr id="40" name="Image 13" descr="gen-dedup-4d04d296421a8938cf10af899d44fab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125298" y="8096098"/>
            <a:ext cx="495605" cy="495605"/>
          </a:xfrm>
          <a:prstGeom prst="rect">
            <a:avLst/>
          </a:prstGeom>
        </p:spPr>
      </p:pic>
      <p:pic>
        <p:nvPicPr>
          <p:cNvPr id="41" name="Image 14" descr="gen-dedup-f2712429e054a12063b09f3c11379ac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544446" y="8096098"/>
            <a:ext cx="495605" cy="495605"/>
          </a:xfrm>
          <a:prstGeom prst="rect">
            <a:avLst/>
          </a:prstGeom>
        </p:spPr>
      </p:pic>
      <p:pic>
        <p:nvPicPr>
          <p:cNvPr id="42" name="Image 15" descr="gen-dedup-3872294fb09eb4adf39240ce02250c7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954451" y="8096098"/>
            <a:ext cx="495605" cy="495605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1143000" y="2286000"/>
            <a:ext cx="6477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funciona</a:t>
            </a:r>
            <a:endParaRPr lang="en-US" sz="1125" dirty="0"/>
          </a:p>
        </p:txBody>
      </p:sp>
      <p:sp>
        <p:nvSpPr>
          <p:cNvPr id="45" name="Text 27"/>
          <p:cNvSpPr txBox="1"/>
          <p:nvPr/>
        </p:nvSpPr>
        <p:spPr>
          <a:xfrm>
            <a:off x="1143000" y="2714854"/>
            <a:ext cx="6667805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7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orquestador.</a:t>
            </a:r>
            <a:endParaRPr lang="en-US" sz="57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7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Muchos especialistas.</a:t>
            </a:r>
            <a:endParaRPr lang="en-US" sz="5700" dirty="0"/>
          </a:p>
        </p:txBody>
      </p:sp>
      <p:sp>
        <p:nvSpPr>
          <p:cNvPr id="46" name="Text 28"/>
          <p:cNvSpPr txBox="1"/>
          <p:nvPr/>
        </p:nvSpPr>
        <p:spPr>
          <a:xfrm>
            <a:off x="1143000" y="5381244"/>
            <a:ext cx="628650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41"/>
              </a:lnSpc>
              <a:buNone/>
            </a:pPr>
            <a:r>
              <a:rPr lang="en-US" sz="1575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capa central de razonamiento lee cada petición, planifica el camino y llama al agente adecuado. Cada especialista es auditable: cada paso se explica, cada salida se traza.</a:t>
            </a:r>
            <a:endParaRPr lang="en-US" sz="1575" dirty="0"/>
          </a:p>
        </p:txBody>
      </p:sp>
      <p:sp>
        <p:nvSpPr>
          <p:cNvPr id="47" name="Text 29"/>
          <p:cNvSpPr txBox="1"/>
          <p:nvPr/>
        </p:nvSpPr>
        <p:spPr>
          <a:xfrm>
            <a:off x="1143000" y="7095744"/>
            <a:ext cx="5148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50" dirty="0"/>
          </a:p>
        </p:txBody>
      </p:sp>
      <p:sp>
        <p:nvSpPr>
          <p:cNvPr id="48" name="Text 30"/>
          <p:cNvSpPr txBox="1"/>
          <p:nvPr/>
        </p:nvSpPr>
        <p:spPr>
          <a:xfrm>
            <a:off x="1867205" y="6953098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Detectar la petición</a:t>
            </a:r>
            <a:endParaRPr lang="en-US" sz="1650" dirty="0"/>
          </a:p>
        </p:txBody>
      </p:sp>
      <p:sp>
        <p:nvSpPr>
          <p:cNvPr id="49" name="Text 31"/>
          <p:cNvSpPr txBox="1"/>
          <p:nvPr/>
        </p:nvSpPr>
        <p:spPr>
          <a:xfrm>
            <a:off x="1867205" y="7252106"/>
            <a:ext cx="5715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PDFs, correos, eventos IoT, disparadores de CRM, notas de voz — en paralelo.</a:t>
            </a:r>
            <a:endParaRPr lang="en-US" sz="1200" dirty="0"/>
          </a:p>
        </p:txBody>
      </p:sp>
      <p:sp>
        <p:nvSpPr>
          <p:cNvPr id="50" name="Text 32"/>
          <p:cNvSpPr txBox="1"/>
          <p:nvPr/>
        </p:nvSpPr>
        <p:spPr>
          <a:xfrm>
            <a:off x="1143000" y="8001000"/>
            <a:ext cx="5148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50" dirty="0"/>
          </a:p>
        </p:txBody>
      </p:sp>
      <p:sp>
        <p:nvSpPr>
          <p:cNvPr id="51" name="Text 33"/>
          <p:cNvSpPr txBox="1"/>
          <p:nvPr/>
        </p:nvSpPr>
        <p:spPr>
          <a:xfrm>
            <a:off x="1867205" y="7858354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Encaminar al especialista</a:t>
            </a:r>
            <a:endParaRPr lang="en-US" sz="1650" dirty="0"/>
          </a:p>
        </p:txBody>
      </p:sp>
      <p:sp>
        <p:nvSpPr>
          <p:cNvPr id="52" name="Text 34"/>
          <p:cNvSpPr txBox="1"/>
          <p:nvPr/>
        </p:nvSpPr>
        <p:spPr>
          <a:xfrm>
            <a:off x="1867205" y="8157362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Planifica, llama, valida. Cada paso deja una traza de auditoría completa.</a:t>
            </a:r>
            <a:endParaRPr lang="en-US" sz="1200" dirty="0"/>
          </a:p>
        </p:txBody>
      </p:sp>
      <p:sp>
        <p:nvSpPr>
          <p:cNvPr id="53" name="Text 35"/>
          <p:cNvSpPr txBox="1"/>
          <p:nvPr/>
        </p:nvSpPr>
        <p:spPr>
          <a:xfrm>
            <a:off x="1143000" y="8906256"/>
            <a:ext cx="5148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50" dirty="0"/>
          </a:p>
        </p:txBody>
      </p:sp>
      <p:sp>
        <p:nvSpPr>
          <p:cNvPr id="54" name="Text 36"/>
          <p:cNvSpPr txBox="1"/>
          <p:nvPr/>
        </p:nvSpPr>
        <p:spPr>
          <a:xfrm>
            <a:off x="1867205" y="8762695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Actuar y explicar</a:t>
            </a:r>
            <a:endParaRPr lang="en-US" sz="1650" dirty="0"/>
          </a:p>
        </p:txBody>
      </p:sp>
      <p:sp>
        <p:nvSpPr>
          <p:cNvPr id="55" name="Text 37"/>
          <p:cNvSpPr txBox="1"/>
          <p:nvPr/>
        </p:nvSpPr>
        <p:spPr>
          <a:xfrm>
            <a:off x="1867205" y="9061704"/>
            <a:ext cx="5715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Escribe en ERP, envía correo, abre ticket — nunca en silencio, siempre con fuentes.</a:t>
            </a:r>
            <a:endParaRPr lang="en-US" sz="1200" dirty="0"/>
          </a:p>
        </p:txBody>
      </p:sp>
      <p:sp>
        <p:nvSpPr>
          <p:cNvPr id="56" name="Text 38"/>
          <p:cNvSpPr txBox="1"/>
          <p:nvPr/>
        </p:nvSpPr>
        <p:spPr>
          <a:xfrm>
            <a:off x="8534095" y="31619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</a:t>
            </a:r>
            <a:endParaRPr lang="en-US" sz="1125" dirty="0"/>
          </a:p>
        </p:txBody>
      </p:sp>
      <p:sp>
        <p:nvSpPr>
          <p:cNvPr id="57" name="Text 39"/>
          <p:cNvSpPr txBox="1"/>
          <p:nvPr/>
        </p:nvSpPr>
        <p:spPr>
          <a:xfrm>
            <a:off x="8534095" y="3362249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· IMAP</a:t>
            </a:r>
            <a:endParaRPr lang="en-US" sz="900" dirty="0"/>
          </a:p>
        </p:txBody>
      </p:sp>
      <p:sp>
        <p:nvSpPr>
          <p:cNvPr id="58" name="Text 40"/>
          <p:cNvSpPr txBox="1"/>
          <p:nvPr/>
        </p:nvSpPr>
        <p:spPr>
          <a:xfrm>
            <a:off x="9953244" y="31619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 / 365</a:t>
            </a:r>
            <a:endParaRPr lang="en-US" sz="1125" dirty="0"/>
          </a:p>
        </p:txBody>
      </p:sp>
      <p:sp>
        <p:nvSpPr>
          <p:cNvPr id="59" name="Text 41"/>
          <p:cNvSpPr txBox="1"/>
          <p:nvPr/>
        </p:nvSpPr>
        <p:spPr>
          <a:xfrm>
            <a:off x="9953244" y="3362249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Graph</a:t>
            </a:r>
            <a:endParaRPr lang="en-US" sz="900" dirty="0"/>
          </a:p>
        </p:txBody>
      </p:sp>
      <p:sp>
        <p:nvSpPr>
          <p:cNvPr id="60" name="Text 42"/>
          <p:cNvSpPr txBox="1"/>
          <p:nvPr/>
        </p:nvSpPr>
        <p:spPr>
          <a:xfrm>
            <a:off x="11363249" y="31619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1125" dirty="0"/>
          </a:p>
        </p:txBody>
      </p:sp>
      <p:sp>
        <p:nvSpPr>
          <p:cNvPr id="61" name="Text 43"/>
          <p:cNvSpPr txBox="1"/>
          <p:nvPr/>
        </p:nvSpPr>
        <p:spPr>
          <a:xfrm>
            <a:off x="11217859" y="3362249"/>
            <a:ext cx="148224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por mensaje</a:t>
            </a:r>
            <a:endParaRPr lang="en-US" sz="900" dirty="0"/>
          </a:p>
        </p:txBody>
      </p:sp>
      <p:sp>
        <p:nvSpPr>
          <p:cNvPr id="62" name="Text 44"/>
          <p:cNvSpPr txBox="1"/>
          <p:nvPr/>
        </p:nvSpPr>
        <p:spPr>
          <a:xfrm>
            <a:off x="12782398" y="31619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· Planos</a:t>
            </a:r>
            <a:endParaRPr lang="en-US" sz="1125" dirty="0"/>
          </a:p>
        </p:txBody>
      </p:sp>
      <p:sp>
        <p:nvSpPr>
          <p:cNvPr id="63" name="Text 45"/>
          <p:cNvSpPr txBox="1"/>
          <p:nvPr/>
        </p:nvSpPr>
        <p:spPr>
          <a:xfrm>
            <a:off x="12782398" y="3362249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Pliegos · CAD</a:t>
            </a:r>
            <a:endParaRPr lang="en-US" sz="900" dirty="0"/>
          </a:p>
        </p:txBody>
      </p:sp>
      <p:sp>
        <p:nvSpPr>
          <p:cNvPr id="64" name="Text 46"/>
          <p:cNvSpPr txBox="1"/>
          <p:nvPr/>
        </p:nvSpPr>
        <p:spPr>
          <a:xfrm>
            <a:off x="14201546" y="31619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</a:t>
            </a:r>
            <a:endParaRPr lang="en-US" sz="1125" dirty="0"/>
          </a:p>
        </p:txBody>
      </p:sp>
      <p:sp>
        <p:nvSpPr>
          <p:cNvPr id="65" name="Text 47"/>
          <p:cNvSpPr txBox="1"/>
          <p:nvPr/>
        </p:nvSpPr>
        <p:spPr>
          <a:xfrm>
            <a:off x="14201546" y="3362249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Manuales · normas</a:t>
            </a:r>
            <a:endParaRPr lang="en-US" sz="900" dirty="0"/>
          </a:p>
        </p:txBody>
      </p:sp>
      <p:pic>
        <p:nvPicPr>
          <p:cNvPr id="66" name="Image 16" descr="gen-dedup-541b2bd7a34fc87a9e19deb198a09691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5954451" y="2609698"/>
            <a:ext cx="495605" cy="495605"/>
          </a:xfrm>
          <a:prstGeom prst="rect">
            <a:avLst/>
          </a:prstGeom>
        </p:spPr>
      </p:pic>
      <p:sp>
        <p:nvSpPr>
          <p:cNvPr id="67" name="Text 48"/>
          <p:cNvSpPr txBox="1"/>
          <p:nvPr/>
        </p:nvSpPr>
        <p:spPr>
          <a:xfrm>
            <a:off x="15611551" y="31619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Llamadas</a:t>
            </a:r>
            <a:endParaRPr lang="en-US" sz="1125" dirty="0"/>
          </a:p>
        </p:txBody>
      </p:sp>
      <p:sp>
        <p:nvSpPr>
          <p:cNvPr id="68" name="Text 49"/>
          <p:cNvSpPr txBox="1"/>
          <p:nvPr/>
        </p:nvSpPr>
        <p:spPr>
          <a:xfrm>
            <a:off x="15611551" y="3362249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Centralita SIP</a:t>
            </a:r>
            <a:endParaRPr lang="en-US" sz="900" dirty="0"/>
          </a:p>
        </p:txBody>
      </p:sp>
      <p:sp>
        <p:nvSpPr>
          <p:cNvPr id="69" name="Text 50"/>
          <p:cNvSpPr txBox="1"/>
          <p:nvPr/>
        </p:nvSpPr>
        <p:spPr>
          <a:xfrm>
            <a:off x="8477402" y="2190902"/>
            <a:ext cx="8382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900" b="1" kern="0" spc="25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 · lo que llega del cliente</a:t>
            </a:r>
            <a:endParaRPr lang="en-US" sz="900" dirty="0"/>
          </a:p>
        </p:txBody>
      </p:sp>
      <p:pic>
        <p:nvPicPr>
          <p:cNvPr id="70" name="Image 17" descr="gen-dedup-c17a197130a2b5756e15a3e9f22a1024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630107" y="4200754"/>
            <a:ext cx="533095" cy="533095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9315907" y="4248302"/>
            <a:ext cx="216987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Orquestador </a:t>
            </a:r>
            <a:r>
              <a:rPr lang="en-US" sz="1800" b="1" kern="0" spc="-1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</a:t>
            </a:r>
            <a:endParaRPr lang="en-US" sz="1800" dirty="0"/>
          </a:p>
        </p:txBody>
      </p:sp>
      <p:sp>
        <p:nvSpPr>
          <p:cNvPr id="72" name="Text 52"/>
          <p:cNvSpPr txBox="1"/>
          <p:nvPr/>
        </p:nvSpPr>
        <p:spPr>
          <a:xfrm>
            <a:off x="12987223" y="4352544"/>
            <a:ext cx="402610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Detecta · encamina · actúa y explica</a:t>
            </a:r>
            <a:endParaRPr lang="en-US" sz="900" dirty="0"/>
          </a:p>
        </p:txBody>
      </p:sp>
      <p:sp>
        <p:nvSpPr>
          <p:cNvPr id="73" name="Text 53"/>
          <p:cNvSpPr txBox="1"/>
          <p:nvPr/>
        </p:nvSpPr>
        <p:spPr>
          <a:xfrm>
            <a:off x="9315907" y="4562856"/>
            <a:ext cx="73344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 central de razonamiento · LangGraph · LLM · RAG</a:t>
            </a:r>
            <a:endParaRPr lang="en-US" sz="975" dirty="0"/>
          </a:p>
        </p:txBody>
      </p:sp>
      <p:pic>
        <p:nvPicPr>
          <p:cNvPr id="74" name="Image 18" descr="gen-dedup-3e8f0793243e6432263665d650edd675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630107" y="5229454"/>
            <a:ext cx="342900" cy="342900"/>
          </a:xfrm>
          <a:prstGeom prst="rect">
            <a:avLst/>
          </a:prstGeom>
        </p:spPr>
      </p:pic>
      <p:sp>
        <p:nvSpPr>
          <p:cNvPr id="75" name="Text 54"/>
          <p:cNvSpPr txBox="1"/>
          <p:nvPr/>
        </p:nvSpPr>
        <p:spPr>
          <a:xfrm>
            <a:off x="9087307" y="5124298"/>
            <a:ext cx="13240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825" dirty="0"/>
          </a:p>
        </p:txBody>
      </p:sp>
      <p:sp>
        <p:nvSpPr>
          <p:cNvPr id="76" name="Text 55"/>
          <p:cNvSpPr txBox="1"/>
          <p:nvPr/>
        </p:nvSpPr>
        <p:spPr>
          <a:xfrm>
            <a:off x="9087307" y="5286146"/>
            <a:ext cx="13240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1350" dirty="0"/>
          </a:p>
        </p:txBody>
      </p:sp>
      <p:sp>
        <p:nvSpPr>
          <p:cNvPr id="77" name="Text 56"/>
          <p:cNvSpPr txBox="1"/>
          <p:nvPr/>
        </p:nvSpPr>
        <p:spPr>
          <a:xfrm>
            <a:off x="9087307" y="5520233"/>
            <a:ext cx="132405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Multi-intención</a:t>
            </a:r>
            <a:endParaRPr lang="en-US" sz="900" dirty="0"/>
          </a:p>
        </p:txBody>
      </p:sp>
      <p:pic>
        <p:nvPicPr>
          <p:cNvPr id="78" name="Image 19" descr="gen-dedup-60c37504301250de29268003c7b7fd1f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0753344" y="5229454"/>
            <a:ext cx="342900" cy="342900"/>
          </a:xfrm>
          <a:prstGeom prst="rect">
            <a:avLst/>
          </a:prstGeom>
        </p:spPr>
      </p:pic>
      <p:sp>
        <p:nvSpPr>
          <p:cNvPr id="79" name="Text 57"/>
          <p:cNvSpPr txBox="1"/>
          <p:nvPr/>
        </p:nvSpPr>
        <p:spPr>
          <a:xfrm>
            <a:off x="11210544" y="5124298"/>
            <a:ext cx="13240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825" dirty="0"/>
          </a:p>
        </p:txBody>
      </p:sp>
      <p:sp>
        <p:nvSpPr>
          <p:cNvPr id="80" name="Text 58"/>
          <p:cNvSpPr txBox="1"/>
          <p:nvPr/>
        </p:nvSpPr>
        <p:spPr>
          <a:xfrm>
            <a:off x="11210544" y="5286146"/>
            <a:ext cx="13240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</a:t>
            </a:r>
            <a:endParaRPr lang="en-US" sz="1350" dirty="0"/>
          </a:p>
        </p:txBody>
      </p:sp>
      <p:sp>
        <p:nvSpPr>
          <p:cNvPr id="81" name="Text 59"/>
          <p:cNvSpPr txBox="1"/>
          <p:nvPr/>
        </p:nvSpPr>
        <p:spPr>
          <a:xfrm>
            <a:off x="11210544" y="5520233"/>
            <a:ext cx="132405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· BC3</a:t>
            </a:r>
            <a:endParaRPr lang="en-US" sz="900" dirty="0"/>
          </a:p>
        </p:txBody>
      </p:sp>
      <p:pic>
        <p:nvPicPr>
          <p:cNvPr id="82" name="Image 20" descr="gen-dedup-1cfdfecddece9c424417dbce4d5aceaf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2877495" y="5229454"/>
            <a:ext cx="342900" cy="342900"/>
          </a:xfrm>
          <a:prstGeom prst="rect">
            <a:avLst/>
          </a:prstGeom>
        </p:spPr>
      </p:pic>
      <p:sp>
        <p:nvSpPr>
          <p:cNvPr id="83" name="Text 60"/>
          <p:cNvSpPr txBox="1"/>
          <p:nvPr/>
        </p:nvSpPr>
        <p:spPr>
          <a:xfrm>
            <a:off x="13334695" y="5124298"/>
            <a:ext cx="13240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825" dirty="0"/>
          </a:p>
        </p:txBody>
      </p:sp>
      <p:sp>
        <p:nvSpPr>
          <p:cNvPr id="84" name="Text 61"/>
          <p:cNvSpPr txBox="1"/>
          <p:nvPr/>
        </p:nvSpPr>
        <p:spPr>
          <a:xfrm>
            <a:off x="13334695" y="5286146"/>
            <a:ext cx="13240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350" dirty="0"/>
          </a:p>
        </p:txBody>
      </p:sp>
      <p:sp>
        <p:nvSpPr>
          <p:cNvPr id="85" name="Text 62"/>
          <p:cNvSpPr txBox="1"/>
          <p:nvPr/>
        </p:nvSpPr>
        <p:spPr>
          <a:xfrm>
            <a:off x="13334695" y="5520233"/>
            <a:ext cx="132405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no almacenado</a:t>
            </a:r>
            <a:endParaRPr lang="en-US" sz="900" dirty="0"/>
          </a:p>
        </p:txBody>
      </p:sp>
      <p:pic>
        <p:nvPicPr>
          <p:cNvPr id="86" name="Image 21" descr="gen-dedup-a37b200282a8fd39d3701c789f5a4259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5001646" y="5229454"/>
            <a:ext cx="342900" cy="342900"/>
          </a:xfrm>
          <a:prstGeom prst="rect">
            <a:avLst/>
          </a:prstGeom>
        </p:spPr>
      </p:pic>
      <p:sp>
        <p:nvSpPr>
          <p:cNvPr id="87" name="Text 63"/>
          <p:cNvSpPr txBox="1"/>
          <p:nvPr/>
        </p:nvSpPr>
        <p:spPr>
          <a:xfrm>
            <a:off x="15458846" y="5124298"/>
            <a:ext cx="13240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825" dirty="0"/>
          </a:p>
        </p:txBody>
      </p:sp>
      <p:sp>
        <p:nvSpPr>
          <p:cNvPr id="88" name="Text 64"/>
          <p:cNvSpPr txBox="1"/>
          <p:nvPr/>
        </p:nvSpPr>
        <p:spPr>
          <a:xfrm>
            <a:off x="15458846" y="5286146"/>
            <a:ext cx="13240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350" dirty="0"/>
          </a:p>
        </p:txBody>
      </p:sp>
      <p:sp>
        <p:nvSpPr>
          <p:cNvPr id="89" name="Text 65"/>
          <p:cNvSpPr txBox="1"/>
          <p:nvPr/>
        </p:nvSpPr>
        <p:spPr>
          <a:xfrm>
            <a:off x="15458846" y="5520233"/>
            <a:ext cx="15627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 · Salesforce</a:t>
            </a:r>
            <a:endParaRPr lang="en-US" sz="900" dirty="0"/>
          </a:p>
        </p:txBody>
      </p:sp>
      <p:pic>
        <p:nvPicPr>
          <p:cNvPr id="90" name="Image 22" descr="gen-dedup-2ab7a69b3bb0a523c77b943cc64ce818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30107" y="6163056"/>
            <a:ext cx="342900" cy="342900"/>
          </a:xfrm>
          <a:prstGeom prst="rect">
            <a:avLst/>
          </a:prstGeom>
        </p:spPr>
      </p:pic>
      <p:sp>
        <p:nvSpPr>
          <p:cNvPr id="91" name="Text 66"/>
          <p:cNvSpPr txBox="1"/>
          <p:nvPr/>
        </p:nvSpPr>
        <p:spPr>
          <a:xfrm>
            <a:off x="9087307" y="6057900"/>
            <a:ext cx="13240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825" dirty="0"/>
          </a:p>
        </p:txBody>
      </p:sp>
      <p:sp>
        <p:nvSpPr>
          <p:cNvPr id="92" name="Text 67"/>
          <p:cNvSpPr txBox="1"/>
          <p:nvPr/>
        </p:nvSpPr>
        <p:spPr>
          <a:xfrm>
            <a:off x="9087307" y="6219749"/>
            <a:ext cx="13240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350" dirty="0"/>
          </a:p>
        </p:txBody>
      </p:sp>
      <p:sp>
        <p:nvSpPr>
          <p:cNvPr id="93" name="Text 68"/>
          <p:cNvSpPr txBox="1"/>
          <p:nvPr/>
        </p:nvSpPr>
        <p:spPr>
          <a:xfrm>
            <a:off x="9087307" y="6453835"/>
            <a:ext cx="149321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· Odoo · Dynamics</a:t>
            </a:r>
            <a:endParaRPr lang="en-US" sz="900" dirty="0"/>
          </a:p>
        </p:txBody>
      </p:sp>
      <p:pic>
        <p:nvPicPr>
          <p:cNvPr id="94" name="Image 23" descr="gen-dedup-a934ff5a3dbf8eb7187b823a6c62519c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10753344" y="6163056"/>
            <a:ext cx="342900" cy="342900"/>
          </a:xfrm>
          <a:prstGeom prst="rect">
            <a:avLst/>
          </a:prstGeom>
        </p:spPr>
      </p:pic>
      <p:sp>
        <p:nvSpPr>
          <p:cNvPr id="95" name="Text 69"/>
          <p:cNvSpPr txBox="1"/>
          <p:nvPr/>
        </p:nvSpPr>
        <p:spPr>
          <a:xfrm>
            <a:off x="11210544" y="6057900"/>
            <a:ext cx="13240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825" dirty="0"/>
          </a:p>
        </p:txBody>
      </p:sp>
      <p:sp>
        <p:nvSpPr>
          <p:cNvPr id="96" name="Text 70"/>
          <p:cNvSpPr txBox="1"/>
          <p:nvPr/>
        </p:nvSpPr>
        <p:spPr>
          <a:xfrm>
            <a:off x="11210544" y="6219749"/>
            <a:ext cx="13240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Logística</a:t>
            </a:r>
            <a:endParaRPr lang="en-US" sz="1350" dirty="0"/>
          </a:p>
        </p:txBody>
      </p:sp>
      <p:sp>
        <p:nvSpPr>
          <p:cNvPr id="97" name="Text 71"/>
          <p:cNvSpPr txBox="1"/>
          <p:nvPr/>
        </p:nvSpPr>
        <p:spPr>
          <a:xfrm>
            <a:off x="11210544" y="6453835"/>
            <a:ext cx="132405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· EDI</a:t>
            </a:r>
            <a:endParaRPr lang="en-US" sz="900" dirty="0"/>
          </a:p>
        </p:txBody>
      </p:sp>
      <p:pic>
        <p:nvPicPr>
          <p:cNvPr id="98" name="Image 24" descr="gen-dedup-575103b9ab5ff53b0b87b716b19a59d7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2877495" y="6163056"/>
            <a:ext cx="342900" cy="342900"/>
          </a:xfrm>
          <a:prstGeom prst="rect">
            <a:avLst/>
          </a:prstGeom>
        </p:spPr>
      </p:pic>
      <p:sp>
        <p:nvSpPr>
          <p:cNvPr id="99" name="Text 72"/>
          <p:cNvSpPr txBox="1"/>
          <p:nvPr/>
        </p:nvSpPr>
        <p:spPr>
          <a:xfrm>
            <a:off x="13334695" y="6057900"/>
            <a:ext cx="13240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825" dirty="0"/>
          </a:p>
        </p:txBody>
      </p:sp>
      <p:sp>
        <p:nvSpPr>
          <p:cNvPr id="100" name="Text 73"/>
          <p:cNvSpPr txBox="1"/>
          <p:nvPr/>
        </p:nvSpPr>
        <p:spPr>
          <a:xfrm>
            <a:off x="13334695" y="6219749"/>
            <a:ext cx="13240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350" dirty="0"/>
          </a:p>
        </p:txBody>
      </p:sp>
      <p:sp>
        <p:nvSpPr>
          <p:cNvPr id="101" name="Text 74"/>
          <p:cNvSpPr txBox="1"/>
          <p:nvPr/>
        </p:nvSpPr>
        <p:spPr>
          <a:xfrm>
            <a:off x="13334695" y="6453835"/>
            <a:ext cx="132405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+ grafo</a:t>
            </a:r>
            <a:endParaRPr lang="en-US" sz="900" dirty="0"/>
          </a:p>
        </p:txBody>
      </p:sp>
      <p:pic>
        <p:nvPicPr>
          <p:cNvPr id="102" name="Image 25" descr="gen-dedup-a4749e4fa8835523584247b88a25b344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5001646" y="6163056"/>
            <a:ext cx="342900" cy="342900"/>
          </a:xfrm>
          <a:prstGeom prst="rect">
            <a:avLst/>
          </a:prstGeom>
        </p:spPr>
      </p:pic>
      <p:sp>
        <p:nvSpPr>
          <p:cNvPr id="103" name="Text 75"/>
          <p:cNvSpPr txBox="1"/>
          <p:nvPr/>
        </p:nvSpPr>
        <p:spPr>
          <a:xfrm>
            <a:off x="15458846" y="6057900"/>
            <a:ext cx="13240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825" dirty="0"/>
          </a:p>
        </p:txBody>
      </p:sp>
      <p:sp>
        <p:nvSpPr>
          <p:cNvPr id="104" name="Text 76"/>
          <p:cNvSpPr txBox="1"/>
          <p:nvPr/>
        </p:nvSpPr>
        <p:spPr>
          <a:xfrm>
            <a:off x="15458846" y="6219749"/>
            <a:ext cx="13240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350" dirty="0"/>
          </a:p>
        </p:txBody>
      </p:sp>
      <p:sp>
        <p:nvSpPr>
          <p:cNvPr id="105" name="Text 77"/>
          <p:cNvSpPr txBox="1"/>
          <p:nvPr/>
        </p:nvSpPr>
        <p:spPr>
          <a:xfrm>
            <a:off x="15458846" y="6453835"/>
            <a:ext cx="132405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900" dirty="0"/>
          </a:p>
        </p:txBody>
      </p:sp>
      <p:sp>
        <p:nvSpPr>
          <p:cNvPr id="106" name="Text 78"/>
          <p:cNvSpPr txBox="1"/>
          <p:nvPr/>
        </p:nvSpPr>
        <p:spPr>
          <a:xfrm>
            <a:off x="8477402" y="6953098"/>
            <a:ext cx="8382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247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 DE DATOS · TRAZA · MEMORIA · AUDITORÍA</a:t>
            </a:r>
            <a:endParaRPr lang="en-US" sz="825" dirty="0"/>
          </a:p>
        </p:txBody>
      </p:sp>
      <p:sp>
        <p:nvSpPr>
          <p:cNvPr id="107" name="Text 79"/>
          <p:cNvSpPr txBox="1"/>
          <p:nvPr/>
        </p:nvSpPr>
        <p:spPr>
          <a:xfrm>
            <a:off x="8534095" y="86483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endParaRPr lang="en-US" sz="1125" dirty="0"/>
          </a:p>
        </p:txBody>
      </p:sp>
      <p:sp>
        <p:nvSpPr>
          <p:cNvPr id="108" name="Text 80"/>
          <p:cNvSpPr txBox="1"/>
          <p:nvPr/>
        </p:nvSpPr>
        <p:spPr>
          <a:xfrm>
            <a:off x="8534095" y="8848649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· CRM</a:t>
            </a:r>
            <a:endParaRPr lang="en-US" sz="900" dirty="0"/>
          </a:p>
        </p:txBody>
      </p:sp>
      <p:sp>
        <p:nvSpPr>
          <p:cNvPr id="109" name="Text 81"/>
          <p:cNvSpPr txBox="1"/>
          <p:nvPr/>
        </p:nvSpPr>
        <p:spPr>
          <a:xfrm>
            <a:off x="9953244" y="86483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</a:t>
            </a:r>
            <a:endParaRPr lang="en-US" sz="1125" dirty="0"/>
          </a:p>
        </p:txBody>
      </p:sp>
      <p:sp>
        <p:nvSpPr>
          <p:cNvPr id="110" name="Text 82"/>
          <p:cNvSpPr txBox="1"/>
          <p:nvPr/>
        </p:nvSpPr>
        <p:spPr>
          <a:xfrm>
            <a:off x="9953244" y="8848649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Escritura en ERP</a:t>
            </a:r>
            <a:endParaRPr lang="en-US" sz="900" dirty="0"/>
          </a:p>
        </p:txBody>
      </p:sp>
      <p:sp>
        <p:nvSpPr>
          <p:cNvPr id="111" name="Text 83"/>
          <p:cNvSpPr txBox="1"/>
          <p:nvPr/>
        </p:nvSpPr>
        <p:spPr>
          <a:xfrm>
            <a:off x="11363249" y="86483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</a:t>
            </a:r>
            <a:endParaRPr lang="en-US" sz="1125" dirty="0"/>
          </a:p>
        </p:txBody>
      </p:sp>
      <p:sp>
        <p:nvSpPr>
          <p:cNvPr id="112" name="Text 84"/>
          <p:cNvSpPr txBox="1"/>
          <p:nvPr/>
        </p:nvSpPr>
        <p:spPr>
          <a:xfrm>
            <a:off x="11363249" y="8848649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sincronizado</a:t>
            </a:r>
            <a:endParaRPr lang="en-US" sz="900" dirty="0"/>
          </a:p>
        </p:txBody>
      </p:sp>
      <p:sp>
        <p:nvSpPr>
          <p:cNvPr id="113" name="Text 85"/>
          <p:cNvSpPr txBox="1"/>
          <p:nvPr/>
        </p:nvSpPr>
        <p:spPr>
          <a:xfrm>
            <a:off x="12782398" y="86483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</a:t>
            </a:r>
            <a:endParaRPr lang="en-US" sz="1125" dirty="0"/>
          </a:p>
        </p:txBody>
      </p:sp>
      <p:sp>
        <p:nvSpPr>
          <p:cNvPr id="114" name="Text 86"/>
          <p:cNvSpPr txBox="1"/>
          <p:nvPr/>
        </p:nvSpPr>
        <p:spPr>
          <a:xfrm>
            <a:off x="12782398" y="8848649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sincronizado</a:t>
            </a:r>
            <a:endParaRPr lang="en-US" sz="900" dirty="0"/>
          </a:p>
        </p:txBody>
      </p:sp>
      <p:sp>
        <p:nvSpPr>
          <p:cNvPr id="115" name="Text 87"/>
          <p:cNvSpPr txBox="1"/>
          <p:nvPr/>
        </p:nvSpPr>
        <p:spPr>
          <a:xfrm>
            <a:off x="14201546" y="86483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· BC3</a:t>
            </a:r>
            <a:endParaRPr lang="en-US" sz="1125" dirty="0"/>
          </a:p>
        </p:txBody>
      </p:sp>
      <p:sp>
        <p:nvSpPr>
          <p:cNvPr id="116" name="Text 88"/>
          <p:cNvSpPr txBox="1"/>
          <p:nvPr/>
        </p:nvSpPr>
        <p:spPr>
          <a:xfrm>
            <a:off x="14090904" y="8848649"/>
            <a:ext cx="141366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 · informes</a:t>
            </a:r>
            <a:endParaRPr lang="en-US" sz="900" dirty="0"/>
          </a:p>
        </p:txBody>
      </p:sp>
      <p:sp>
        <p:nvSpPr>
          <p:cNvPr id="117" name="Text 89"/>
          <p:cNvSpPr txBox="1"/>
          <p:nvPr/>
        </p:nvSpPr>
        <p:spPr>
          <a:xfrm>
            <a:off x="15611551" y="8648395"/>
            <a:ext cx="11914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TTS</a:t>
            </a:r>
            <a:endParaRPr lang="en-US" sz="1125" dirty="0"/>
          </a:p>
        </p:txBody>
      </p:sp>
      <p:sp>
        <p:nvSpPr>
          <p:cNvPr id="118" name="Text 90"/>
          <p:cNvSpPr txBox="1"/>
          <p:nvPr/>
        </p:nvSpPr>
        <p:spPr>
          <a:xfrm>
            <a:off x="15611551" y="8848649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hablada</a:t>
            </a:r>
            <a:endParaRPr lang="en-US" sz="900" dirty="0"/>
          </a:p>
        </p:txBody>
      </p:sp>
      <p:sp>
        <p:nvSpPr>
          <p:cNvPr id="119" name="Text 91"/>
          <p:cNvSpPr txBox="1"/>
          <p:nvPr/>
        </p:nvSpPr>
        <p:spPr>
          <a:xfrm>
            <a:off x="8477402" y="7677302"/>
            <a:ext cx="8382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900" b="1" kern="0" spc="25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 · lo que recibe el cliente</a:t>
            </a:r>
            <a:endParaRPr lang="en-US" sz="900" dirty="0"/>
          </a:p>
        </p:txBody>
      </p:sp>
      <p:pic>
        <p:nvPicPr>
          <p:cNvPr id="121" name="Image 1" descr="gen-dedup-3fc9b6bd6bd01734c54b10a0f11af3f3.png">
            <a:extLst>
              <a:ext uri="{FF2B5EF4-FFF2-40B4-BE49-F238E27FC236}">
                <a16:creationId xmlns:a16="http://schemas.microsoft.com/office/drawing/2014/main" id="{078A1CE8-71A6-B579-6E76-F69D423E540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1370591c2981caadc50d232db66166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476902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238598" y="4476902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334195" y="4476902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430707" y="4476902"/>
            <a:ext cx="3715207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7239305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238598" y="7239305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334195" y="7239305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3430707" y="7239305"/>
            <a:ext cx="3715207" cy="2572207"/>
          </a:xfrm>
          <a:prstGeom prst="roundRect">
            <a:avLst>
              <a:gd name="adj" fmla="val 224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49195" y="914400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agentes · 06</a:t>
            </a:r>
            <a:endParaRPr lang="en-US" sz="975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productivizados</a:t>
            </a:r>
            <a:endParaRPr lang="en-US" sz="1125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2619756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agentes. </a:t>
            </a: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plataforma.</a:t>
            </a:r>
            <a:endParaRPr lang="en-US" sz="465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3619195"/>
            <a:ext cx="130686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agente es software real — construido a partir de despliegues operativos, configurado a tu stack y desplegado en producción.</a:t>
            </a:r>
            <a:endParaRPr lang="en-US" sz="1350" dirty="0"/>
          </a:p>
        </p:txBody>
      </p:sp>
      <p:pic>
        <p:nvPicPr>
          <p:cNvPr id="17" name="Image 3" descr="gen-dedup-aa50fd00a4c86a5bbf13edb284e40d3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33195" y="4667098"/>
            <a:ext cx="533095" cy="5330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095805" y="4743907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825" dirty="0"/>
          </a:p>
        </p:txBody>
      </p:sp>
      <p:sp>
        <p:nvSpPr>
          <p:cNvPr id="19" name="Text 13"/>
          <p:cNvSpPr txBox="1"/>
          <p:nvPr/>
        </p:nvSpPr>
        <p:spPr>
          <a:xfrm>
            <a:off x="2095805" y="4895698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1425" dirty="0"/>
          </a:p>
        </p:txBody>
      </p:sp>
      <p:sp>
        <p:nvSpPr>
          <p:cNvPr id="20" name="Text 14"/>
          <p:cNvSpPr txBox="1"/>
          <p:nvPr/>
        </p:nvSpPr>
        <p:spPr>
          <a:xfrm>
            <a:off x="1333195" y="5505602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la intención, extrae datos, consulta ERP/CRM y redacta una respuesta contextual.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1333195" y="6010351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Multi-intención · Auditoría completa</a:t>
            </a:r>
            <a:endParaRPr lang="en-US" sz="825" dirty="0"/>
          </a:p>
        </p:txBody>
      </p:sp>
      <p:pic>
        <p:nvPicPr>
          <p:cNvPr id="22" name="Image 4" descr="gen-dedup-d97af93a885ca9711e3d61847d8d8b0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29707" y="4667098"/>
            <a:ext cx="533095" cy="5330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191402" y="4743907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825" dirty="0"/>
          </a:p>
        </p:txBody>
      </p:sp>
      <p:sp>
        <p:nvSpPr>
          <p:cNvPr id="24" name="Text 17"/>
          <p:cNvSpPr txBox="1"/>
          <p:nvPr/>
        </p:nvSpPr>
        <p:spPr>
          <a:xfrm>
            <a:off x="6191402" y="4895698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</a:t>
            </a:r>
            <a:endParaRPr lang="en-US" sz="1425" dirty="0"/>
          </a:p>
        </p:txBody>
      </p:sp>
      <p:sp>
        <p:nvSpPr>
          <p:cNvPr id="25" name="Text 18"/>
          <p:cNvSpPr txBox="1"/>
          <p:nvPr/>
        </p:nvSpPr>
        <p:spPr>
          <a:xfrm>
            <a:off x="5429707" y="5505602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Costea cada línea, redacta la oferta técnica y gana más concursos en menos tiempo.</a:t>
            </a:r>
            <a:endParaRPr lang="en-US" sz="975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6010351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−50% prep · 100% traza</a:t>
            </a:r>
            <a:endParaRPr lang="en-US" sz="825" dirty="0"/>
          </a:p>
        </p:txBody>
      </p:sp>
      <p:pic>
        <p:nvPicPr>
          <p:cNvPr id="27" name="Image 5" descr="gen-dedup-86fdde465996e54eea2339f42d01201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5305" y="4667098"/>
            <a:ext cx="533095" cy="5330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0287000" y="4743907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825" dirty="0"/>
          </a:p>
        </p:txBody>
      </p:sp>
      <p:sp>
        <p:nvSpPr>
          <p:cNvPr id="29" name="Text 21"/>
          <p:cNvSpPr txBox="1"/>
          <p:nvPr/>
        </p:nvSpPr>
        <p:spPr>
          <a:xfrm>
            <a:off x="10287000" y="4895698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425" dirty="0"/>
          </a:p>
        </p:txBody>
      </p:sp>
      <p:sp>
        <p:nvSpPr>
          <p:cNvPr id="30" name="Text 22"/>
          <p:cNvSpPr txBox="1"/>
          <p:nvPr/>
        </p:nvSpPr>
        <p:spPr>
          <a:xfrm>
            <a:off x="9525305" y="5505602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de llamadas 24/7, captura estructurada de incidencias y traspaso humano sin costuras.</a:t>
            </a:r>
            <a:endParaRPr lang="en-US" sz="975" dirty="0"/>
          </a:p>
        </p:txBody>
      </p:sp>
      <p:sp>
        <p:nvSpPr>
          <p:cNvPr id="31" name="Text 23"/>
          <p:cNvSpPr txBox="1"/>
          <p:nvPr/>
        </p:nvSpPr>
        <p:spPr>
          <a:xfrm>
            <a:off x="9525305" y="6010351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no almacenado · GDPR</a:t>
            </a:r>
            <a:endParaRPr lang="en-US" sz="825" dirty="0"/>
          </a:p>
        </p:txBody>
      </p:sp>
      <p:pic>
        <p:nvPicPr>
          <p:cNvPr id="32" name="Image 6" descr="gen-dedup-41cd52b6f61371c70def250b0c26c71c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620902" y="4667098"/>
            <a:ext cx="533095" cy="53309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4382598" y="4743907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825" dirty="0"/>
          </a:p>
        </p:txBody>
      </p:sp>
      <p:sp>
        <p:nvSpPr>
          <p:cNvPr id="34" name="Text 25"/>
          <p:cNvSpPr txBox="1"/>
          <p:nvPr/>
        </p:nvSpPr>
        <p:spPr>
          <a:xfrm>
            <a:off x="14382598" y="4895698"/>
            <a:ext cx="24771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425" dirty="0"/>
          </a:p>
        </p:txBody>
      </p:sp>
      <p:sp>
        <p:nvSpPr>
          <p:cNvPr id="35" name="Text 26"/>
          <p:cNvSpPr txBox="1"/>
          <p:nvPr/>
        </p:nvSpPr>
        <p:spPr>
          <a:xfrm>
            <a:off x="13620902" y="5505602"/>
            <a:ext cx="33339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siempre al día. Pipeline siempre enriquecido. Siguiente mejor acción destacada.</a:t>
            </a:r>
            <a:endParaRPr lang="en-US" sz="975" dirty="0"/>
          </a:p>
        </p:txBody>
      </p:sp>
      <p:sp>
        <p:nvSpPr>
          <p:cNvPr id="36" name="Text 27"/>
          <p:cNvSpPr txBox="1"/>
          <p:nvPr/>
        </p:nvSpPr>
        <p:spPr>
          <a:xfrm>
            <a:off x="13620902" y="6010351"/>
            <a:ext cx="3333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 · Salesforce · Zoho</a:t>
            </a:r>
            <a:endParaRPr lang="en-US" sz="825" dirty="0"/>
          </a:p>
        </p:txBody>
      </p:sp>
      <p:pic>
        <p:nvPicPr>
          <p:cNvPr id="37" name="Image 7" descr="gen-dedup-89d714809f6b6e98bf8b89e5689f4042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33195" y="7429500"/>
            <a:ext cx="533095" cy="53309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2095805" y="7505395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825" dirty="0"/>
          </a:p>
        </p:txBody>
      </p:sp>
      <p:sp>
        <p:nvSpPr>
          <p:cNvPr id="39" name="Text 29"/>
          <p:cNvSpPr txBox="1"/>
          <p:nvPr/>
        </p:nvSpPr>
        <p:spPr>
          <a:xfrm>
            <a:off x="2095805" y="7658100"/>
            <a:ext cx="279989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425" dirty="0"/>
          </a:p>
        </p:txBody>
      </p:sp>
      <p:sp>
        <p:nvSpPr>
          <p:cNvPr id="40" name="Text 30"/>
          <p:cNvSpPr txBox="1"/>
          <p:nvPr/>
        </p:nvSpPr>
        <p:spPr>
          <a:xfrm>
            <a:off x="1333195" y="8268005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correo de pedido al asiento en ERP — automatizado. Lee SKUs, valida precios.</a:t>
            </a:r>
            <a:endParaRPr lang="en-US" sz="975" dirty="0"/>
          </a:p>
        </p:txBody>
      </p:sp>
      <p:sp>
        <p:nvSpPr>
          <p:cNvPr id="41" name="Text 31"/>
          <p:cNvSpPr txBox="1"/>
          <p:nvPr/>
        </p:nvSpPr>
        <p:spPr>
          <a:xfrm>
            <a:off x="1333195" y="8772754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· Odoo · Dynamics · SAGE</a:t>
            </a:r>
            <a:endParaRPr lang="en-US" sz="825" dirty="0"/>
          </a:p>
        </p:txBody>
      </p:sp>
      <p:pic>
        <p:nvPicPr>
          <p:cNvPr id="42" name="Image 8" descr="gen-dedup-0ec799150431bbf9918661a4083ede38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429707" y="7429500"/>
            <a:ext cx="533095" cy="53309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191402" y="7505395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825" dirty="0"/>
          </a:p>
        </p:txBody>
      </p:sp>
      <p:sp>
        <p:nvSpPr>
          <p:cNvPr id="44" name="Text 33"/>
          <p:cNvSpPr txBox="1"/>
          <p:nvPr/>
        </p:nvSpPr>
        <p:spPr>
          <a:xfrm>
            <a:off x="6191402" y="7658100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Logistica</a:t>
            </a:r>
            <a:endParaRPr lang="en-US" sz="1425" dirty="0"/>
          </a:p>
        </p:txBody>
      </p:sp>
      <p:sp>
        <p:nvSpPr>
          <p:cNvPr id="45" name="Text 34"/>
          <p:cNvSpPr txBox="1"/>
          <p:nvPr/>
        </p:nvSpPr>
        <p:spPr>
          <a:xfrm>
            <a:off x="5429707" y="8268005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Albaranes, facturas, pedidos y notas de entrega — generados, enviados y conciliados.</a:t>
            </a:r>
            <a:endParaRPr lang="en-US" sz="975" dirty="0"/>
          </a:p>
        </p:txBody>
      </p:sp>
      <p:sp>
        <p:nvSpPr>
          <p:cNvPr id="46" name="Text 35"/>
          <p:cNvSpPr txBox="1"/>
          <p:nvPr/>
        </p:nvSpPr>
        <p:spPr>
          <a:xfrm>
            <a:off x="5429707" y="8772754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 errores documentales</a:t>
            </a:r>
            <a:endParaRPr lang="en-US" sz="825" dirty="0"/>
          </a:p>
        </p:txBody>
      </p:sp>
      <p:pic>
        <p:nvPicPr>
          <p:cNvPr id="47" name="Image 9" descr="gen-dedup-3dbcc38e1d9e456685d4093b67a534e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525305" y="7429500"/>
            <a:ext cx="533095" cy="533095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10287000" y="7505395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825" dirty="0"/>
          </a:p>
        </p:txBody>
      </p:sp>
      <p:sp>
        <p:nvSpPr>
          <p:cNvPr id="49" name="Text 37"/>
          <p:cNvSpPr txBox="1"/>
          <p:nvPr/>
        </p:nvSpPr>
        <p:spPr>
          <a:xfrm>
            <a:off x="10287000" y="7658100"/>
            <a:ext cx="291236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425" dirty="0"/>
          </a:p>
        </p:txBody>
      </p:sp>
      <p:sp>
        <p:nvSpPr>
          <p:cNvPr id="50" name="Text 38"/>
          <p:cNvSpPr txBox="1"/>
          <p:nvPr/>
        </p:nvSpPr>
        <p:spPr>
          <a:xfrm>
            <a:off x="9525305" y="8268005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documentación, localizable al instante. RAG + Knowledge Graph sobre pliegos, manuales y contratos.</a:t>
            </a:r>
            <a:endParaRPr lang="en-US" sz="975" dirty="0"/>
          </a:p>
        </p:txBody>
      </p:sp>
      <p:sp>
        <p:nvSpPr>
          <p:cNvPr id="51" name="Text 39"/>
          <p:cNvSpPr txBox="1"/>
          <p:nvPr/>
        </p:nvSpPr>
        <p:spPr>
          <a:xfrm>
            <a:off x="9525305" y="8772754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con fuentes · Versiones</a:t>
            </a:r>
            <a:endParaRPr lang="en-US" sz="825" dirty="0"/>
          </a:p>
        </p:txBody>
      </p:sp>
      <p:pic>
        <p:nvPicPr>
          <p:cNvPr id="52" name="Image 10" descr="gen-dedup-3dab6814a90fe03162a2327b10499bd7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3620902" y="7429500"/>
            <a:ext cx="533095" cy="533095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14382598" y="7658100"/>
            <a:ext cx="24771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425" dirty="0"/>
          </a:p>
        </p:txBody>
      </p:sp>
      <p:sp>
        <p:nvSpPr>
          <p:cNvPr id="54" name="Text 41"/>
          <p:cNvSpPr txBox="1"/>
          <p:nvPr/>
        </p:nvSpPr>
        <p:spPr>
          <a:xfrm>
            <a:off x="14382598" y="7505395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825" dirty="0"/>
          </a:p>
        </p:txBody>
      </p:sp>
      <p:sp>
        <p:nvSpPr>
          <p:cNvPr id="55" name="Text 42"/>
          <p:cNvSpPr txBox="1"/>
          <p:nvPr/>
        </p:nvSpPr>
        <p:spPr>
          <a:xfrm>
            <a:off x="13620902" y="8268005"/>
            <a:ext cx="33339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incidencia capturada, clasificada y resuelta. Anomalías detectadas antes de que escalen.</a:t>
            </a:r>
            <a:endParaRPr lang="en-US" sz="975" dirty="0"/>
          </a:p>
        </p:txBody>
      </p:sp>
      <p:sp>
        <p:nvSpPr>
          <p:cNvPr id="56" name="Text 43"/>
          <p:cNvSpPr txBox="1"/>
          <p:nvPr/>
        </p:nvSpPr>
        <p:spPr>
          <a:xfrm>
            <a:off x="13620902" y="8772754"/>
            <a:ext cx="3333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predictivas · Causa raíz</a:t>
            </a:r>
            <a:endParaRPr lang="en-US" sz="825" dirty="0"/>
          </a:p>
        </p:txBody>
      </p:sp>
      <p:pic>
        <p:nvPicPr>
          <p:cNvPr id="58" name="Image 1" descr="gen-dedup-3fc9b6bd6bd01734c54b10a0f11af3f3.png">
            <a:extLst>
              <a:ext uri="{FF2B5EF4-FFF2-40B4-BE49-F238E27FC236}">
                <a16:creationId xmlns:a16="http://schemas.microsoft.com/office/drawing/2014/main" id="{E872182A-6E59-CCD8-08B8-3DFC7645E5A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7ad208497a0127a0e420179e11b85b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5ff68f756274ddf3009d5f54b7cb296f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1143000" y="4667098"/>
            <a:ext cx="5191049" cy="2247595"/>
          </a:xfrm>
          <a:prstGeom prst="rect">
            <a:avLst/>
          </a:prstGeom>
        </p:spPr>
      </p:pic>
      <p:pic>
        <p:nvPicPr>
          <p:cNvPr id="4" name="Image 2" descr="gen-dedup-5ff68f756274ddf3009d5f54b7cb296f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6543446" y="4667098"/>
            <a:ext cx="5191049" cy="2247595"/>
          </a:xfrm>
          <a:prstGeom prst="rect">
            <a:avLst/>
          </a:prstGeom>
        </p:spPr>
      </p:pic>
      <p:pic>
        <p:nvPicPr>
          <p:cNvPr id="5" name="Image 3" descr="gen-dedup-5ff68f756274ddf3009d5f54b7cb296f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11944807" y="4667098"/>
            <a:ext cx="5191049" cy="2247595"/>
          </a:xfrm>
          <a:prstGeom prst="rect">
            <a:avLst/>
          </a:prstGeom>
        </p:spPr>
      </p:pic>
      <p:pic>
        <p:nvPicPr>
          <p:cNvPr id="6" name="Image 4" descr="gen-dedup-5ff68f756274ddf3009d5f54b7cb296f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1143000" y="7144207"/>
            <a:ext cx="5191049" cy="2247595"/>
          </a:xfrm>
          <a:prstGeom prst="rect">
            <a:avLst/>
          </a:prstGeom>
        </p:spPr>
      </p:pic>
      <p:pic>
        <p:nvPicPr>
          <p:cNvPr id="7" name="Image 5" descr="gen-dedup-5ff68f756274ddf3009d5f54b7cb296f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6543446" y="7144207"/>
            <a:ext cx="5191049" cy="2247595"/>
          </a:xfrm>
          <a:prstGeom prst="rect">
            <a:avLst/>
          </a:prstGeom>
        </p:spPr>
      </p:pic>
      <p:pic>
        <p:nvPicPr>
          <p:cNvPr id="8" name="Image 6" descr="gen-dedup-5ff68f756274ddf3009d5f54b7cb296f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11944807" y="7144207"/>
            <a:ext cx="5191049" cy="2247595"/>
          </a:xfrm>
          <a:prstGeom prst="rect">
            <a:avLst/>
          </a:prstGeom>
        </p:spPr>
      </p:pic>
      <p:pic>
        <p:nvPicPr>
          <p:cNvPr id="9" name="Image 7" descr="gen-dedup-01458f5e617e28ac0d507efc2d37b476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1143000" y="4667098"/>
            <a:ext cx="5191049" cy="38405"/>
          </a:xfrm>
          <a:prstGeom prst="rect">
            <a:avLst/>
          </a:prstGeom>
        </p:spPr>
      </p:pic>
      <p:sp>
        <p:nvSpPr>
          <p:cNvPr id="10" name="Shape 0"/>
          <p:cNvSpPr/>
          <p:nvPr/>
        </p:nvSpPr>
        <p:spPr>
          <a:xfrm>
            <a:off x="1410005" y="4972507"/>
            <a:ext cx="609905" cy="609905"/>
          </a:xfrm>
          <a:prstGeom prst="roundRect">
            <a:avLst>
              <a:gd name="adj" fmla="val 6297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8" descr="gen-dedup-01458f5e617e28ac0d507efc2d37b476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6543446" y="4667098"/>
            <a:ext cx="5191049" cy="38405"/>
          </a:xfrm>
          <a:prstGeom prst="rect">
            <a:avLst/>
          </a:prstGeom>
        </p:spPr>
      </p:pic>
      <p:sp>
        <p:nvSpPr>
          <p:cNvPr id="12" name="Shape 1"/>
          <p:cNvSpPr/>
          <p:nvPr/>
        </p:nvSpPr>
        <p:spPr>
          <a:xfrm>
            <a:off x="6810451" y="4972507"/>
            <a:ext cx="609905" cy="609905"/>
          </a:xfrm>
          <a:prstGeom prst="roundRect">
            <a:avLst>
              <a:gd name="adj" fmla="val 6297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9" descr="gen-dedup-01458f5e617e28ac0d507efc2d37b476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11944807" y="4667098"/>
            <a:ext cx="5191049" cy="38405"/>
          </a:xfrm>
          <a:prstGeom prst="rect">
            <a:avLst/>
          </a:prstGeom>
        </p:spPr>
      </p:pic>
      <p:sp>
        <p:nvSpPr>
          <p:cNvPr id="14" name="Shape 2"/>
          <p:cNvSpPr/>
          <p:nvPr/>
        </p:nvSpPr>
        <p:spPr>
          <a:xfrm>
            <a:off x="12210898" y="4972507"/>
            <a:ext cx="609905" cy="609905"/>
          </a:xfrm>
          <a:prstGeom prst="roundRect">
            <a:avLst>
              <a:gd name="adj" fmla="val 6297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0" descr="gen-dedup-01458f5e617e28ac0d507efc2d37b476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1143000" y="7144207"/>
            <a:ext cx="5191049" cy="38405"/>
          </a:xfrm>
          <a:prstGeom prst="rect">
            <a:avLst/>
          </a:prstGeom>
        </p:spPr>
      </p:pic>
      <p:sp>
        <p:nvSpPr>
          <p:cNvPr id="16" name="Shape 3"/>
          <p:cNvSpPr/>
          <p:nvPr/>
        </p:nvSpPr>
        <p:spPr>
          <a:xfrm>
            <a:off x="1410005" y="7448702"/>
            <a:ext cx="609905" cy="609905"/>
          </a:xfrm>
          <a:prstGeom prst="roundRect">
            <a:avLst>
              <a:gd name="adj" fmla="val 6297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1" descr="gen-dedup-01458f5e617e28ac0d507efc2d37b476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6543446" y="7144207"/>
            <a:ext cx="5191049" cy="38405"/>
          </a:xfrm>
          <a:prstGeom prst="rect">
            <a:avLst/>
          </a:prstGeom>
        </p:spPr>
      </p:pic>
      <p:sp>
        <p:nvSpPr>
          <p:cNvPr id="18" name="Shape 4"/>
          <p:cNvSpPr/>
          <p:nvPr/>
        </p:nvSpPr>
        <p:spPr>
          <a:xfrm>
            <a:off x="6810451" y="7448702"/>
            <a:ext cx="609905" cy="609905"/>
          </a:xfrm>
          <a:prstGeom prst="roundRect">
            <a:avLst>
              <a:gd name="adj" fmla="val 6297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2" descr="gen-dedup-01458f5e617e28ac0d507efc2d37b476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11944807" y="7144207"/>
            <a:ext cx="5191049" cy="38405"/>
          </a:xfrm>
          <a:prstGeom prst="rect">
            <a:avLst/>
          </a:prstGeom>
        </p:spPr>
      </p:pic>
      <p:sp>
        <p:nvSpPr>
          <p:cNvPr id="20" name="Shape 5"/>
          <p:cNvSpPr/>
          <p:nvPr/>
        </p:nvSpPr>
        <p:spPr>
          <a:xfrm>
            <a:off x="12210898" y="7448702"/>
            <a:ext cx="609905" cy="609905"/>
          </a:xfrm>
          <a:prstGeom prst="roundRect">
            <a:avLst>
              <a:gd name="adj" fmla="val 6297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4" descr="gen-dedup-07d4da1bf1910daef42c9babebc62b73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sp>
        <p:nvSpPr>
          <p:cNvPr id="24" name="Text 7"/>
          <p:cNvSpPr txBox="1"/>
          <p:nvPr/>
        </p:nvSpPr>
        <p:spPr>
          <a:xfrm>
            <a:off x="1143000" y="2247595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Dónde ayudamos</a:t>
            </a:r>
            <a:endParaRPr lang="en-US" sz="1125" dirty="0"/>
          </a:p>
        </p:txBody>
      </p:sp>
      <p:sp>
        <p:nvSpPr>
          <p:cNvPr id="25" name="Text 8"/>
          <p:cNvSpPr txBox="1"/>
          <p:nvPr/>
        </p:nvSpPr>
        <p:spPr>
          <a:xfrm>
            <a:off x="1143000" y="2667305"/>
            <a:ext cx="1085850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orquestador.</a:t>
            </a:r>
            <a:endParaRPr lang="en-US" sz="57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5700" b="1" kern="0" spc="-17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departamento.</a:t>
            </a:r>
            <a:endParaRPr lang="en-US" sz="5700" dirty="0"/>
          </a:p>
        </p:txBody>
      </p:sp>
      <p:sp>
        <p:nvSpPr>
          <p:cNvPr id="26" name="Text 9"/>
          <p:cNvSpPr txBox="1"/>
          <p:nvPr/>
        </p:nvSpPr>
        <p:spPr>
          <a:xfrm>
            <a:off x="12573000" y="2381098"/>
            <a:ext cx="4572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agentes especializados que el orquestador MTi combina según el área donde está la fricción. Mismo núcleo, cada equipo con lo suyo.</a:t>
            </a:r>
            <a:endParaRPr lang="en-US" sz="1650" dirty="0"/>
          </a:p>
        </p:txBody>
      </p:sp>
      <p:pic>
        <p:nvPicPr>
          <p:cNvPr id="27" name="Image 15" descr="gen-dedup-1a8dfb1ca7322b06f5c975e8e293fed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1795" y="5124298"/>
            <a:ext cx="304495" cy="304495"/>
          </a:xfrm>
          <a:prstGeom prst="rect">
            <a:avLst/>
          </a:prstGeom>
        </p:spPr>
      </p:pic>
      <p:sp>
        <p:nvSpPr>
          <p:cNvPr id="28" name="Text 10"/>
          <p:cNvSpPr txBox="1"/>
          <p:nvPr/>
        </p:nvSpPr>
        <p:spPr>
          <a:xfrm>
            <a:off x="2210105" y="4990795"/>
            <a:ext cx="38578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75" dirty="0"/>
          </a:p>
        </p:txBody>
      </p:sp>
      <p:sp>
        <p:nvSpPr>
          <p:cNvPr id="29" name="Text 11"/>
          <p:cNvSpPr txBox="1"/>
          <p:nvPr/>
        </p:nvSpPr>
        <p:spPr>
          <a:xfrm>
            <a:off x="2210105" y="5201107"/>
            <a:ext cx="3857854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Ventas &amp; Comercial</a:t>
            </a:r>
            <a:endParaRPr lang="en-US" sz="1950" dirty="0"/>
          </a:p>
        </p:txBody>
      </p:sp>
      <p:sp>
        <p:nvSpPr>
          <p:cNvPr id="30" name="Text 12"/>
          <p:cNvSpPr txBox="1"/>
          <p:nvPr/>
        </p:nvSpPr>
        <p:spPr>
          <a:xfrm>
            <a:off x="1410005" y="5772607"/>
            <a:ext cx="46579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CRM se actualiza solo; el comercial se dedica a vender.</a:t>
            </a:r>
            <a:endParaRPr lang="en-US" sz="1350" dirty="0"/>
          </a:p>
        </p:txBody>
      </p:sp>
      <p:sp>
        <p:nvSpPr>
          <p:cNvPr id="31" name="Shape 13"/>
          <p:cNvSpPr/>
          <p:nvPr/>
        </p:nvSpPr>
        <p:spPr>
          <a:xfrm>
            <a:off x="1410005" y="6362395"/>
            <a:ext cx="961949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4"/>
          <p:cNvSpPr txBox="1"/>
          <p:nvPr/>
        </p:nvSpPr>
        <p:spPr>
          <a:xfrm>
            <a:off x="1410005" y="6362395"/>
            <a:ext cx="9628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1050" dirty="0"/>
          </a:p>
        </p:txBody>
      </p:sp>
      <p:sp>
        <p:nvSpPr>
          <p:cNvPr id="33" name="Shape 15"/>
          <p:cNvSpPr/>
          <p:nvPr/>
        </p:nvSpPr>
        <p:spPr>
          <a:xfrm>
            <a:off x="2421331" y="6362395"/>
            <a:ext cx="857707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6"/>
          <p:cNvSpPr txBox="1"/>
          <p:nvPr/>
        </p:nvSpPr>
        <p:spPr>
          <a:xfrm>
            <a:off x="2421331" y="6362395"/>
            <a:ext cx="8577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050" dirty="0"/>
          </a:p>
        </p:txBody>
      </p:sp>
      <p:sp>
        <p:nvSpPr>
          <p:cNvPr id="35" name="Shape 17"/>
          <p:cNvSpPr/>
          <p:nvPr/>
        </p:nvSpPr>
        <p:spPr>
          <a:xfrm>
            <a:off x="3332988" y="6362395"/>
            <a:ext cx="1019556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8"/>
          <p:cNvSpPr txBox="1"/>
          <p:nvPr/>
        </p:nvSpPr>
        <p:spPr>
          <a:xfrm>
            <a:off x="3332988" y="6362395"/>
            <a:ext cx="10195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050" dirty="0"/>
          </a:p>
        </p:txBody>
      </p:sp>
      <p:pic>
        <p:nvPicPr>
          <p:cNvPr id="37" name="Image 16" descr="gen-dedup-5e3b1ac51925740f2b0d3096c88d5c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3156" y="5124298"/>
            <a:ext cx="304495" cy="304495"/>
          </a:xfrm>
          <a:prstGeom prst="rect">
            <a:avLst/>
          </a:prstGeom>
        </p:spPr>
      </p:pic>
      <p:sp>
        <p:nvSpPr>
          <p:cNvPr id="38" name="Text 19"/>
          <p:cNvSpPr txBox="1"/>
          <p:nvPr/>
        </p:nvSpPr>
        <p:spPr>
          <a:xfrm>
            <a:off x="7610551" y="4990795"/>
            <a:ext cx="38578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75" dirty="0"/>
          </a:p>
        </p:txBody>
      </p:sp>
      <p:sp>
        <p:nvSpPr>
          <p:cNvPr id="39" name="Text 20"/>
          <p:cNvSpPr txBox="1"/>
          <p:nvPr/>
        </p:nvSpPr>
        <p:spPr>
          <a:xfrm>
            <a:off x="7610551" y="5201107"/>
            <a:ext cx="3857854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 &amp; Licitaciones</a:t>
            </a:r>
            <a:endParaRPr lang="en-US" sz="1950" dirty="0"/>
          </a:p>
        </p:txBody>
      </p:sp>
      <p:sp>
        <p:nvSpPr>
          <p:cNvPr id="40" name="Text 21"/>
          <p:cNvSpPr txBox="1"/>
          <p:nvPr/>
        </p:nvSpPr>
        <p:spPr>
          <a:xfrm>
            <a:off x="6810451" y="5772607"/>
            <a:ext cx="46579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pliego a la oferta defendible, con precios reales de su histórico.</a:t>
            </a:r>
            <a:endParaRPr lang="en-US" sz="1350" dirty="0"/>
          </a:p>
        </p:txBody>
      </p:sp>
      <p:sp>
        <p:nvSpPr>
          <p:cNvPr id="41" name="Shape 22"/>
          <p:cNvSpPr/>
          <p:nvPr/>
        </p:nvSpPr>
        <p:spPr>
          <a:xfrm>
            <a:off x="6810451" y="6362395"/>
            <a:ext cx="1019556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3"/>
          <p:cNvSpPr txBox="1"/>
          <p:nvPr/>
        </p:nvSpPr>
        <p:spPr>
          <a:xfrm>
            <a:off x="6810451" y="6362395"/>
            <a:ext cx="10195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050" dirty="0"/>
          </a:p>
        </p:txBody>
      </p:sp>
      <p:sp>
        <p:nvSpPr>
          <p:cNvPr id="43" name="Shape 24"/>
          <p:cNvSpPr/>
          <p:nvPr/>
        </p:nvSpPr>
        <p:spPr>
          <a:xfrm>
            <a:off x="7883957" y="6362395"/>
            <a:ext cx="1419149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5"/>
          <p:cNvSpPr txBox="1"/>
          <p:nvPr/>
        </p:nvSpPr>
        <p:spPr>
          <a:xfrm>
            <a:off x="7883957" y="6362395"/>
            <a:ext cx="14200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050" dirty="0"/>
          </a:p>
        </p:txBody>
      </p:sp>
      <p:sp>
        <p:nvSpPr>
          <p:cNvPr id="45" name="Shape 26"/>
          <p:cNvSpPr/>
          <p:nvPr/>
        </p:nvSpPr>
        <p:spPr>
          <a:xfrm>
            <a:off x="9357055" y="6362395"/>
            <a:ext cx="1352398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7"/>
          <p:cNvSpPr txBox="1"/>
          <p:nvPr/>
        </p:nvSpPr>
        <p:spPr>
          <a:xfrm>
            <a:off x="9357055" y="6362395"/>
            <a:ext cx="13533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050" dirty="0"/>
          </a:p>
        </p:txBody>
      </p:sp>
      <p:pic>
        <p:nvPicPr>
          <p:cNvPr id="47" name="Image 17" descr="gen-dedup-b09fd66f52af72aa409bc4acb25f14d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63602" y="5124298"/>
            <a:ext cx="304495" cy="304495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13010998" y="4990795"/>
            <a:ext cx="38578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75" dirty="0"/>
          </a:p>
        </p:txBody>
      </p:sp>
      <p:sp>
        <p:nvSpPr>
          <p:cNvPr id="49" name="Text 29"/>
          <p:cNvSpPr txBox="1"/>
          <p:nvPr/>
        </p:nvSpPr>
        <p:spPr>
          <a:xfrm>
            <a:off x="13010998" y="5201107"/>
            <a:ext cx="3857854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&amp; Logística</a:t>
            </a:r>
            <a:endParaRPr lang="en-US" sz="1950" dirty="0"/>
          </a:p>
        </p:txBody>
      </p:sp>
      <p:sp>
        <p:nvSpPr>
          <p:cNvPr id="50" name="Text 30"/>
          <p:cNvSpPr txBox="1"/>
          <p:nvPr/>
        </p:nvSpPr>
        <p:spPr>
          <a:xfrm>
            <a:off x="12210898" y="5772607"/>
            <a:ext cx="484632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Pedidos, albaranes y rutas sin grabado manual.</a:t>
            </a:r>
            <a:endParaRPr lang="en-US" sz="1350" dirty="0"/>
          </a:p>
        </p:txBody>
      </p:sp>
      <p:sp>
        <p:nvSpPr>
          <p:cNvPr id="51" name="Shape 31"/>
          <p:cNvSpPr/>
          <p:nvPr/>
        </p:nvSpPr>
        <p:spPr>
          <a:xfrm>
            <a:off x="12210898" y="6362395"/>
            <a:ext cx="1057046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32"/>
          <p:cNvSpPr txBox="1"/>
          <p:nvPr/>
        </p:nvSpPr>
        <p:spPr>
          <a:xfrm>
            <a:off x="12210898" y="6362395"/>
            <a:ext cx="105796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050" dirty="0"/>
          </a:p>
        </p:txBody>
      </p:sp>
      <p:sp>
        <p:nvSpPr>
          <p:cNvPr id="53" name="Shape 33"/>
          <p:cNvSpPr/>
          <p:nvPr/>
        </p:nvSpPr>
        <p:spPr>
          <a:xfrm>
            <a:off x="13322808" y="6362395"/>
            <a:ext cx="1352398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34"/>
          <p:cNvSpPr txBox="1"/>
          <p:nvPr/>
        </p:nvSpPr>
        <p:spPr>
          <a:xfrm>
            <a:off x="13322808" y="6362395"/>
            <a:ext cx="13533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050" dirty="0"/>
          </a:p>
        </p:txBody>
      </p:sp>
      <p:sp>
        <p:nvSpPr>
          <p:cNvPr id="55" name="Shape 35"/>
          <p:cNvSpPr/>
          <p:nvPr/>
        </p:nvSpPr>
        <p:spPr>
          <a:xfrm>
            <a:off x="14732813" y="6362395"/>
            <a:ext cx="1419149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36"/>
          <p:cNvSpPr txBox="1"/>
          <p:nvPr/>
        </p:nvSpPr>
        <p:spPr>
          <a:xfrm>
            <a:off x="14732813" y="6362395"/>
            <a:ext cx="14200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050" dirty="0"/>
          </a:p>
        </p:txBody>
      </p:sp>
      <p:pic>
        <p:nvPicPr>
          <p:cNvPr id="57" name="Image 18" descr="gen-dedup-40fe17d3ab1353232329f201d424c93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1795" y="7601407"/>
            <a:ext cx="304495" cy="304495"/>
          </a:xfrm>
          <a:prstGeom prst="rect">
            <a:avLst/>
          </a:prstGeom>
        </p:spPr>
      </p:pic>
      <p:sp>
        <p:nvSpPr>
          <p:cNvPr id="58" name="Text 37"/>
          <p:cNvSpPr txBox="1"/>
          <p:nvPr/>
        </p:nvSpPr>
        <p:spPr>
          <a:xfrm>
            <a:off x="2210105" y="7467905"/>
            <a:ext cx="38578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75" dirty="0"/>
          </a:p>
        </p:txBody>
      </p:sp>
      <p:sp>
        <p:nvSpPr>
          <p:cNvPr id="59" name="Text 38"/>
          <p:cNvSpPr txBox="1"/>
          <p:nvPr/>
        </p:nvSpPr>
        <p:spPr>
          <a:xfrm>
            <a:off x="2210105" y="7677302"/>
            <a:ext cx="3857854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al Cliente</a:t>
            </a:r>
            <a:endParaRPr lang="en-US" sz="1950" dirty="0"/>
          </a:p>
        </p:txBody>
      </p:sp>
      <p:sp>
        <p:nvSpPr>
          <p:cNvPr id="60" name="Text 39"/>
          <p:cNvSpPr txBox="1"/>
          <p:nvPr/>
        </p:nvSpPr>
        <p:spPr>
          <a:xfrm>
            <a:off x="1410005" y="8248802"/>
            <a:ext cx="46579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Teléfono y correo atendidos 24/7, con traspaso inteligente al humano.</a:t>
            </a:r>
            <a:endParaRPr lang="en-US" sz="1350" dirty="0"/>
          </a:p>
        </p:txBody>
      </p:sp>
      <p:sp>
        <p:nvSpPr>
          <p:cNvPr id="61" name="Shape 40"/>
          <p:cNvSpPr/>
          <p:nvPr/>
        </p:nvSpPr>
        <p:spPr>
          <a:xfrm>
            <a:off x="1410005" y="8839505"/>
            <a:ext cx="790956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41"/>
          <p:cNvSpPr txBox="1"/>
          <p:nvPr/>
        </p:nvSpPr>
        <p:spPr>
          <a:xfrm>
            <a:off x="1410005" y="8839505"/>
            <a:ext cx="7909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050" dirty="0"/>
          </a:p>
        </p:txBody>
      </p:sp>
      <p:sp>
        <p:nvSpPr>
          <p:cNvPr id="63" name="Shape 42"/>
          <p:cNvSpPr/>
          <p:nvPr/>
        </p:nvSpPr>
        <p:spPr>
          <a:xfrm>
            <a:off x="2251253" y="8839505"/>
            <a:ext cx="961949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43"/>
          <p:cNvSpPr txBox="1"/>
          <p:nvPr/>
        </p:nvSpPr>
        <p:spPr>
          <a:xfrm>
            <a:off x="2251253" y="8839505"/>
            <a:ext cx="9628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1050" dirty="0"/>
          </a:p>
        </p:txBody>
      </p:sp>
      <p:sp>
        <p:nvSpPr>
          <p:cNvPr id="65" name="Shape 44"/>
          <p:cNvSpPr/>
          <p:nvPr/>
        </p:nvSpPr>
        <p:spPr>
          <a:xfrm>
            <a:off x="3263494" y="8839505"/>
            <a:ext cx="1419149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45"/>
          <p:cNvSpPr txBox="1"/>
          <p:nvPr/>
        </p:nvSpPr>
        <p:spPr>
          <a:xfrm>
            <a:off x="3263494" y="8839505"/>
            <a:ext cx="14200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050" dirty="0"/>
          </a:p>
        </p:txBody>
      </p:sp>
      <p:pic>
        <p:nvPicPr>
          <p:cNvPr id="67" name="Image 19" descr="gen-dedup-21392aff2a05efa6ef5db03d2b1405a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63156" y="7601407"/>
            <a:ext cx="304495" cy="304495"/>
          </a:xfrm>
          <a:prstGeom prst="rect">
            <a:avLst/>
          </a:prstGeom>
        </p:spPr>
      </p:pic>
      <p:sp>
        <p:nvSpPr>
          <p:cNvPr id="68" name="Text 46"/>
          <p:cNvSpPr txBox="1"/>
          <p:nvPr/>
        </p:nvSpPr>
        <p:spPr>
          <a:xfrm>
            <a:off x="7610551" y="7467905"/>
            <a:ext cx="38578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75" dirty="0"/>
          </a:p>
        </p:txBody>
      </p:sp>
      <p:sp>
        <p:nvSpPr>
          <p:cNvPr id="69" name="Text 47"/>
          <p:cNvSpPr txBox="1"/>
          <p:nvPr/>
        </p:nvSpPr>
        <p:spPr>
          <a:xfrm>
            <a:off x="7610551" y="7677302"/>
            <a:ext cx="3857854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&amp; Producción</a:t>
            </a:r>
            <a:endParaRPr lang="en-US" sz="1950" dirty="0"/>
          </a:p>
        </p:txBody>
      </p:sp>
      <p:sp>
        <p:nvSpPr>
          <p:cNvPr id="70" name="Text 48"/>
          <p:cNvSpPr txBox="1"/>
          <p:nvPr/>
        </p:nvSpPr>
        <p:spPr>
          <a:xfrm>
            <a:off x="6810451" y="8248802"/>
            <a:ext cx="46579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reporte del operario al cierre con causa raíz documentada.</a:t>
            </a:r>
            <a:endParaRPr lang="en-US" sz="1350" dirty="0"/>
          </a:p>
        </p:txBody>
      </p:sp>
      <p:sp>
        <p:nvSpPr>
          <p:cNvPr id="71" name="Shape 49"/>
          <p:cNvSpPr/>
          <p:nvPr/>
        </p:nvSpPr>
        <p:spPr>
          <a:xfrm>
            <a:off x="6810451" y="8839505"/>
            <a:ext cx="1028700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50"/>
          <p:cNvSpPr txBox="1"/>
          <p:nvPr/>
        </p:nvSpPr>
        <p:spPr>
          <a:xfrm>
            <a:off x="6810451" y="8839505"/>
            <a:ext cx="10287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050" dirty="0"/>
          </a:p>
        </p:txBody>
      </p:sp>
      <p:sp>
        <p:nvSpPr>
          <p:cNvPr id="73" name="Shape 51"/>
          <p:cNvSpPr/>
          <p:nvPr/>
        </p:nvSpPr>
        <p:spPr>
          <a:xfrm>
            <a:off x="7894015" y="8839505"/>
            <a:ext cx="1419149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52"/>
          <p:cNvSpPr txBox="1"/>
          <p:nvPr/>
        </p:nvSpPr>
        <p:spPr>
          <a:xfrm>
            <a:off x="7894015" y="8839505"/>
            <a:ext cx="14200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050" dirty="0"/>
          </a:p>
        </p:txBody>
      </p:sp>
      <p:sp>
        <p:nvSpPr>
          <p:cNvPr id="75" name="Shape 53"/>
          <p:cNvSpPr/>
          <p:nvPr/>
        </p:nvSpPr>
        <p:spPr>
          <a:xfrm>
            <a:off x="9368028" y="8839505"/>
            <a:ext cx="790956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4"/>
          <p:cNvSpPr txBox="1"/>
          <p:nvPr/>
        </p:nvSpPr>
        <p:spPr>
          <a:xfrm>
            <a:off x="9368028" y="8839505"/>
            <a:ext cx="7909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050" dirty="0"/>
          </a:p>
        </p:txBody>
      </p:sp>
      <p:pic>
        <p:nvPicPr>
          <p:cNvPr id="77" name="Image 20" descr="gen-dedup-a16a80f0963ce5104b817517ca3b047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63602" y="7601407"/>
            <a:ext cx="304495" cy="304495"/>
          </a:xfrm>
          <a:prstGeom prst="rect">
            <a:avLst/>
          </a:prstGeom>
        </p:spPr>
      </p:pic>
      <p:sp>
        <p:nvSpPr>
          <p:cNvPr id="78" name="Text 55"/>
          <p:cNvSpPr txBox="1"/>
          <p:nvPr/>
        </p:nvSpPr>
        <p:spPr>
          <a:xfrm>
            <a:off x="13010998" y="7467905"/>
            <a:ext cx="38578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75" dirty="0"/>
          </a:p>
        </p:txBody>
      </p:sp>
      <p:sp>
        <p:nvSpPr>
          <p:cNvPr id="79" name="Text 56"/>
          <p:cNvSpPr txBox="1"/>
          <p:nvPr/>
        </p:nvSpPr>
        <p:spPr>
          <a:xfrm>
            <a:off x="13010998" y="7677302"/>
            <a:ext cx="3857854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Administración &amp; Finanzas</a:t>
            </a:r>
            <a:endParaRPr lang="en-US" sz="1950" dirty="0"/>
          </a:p>
        </p:txBody>
      </p:sp>
      <p:sp>
        <p:nvSpPr>
          <p:cNvPr id="80" name="Text 57"/>
          <p:cNvSpPr txBox="1"/>
          <p:nvPr/>
        </p:nvSpPr>
        <p:spPr>
          <a:xfrm>
            <a:off x="12210898" y="8248802"/>
            <a:ext cx="534375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Documentos, tarifas y conciliaciones que cuadran solos.</a:t>
            </a:r>
            <a:endParaRPr lang="en-US" sz="1350" dirty="0"/>
          </a:p>
        </p:txBody>
      </p:sp>
      <p:sp>
        <p:nvSpPr>
          <p:cNvPr id="81" name="Shape 58"/>
          <p:cNvSpPr/>
          <p:nvPr/>
        </p:nvSpPr>
        <p:spPr>
          <a:xfrm>
            <a:off x="12210898" y="8839505"/>
            <a:ext cx="1352398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59"/>
          <p:cNvSpPr txBox="1"/>
          <p:nvPr/>
        </p:nvSpPr>
        <p:spPr>
          <a:xfrm>
            <a:off x="12210898" y="8839505"/>
            <a:ext cx="13533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050" dirty="0"/>
          </a:p>
        </p:txBody>
      </p:sp>
      <p:sp>
        <p:nvSpPr>
          <p:cNvPr id="83" name="Shape 60"/>
          <p:cNvSpPr/>
          <p:nvPr/>
        </p:nvSpPr>
        <p:spPr>
          <a:xfrm>
            <a:off x="13620902" y="8839505"/>
            <a:ext cx="1057046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61"/>
          <p:cNvSpPr txBox="1"/>
          <p:nvPr/>
        </p:nvSpPr>
        <p:spPr>
          <a:xfrm>
            <a:off x="13620902" y="8839505"/>
            <a:ext cx="105796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050" dirty="0"/>
          </a:p>
        </p:txBody>
      </p:sp>
      <p:sp>
        <p:nvSpPr>
          <p:cNvPr id="85" name="Shape 62"/>
          <p:cNvSpPr/>
          <p:nvPr/>
        </p:nvSpPr>
        <p:spPr>
          <a:xfrm>
            <a:off x="14732813" y="8839505"/>
            <a:ext cx="1019556" cy="267005"/>
          </a:xfrm>
          <a:prstGeom prst="roundRect">
            <a:avLst>
              <a:gd name="adj" fmla="val 10616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63"/>
          <p:cNvSpPr txBox="1"/>
          <p:nvPr/>
        </p:nvSpPr>
        <p:spPr>
          <a:xfrm>
            <a:off x="14732813" y="8839505"/>
            <a:ext cx="10195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63500" rIns="101600" bIns="6350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r>
              <a:rPr lang="en-US" sz="105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050" dirty="0"/>
          </a:p>
        </p:txBody>
      </p:sp>
      <p:pic>
        <p:nvPicPr>
          <p:cNvPr id="88" name="Image 1" descr="gen-dedup-3fc9b6bd6bd01734c54b10a0f11af3f3.png">
            <a:extLst>
              <a:ext uri="{FF2B5EF4-FFF2-40B4-BE49-F238E27FC236}">
                <a16:creationId xmlns:a16="http://schemas.microsoft.com/office/drawing/2014/main" id="{D7E55F18-E215-5324-DEEC-8EB92E87AA6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7ad208497a0127a0e420179e11b85b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1718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143854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1149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752e8c34e1f413036db12b5ea6cabc7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476695" y="4667098"/>
            <a:ext cx="5333695" cy="38103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72707" y="4762195"/>
            <a:ext cx="5143500" cy="3619195"/>
          </a:xfrm>
          <a:prstGeom prst="roundRect">
            <a:avLst>
              <a:gd name="adj" fmla="val 783"/>
            </a:avLst>
          </a:prstGeom>
          <a:noFill/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4686300"/>
            <a:ext cx="4095598" cy="857707"/>
          </a:xfrm>
          <a:prstGeom prst="rect">
            <a:avLst/>
          </a:prstGeom>
        </p:spPr>
      </p:pic>
      <p:pic>
        <p:nvPicPr>
          <p:cNvPr id="9" name="Image 3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5658307"/>
            <a:ext cx="4095598" cy="857707"/>
          </a:xfrm>
          <a:prstGeom prst="rect">
            <a:avLst/>
          </a:prstGeom>
        </p:spPr>
      </p:pic>
      <p:pic>
        <p:nvPicPr>
          <p:cNvPr id="10" name="Image 4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6629400"/>
            <a:ext cx="4095598" cy="857707"/>
          </a:xfrm>
          <a:prstGeom prst="rect">
            <a:avLst/>
          </a:prstGeom>
        </p:spPr>
      </p:pic>
      <p:pic>
        <p:nvPicPr>
          <p:cNvPr id="11" name="Image 5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7601407"/>
            <a:ext cx="4095598" cy="857707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13049402" y="8725205"/>
            <a:ext cx="4095597" cy="952805"/>
          </a:xfrm>
          <a:prstGeom prst="roundRect">
            <a:avLst>
              <a:gd name="adj" fmla="val 4031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/>
          <p:cNvSpPr/>
          <p:nvPr/>
        </p:nvSpPr>
        <p:spPr>
          <a:xfrm>
            <a:off x="1143000" y="2095805"/>
            <a:ext cx="495605" cy="457200"/>
          </a:xfrm>
          <a:prstGeom prst="roundRect">
            <a:avLst>
              <a:gd name="adj" fmla="val 4200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/>
          <p:cNvSpPr/>
          <p:nvPr/>
        </p:nvSpPr>
        <p:spPr>
          <a:xfrm>
            <a:off x="1285646" y="53154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/>
          <p:cNvSpPr/>
          <p:nvPr/>
        </p:nvSpPr>
        <p:spPr>
          <a:xfrm>
            <a:off x="1285646" y="6286500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8"/>
          <p:cNvSpPr/>
          <p:nvPr/>
        </p:nvSpPr>
        <p:spPr>
          <a:xfrm>
            <a:off x="1285646" y="72585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6" descr="gen-dedup-ce5fa75b8f2c8c62f55bab563be32c6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6762902" y="5715000"/>
            <a:ext cx="4762195" cy="9144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762902" y="6172200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7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6277356"/>
            <a:ext cx="342900" cy="342900"/>
          </a:xfrm>
          <a:prstGeom prst="rect">
            <a:avLst/>
          </a:prstGeom>
        </p:spPr>
      </p:pic>
      <p:pic>
        <p:nvPicPr>
          <p:cNvPr id="20" name="Image 8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6277356"/>
            <a:ext cx="342900" cy="342900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6762902" y="6819595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9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48595" y="6924751"/>
            <a:ext cx="342900" cy="342900"/>
          </a:xfrm>
          <a:prstGeom prst="rect">
            <a:avLst/>
          </a:prstGeom>
        </p:spPr>
      </p:pic>
      <p:pic>
        <p:nvPicPr>
          <p:cNvPr id="23" name="Image 10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6924751"/>
            <a:ext cx="342900" cy="342900"/>
          </a:xfrm>
          <a:prstGeom prst="rect">
            <a:avLst/>
          </a:prstGeom>
        </p:spPr>
      </p:pic>
      <p:pic>
        <p:nvPicPr>
          <p:cNvPr id="24" name="Image 11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6924751"/>
            <a:ext cx="342900" cy="342900"/>
          </a:xfrm>
          <a:prstGeom prst="rect">
            <a:avLst/>
          </a:prstGeom>
        </p:spPr>
      </p:pic>
      <p:sp>
        <p:nvSpPr>
          <p:cNvPr id="25" name="Shape 11"/>
          <p:cNvSpPr/>
          <p:nvPr/>
        </p:nvSpPr>
        <p:spPr>
          <a:xfrm>
            <a:off x="6762902" y="7467905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2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7572146"/>
            <a:ext cx="342900" cy="342900"/>
          </a:xfrm>
          <a:prstGeom prst="rect">
            <a:avLst/>
          </a:prstGeom>
        </p:spPr>
      </p:pic>
      <p:pic>
        <p:nvPicPr>
          <p:cNvPr id="27" name="Image 13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7572146"/>
            <a:ext cx="342900" cy="342900"/>
          </a:xfrm>
          <a:prstGeom prst="rect">
            <a:avLst/>
          </a:prstGeom>
        </p:spPr>
      </p:pic>
      <p:pic>
        <p:nvPicPr>
          <p:cNvPr id="28" name="Image 14" descr="gen-dedup-b0657a3e76b47982c976da763b923f1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430854" y="4828946"/>
            <a:ext cx="571500" cy="571500"/>
          </a:xfrm>
          <a:prstGeom prst="rect">
            <a:avLst/>
          </a:prstGeom>
        </p:spPr>
      </p:pic>
      <p:sp>
        <p:nvSpPr>
          <p:cNvPr id="29" name="Shape 12"/>
          <p:cNvSpPr/>
          <p:nvPr/>
        </p:nvSpPr>
        <p:spPr>
          <a:xfrm>
            <a:off x="16430854" y="5800954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3"/>
          <p:cNvSpPr/>
          <p:nvPr/>
        </p:nvSpPr>
        <p:spPr>
          <a:xfrm>
            <a:off x="16430854" y="6772046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5" descr="gen-dedup-b0657a3e76b47982c976da763b923f1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430854" y="7744054"/>
            <a:ext cx="571500" cy="571500"/>
          </a:xfrm>
          <a:prstGeom prst="rect">
            <a:avLst/>
          </a:prstGeom>
        </p:spPr>
      </p:pic>
      <p:pic>
        <p:nvPicPr>
          <p:cNvPr id="32" name="Image 16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382598" y="8991295"/>
            <a:ext cx="418795" cy="418795"/>
          </a:xfrm>
          <a:prstGeom prst="rect">
            <a:avLst/>
          </a:prstGeom>
        </p:spPr>
      </p:pic>
      <p:pic>
        <p:nvPicPr>
          <p:cNvPr id="33" name="Image 17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897405" y="8991295"/>
            <a:ext cx="418795" cy="418795"/>
          </a:xfrm>
          <a:prstGeom prst="rect">
            <a:avLst/>
          </a:prstGeom>
        </p:spPr>
      </p:pic>
      <p:pic>
        <p:nvPicPr>
          <p:cNvPr id="34" name="Image 18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411298" y="8991295"/>
            <a:ext cx="418795" cy="418795"/>
          </a:xfrm>
          <a:prstGeom prst="rect">
            <a:avLst/>
          </a:prstGeom>
        </p:spPr>
      </p:pic>
      <p:pic>
        <p:nvPicPr>
          <p:cNvPr id="35" name="Image 19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926105" y="8991295"/>
            <a:ext cx="418795" cy="418795"/>
          </a:xfrm>
          <a:prstGeom prst="rect">
            <a:avLst/>
          </a:prstGeom>
        </p:spPr>
      </p:pic>
      <p:pic>
        <p:nvPicPr>
          <p:cNvPr id="36" name="Image 20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439998" y="8991295"/>
            <a:ext cx="418795" cy="418795"/>
          </a:xfrm>
          <a:prstGeom prst="rect">
            <a:avLst/>
          </a:prstGeom>
        </p:spPr>
      </p:pic>
      <p:pic>
        <p:nvPicPr>
          <p:cNvPr id="38" name="Image 22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39" name="Image 23" descr="gen-dedup-5023fea922589d6909f6d48e2362d329.png"/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0715854" y="6344107"/>
            <a:ext cx="209398" cy="209398"/>
          </a:xfrm>
          <a:prstGeom prst="rect">
            <a:avLst/>
          </a:prstGeom>
        </p:spPr>
      </p:pic>
      <p:pic>
        <p:nvPicPr>
          <p:cNvPr id="40" name="Image 24" descr="gen-dedup-04a6c6595c9dff6b95c3b59c31d72678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115446" y="6344107"/>
            <a:ext cx="209398" cy="209398"/>
          </a:xfrm>
          <a:prstGeom prst="rect">
            <a:avLst/>
          </a:prstGeom>
        </p:spPr>
      </p:pic>
      <p:pic>
        <p:nvPicPr>
          <p:cNvPr id="41" name="Image 25" descr="gen-dedup-cccdc2a040b214ef7fde3dbc2c4c0c91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315346" y="6991502"/>
            <a:ext cx="209398" cy="209398"/>
          </a:xfrm>
          <a:prstGeom prst="rect">
            <a:avLst/>
          </a:prstGeom>
        </p:spPr>
      </p:pic>
      <p:pic>
        <p:nvPicPr>
          <p:cNvPr id="42" name="Image 26" descr="gen-dedup-0a8fc9582b692f62728f87e0123855c3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715854" y="6991502"/>
            <a:ext cx="209398" cy="209398"/>
          </a:xfrm>
          <a:prstGeom prst="rect">
            <a:avLst/>
          </a:prstGeom>
        </p:spPr>
      </p:pic>
      <p:pic>
        <p:nvPicPr>
          <p:cNvPr id="43" name="Image 27" descr="gen-dedup-dc1f25954fda8af65157a95b5d7177cd.png"/>
          <p:cNvPicPr>
            <a:picLocks noChangeAspect="1"/>
          </p:cNvPicPr>
          <p:nvPr/>
        </p:nvPicPr>
        <p:blipFill>
          <a:blip r:embed="rId15"/>
          <a:srcRect t="-21875" b="-21875"/>
          <a:stretch/>
        </p:blipFill>
        <p:spPr>
          <a:xfrm>
            <a:off x="11115446" y="6991502"/>
            <a:ext cx="209398" cy="209398"/>
          </a:xfrm>
          <a:prstGeom prst="rect">
            <a:avLst/>
          </a:prstGeom>
        </p:spPr>
      </p:pic>
      <p:pic>
        <p:nvPicPr>
          <p:cNvPr id="44" name="Image 28" descr="gen-dedup-1ca55d8bcfd048e85c2feec6baee4754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715854" y="7638898"/>
            <a:ext cx="209398" cy="209398"/>
          </a:xfrm>
          <a:prstGeom prst="rect">
            <a:avLst/>
          </a:prstGeom>
        </p:spPr>
      </p:pic>
      <p:pic>
        <p:nvPicPr>
          <p:cNvPr id="45" name="Image 29" descr="gen-dedup-e65a801e1d2e7d7f545c66da47e65295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1115446" y="7638898"/>
            <a:ext cx="209398" cy="209398"/>
          </a:xfrm>
          <a:prstGeom prst="rect">
            <a:avLst/>
          </a:prstGeom>
        </p:spPr>
      </p:pic>
      <p:pic>
        <p:nvPicPr>
          <p:cNvPr id="46" name="Image 30" descr="gen-dedup-097c4cdc002ec87c7cb4fa3dcf4a769f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6545154" y="4943246"/>
            <a:ext cx="342900" cy="342900"/>
          </a:xfrm>
          <a:prstGeom prst="rect">
            <a:avLst/>
          </a:prstGeom>
        </p:spPr>
      </p:pic>
      <p:pic>
        <p:nvPicPr>
          <p:cNvPr id="47" name="Image 31" descr="gen-dedup-e65a801e1d2e7d7f545c66da47e65295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6545154" y="7858354"/>
            <a:ext cx="342900" cy="342900"/>
          </a:xfrm>
          <a:prstGeom prst="rect">
            <a:avLst/>
          </a:prstGeom>
        </p:spPr>
      </p:pic>
      <p:pic>
        <p:nvPicPr>
          <p:cNvPr id="48" name="Image 32" descr="gen-dedup-5023fea922589d6909f6d48e2362d329.png"/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4468551" y="9077249"/>
            <a:ext cx="247802" cy="247802"/>
          </a:xfrm>
          <a:prstGeom prst="rect">
            <a:avLst/>
          </a:prstGeom>
        </p:spPr>
      </p:pic>
      <p:pic>
        <p:nvPicPr>
          <p:cNvPr id="49" name="Image 33" descr="gen-dedup-04a6c6595c9dff6b95c3b59c31d72678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982444" y="9077249"/>
            <a:ext cx="247802" cy="247802"/>
          </a:xfrm>
          <a:prstGeom prst="rect">
            <a:avLst/>
          </a:prstGeom>
        </p:spPr>
      </p:pic>
      <p:pic>
        <p:nvPicPr>
          <p:cNvPr id="50" name="Image 34" descr="gen-dedup-038f9e27434e2a0b02f224e085a42298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5497251" y="9077249"/>
            <a:ext cx="247802" cy="247802"/>
          </a:xfrm>
          <a:prstGeom prst="rect">
            <a:avLst/>
          </a:prstGeom>
        </p:spPr>
      </p:pic>
      <p:pic>
        <p:nvPicPr>
          <p:cNvPr id="51" name="Image 35" descr="gen-dedup-6a6253bad93ae44cbe29d8ab8ab68a9f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6011144" y="9077249"/>
            <a:ext cx="247802" cy="247802"/>
          </a:xfrm>
          <a:prstGeom prst="rect">
            <a:avLst/>
          </a:prstGeom>
        </p:spPr>
      </p:pic>
      <p:pic>
        <p:nvPicPr>
          <p:cNvPr id="52" name="Image 36" descr="gen-dedup-dc1f25954fda8af65157a95b5d7177cd.png"/>
          <p:cNvPicPr>
            <a:picLocks noChangeAspect="1"/>
          </p:cNvPicPr>
          <p:nvPr/>
        </p:nvPicPr>
        <p:blipFill>
          <a:blip r:embed="rId15"/>
          <a:srcRect t="-21875" b="-21875"/>
          <a:stretch/>
        </p:blipFill>
        <p:spPr>
          <a:xfrm>
            <a:off x="16525951" y="9077249"/>
            <a:ext cx="247802" cy="247802"/>
          </a:xfrm>
          <a:prstGeom prst="rect">
            <a:avLst/>
          </a:prstGeom>
        </p:spPr>
      </p:pic>
      <p:pic>
        <p:nvPicPr>
          <p:cNvPr id="54" name="Image 37" descr="gen-dedup-1a8dfb1ca7322b06f5c975e8e293fedf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7300" y="2190902"/>
            <a:ext cx="267005" cy="267005"/>
          </a:xfrm>
          <a:prstGeom prst="rect">
            <a:avLst/>
          </a:prstGeom>
        </p:spPr>
      </p:pic>
      <p:sp>
        <p:nvSpPr>
          <p:cNvPr id="55" name="Text 15"/>
          <p:cNvSpPr txBox="1"/>
          <p:nvPr/>
        </p:nvSpPr>
        <p:spPr>
          <a:xfrm>
            <a:off x="1848002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Departamento comercial · Cómo ayudamos</a:t>
            </a:r>
            <a:endParaRPr lang="en-US" sz="1125" dirty="0"/>
          </a:p>
        </p:txBody>
      </p:sp>
      <p:sp>
        <p:nvSpPr>
          <p:cNvPr id="56" name="Text 16"/>
          <p:cNvSpPr txBox="1"/>
          <p:nvPr/>
        </p:nvSpPr>
        <p:spPr>
          <a:xfrm>
            <a:off x="1143000" y="2704795"/>
            <a:ext cx="10858500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Ventas </a:t>
            </a: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Comercial.</a:t>
            </a:r>
            <a:endParaRPr lang="en-US" sz="5550" dirty="0"/>
          </a:p>
        </p:txBody>
      </p:sp>
      <p:sp>
        <p:nvSpPr>
          <p:cNvPr id="57" name="Text 17"/>
          <p:cNvSpPr txBox="1"/>
          <p:nvPr/>
        </p:nvSpPr>
        <p:spPr>
          <a:xfrm>
            <a:off x="1143000" y="3657600"/>
            <a:ext cx="11049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CRM se actualiza solo; el comercial se dedica a vender.</a:t>
            </a:r>
            <a:endParaRPr lang="en-US" sz="1950" dirty="0"/>
          </a:p>
        </p:txBody>
      </p:sp>
      <p:sp>
        <p:nvSpPr>
          <p:cNvPr id="58" name="Text 18"/>
          <p:cNvSpPr txBox="1"/>
          <p:nvPr/>
        </p:nvSpPr>
        <p:spPr>
          <a:xfrm>
            <a:off x="12573000" y="2247595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que intervienen</a:t>
            </a:r>
            <a:endParaRPr lang="en-US" sz="975" dirty="0"/>
          </a:p>
        </p:txBody>
      </p:sp>
      <p:sp>
        <p:nvSpPr>
          <p:cNvPr id="59" name="Shape 19"/>
          <p:cNvSpPr/>
          <p:nvPr/>
        </p:nvSpPr>
        <p:spPr>
          <a:xfrm>
            <a:off x="12573000" y="2533802"/>
            <a:ext cx="1895551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20"/>
          <p:cNvSpPr txBox="1"/>
          <p:nvPr/>
        </p:nvSpPr>
        <p:spPr>
          <a:xfrm>
            <a:off x="12573000" y="2533802"/>
            <a:ext cx="18955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 · Correo</a:t>
            </a:r>
            <a:endParaRPr lang="en-US" sz="1125" dirty="0"/>
          </a:p>
        </p:txBody>
      </p:sp>
      <p:sp>
        <p:nvSpPr>
          <p:cNvPr id="61" name="Shape 21"/>
          <p:cNvSpPr/>
          <p:nvPr/>
        </p:nvSpPr>
        <p:spPr>
          <a:xfrm>
            <a:off x="14540789" y="2533802"/>
            <a:ext cx="157185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2"/>
          <p:cNvSpPr txBox="1"/>
          <p:nvPr/>
        </p:nvSpPr>
        <p:spPr>
          <a:xfrm>
            <a:off x="14540789" y="2533802"/>
            <a:ext cx="1571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 · CRM</a:t>
            </a:r>
            <a:endParaRPr lang="en-US" sz="1125" dirty="0"/>
          </a:p>
        </p:txBody>
      </p:sp>
      <p:sp>
        <p:nvSpPr>
          <p:cNvPr id="63" name="Shape 23"/>
          <p:cNvSpPr/>
          <p:nvPr/>
        </p:nvSpPr>
        <p:spPr>
          <a:xfrm>
            <a:off x="12573000" y="2905049"/>
            <a:ext cx="1981505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24"/>
          <p:cNvSpPr txBox="1"/>
          <p:nvPr/>
        </p:nvSpPr>
        <p:spPr>
          <a:xfrm>
            <a:off x="12573000" y="2905049"/>
            <a:ext cx="19815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 · </a:t>
            </a:r>
            <a:r>
              <a:rPr lang="en-US" sz="112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</a:t>
            </a:r>
            <a:endParaRPr lang="en-US" sz="1125" dirty="0"/>
          </a:p>
        </p:txBody>
      </p:sp>
      <p:sp>
        <p:nvSpPr>
          <p:cNvPr id="65" name="Text 25"/>
          <p:cNvSpPr txBox="1"/>
          <p:nvPr/>
        </p:nvSpPr>
        <p:spPr>
          <a:xfrm>
            <a:off x="1143000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El problema hoy</a:t>
            </a:r>
            <a:endParaRPr lang="en-US" sz="1050" dirty="0"/>
          </a:p>
        </p:txBody>
      </p:sp>
      <p:sp>
        <p:nvSpPr>
          <p:cNvPr id="66" name="Text 26"/>
          <p:cNvSpPr txBox="1"/>
          <p:nvPr/>
        </p:nvSpPr>
        <p:spPr>
          <a:xfrm>
            <a:off x="6476695" y="4324198"/>
            <a:ext cx="533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Orquestador MTi + agentes</a:t>
            </a:r>
            <a:endParaRPr lang="en-US" sz="1050" dirty="0"/>
          </a:p>
        </p:txBody>
      </p:sp>
      <p:sp>
        <p:nvSpPr>
          <p:cNvPr id="67" name="Text 27"/>
          <p:cNvSpPr txBox="1"/>
          <p:nvPr/>
        </p:nvSpPr>
        <p:spPr>
          <a:xfrm>
            <a:off x="13049402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Outputs</a:t>
            </a:r>
            <a:endParaRPr lang="en-US" sz="1050" dirty="0"/>
          </a:p>
        </p:txBody>
      </p:sp>
      <p:pic>
        <p:nvPicPr>
          <p:cNvPr id="68" name="Image 38" descr="gen-dedup-f45cfadb686c255b36fa3a8f19f35296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10005" y="5438851"/>
            <a:ext cx="323698" cy="323698"/>
          </a:xfrm>
          <a:prstGeom prst="rect">
            <a:avLst/>
          </a:prstGeom>
        </p:spPr>
      </p:pic>
      <p:sp>
        <p:nvSpPr>
          <p:cNvPr id="69" name="Text 28"/>
          <p:cNvSpPr txBox="1"/>
          <p:nvPr/>
        </p:nvSpPr>
        <p:spPr>
          <a:xfrm>
            <a:off x="2018995" y="5362956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Bandejas saturadas</a:t>
            </a:r>
            <a:endParaRPr lang="en-US" sz="1575" dirty="0"/>
          </a:p>
        </p:txBody>
      </p:sp>
      <p:sp>
        <p:nvSpPr>
          <p:cNvPr id="70" name="Text 29"/>
          <p:cNvSpPr txBox="1"/>
          <p:nvPr/>
        </p:nvSpPr>
        <p:spPr>
          <a:xfrm>
            <a:off x="2018995" y="5640019"/>
            <a:ext cx="322326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Solicitudes sin respuesta a tiempo</a:t>
            </a:r>
            <a:endParaRPr lang="en-US" sz="1200" dirty="0"/>
          </a:p>
        </p:txBody>
      </p:sp>
      <p:pic>
        <p:nvPicPr>
          <p:cNvPr id="71" name="Image 39" descr="gen-dedup-4fde8263325c28b3674c73dee7b0412f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10005" y="6409944"/>
            <a:ext cx="323698" cy="323698"/>
          </a:xfrm>
          <a:prstGeom prst="rect">
            <a:avLst/>
          </a:prstGeom>
        </p:spPr>
      </p:pic>
      <p:sp>
        <p:nvSpPr>
          <p:cNvPr id="72" name="Text 30"/>
          <p:cNvSpPr txBox="1"/>
          <p:nvPr/>
        </p:nvSpPr>
        <p:spPr>
          <a:xfrm>
            <a:off x="2018995" y="6334049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rellenado a mano</a:t>
            </a:r>
            <a:endParaRPr lang="en-US" sz="1575" dirty="0"/>
          </a:p>
        </p:txBody>
      </p:sp>
      <p:sp>
        <p:nvSpPr>
          <p:cNvPr id="73" name="Text 31"/>
          <p:cNvSpPr txBox="1"/>
          <p:nvPr/>
        </p:nvSpPr>
        <p:spPr>
          <a:xfrm>
            <a:off x="2018995" y="6612026"/>
            <a:ext cx="33147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comercial transcribe cada correo</a:t>
            </a:r>
            <a:endParaRPr lang="en-US" sz="1200" dirty="0"/>
          </a:p>
        </p:txBody>
      </p:sp>
      <p:pic>
        <p:nvPicPr>
          <p:cNvPr id="74" name="Image 40" descr="gen-dedup-7fabec71e94764782c5538028e60a404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10005" y="7381951"/>
            <a:ext cx="323698" cy="323698"/>
          </a:xfrm>
          <a:prstGeom prst="rect">
            <a:avLst/>
          </a:prstGeom>
        </p:spPr>
      </p:pic>
      <p:sp>
        <p:nvSpPr>
          <p:cNvPr id="75" name="Text 32"/>
          <p:cNvSpPr txBox="1"/>
          <p:nvPr/>
        </p:nvSpPr>
        <p:spPr>
          <a:xfrm>
            <a:off x="2018995" y="7306056"/>
            <a:ext cx="347929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 que se enfrían</a:t>
            </a:r>
            <a:endParaRPr lang="en-US" sz="1575" dirty="0"/>
          </a:p>
        </p:txBody>
      </p:sp>
      <p:sp>
        <p:nvSpPr>
          <p:cNvPr id="76" name="Text 33"/>
          <p:cNvSpPr txBox="1"/>
          <p:nvPr/>
        </p:nvSpPr>
        <p:spPr>
          <a:xfrm>
            <a:off x="2018995" y="7583119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detecta la inactividad</a:t>
            </a:r>
            <a:endParaRPr lang="en-US" sz="1200" dirty="0"/>
          </a:p>
        </p:txBody>
      </p:sp>
      <p:pic>
        <p:nvPicPr>
          <p:cNvPr id="77" name="Image 41" descr="gen-dedup-30c7f13a50906ce24b09279892d160ee.png"/>
          <p:cNvPicPr>
            <a:picLocks noChangeAspect="1"/>
          </p:cNvPicPr>
          <p:nvPr/>
        </p:nvPicPr>
        <p:blipFill>
          <a:blip r:embed="rId25"/>
          <a:srcRect t="-10" b="-10"/>
          <a:stretch/>
        </p:blipFill>
        <p:spPr>
          <a:xfrm>
            <a:off x="5238598" y="4667098"/>
            <a:ext cx="1238098" cy="3810305"/>
          </a:xfrm>
          <a:prstGeom prst="rect">
            <a:avLst/>
          </a:prstGeom>
        </p:spPr>
      </p:pic>
      <p:pic>
        <p:nvPicPr>
          <p:cNvPr id="78" name="Image 42" descr="gen-dedup-1285c3e0a2e0da76b9a21674ffd74905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6762902" y="4914900"/>
            <a:ext cx="609905" cy="609905"/>
          </a:xfrm>
          <a:prstGeom prst="rect">
            <a:avLst/>
          </a:prstGeom>
        </p:spPr>
      </p:pic>
      <p:sp>
        <p:nvSpPr>
          <p:cNvPr id="79" name="Text 34"/>
          <p:cNvSpPr txBox="1"/>
          <p:nvPr/>
        </p:nvSpPr>
        <p:spPr>
          <a:xfrm>
            <a:off x="7543800" y="4972507"/>
            <a:ext cx="4000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Orquestador MTi</a:t>
            </a:r>
            <a:endParaRPr lang="en-US" sz="900" dirty="0"/>
          </a:p>
        </p:txBody>
      </p:sp>
      <p:sp>
        <p:nvSpPr>
          <p:cNvPr id="80" name="Text 35"/>
          <p:cNvSpPr txBox="1"/>
          <p:nvPr/>
        </p:nvSpPr>
        <p:spPr>
          <a:xfrm>
            <a:off x="7543800" y="5181905"/>
            <a:ext cx="4645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· encamina · actúa y explica</a:t>
            </a:r>
            <a:endParaRPr lang="en-US" sz="1650" dirty="0"/>
          </a:p>
        </p:txBody>
      </p:sp>
      <p:sp>
        <p:nvSpPr>
          <p:cNvPr id="81" name="Shape 36"/>
          <p:cNvSpPr/>
          <p:nvPr/>
        </p:nvSpPr>
        <p:spPr>
          <a:xfrm>
            <a:off x="6896405" y="6286500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37"/>
          <p:cNvSpPr txBox="1"/>
          <p:nvPr/>
        </p:nvSpPr>
        <p:spPr>
          <a:xfrm>
            <a:off x="7038137" y="6357823"/>
            <a:ext cx="2770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125" dirty="0"/>
          </a:p>
        </p:txBody>
      </p:sp>
      <p:sp>
        <p:nvSpPr>
          <p:cNvPr id="83" name="Text 38"/>
          <p:cNvSpPr txBox="1"/>
          <p:nvPr/>
        </p:nvSpPr>
        <p:spPr>
          <a:xfrm>
            <a:off x="7582205" y="6334049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Correo</a:t>
            </a:r>
            <a:endParaRPr lang="en-US" sz="1425" dirty="0"/>
          </a:p>
        </p:txBody>
      </p:sp>
      <p:sp>
        <p:nvSpPr>
          <p:cNvPr id="84" name="Shape 39"/>
          <p:cNvSpPr/>
          <p:nvPr/>
        </p:nvSpPr>
        <p:spPr>
          <a:xfrm>
            <a:off x="6896405" y="6933895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40"/>
          <p:cNvSpPr txBox="1"/>
          <p:nvPr/>
        </p:nvSpPr>
        <p:spPr>
          <a:xfrm>
            <a:off x="7020763" y="7005218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1125" dirty="0"/>
          </a:p>
        </p:txBody>
      </p:sp>
      <p:sp>
        <p:nvSpPr>
          <p:cNvPr id="86" name="Text 41"/>
          <p:cNvSpPr txBox="1"/>
          <p:nvPr/>
        </p:nvSpPr>
        <p:spPr>
          <a:xfrm>
            <a:off x="7582205" y="6981444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CRM</a:t>
            </a:r>
            <a:endParaRPr lang="en-US" sz="1425" dirty="0"/>
          </a:p>
        </p:txBody>
      </p:sp>
      <p:sp>
        <p:nvSpPr>
          <p:cNvPr id="87" name="Shape 42"/>
          <p:cNvSpPr/>
          <p:nvPr/>
        </p:nvSpPr>
        <p:spPr>
          <a:xfrm>
            <a:off x="6896405" y="7582205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43"/>
          <p:cNvSpPr txBox="1"/>
          <p:nvPr/>
        </p:nvSpPr>
        <p:spPr>
          <a:xfrm>
            <a:off x="7024421" y="7653528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125" dirty="0"/>
          </a:p>
        </p:txBody>
      </p:sp>
      <p:sp>
        <p:nvSpPr>
          <p:cNvPr id="89" name="Text 44"/>
          <p:cNvSpPr txBox="1"/>
          <p:nvPr/>
        </p:nvSpPr>
        <p:spPr>
          <a:xfrm>
            <a:off x="7582205" y="7629754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&amp; Oferta</a:t>
            </a:r>
            <a:endParaRPr lang="en-US" sz="1425" dirty="0"/>
          </a:p>
        </p:txBody>
      </p:sp>
      <p:pic>
        <p:nvPicPr>
          <p:cNvPr id="90" name="Image 43" descr="gen-dedup-2608aa99263e744df3fa0b32ae56b7c4.png"/>
          <p:cNvPicPr>
            <a:picLocks noChangeAspect="1"/>
          </p:cNvPicPr>
          <p:nvPr/>
        </p:nvPicPr>
        <p:blipFill>
          <a:blip r:embed="rId27"/>
          <a:srcRect t="-10" b="-10"/>
          <a:stretch/>
        </p:blipFill>
        <p:spPr>
          <a:xfrm>
            <a:off x="11811305" y="4667098"/>
            <a:ext cx="1238098" cy="3810305"/>
          </a:xfrm>
          <a:prstGeom prst="rect">
            <a:avLst/>
          </a:prstGeom>
        </p:spPr>
      </p:pic>
      <p:sp>
        <p:nvSpPr>
          <p:cNvPr id="91" name="Text 45"/>
          <p:cNvSpPr txBox="1"/>
          <p:nvPr/>
        </p:nvSpPr>
        <p:spPr>
          <a:xfrm>
            <a:off x="13220395" y="48764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siempre al día</a:t>
            </a:r>
            <a:endParaRPr lang="en-US" sz="1575" dirty="0"/>
          </a:p>
        </p:txBody>
      </p:sp>
      <p:sp>
        <p:nvSpPr>
          <p:cNvPr id="92" name="Text 46"/>
          <p:cNvSpPr txBox="1"/>
          <p:nvPr/>
        </p:nvSpPr>
        <p:spPr>
          <a:xfrm>
            <a:off x="13220395" y="51544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Actividades, etapas y tareas</a:t>
            </a:r>
            <a:endParaRPr lang="en-US" sz="1200" dirty="0"/>
          </a:p>
        </p:txBody>
      </p:sp>
      <p:pic>
        <p:nvPicPr>
          <p:cNvPr id="93" name="Image 44" descr="gen-dedup-88dcb31eb760695c9388ddaf5f14100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554298" y="5924398"/>
            <a:ext cx="323698" cy="323698"/>
          </a:xfrm>
          <a:prstGeom prst="rect">
            <a:avLst/>
          </a:prstGeom>
        </p:spPr>
      </p:pic>
      <p:sp>
        <p:nvSpPr>
          <p:cNvPr id="94" name="Text 47"/>
          <p:cNvSpPr txBox="1"/>
          <p:nvPr/>
        </p:nvSpPr>
        <p:spPr>
          <a:xfrm>
            <a:off x="13220395" y="58485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accionables</a:t>
            </a:r>
            <a:endParaRPr lang="en-US" sz="1575" dirty="0"/>
          </a:p>
        </p:txBody>
      </p:sp>
      <p:sp>
        <p:nvSpPr>
          <p:cNvPr id="95" name="Text 48"/>
          <p:cNvSpPr txBox="1"/>
          <p:nvPr/>
        </p:nvSpPr>
        <p:spPr>
          <a:xfrm>
            <a:off x="13220395" y="61255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comercial, con contexto</a:t>
            </a:r>
            <a:endParaRPr lang="en-US" sz="1200" dirty="0"/>
          </a:p>
        </p:txBody>
      </p:sp>
      <p:pic>
        <p:nvPicPr>
          <p:cNvPr id="96" name="Image 45" descr="gen-dedup-71b00cf5f6514620cb71554ff6b3cc3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554298" y="6896405"/>
            <a:ext cx="323698" cy="323698"/>
          </a:xfrm>
          <a:prstGeom prst="rect">
            <a:avLst/>
          </a:prstGeom>
        </p:spPr>
      </p:pic>
      <p:sp>
        <p:nvSpPr>
          <p:cNvPr id="97" name="Text 49"/>
          <p:cNvSpPr txBox="1"/>
          <p:nvPr/>
        </p:nvSpPr>
        <p:spPr>
          <a:xfrm>
            <a:off x="13220395" y="68195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en borrador</a:t>
            </a:r>
            <a:endParaRPr lang="en-US" sz="1575" dirty="0"/>
          </a:p>
        </p:txBody>
      </p:sp>
      <p:sp>
        <p:nvSpPr>
          <p:cNvPr id="98" name="Text 50"/>
          <p:cNvSpPr txBox="1"/>
          <p:nvPr/>
        </p:nvSpPr>
        <p:spPr>
          <a:xfrm>
            <a:off x="13220395" y="70975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con un clic</a:t>
            </a:r>
            <a:endParaRPr lang="en-US" sz="1200" dirty="0"/>
          </a:p>
        </p:txBody>
      </p:sp>
      <p:sp>
        <p:nvSpPr>
          <p:cNvPr id="99" name="Text 51"/>
          <p:cNvSpPr txBox="1"/>
          <p:nvPr/>
        </p:nvSpPr>
        <p:spPr>
          <a:xfrm>
            <a:off x="13220395" y="77916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 preparadas</a:t>
            </a:r>
            <a:endParaRPr lang="en-US" sz="1575" dirty="0"/>
          </a:p>
        </p:txBody>
      </p:sp>
      <p:sp>
        <p:nvSpPr>
          <p:cNvPr id="100" name="Text 52"/>
          <p:cNvSpPr txBox="1"/>
          <p:nvPr/>
        </p:nvSpPr>
        <p:spPr>
          <a:xfrm>
            <a:off x="13220395" y="80686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Trazables hasta la fuente</a:t>
            </a:r>
            <a:endParaRPr lang="en-US" sz="1200" dirty="0"/>
          </a:p>
        </p:txBody>
      </p:sp>
      <p:sp>
        <p:nvSpPr>
          <p:cNvPr id="111" name="Text 63"/>
          <p:cNvSpPr txBox="1"/>
          <p:nvPr/>
        </p:nvSpPr>
        <p:spPr>
          <a:xfrm>
            <a:off x="12573000" y="9139174"/>
            <a:ext cx="17236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00" b="1" kern="0" spc="198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Conectados</a:t>
            </a:r>
            <a:r>
              <a:rPr lang="en-US" sz="900" dirty="0"/>
              <a:t> </a:t>
            </a: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  <p:pic>
        <p:nvPicPr>
          <p:cNvPr id="113" name="Image 1" descr="gen-dedup-3fc9b6bd6bd01734c54b10a0f11af3f3.png">
            <a:extLst>
              <a:ext uri="{FF2B5EF4-FFF2-40B4-BE49-F238E27FC236}">
                <a16:creationId xmlns:a16="http://schemas.microsoft.com/office/drawing/2014/main" id="{CC5CDA16-5862-6EEF-B11C-74D0CCDEB66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7ad208497a0127a0e420179e11b85b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1718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143854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1149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752e8c34e1f413036db12b5ea6cabc7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476695" y="4667098"/>
            <a:ext cx="5333695" cy="38103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72707" y="4762195"/>
            <a:ext cx="5143500" cy="3619195"/>
          </a:xfrm>
          <a:prstGeom prst="roundRect">
            <a:avLst>
              <a:gd name="adj" fmla="val 783"/>
            </a:avLst>
          </a:prstGeom>
          <a:noFill/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4686300"/>
            <a:ext cx="4095598" cy="857707"/>
          </a:xfrm>
          <a:prstGeom prst="rect">
            <a:avLst/>
          </a:prstGeom>
        </p:spPr>
      </p:pic>
      <p:pic>
        <p:nvPicPr>
          <p:cNvPr id="9" name="Image 3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5658307"/>
            <a:ext cx="4095598" cy="857707"/>
          </a:xfrm>
          <a:prstGeom prst="rect">
            <a:avLst/>
          </a:prstGeom>
        </p:spPr>
      </p:pic>
      <p:pic>
        <p:nvPicPr>
          <p:cNvPr id="10" name="Image 4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6629400"/>
            <a:ext cx="4095598" cy="857707"/>
          </a:xfrm>
          <a:prstGeom prst="rect">
            <a:avLst/>
          </a:prstGeom>
        </p:spPr>
      </p:pic>
      <p:pic>
        <p:nvPicPr>
          <p:cNvPr id="11" name="Image 5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7601407"/>
            <a:ext cx="4095598" cy="857707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13049402" y="8725205"/>
            <a:ext cx="4095597" cy="952805"/>
          </a:xfrm>
          <a:prstGeom prst="roundRect">
            <a:avLst>
              <a:gd name="adj" fmla="val 4031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/>
          <p:cNvSpPr/>
          <p:nvPr/>
        </p:nvSpPr>
        <p:spPr>
          <a:xfrm>
            <a:off x="1143000" y="2095805"/>
            <a:ext cx="495605" cy="457200"/>
          </a:xfrm>
          <a:prstGeom prst="roundRect">
            <a:avLst>
              <a:gd name="adj" fmla="val 4200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/>
          <p:cNvSpPr/>
          <p:nvPr/>
        </p:nvSpPr>
        <p:spPr>
          <a:xfrm>
            <a:off x="1285646" y="53154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/>
          <p:cNvSpPr/>
          <p:nvPr/>
        </p:nvSpPr>
        <p:spPr>
          <a:xfrm>
            <a:off x="1285646" y="6286500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8"/>
          <p:cNvSpPr/>
          <p:nvPr/>
        </p:nvSpPr>
        <p:spPr>
          <a:xfrm>
            <a:off x="1285646" y="72585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6" descr="gen-dedup-ce5fa75b8f2c8c62f55bab563be32c6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6762902" y="5715000"/>
            <a:ext cx="4762195" cy="9144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762902" y="5848502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7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5952744"/>
            <a:ext cx="342900" cy="34290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6762902" y="6495898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8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6601054"/>
            <a:ext cx="342900" cy="342900"/>
          </a:xfrm>
          <a:prstGeom prst="rect">
            <a:avLst/>
          </a:prstGeom>
        </p:spPr>
      </p:pic>
      <p:pic>
        <p:nvPicPr>
          <p:cNvPr id="22" name="Image 9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6601054"/>
            <a:ext cx="342900" cy="342900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6762902" y="7144207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0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7248449"/>
            <a:ext cx="342900" cy="342900"/>
          </a:xfrm>
          <a:prstGeom prst="rect">
            <a:avLst/>
          </a:prstGeom>
        </p:spPr>
      </p:pic>
      <p:pic>
        <p:nvPicPr>
          <p:cNvPr id="25" name="Image 11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7248449"/>
            <a:ext cx="342900" cy="342900"/>
          </a:xfrm>
          <a:prstGeom prst="rect">
            <a:avLst/>
          </a:prstGeom>
        </p:spPr>
      </p:pic>
      <p:sp>
        <p:nvSpPr>
          <p:cNvPr id="26" name="Shape 12"/>
          <p:cNvSpPr/>
          <p:nvPr/>
        </p:nvSpPr>
        <p:spPr>
          <a:xfrm>
            <a:off x="6762902" y="7791602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3"/>
          <p:cNvSpPr/>
          <p:nvPr/>
        </p:nvSpPr>
        <p:spPr>
          <a:xfrm>
            <a:off x="16430854" y="4828946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2" descr="gen-dedup-b0657a3e76b47982c976da763b923f1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430854" y="5800954"/>
            <a:ext cx="571500" cy="571500"/>
          </a:xfrm>
          <a:prstGeom prst="rect">
            <a:avLst/>
          </a:prstGeom>
        </p:spPr>
      </p:pic>
      <p:pic>
        <p:nvPicPr>
          <p:cNvPr id="29" name="Image 13" descr="gen-dedup-b0657a3e76b47982c976da763b923f1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430854" y="6772046"/>
            <a:ext cx="571500" cy="571500"/>
          </a:xfrm>
          <a:prstGeom prst="rect">
            <a:avLst/>
          </a:prstGeom>
        </p:spPr>
      </p:pic>
      <p:sp>
        <p:nvSpPr>
          <p:cNvPr id="30" name="Shape 14"/>
          <p:cNvSpPr/>
          <p:nvPr/>
        </p:nvSpPr>
        <p:spPr>
          <a:xfrm>
            <a:off x="16430854" y="7744054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4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897405" y="8991295"/>
            <a:ext cx="418795" cy="418795"/>
          </a:xfrm>
          <a:prstGeom prst="rect">
            <a:avLst/>
          </a:prstGeom>
        </p:spPr>
      </p:pic>
      <p:pic>
        <p:nvPicPr>
          <p:cNvPr id="32" name="Image 15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411298" y="8991295"/>
            <a:ext cx="418795" cy="418795"/>
          </a:xfrm>
          <a:prstGeom prst="rect">
            <a:avLst/>
          </a:prstGeom>
        </p:spPr>
      </p:pic>
      <p:pic>
        <p:nvPicPr>
          <p:cNvPr id="33" name="Image 16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926105" y="8991295"/>
            <a:ext cx="418795" cy="418795"/>
          </a:xfrm>
          <a:prstGeom prst="rect">
            <a:avLst/>
          </a:prstGeom>
        </p:spPr>
      </p:pic>
      <p:pic>
        <p:nvPicPr>
          <p:cNvPr id="34" name="Image 17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439998" y="8991295"/>
            <a:ext cx="418795" cy="418795"/>
          </a:xfrm>
          <a:prstGeom prst="rect">
            <a:avLst/>
          </a:prstGeom>
        </p:spPr>
      </p:pic>
      <p:pic>
        <p:nvPicPr>
          <p:cNvPr id="36" name="Image 19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37" name="Image 20" descr="gen-dedup-77b6ecb90a64700571ecc0eddec1bd09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715854" y="6019495"/>
            <a:ext cx="209398" cy="209398"/>
          </a:xfrm>
          <a:prstGeom prst="rect">
            <a:avLst/>
          </a:prstGeom>
        </p:spPr>
      </p:pic>
      <p:pic>
        <p:nvPicPr>
          <p:cNvPr id="38" name="Image 21" descr="gen-dedup-c64420af1170f774cb39882a607964c5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10715854" y="6667805"/>
            <a:ext cx="209398" cy="209398"/>
          </a:xfrm>
          <a:prstGeom prst="rect">
            <a:avLst/>
          </a:prstGeom>
        </p:spPr>
      </p:pic>
      <p:pic>
        <p:nvPicPr>
          <p:cNvPr id="39" name="Image 22" descr="gen-dedup-e7ab78e4355fc2b487175e242ea0f4ef.png"/>
          <p:cNvPicPr>
            <a:picLocks noChangeAspect="1"/>
          </p:cNvPicPr>
          <p:nvPr/>
        </p:nvPicPr>
        <p:blipFill>
          <a:blip r:embed="rId13"/>
          <a:srcRect t="-100000" b="-100000"/>
          <a:stretch/>
        </p:blipFill>
        <p:spPr>
          <a:xfrm>
            <a:off x="11115446" y="6667805"/>
            <a:ext cx="209398" cy="209398"/>
          </a:xfrm>
          <a:prstGeom prst="rect">
            <a:avLst/>
          </a:prstGeom>
        </p:spPr>
      </p:pic>
      <p:pic>
        <p:nvPicPr>
          <p:cNvPr id="40" name="Image 23" descr="gen-dedup-faef72f8220654017d2ee5f08dc50c2c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715854" y="7315200"/>
            <a:ext cx="209398" cy="209398"/>
          </a:xfrm>
          <a:prstGeom prst="rect">
            <a:avLst/>
          </a:prstGeom>
        </p:spPr>
      </p:pic>
      <p:pic>
        <p:nvPicPr>
          <p:cNvPr id="41" name="Image 24" descr="gen-dedup-e65a801e1d2e7d7f545c66da47e65295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1115446" y="7315200"/>
            <a:ext cx="209398" cy="209398"/>
          </a:xfrm>
          <a:prstGeom prst="rect">
            <a:avLst/>
          </a:prstGeom>
        </p:spPr>
      </p:pic>
      <p:pic>
        <p:nvPicPr>
          <p:cNvPr id="42" name="Image 25" descr="gen-dedup-1ca55d8bcfd048e85c2feec6baee4754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545154" y="5915254"/>
            <a:ext cx="342900" cy="342900"/>
          </a:xfrm>
          <a:prstGeom prst="rect">
            <a:avLst/>
          </a:prstGeom>
        </p:spPr>
      </p:pic>
      <p:pic>
        <p:nvPicPr>
          <p:cNvPr id="43" name="Image 26" descr="gen-dedup-e65a801e1d2e7d7f545c66da47e65295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545154" y="6886346"/>
            <a:ext cx="342900" cy="342900"/>
          </a:xfrm>
          <a:prstGeom prst="rect">
            <a:avLst/>
          </a:prstGeom>
        </p:spPr>
      </p:pic>
      <p:pic>
        <p:nvPicPr>
          <p:cNvPr id="44" name="Image 27" descr="gen-dedup-e65a801e1d2e7d7f545c66da47e65295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4982444" y="9077249"/>
            <a:ext cx="247802" cy="247802"/>
          </a:xfrm>
          <a:prstGeom prst="rect">
            <a:avLst/>
          </a:prstGeom>
        </p:spPr>
      </p:pic>
      <p:pic>
        <p:nvPicPr>
          <p:cNvPr id="45" name="Image 28" descr="gen-dedup-faef72f8220654017d2ee5f08dc50c2c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5497251" y="9077249"/>
            <a:ext cx="247802" cy="247802"/>
          </a:xfrm>
          <a:prstGeom prst="rect">
            <a:avLst/>
          </a:prstGeom>
        </p:spPr>
      </p:pic>
      <p:pic>
        <p:nvPicPr>
          <p:cNvPr id="46" name="Image 29" descr="gen-dedup-1ca55d8bcfd048e85c2feec6baee4754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011144" y="9077249"/>
            <a:ext cx="247802" cy="247802"/>
          </a:xfrm>
          <a:prstGeom prst="rect">
            <a:avLst/>
          </a:prstGeom>
        </p:spPr>
      </p:pic>
      <p:pic>
        <p:nvPicPr>
          <p:cNvPr id="47" name="Image 30" descr="gen-dedup-77b6ecb90a64700571ecc0eddec1bd09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6525951" y="9077249"/>
            <a:ext cx="247802" cy="247802"/>
          </a:xfrm>
          <a:prstGeom prst="rect">
            <a:avLst/>
          </a:prstGeom>
        </p:spPr>
      </p:pic>
      <p:pic>
        <p:nvPicPr>
          <p:cNvPr id="49" name="Image 31" descr="gen-dedup-5e3b1ac51925740f2b0d3096c88d5c1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7300" y="2190902"/>
            <a:ext cx="267005" cy="267005"/>
          </a:xfrm>
          <a:prstGeom prst="rect">
            <a:avLst/>
          </a:prstGeom>
        </p:spPr>
      </p:pic>
      <p:sp>
        <p:nvSpPr>
          <p:cNvPr id="50" name="Text 16"/>
          <p:cNvSpPr txBox="1"/>
          <p:nvPr/>
        </p:nvSpPr>
        <p:spPr>
          <a:xfrm>
            <a:off x="1848002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Preventa · Ingeniería de ofertas · Cómo ayudamos</a:t>
            </a:r>
            <a:endParaRPr lang="en-US" sz="1125" dirty="0"/>
          </a:p>
        </p:txBody>
      </p:sp>
      <p:sp>
        <p:nvSpPr>
          <p:cNvPr id="51" name="Text 17"/>
          <p:cNvSpPr txBox="1"/>
          <p:nvPr/>
        </p:nvSpPr>
        <p:spPr>
          <a:xfrm>
            <a:off x="1143000" y="2704795"/>
            <a:ext cx="10858500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 </a:t>
            </a: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Licitaciones.</a:t>
            </a:r>
            <a:endParaRPr lang="en-US" sz="5550" dirty="0"/>
          </a:p>
        </p:txBody>
      </p:sp>
      <p:sp>
        <p:nvSpPr>
          <p:cNvPr id="52" name="Text 18"/>
          <p:cNvSpPr txBox="1"/>
          <p:nvPr/>
        </p:nvSpPr>
        <p:spPr>
          <a:xfrm>
            <a:off x="1143000" y="3657600"/>
            <a:ext cx="11049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pliego a la oferta defendible, con precios reales de su histórico.</a:t>
            </a:r>
            <a:endParaRPr lang="en-US" sz="1950" dirty="0"/>
          </a:p>
        </p:txBody>
      </p:sp>
      <p:sp>
        <p:nvSpPr>
          <p:cNvPr id="53" name="Text 19"/>
          <p:cNvSpPr txBox="1"/>
          <p:nvPr/>
        </p:nvSpPr>
        <p:spPr>
          <a:xfrm>
            <a:off x="12573000" y="2247595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que intervienen</a:t>
            </a:r>
            <a:endParaRPr lang="en-US" sz="975" dirty="0"/>
          </a:p>
        </p:txBody>
      </p:sp>
      <p:sp>
        <p:nvSpPr>
          <p:cNvPr id="54" name="Shape 20"/>
          <p:cNvSpPr/>
          <p:nvPr/>
        </p:nvSpPr>
        <p:spPr>
          <a:xfrm>
            <a:off x="12573000" y="2533802"/>
            <a:ext cx="1981505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1"/>
          <p:cNvSpPr txBox="1"/>
          <p:nvPr/>
        </p:nvSpPr>
        <p:spPr>
          <a:xfrm>
            <a:off x="12573000" y="2533802"/>
            <a:ext cx="19815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 · </a:t>
            </a:r>
            <a:r>
              <a:rPr lang="en-US" sz="112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</a:t>
            </a: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125" dirty="0"/>
          </a:p>
        </p:txBody>
      </p:sp>
      <p:sp>
        <p:nvSpPr>
          <p:cNvPr id="56" name="Shape 22"/>
          <p:cNvSpPr/>
          <p:nvPr/>
        </p:nvSpPr>
        <p:spPr>
          <a:xfrm>
            <a:off x="14629486" y="2533802"/>
            <a:ext cx="1666951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23"/>
          <p:cNvSpPr txBox="1"/>
          <p:nvPr/>
        </p:nvSpPr>
        <p:spPr>
          <a:xfrm>
            <a:off x="14629486" y="2533802"/>
            <a:ext cx="16669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 · Conocimiento</a:t>
            </a:r>
            <a:endParaRPr lang="en-US" sz="1125" dirty="0"/>
          </a:p>
        </p:txBody>
      </p:sp>
      <p:sp>
        <p:nvSpPr>
          <p:cNvPr id="58" name="Shape 24"/>
          <p:cNvSpPr/>
          <p:nvPr/>
        </p:nvSpPr>
        <p:spPr>
          <a:xfrm>
            <a:off x="12573000" y="2905049"/>
            <a:ext cx="1591056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25"/>
          <p:cNvSpPr txBox="1"/>
          <p:nvPr/>
        </p:nvSpPr>
        <p:spPr>
          <a:xfrm>
            <a:off x="12573000" y="2905049"/>
            <a:ext cx="15910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 · Logistica</a:t>
            </a:r>
            <a:endParaRPr lang="en-US" sz="1125" dirty="0"/>
          </a:p>
        </p:txBody>
      </p:sp>
      <p:sp>
        <p:nvSpPr>
          <p:cNvPr id="60" name="Shape 26"/>
          <p:cNvSpPr/>
          <p:nvPr/>
        </p:nvSpPr>
        <p:spPr>
          <a:xfrm>
            <a:off x="14231722" y="2905049"/>
            <a:ext cx="122895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27"/>
          <p:cNvSpPr txBox="1"/>
          <p:nvPr/>
        </p:nvSpPr>
        <p:spPr>
          <a:xfrm>
            <a:off x="14231722" y="2905049"/>
            <a:ext cx="12289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 · Calidad</a:t>
            </a:r>
            <a:endParaRPr lang="en-US" sz="1125" dirty="0"/>
          </a:p>
        </p:txBody>
      </p:sp>
      <p:sp>
        <p:nvSpPr>
          <p:cNvPr id="62" name="Text 28"/>
          <p:cNvSpPr txBox="1"/>
          <p:nvPr/>
        </p:nvSpPr>
        <p:spPr>
          <a:xfrm>
            <a:off x="1143000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El problema hoy</a:t>
            </a:r>
            <a:endParaRPr lang="en-US" sz="1050" dirty="0"/>
          </a:p>
        </p:txBody>
      </p:sp>
      <p:sp>
        <p:nvSpPr>
          <p:cNvPr id="63" name="Text 29"/>
          <p:cNvSpPr txBox="1"/>
          <p:nvPr/>
        </p:nvSpPr>
        <p:spPr>
          <a:xfrm>
            <a:off x="6476695" y="4324198"/>
            <a:ext cx="533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Orquestador MTi + agentes</a:t>
            </a:r>
            <a:endParaRPr lang="en-US" sz="1050" dirty="0"/>
          </a:p>
        </p:txBody>
      </p:sp>
      <p:sp>
        <p:nvSpPr>
          <p:cNvPr id="64" name="Text 30"/>
          <p:cNvSpPr txBox="1"/>
          <p:nvPr/>
        </p:nvSpPr>
        <p:spPr>
          <a:xfrm>
            <a:off x="13049402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Outputs</a:t>
            </a:r>
            <a:endParaRPr lang="en-US" sz="1050" dirty="0"/>
          </a:p>
        </p:txBody>
      </p:sp>
      <p:pic>
        <p:nvPicPr>
          <p:cNvPr id="65" name="Image 32" descr="gen-dedup-0bae61dbff6aed01da88fdb5f4104a1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10005" y="5438851"/>
            <a:ext cx="323698" cy="323698"/>
          </a:xfrm>
          <a:prstGeom prst="rect">
            <a:avLst/>
          </a:prstGeom>
        </p:spPr>
      </p:pic>
      <p:sp>
        <p:nvSpPr>
          <p:cNvPr id="66" name="Text 31"/>
          <p:cNvSpPr txBox="1"/>
          <p:nvPr/>
        </p:nvSpPr>
        <p:spPr>
          <a:xfrm>
            <a:off x="2018995" y="5362956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Pliegos interminables</a:t>
            </a:r>
            <a:endParaRPr lang="en-US" sz="1575" dirty="0"/>
          </a:p>
        </p:txBody>
      </p:sp>
      <p:sp>
        <p:nvSpPr>
          <p:cNvPr id="67" name="Text 32"/>
          <p:cNvSpPr txBox="1"/>
          <p:nvPr/>
        </p:nvSpPr>
        <p:spPr>
          <a:xfrm>
            <a:off x="2018995" y="5640019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PCAP, PPT y anexos por leer</a:t>
            </a:r>
            <a:endParaRPr lang="en-US" sz="1200" dirty="0"/>
          </a:p>
        </p:txBody>
      </p:sp>
      <p:pic>
        <p:nvPicPr>
          <p:cNvPr id="68" name="Image 33" descr="gen-dedup-2f82608c8659c9d663bb71c2bd64201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10005" y="6409944"/>
            <a:ext cx="323698" cy="323698"/>
          </a:xfrm>
          <a:prstGeom prst="rect">
            <a:avLst/>
          </a:prstGeom>
        </p:spPr>
      </p:pic>
      <p:sp>
        <p:nvSpPr>
          <p:cNvPr id="69" name="Text 33"/>
          <p:cNvSpPr txBox="1"/>
          <p:nvPr/>
        </p:nvSpPr>
        <p:spPr>
          <a:xfrm>
            <a:off x="2018995" y="6334049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Precios dispersos</a:t>
            </a:r>
            <a:endParaRPr lang="en-US" sz="1575" dirty="0"/>
          </a:p>
        </p:txBody>
      </p:sp>
      <p:sp>
        <p:nvSpPr>
          <p:cNvPr id="70" name="Text 34"/>
          <p:cNvSpPr txBox="1"/>
          <p:nvPr/>
        </p:nvSpPr>
        <p:spPr>
          <a:xfrm>
            <a:off x="2018995" y="6612026"/>
            <a:ext cx="322326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en Excel y PDFs antiguos</a:t>
            </a:r>
            <a:endParaRPr lang="en-US" sz="1200" dirty="0"/>
          </a:p>
        </p:txBody>
      </p:sp>
      <p:pic>
        <p:nvPicPr>
          <p:cNvPr id="71" name="Image 34" descr="gen-dedup-8bc41ac34812e4735525ae7c9f2ee4b6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10005" y="7381951"/>
            <a:ext cx="323698" cy="323698"/>
          </a:xfrm>
          <a:prstGeom prst="rect">
            <a:avLst/>
          </a:prstGeom>
        </p:spPr>
      </p:pic>
      <p:sp>
        <p:nvSpPr>
          <p:cNvPr id="72" name="Text 35"/>
          <p:cNvSpPr txBox="1"/>
          <p:nvPr/>
        </p:nvSpPr>
        <p:spPr>
          <a:xfrm>
            <a:off x="2018995" y="7306056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 del experto</a:t>
            </a:r>
            <a:endParaRPr lang="en-US" sz="1575" dirty="0"/>
          </a:p>
        </p:txBody>
      </p:sp>
      <p:sp>
        <p:nvSpPr>
          <p:cNvPr id="73" name="Text 36"/>
          <p:cNvSpPr txBox="1"/>
          <p:nvPr/>
        </p:nvSpPr>
        <p:spPr>
          <a:xfrm>
            <a:off x="2018995" y="7583119"/>
            <a:ext cx="322326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Cálculos que solo sabe una persona</a:t>
            </a:r>
            <a:endParaRPr lang="en-US" sz="1200" dirty="0"/>
          </a:p>
        </p:txBody>
      </p:sp>
      <p:pic>
        <p:nvPicPr>
          <p:cNvPr id="74" name="Image 35" descr="gen-dedup-30c7f13a50906ce24b09279892d160ee.png"/>
          <p:cNvPicPr>
            <a:picLocks noChangeAspect="1"/>
          </p:cNvPicPr>
          <p:nvPr/>
        </p:nvPicPr>
        <p:blipFill>
          <a:blip r:embed="rId21"/>
          <a:srcRect t="-10" b="-10"/>
          <a:stretch/>
        </p:blipFill>
        <p:spPr>
          <a:xfrm>
            <a:off x="5238598" y="4667098"/>
            <a:ext cx="1238098" cy="3810305"/>
          </a:xfrm>
          <a:prstGeom prst="rect">
            <a:avLst/>
          </a:prstGeom>
        </p:spPr>
      </p:pic>
      <p:pic>
        <p:nvPicPr>
          <p:cNvPr id="75" name="Image 36" descr="gen-dedup-1285c3e0a2e0da76b9a21674ffd74905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6762902" y="4914900"/>
            <a:ext cx="609905" cy="609905"/>
          </a:xfrm>
          <a:prstGeom prst="rect">
            <a:avLst/>
          </a:prstGeom>
        </p:spPr>
      </p:pic>
      <p:sp>
        <p:nvSpPr>
          <p:cNvPr id="76" name="Text 37"/>
          <p:cNvSpPr txBox="1"/>
          <p:nvPr/>
        </p:nvSpPr>
        <p:spPr>
          <a:xfrm>
            <a:off x="7543800" y="4972507"/>
            <a:ext cx="4000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Orquestador MTi</a:t>
            </a:r>
            <a:endParaRPr lang="en-US" sz="900" dirty="0"/>
          </a:p>
        </p:txBody>
      </p:sp>
      <p:sp>
        <p:nvSpPr>
          <p:cNvPr id="77" name="Text 38"/>
          <p:cNvSpPr txBox="1"/>
          <p:nvPr/>
        </p:nvSpPr>
        <p:spPr>
          <a:xfrm>
            <a:off x="7543800" y="5181905"/>
            <a:ext cx="4645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· encamina · actúa y explica</a:t>
            </a:r>
            <a:endParaRPr lang="en-US" sz="1650" dirty="0"/>
          </a:p>
        </p:txBody>
      </p:sp>
      <p:sp>
        <p:nvSpPr>
          <p:cNvPr id="78" name="Shape 39"/>
          <p:cNvSpPr/>
          <p:nvPr/>
        </p:nvSpPr>
        <p:spPr>
          <a:xfrm>
            <a:off x="6896405" y="5962802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40"/>
          <p:cNvSpPr txBox="1"/>
          <p:nvPr/>
        </p:nvSpPr>
        <p:spPr>
          <a:xfrm>
            <a:off x="7024421" y="6034126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125" dirty="0"/>
          </a:p>
        </p:txBody>
      </p:sp>
      <p:sp>
        <p:nvSpPr>
          <p:cNvPr id="80" name="Text 41"/>
          <p:cNvSpPr txBox="1"/>
          <p:nvPr/>
        </p:nvSpPr>
        <p:spPr>
          <a:xfrm>
            <a:off x="7582205" y="6010351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&amp; Oferta</a:t>
            </a:r>
            <a:endParaRPr lang="en-US" sz="1425" dirty="0"/>
          </a:p>
        </p:txBody>
      </p:sp>
      <p:sp>
        <p:nvSpPr>
          <p:cNvPr id="81" name="Shape 42"/>
          <p:cNvSpPr/>
          <p:nvPr/>
        </p:nvSpPr>
        <p:spPr>
          <a:xfrm>
            <a:off x="11048695" y="5952744"/>
            <a:ext cx="342900" cy="342900"/>
          </a:xfrm>
          <a:prstGeom prst="roundRect">
            <a:avLst>
              <a:gd name="adj" fmla="val 11200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43"/>
          <p:cNvSpPr txBox="1"/>
          <p:nvPr/>
        </p:nvSpPr>
        <p:spPr>
          <a:xfrm>
            <a:off x="11096244" y="6053328"/>
            <a:ext cx="2578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900" dirty="0"/>
          </a:p>
        </p:txBody>
      </p:sp>
      <p:sp>
        <p:nvSpPr>
          <p:cNvPr id="83" name="Shape 44"/>
          <p:cNvSpPr/>
          <p:nvPr/>
        </p:nvSpPr>
        <p:spPr>
          <a:xfrm>
            <a:off x="6896405" y="6610198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45"/>
          <p:cNvSpPr txBox="1"/>
          <p:nvPr/>
        </p:nvSpPr>
        <p:spPr>
          <a:xfrm>
            <a:off x="7028993" y="6681521"/>
            <a:ext cx="2953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125" dirty="0"/>
          </a:p>
        </p:txBody>
      </p:sp>
      <p:sp>
        <p:nvSpPr>
          <p:cNvPr id="85" name="Text 46"/>
          <p:cNvSpPr txBox="1"/>
          <p:nvPr/>
        </p:nvSpPr>
        <p:spPr>
          <a:xfrm>
            <a:off x="7582205" y="6657746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425" dirty="0"/>
          </a:p>
        </p:txBody>
      </p:sp>
      <p:sp>
        <p:nvSpPr>
          <p:cNvPr id="86" name="Shape 47"/>
          <p:cNvSpPr/>
          <p:nvPr/>
        </p:nvSpPr>
        <p:spPr>
          <a:xfrm>
            <a:off x="6896405" y="7258507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48"/>
          <p:cNvSpPr txBox="1"/>
          <p:nvPr/>
        </p:nvSpPr>
        <p:spPr>
          <a:xfrm>
            <a:off x="7022592" y="7329830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125" dirty="0"/>
          </a:p>
        </p:txBody>
      </p:sp>
      <p:sp>
        <p:nvSpPr>
          <p:cNvPr id="88" name="Text 49"/>
          <p:cNvSpPr txBox="1"/>
          <p:nvPr/>
        </p:nvSpPr>
        <p:spPr>
          <a:xfrm>
            <a:off x="7582205" y="7306056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Logística</a:t>
            </a:r>
            <a:endParaRPr lang="en-US" sz="1425" dirty="0"/>
          </a:p>
        </p:txBody>
      </p:sp>
      <p:sp>
        <p:nvSpPr>
          <p:cNvPr id="89" name="Shape 50"/>
          <p:cNvSpPr/>
          <p:nvPr/>
        </p:nvSpPr>
        <p:spPr>
          <a:xfrm>
            <a:off x="6896405" y="7905902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51"/>
          <p:cNvSpPr txBox="1"/>
          <p:nvPr/>
        </p:nvSpPr>
        <p:spPr>
          <a:xfrm>
            <a:off x="7022592" y="7977226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1125" dirty="0"/>
          </a:p>
        </p:txBody>
      </p:sp>
      <p:sp>
        <p:nvSpPr>
          <p:cNvPr id="91" name="Text 52"/>
          <p:cNvSpPr txBox="1"/>
          <p:nvPr/>
        </p:nvSpPr>
        <p:spPr>
          <a:xfrm>
            <a:off x="7582205" y="7953451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425" dirty="0"/>
          </a:p>
        </p:txBody>
      </p:sp>
      <p:sp>
        <p:nvSpPr>
          <p:cNvPr id="92" name="Shape 53"/>
          <p:cNvSpPr/>
          <p:nvPr/>
        </p:nvSpPr>
        <p:spPr>
          <a:xfrm>
            <a:off x="11048695" y="7895844"/>
            <a:ext cx="342900" cy="342900"/>
          </a:xfrm>
          <a:prstGeom prst="roundRect">
            <a:avLst>
              <a:gd name="adj" fmla="val 11200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54"/>
          <p:cNvSpPr txBox="1"/>
          <p:nvPr/>
        </p:nvSpPr>
        <p:spPr>
          <a:xfrm>
            <a:off x="11133734" y="7996428"/>
            <a:ext cx="18105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</a:t>
            </a:r>
            <a:endParaRPr lang="en-US" sz="900" dirty="0"/>
          </a:p>
        </p:txBody>
      </p:sp>
      <p:pic>
        <p:nvPicPr>
          <p:cNvPr id="94" name="Image 37" descr="gen-dedup-2608aa99263e744df3fa0b32ae56b7c4.png"/>
          <p:cNvPicPr>
            <a:picLocks noChangeAspect="1"/>
          </p:cNvPicPr>
          <p:nvPr/>
        </p:nvPicPr>
        <p:blipFill>
          <a:blip r:embed="rId23"/>
          <a:srcRect t="-10" b="-10"/>
          <a:stretch/>
        </p:blipFill>
        <p:spPr>
          <a:xfrm>
            <a:off x="11811305" y="4667098"/>
            <a:ext cx="1238098" cy="3810305"/>
          </a:xfrm>
          <a:prstGeom prst="rect">
            <a:avLst/>
          </a:prstGeom>
        </p:spPr>
      </p:pic>
      <p:pic>
        <p:nvPicPr>
          <p:cNvPr id="95" name="Image 38" descr="gen-dedup-bcefe7e6c3dcadca7f25816e4455630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554298" y="4953305"/>
            <a:ext cx="323698" cy="323698"/>
          </a:xfrm>
          <a:prstGeom prst="rect">
            <a:avLst/>
          </a:prstGeom>
        </p:spPr>
      </p:pic>
      <p:sp>
        <p:nvSpPr>
          <p:cNvPr id="96" name="Text 55"/>
          <p:cNvSpPr txBox="1"/>
          <p:nvPr/>
        </p:nvSpPr>
        <p:spPr>
          <a:xfrm>
            <a:off x="13220395" y="48764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Fichero BC3</a:t>
            </a:r>
            <a:endParaRPr lang="en-US" sz="1575" dirty="0"/>
          </a:p>
        </p:txBody>
      </p:sp>
      <p:sp>
        <p:nvSpPr>
          <p:cNvPr id="97" name="Text 56"/>
          <p:cNvSpPr txBox="1"/>
          <p:nvPr/>
        </p:nvSpPr>
        <p:spPr>
          <a:xfrm>
            <a:off x="13220395" y="51544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Presupuesto estándar</a:t>
            </a:r>
            <a:endParaRPr lang="en-US" sz="1200" dirty="0"/>
          </a:p>
        </p:txBody>
      </p:sp>
      <p:sp>
        <p:nvSpPr>
          <p:cNvPr id="98" name="Text 57"/>
          <p:cNvSpPr txBox="1"/>
          <p:nvPr/>
        </p:nvSpPr>
        <p:spPr>
          <a:xfrm>
            <a:off x="13220395" y="58485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pre-cierre</a:t>
            </a:r>
            <a:endParaRPr lang="en-US" sz="1575" dirty="0"/>
          </a:p>
        </p:txBody>
      </p:sp>
      <p:sp>
        <p:nvSpPr>
          <p:cNvPr id="99" name="Text 58"/>
          <p:cNvSpPr txBox="1"/>
          <p:nvPr/>
        </p:nvSpPr>
        <p:spPr>
          <a:xfrm>
            <a:off x="13220395" y="61255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Incertidumbre por partida</a:t>
            </a:r>
            <a:endParaRPr lang="en-US" sz="1200" dirty="0"/>
          </a:p>
        </p:txBody>
      </p:sp>
      <p:sp>
        <p:nvSpPr>
          <p:cNvPr id="100" name="Text 59"/>
          <p:cNvSpPr txBox="1"/>
          <p:nvPr/>
        </p:nvSpPr>
        <p:spPr>
          <a:xfrm>
            <a:off x="13220395" y="68195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en PDF</a:t>
            </a:r>
            <a:endParaRPr lang="en-US" sz="1575" dirty="0"/>
          </a:p>
        </p:txBody>
      </p:sp>
      <p:sp>
        <p:nvSpPr>
          <p:cNvPr id="101" name="Text 60"/>
          <p:cNvSpPr txBox="1"/>
          <p:nvPr/>
        </p:nvSpPr>
        <p:spPr>
          <a:xfrm>
            <a:off x="13220395" y="70975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Defendible y trazable</a:t>
            </a:r>
            <a:endParaRPr lang="en-US" sz="1200" dirty="0"/>
          </a:p>
        </p:txBody>
      </p:sp>
      <p:pic>
        <p:nvPicPr>
          <p:cNvPr id="102" name="Image 39" descr="gen-dedup-1a73ae5e9a5e40ea785eb0f40b3dcfb9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54298" y="7867498"/>
            <a:ext cx="323698" cy="323698"/>
          </a:xfrm>
          <a:prstGeom prst="rect">
            <a:avLst/>
          </a:prstGeom>
        </p:spPr>
      </p:pic>
      <p:sp>
        <p:nvSpPr>
          <p:cNvPr id="103" name="Text 61"/>
          <p:cNvSpPr txBox="1"/>
          <p:nvPr/>
        </p:nvSpPr>
        <p:spPr>
          <a:xfrm>
            <a:off x="13220395" y="77916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/ no-go</a:t>
            </a:r>
            <a:endParaRPr lang="en-US" sz="1575" dirty="0"/>
          </a:p>
        </p:txBody>
      </p:sp>
      <p:sp>
        <p:nvSpPr>
          <p:cNvPr id="104" name="Text 62"/>
          <p:cNvSpPr txBox="1"/>
          <p:nvPr/>
        </p:nvSpPr>
        <p:spPr>
          <a:xfrm>
            <a:off x="13220395" y="80686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Concurrir o no</a:t>
            </a:r>
            <a:endParaRPr lang="en-US" sz="1200" dirty="0"/>
          </a:p>
        </p:txBody>
      </p:sp>
      <p:pic>
        <p:nvPicPr>
          <p:cNvPr id="117" name="Image 1" descr="gen-dedup-3fc9b6bd6bd01734c54b10a0f11af3f3.png">
            <a:extLst>
              <a:ext uri="{FF2B5EF4-FFF2-40B4-BE49-F238E27FC236}">
                <a16:creationId xmlns:a16="http://schemas.microsoft.com/office/drawing/2014/main" id="{C141D63A-A1B0-7FDD-26C0-5F36851A11E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  <p:sp>
        <p:nvSpPr>
          <p:cNvPr id="119" name="Text 63">
            <a:extLst>
              <a:ext uri="{FF2B5EF4-FFF2-40B4-BE49-F238E27FC236}">
                <a16:creationId xmlns:a16="http://schemas.microsoft.com/office/drawing/2014/main" id="{72A4DBCD-FF58-4289-CA81-458E1305C4E8}"/>
              </a:ext>
            </a:extLst>
          </p:cNvPr>
          <p:cNvSpPr txBox="1"/>
          <p:nvPr/>
        </p:nvSpPr>
        <p:spPr>
          <a:xfrm>
            <a:off x="12573000" y="9139174"/>
            <a:ext cx="17236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00" b="1" kern="0" spc="198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Conectados</a:t>
            </a:r>
            <a:r>
              <a:rPr lang="en-US" sz="900" dirty="0"/>
              <a:t> </a:t>
            </a: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7ad208497a0127a0e420179e11b85b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1718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143854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1149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752e8c34e1f413036db12b5ea6cabc7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476695" y="4667098"/>
            <a:ext cx="5333695" cy="38103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72707" y="4762195"/>
            <a:ext cx="5143500" cy="3619195"/>
          </a:xfrm>
          <a:prstGeom prst="roundRect">
            <a:avLst>
              <a:gd name="adj" fmla="val 783"/>
            </a:avLst>
          </a:prstGeom>
          <a:noFill/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4686300"/>
            <a:ext cx="4095598" cy="857707"/>
          </a:xfrm>
          <a:prstGeom prst="rect">
            <a:avLst/>
          </a:prstGeom>
        </p:spPr>
      </p:pic>
      <p:pic>
        <p:nvPicPr>
          <p:cNvPr id="9" name="Image 3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5658307"/>
            <a:ext cx="4095598" cy="857707"/>
          </a:xfrm>
          <a:prstGeom prst="rect">
            <a:avLst/>
          </a:prstGeom>
        </p:spPr>
      </p:pic>
      <p:pic>
        <p:nvPicPr>
          <p:cNvPr id="10" name="Image 4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6629400"/>
            <a:ext cx="4095598" cy="857707"/>
          </a:xfrm>
          <a:prstGeom prst="rect">
            <a:avLst/>
          </a:prstGeom>
        </p:spPr>
      </p:pic>
      <p:pic>
        <p:nvPicPr>
          <p:cNvPr id="11" name="Image 5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7601407"/>
            <a:ext cx="4095598" cy="857707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13048486" y="8725205"/>
            <a:ext cx="4096513" cy="952805"/>
          </a:xfrm>
          <a:prstGeom prst="roundRect">
            <a:avLst>
              <a:gd name="adj" fmla="val 4031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/>
          <p:cNvSpPr/>
          <p:nvPr/>
        </p:nvSpPr>
        <p:spPr>
          <a:xfrm>
            <a:off x="1143000" y="2095805"/>
            <a:ext cx="495605" cy="457200"/>
          </a:xfrm>
          <a:prstGeom prst="roundRect">
            <a:avLst>
              <a:gd name="adj" fmla="val 4200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/>
          <p:cNvSpPr/>
          <p:nvPr/>
        </p:nvSpPr>
        <p:spPr>
          <a:xfrm>
            <a:off x="1285646" y="53154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/>
          <p:cNvSpPr/>
          <p:nvPr/>
        </p:nvSpPr>
        <p:spPr>
          <a:xfrm>
            <a:off x="1285646" y="6286500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8"/>
          <p:cNvSpPr/>
          <p:nvPr/>
        </p:nvSpPr>
        <p:spPr>
          <a:xfrm>
            <a:off x="1285646" y="72585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6" descr="gen-dedup-ce5fa75b8f2c8c62f55bab563be32c6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6762902" y="5715000"/>
            <a:ext cx="4762195" cy="9144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762902" y="6172200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7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48595" y="6277356"/>
            <a:ext cx="342900" cy="342900"/>
          </a:xfrm>
          <a:prstGeom prst="rect">
            <a:avLst/>
          </a:prstGeom>
        </p:spPr>
      </p:pic>
      <p:pic>
        <p:nvPicPr>
          <p:cNvPr id="20" name="Image 8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6277356"/>
            <a:ext cx="342900" cy="342900"/>
          </a:xfrm>
          <a:prstGeom prst="rect">
            <a:avLst/>
          </a:prstGeom>
        </p:spPr>
      </p:pic>
      <p:pic>
        <p:nvPicPr>
          <p:cNvPr id="21" name="Image 9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6277356"/>
            <a:ext cx="342900" cy="342900"/>
          </a:xfrm>
          <a:prstGeom prst="rect">
            <a:avLst/>
          </a:prstGeom>
        </p:spPr>
      </p:pic>
      <p:sp>
        <p:nvSpPr>
          <p:cNvPr id="22" name="Shape 10"/>
          <p:cNvSpPr/>
          <p:nvPr/>
        </p:nvSpPr>
        <p:spPr>
          <a:xfrm>
            <a:off x="6762902" y="6819595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0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6924751"/>
            <a:ext cx="342900" cy="342900"/>
          </a:xfrm>
          <a:prstGeom prst="rect">
            <a:avLst/>
          </a:prstGeom>
        </p:spPr>
      </p:pic>
      <p:pic>
        <p:nvPicPr>
          <p:cNvPr id="24" name="Image 11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6924751"/>
            <a:ext cx="342900" cy="342900"/>
          </a:xfrm>
          <a:prstGeom prst="rect">
            <a:avLst/>
          </a:prstGeom>
        </p:spPr>
      </p:pic>
      <p:sp>
        <p:nvSpPr>
          <p:cNvPr id="25" name="Shape 11"/>
          <p:cNvSpPr/>
          <p:nvPr/>
        </p:nvSpPr>
        <p:spPr>
          <a:xfrm>
            <a:off x="6762902" y="7467905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2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7572146"/>
            <a:ext cx="342900" cy="342900"/>
          </a:xfrm>
          <a:prstGeom prst="rect">
            <a:avLst/>
          </a:prstGeom>
        </p:spPr>
      </p:pic>
      <p:pic>
        <p:nvPicPr>
          <p:cNvPr id="27" name="Image 13" descr="gen-dedup-b0657a3e76b47982c976da763b923f1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430854" y="4828946"/>
            <a:ext cx="571500" cy="571500"/>
          </a:xfrm>
          <a:prstGeom prst="rect">
            <a:avLst/>
          </a:prstGeom>
        </p:spPr>
      </p:pic>
      <p:sp>
        <p:nvSpPr>
          <p:cNvPr id="28" name="Shape 12"/>
          <p:cNvSpPr/>
          <p:nvPr/>
        </p:nvSpPr>
        <p:spPr>
          <a:xfrm>
            <a:off x="16430854" y="5800954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4" descr="gen-dedup-b0657a3e76b47982c976da763b923f1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430854" y="6772046"/>
            <a:ext cx="571500" cy="571500"/>
          </a:xfrm>
          <a:prstGeom prst="rect">
            <a:avLst/>
          </a:prstGeom>
        </p:spPr>
      </p:pic>
      <p:sp>
        <p:nvSpPr>
          <p:cNvPr id="30" name="Shape 13"/>
          <p:cNvSpPr/>
          <p:nvPr/>
        </p:nvSpPr>
        <p:spPr>
          <a:xfrm>
            <a:off x="16430854" y="7744054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5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382598" y="8991295"/>
            <a:ext cx="418795" cy="418795"/>
          </a:xfrm>
          <a:prstGeom prst="rect">
            <a:avLst/>
          </a:prstGeom>
        </p:spPr>
      </p:pic>
      <p:pic>
        <p:nvPicPr>
          <p:cNvPr id="32" name="Image 16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897405" y="8991295"/>
            <a:ext cx="418795" cy="418795"/>
          </a:xfrm>
          <a:prstGeom prst="rect">
            <a:avLst/>
          </a:prstGeom>
        </p:spPr>
      </p:pic>
      <p:pic>
        <p:nvPicPr>
          <p:cNvPr id="33" name="Image 17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411298" y="8991295"/>
            <a:ext cx="418795" cy="418795"/>
          </a:xfrm>
          <a:prstGeom prst="rect">
            <a:avLst/>
          </a:prstGeom>
        </p:spPr>
      </p:pic>
      <p:pic>
        <p:nvPicPr>
          <p:cNvPr id="34" name="Image 18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926105" y="8991295"/>
            <a:ext cx="418795" cy="418795"/>
          </a:xfrm>
          <a:prstGeom prst="rect">
            <a:avLst/>
          </a:prstGeom>
        </p:spPr>
      </p:pic>
      <p:pic>
        <p:nvPicPr>
          <p:cNvPr id="35" name="Image 19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439998" y="8991295"/>
            <a:ext cx="418795" cy="418795"/>
          </a:xfrm>
          <a:prstGeom prst="rect">
            <a:avLst/>
          </a:prstGeom>
        </p:spPr>
      </p:pic>
      <p:pic>
        <p:nvPicPr>
          <p:cNvPr id="37" name="Image 21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38" name="Image 22" descr="gen-dedup-5023fea922589d6909f6d48e2362d329.png"/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0315346" y="6344107"/>
            <a:ext cx="209398" cy="209398"/>
          </a:xfrm>
          <a:prstGeom prst="rect">
            <a:avLst/>
          </a:prstGeom>
        </p:spPr>
      </p:pic>
      <p:pic>
        <p:nvPicPr>
          <p:cNvPr id="39" name="Image 23" descr="gen-dedup-3eb90732e3661373fb19e7f4f40accc7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715854" y="6344107"/>
            <a:ext cx="209398" cy="209398"/>
          </a:xfrm>
          <a:prstGeom prst="rect">
            <a:avLst/>
          </a:prstGeom>
        </p:spPr>
      </p:pic>
      <p:pic>
        <p:nvPicPr>
          <p:cNvPr id="40" name="Image 24" descr="gen-dedup-cccdc2a040b214ef7fde3dbc2c4c0c91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115446" y="6344107"/>
            <a:ext cx="209398" cy="209398"/>
          </a:xfrm>
          <a:prstGeom prst="rect">
            <a:avLst/>
          </a:prstGeom>
        </p:spPr>
      </p:pic>
      <p:pic>
        <p:nvPicPr>
          <p:cNvPr id="41" name="Image 25" descr="gen-dedup-e65a801e1d2e7d7f545c66da47e65295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715854" y="6991502"/>
            <a:ext cx="209398" cy="209398"/>
          </a:xfrm>
          <a:prstGeom prst="rect">
            <a:avLst/>
          </a:prstGeom>
        </p:spPr>
      </p:pic>
      <p:pic>
        <p:nvPicPr>
          <p:cNvPr id="42" name="Image 26" descr="gen-dedup-1ca55d8bcfd048e85c2feec6baee4754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1115446" y="6991502"/>
            <a:ext cx="209398" cy="209398"/>
          </a:xfrm>
          <a:prstGeom prst="rect">
            <a:avLst/>
          </a:prstGeom>
        </p:spPr>
      </p:pic>
      <p:pic>
        <p:nvPicPr>
          <p:cNvPr id="43" name="Image 27" descr="gen-dedup-c64420af1170f774cb39882a607964c5.png"/>
          <p:cNvPicPr>
            <a:picLocks noChangeAspect="1"/>
          </p:cNvPicPr>
          <p:nvPr/>
        </p:nvPicPr>
        <p:blipFill>
          <a:blip r:embed="rId16"/>
          <a:srcRect l="-7143" r="-7143"/>
          <a:stretch/>
        </p:blipFill>
        <p:spPr>
          <a:xfrm>
            <a:off x="11115446" y="7638898"/>
            <a:ext cx="209398" cy="209398"/>
          </a:xfrm>
          <a:prstGeom prst="rect">
            <a:avLst/>
          </a:prstGeom>
        </p:spPr>
      </p:pic>
      <p:pic>
        <p:nvPicPr>
          <p:cNvPr id="44" name="Image 28" descr="gen-dedup-097c4cdc002ec87c7cb4fa3dcf4a769f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6545154" y="4943246"/>
            <a:ext cx="342900" cy="342900"/>
          </a:xfrm>
          <a:prstGeom prst="rect">
            <a:avLst/>
          </a:prstGeom>
        </p:spPr>
      </p:pic>
      <p:pic>
        <p:nvPicPr>
          <p:cNvPr id="45" name="Image 29" descr="gen-dedup-e65a801e1d2e7d7f545c66da47e65295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6545154" y="6886346"/>
            <a:ext cx="342900" cy="342900"/>
          </a:xfrm>
          <a:prstGeom prst="rect">
            <a:avLst/>
          </a:prstGeom>
        </p:spPr>
      </p:pic>
      <p:pic>
        <p:nvPicPr>
          <p:cNvPr id="46" name="Image 30" descr="gen-dedup-3eb90732e3661373fb19e7f4f40accc7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68551" y="9077249"/>
            <a:ext cx="247802" cy="247802"/>
          </a:xfrm>
          <a:prstGeom prst="rect">
            <a:avLst/>
          </a:prstGeom>
        </p:spPr>
      </p:pic>
      <p:pic>
        <p:nvPicPr>
          <p:cNvPr id="47" name="Image 31" descr="gen-dedup-5023fea922589d6909f6d48e2362d329.png"/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4982444" y="9077249"/>
            <a:ext cx="247802" cy="247802"/>
          </a:xfrm>
          <a:prstGeom prst="rect">
            <a:avLst/>
          </a:prstGeom>
        </p:spPr>
      </p:pic>
      <p:pic>
        <p:nvPicPr>
          <p:cNvPr id="48" name="Image 32" descr="gen-dedup-038f9e27434e2a0b02f224e085a42298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5497251" y="9077249"/>
            <a:ext cx="247802" cy="247802"/>
          </a:xfrm>
          <a:prstGeom prst="rect">
            <a:avLst/>
          </a:prstGeom>
        </p:spPr>
      </p:pic>
      <p:pic>
        <p:nvPicPr>
          <p:cNvPr id="49" name="Image 33" descr="gen-dedup-1d344c7a59f5a91386bffe2900bacfe0.png"/>
          <p:cNvPicPr>
            <a:picLocks noChangeAspect="1"/>
          </p:cNvPicPr>
          <p:nvPr/>
        </p:nvPicPr>
        <p:blipFill>
          <a:blip r:embed="rId19"/>
          <a:srcRect t="-50000" b="-50000"/>
          <a:stretch/>
        </p:blipFill>
        <p:spPr>
          <a:xfrm>
            <a:off x="16011144" y="9077249"/>
            <a:ext cx="247802" cy="247802"/>
          </a:xfrm>
          <a:prstGeom prst="rect">
            <a:avLst/>
          </a:prstGeom>
        </p:spPr>
      </p:pic>
      <p:pic>
        <p:nvPicPr>
          <p:cNvPr id="50" name="Image 34" descr="gen-dedup-1ca55d8bcfd048e85c2feec6baee4754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525951" y="9077249"/>
            <a:ext cx="247802" cy="247802"/>
          </a:xfrm>
          <a:prstGeom prst="rect">
            <a:avLst/>
          </a:prstGeom>
        </p:spPr>
      </p:pic>
      <p:pic>
        <p:nvPicPr>
          <p:cNvPr id="52" name="Image 35" descr="gen-dedup-b09fd66f52af72aa409bc4acb25f14da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57300" y="2190902"/>
            <a:ext cx="267005" cy="267005"/>
          </a:xfrm>
          <a:prstGeom prst="rect">
            <a:avLst/>
          </a:prstGeom>
        </p:spPr>
      </p:pic>
      <p:sp>
        <p:nvSpPr>
          <p:cNvPr id="53" name="Text 15"/>
          <p:cNvSpPr txBox="1"/>
          <p:nvPr/>
        </p:nvSpPr>
        <p:spPr>
          <a:xfrm>
            <a:off x="1848002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· Logística · Cómo ayudamos</a:t>
            </a:r>
            <a:endParaRPr lang="en-US" sz="1125" dirty="0"/>
          </a:p>
        </p:txBody>
      </p:sp>
      <p:sp>
        <p:nvSpPr>
          <p:cNvPr id="54" name="Text 16"/>
          <p:cNvSpPr txBox="1"/>
          <p:nvPr/>
        </p:nvSpPr>
        <p:spPr>
          <a:xfrm>
            <a:off x="1143000" y="2704795"/>
            <a:ext cx="10858500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</a:t>
            </a: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Logística.</a:t>
            </a:r>
            <a:endParaRPr lang="en-US" sz="5550" dirty="0"/>
          </a:p>
        </p:txBody>
      </p:sp>
      <p:sp>
        <p:nvSpPr>
          <p:cNvPr id="55" name="Text 17"/>
          <p:cNvSpPr txBox="1"/>
          <p:nvPr/>
        </p:nvSpPr>
        <p:spPr>
          <a:xfrm>
            <a:off x="1143000" y="3657600"/>
            <a:ext cx="11049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Pedidos, albaranes y rutas sin grabado manual.</a:t>
            </a:r>
            <a:endParaRPr lang="en-US" sz="1950" dirty="0"/>
          </a:p>
        </p:txBody>
      </p:sp>
      <p:sp>
        <p:nvSpPr>
          <p:cNvPr id="56" name="Text 18"/>
          <p:cNvSpPr txBox="1"/>
          <p:nvPr/>
        </p:nvSpPr>
        <p:spPr>
          <a:xfrm>
            <a:off x="12573000" y="2247595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que intervienen</a:t>
            </a:r>
            <a:endParaRPr lang="en-US" sz="975" dirty="0"/>
          </a:p>
        </p:txBody>
      </p:sp>
      <p:sp>
        <p:nvSpPr>
          <p:cNvPr id="57" name="Shape 19"/>
          <p:cNvSpPr/>
          <p:nvPr/>
        </p:nvSpPr>
        <p:spPr>
          <a:xfrm>
            <a:off x="12573000" y="2533802"/>
            <a:ext cx="202905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0"/>
          <p:cNvSpPr txBox="1"/>
          <p:nvPr/>
        </p:nvSpPr>
        <p:spPr>
          <a:xfrm>
            <a:off x="12573000" y="2533802"/>
            <a:ext cx="2029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 · Pedidos Multicanal</a:t>
            </a:r>
            <a:endParaRPr lang="en-US" sz="1125" dirty="0"/>
          </a:p>
        </p:txBody>
      </p:sp>
      <p:sp>
        <p:nvSpPr>
          <p:cNvPr id="59" name="Shape 21"/>
          <p:cNvSpPr/>
          <p:nvPr/>
        </p:nvSpPr>
        <p:spPr>
          <a:xfrm>
            <a:off x="14670634" y="2533802"/>
            <a:ext cx="1933956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22"/>
          <p:cNvSpPr txBox="1"/>
          <p:nvPr/>
        </p:nvSpPr>
        <p:spPr>
          <a:xfrm>
            <a:off x="14670634" y="2533802"/>
            <a:ext cx="19339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 · Albaranes &amp; Docs</a:t>
            </a:r>
            <a:endParaRPr lang="en-US" sz="1125" dirty="0"/>
          </a:p>
        </p:txBody>
      </p:sp>
      <p:sp>
        <p:nvSpPr>
          <p:cNvPr id="61" name="Shape 23"/>
          <p:cNvSpPr/>
          <p:nvPr/>
        </p:nvSpPr>
        <p:spPr>
          <a:xfrm>
            <a:off x="12573000" y="2905049"/>
            <a:ext cx="1666951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4"/>
          <p:cNvSpPr txBox="1"/>
          <p:nvPr/>
        </p:nvSpPr>
        <p:spPr>
          <a:xfrm>
            <a:off x="12573000" y="2905049"/>
            <a:ext cx="16669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 · Conocimiento</a:t>
            </a:r>
            <a:endParaRPr lang="en-US" sz="1125" dirty="0"/>
          </a:p>
        </p:txBody>
      </p:sp>
      <p:sp>
        <p:nvSpPr>
          <p:cNvPr id="63" name="Text 25"/>
          <p:cNvSpPr txBox="1"/>
          <p:nvPr/>
        </p:nvSpPr>
        <p:spPr>
          <a:xfrm>
            <a:off x="1143000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El problema hoy</a:t>
            </a:r>
            <a:endParaRPr lang="en-US" sz="1050" dirty="0"/>
          </a:p>
        </p:txBody>
      </p:sp>
      <p:sp>
        <p:nvSpPr>
          <p:cNvPr id="64" name="Text 26"/>
          <p:cNvSpPr txBox="1"/>
          <p:nvPr/>
        </p:nvSpPr>
        <p:spPr>
          <a:xfrm>
            <a:off x="6476695" y="4324198"/>
            <a:ext cx="533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Orquestador MTi + agentes</a:t>
            </a:r>
            <a:endParaRPr lang="en-US" sz="1050" dirty="0"/>
          </a:p>
        </p:txBody>
      </p:sp>
      <p:sp>
        <p:nvSpPr>
          <p:cNvPr id="65" name="Text 27"/>
          <p:cNvSpPr txBox="1"/>
          <p:nvPr/>
        </p:nvSpPr>
        <p:spPr>
          <a:xfrm>
            <a:off x="13049402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Outputs</a:t>
            </a:r>
            <a:endParaRPr lang="en-US" sz="1050" dirty="0"/>
          </a:p>
        </p:txBody>
      </p:sp>
      <p:pic>
        <p:nvPicPr>
          <p:cNvPr id="66" name="Image 36" descr="gen-dedup-4c7ab213f4b23d54a6dc6ad31d7f7fb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10005" y="5438851"/>
            <a:ext cx="323698" cy="323698"/>
          </a:xfrm>
          <a:prstGeom prst="rect">
            <a:avLst/>
          </a:prstGeom>
        </p:spPr>
      </p:pic>
      <p:sp>
        <p:nvSpPr>
          <p:cNvPr id="67" name="Text 28"/>
          <p:cNvSpPr txBox="1"/>
          <p:nvPr/>
        </p:nvSpPr>
        <p:spPr>
          <a:xfrm>
            <a:off x="2018995" y="5362956"/>
            <a:ext cx="335950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Grabado nocturno de pedidos</a:t>
            </a:r>
            <a:endParaRPr lang="en-US" sz="1575" dirty="0"/>
          </a:p>
        </p:txBody>
      </p:sp>
      <p:sp>
        <p:nvSpPr>
          <p:cNvPr id="68" name="Text 29"/>
          <p:cNvSpPr txBox="1"/>
          <p:nvPr/>
        </p:nvSpPr>
        <p:spPr>
          <a:xfrm>
            <a:off x="2018995" y="5640019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Emails y WhatsApps a mano</a:t>
            </a:r>
            <a:endParaRPr lang="en-US" sz="1200" dirty="0"/>
          </a:p>
        </p:txBody>
      </p:sp>
      <p:pic>
        <p:nvPicPr>
          <p:cNvPr id="69" name="Image 37" descr="gen-dedup-45bd275f4a05da402716ecea0f42bfe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10005" y="6409944"/>
            <a:ext cx="323698" cy="323698"/>
          </a:xfrm>
          <a:prstGeom prst="rect">
            <a:avLst/>
          </a:prstGeom>
        </p:spPr>
      </p:pic>
      <p:sp>
        <p:nvSpPr>
          <p:cNvPr id="70" name="Text 30"/>
          <p:cNvSpPr txBox="1"/>
          <p:nvPr/>
        </p:nvSpPr>
        <p:spPr>
          <a:xfrm>
            <a:off x="2018995" y="6334049"/>
            <a:ext cx="335950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comprometido a ciegas</a:t>
            </a:r>
            <a:endParaRPr lang="en-US" sz="1575" dirty="0"/>
          </a:p>
        </p:txBody>
      </p:sp>
      <p:sp>
        <p:nvSpPr>
          <p:cNvPr id="71" name="Text 31"/>
          <p:cNvSpPr txBox="1"/>
          <p:nvPr/>
        </p:nvSpPr>
        <p:spPr>
          <a:xfrm>
            <a:off x="2018995" y="661202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Inconsistencias detectadas tarde</a:t>
            </a:r>
            <a:endParaRPr lang="en-US" sz="1200" dirty="0"/>
          </a:p>
        </p:txBody>
      </p:sp>
      <p:pic>
        <p:nvPicPr>
          <p:cNvPr id="72" name="Image 38" descr="gen-dedup-764d93c21240624a7158f12c81728cba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10005" y="7381951"/>
            <a:ext cx="323698" cy="323698"/>
          </a:xfrm>
          <a:prstGeom prst="rect">
            <a:avLst/>
          </a:prstGeom>
        </p:spPr>
      </p:pic>
      <p:sp>
        <p:nvSpPr>
          <p:cNvPr id="73" name="Text 32"/>
          <p:cNvSpPr txBox="1"/>
          <p:nvPr/>
        </p:nvSpPr>
        <p:spPr>
          <a:xfrm>
            <a:off x="2018995" y="7306056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en papel</a:t>
            </a:r>
            <a:endParaRPr lang="en-US" sz="1575" dirty="0"/>
          </a:p>
        </p:txBody>
      </p:sp>
      <p:sp>
        <p:nvSpPr>
          <p:cNvPr id="74" name="Text 33"/>
          <p:cNvSpPr txBox="1"/>
          <p:nvPr/>
        </p:nvSpPr>
        <p:spPr>
          <a:xfrm>
            <a:off x="2018995" y="7583119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y CMR manuales</a:t>
            </a:r>
            <a:endParaRPr lang="en-US" sz="1200" dirty="0"/>
          </a:p>
        </p:txBody>
      </p:sp>
      <p:pic>
        <p:nvPicPr>
          <p:cNvPr id="75" name="Image 39" descr="gen-dedup-30c7f13a50906ce24b09279892d160ee.png"/>
          <p:cNvPicPr>
            <a:picLocks noChangeAspect="1"/>
          </p:cNvPicPr>
          <p:nvPr/>
        </p:nvPicPr>
        <p:blipFill>
          <a:blip r:embed="rId24"/>
          <a:srcRect t="-10" b="-10"/>
          <a:stretch/>
        </p:blipFill>
        <p:spPr>
          <a:xfrm>
            <a:off x="5238598" y="4667098"/>
            <a:ext cx="1238098" cy="3810305"/>
          </a:xfrm>
          <a:prstGeom prst="rect">
            <a:avLst/>
          </a:prstGeom>
        </p:spPr>
      </p:pic>
      <p:pic>
        <p:nvPicPr>
          <p:cNvPr id="76" name="Image 40" descr="gen-dedup-1285c3e0a2e0da76b9a21674ffd74905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6762902" y="4914900"/>
            <a:ext cx="609905" cy="609905"/>
          </a:xfrm>
          <a:prstGeom prst="rect">
            <a:avLst/>
          </a:prstGeom>
        </p:spPr>
      </p:pic>
      <p:sp>
        <p:nvSpPr>
          <p:cNvPr id="77" name="Text 34"/>
          <p:cNvSpPr txBox="1"/>
          <p:nvPr/>
        </p:nvSpPr>
        <p:spPr>
          <a:xfrm>
            <a:off x="7543800" y="4972507"/>
            <a:ext cx="4000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Orquestador MTi</a:t>
            </a:r>
            <a:endParaRPr lang="en-US" sz="900" dirty="0"/>
          </a:p>
        </p:txBody>
      </p:sp>
      <p:sp>
        <p:nvSpPr>
          <p:cNvPr id="78" name="Text 35"/>
          <p:cNvSpPr txBox="1"/>
          <p:nvPr/>
        </p:nvSpPr>
        <p:spPr>
          <a:xfrm>
            <a:off x="7543800" y="5181905"/>
            <a:ext cx="4645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· encamina · actúa y explica</a:t>
            </a:r>
            <a:endParaRPr lang="en-US" sz="1650" dirty="0"/>
          </a:p>
        </p:txBody>
      </p:sp>
      <p:sp>
        <p:nvSpPr>
          <p:cNvPr id="79" name="Shape 36"/>
          <p:cNvSpPr/>
          <p:nvPr/>
        </p:nvSpPr>
        <p:spPr>
          <a:xfrm>
            <a:off x="6896405" y="6286500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37"/>
          <p:cNvSpPr txBox="1"/>
          <p:nvPr/>
        </p:nvSpPr>
        <p:spPr>
          <a:xfrm>
            <a:off x="7024421" y="6357823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125" dirty="0"/>
          </a:p>
        </p:txBody>
      </p:sp>
      <p:sp>
        <p:nvSpPr>
          <p:cNvPr id="81" name="Text 38"/>
          <p:cNvSpPr txBox="1"/>
          <p:nvPr/>
        </p:nvSpPr>
        <p:spPr>
          <a:xfrm>
            <a:off x="7582205" y="6334049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425" dirty="0"/>
          </a:p>
        </p:txBody>
      </p:sp>
      <p:sp>
        <p:nvSpPr>
          <p:cNvPr id="82" name="Shape 39"/>
          <p:cNvSpPr/>
          <p:nvPr/>
        </p:nvSpPr>
        <p:spPr>
          <a:xfrm>
            <a:off x="6896405" y="6933895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40"/>
          <p:cNvSpPr txBox="1"/>
          <p:nvPr/>
        </p:nvSpPr>
        <p:spPr>
          <a:xfrm>
            <a:off x="7022592" y="7005218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125" dirty="0"/>
          </a:p>
        </p:txBody>
      </p:sp>
      <p:sp>
        <p:nvSpPr>
          <p:cNvPr id="84" name="Text 41"/>
          <p:cNvSpPr txBox="1"/>
          <p:nvPr/>
        </p:nvSpPr>
        <p:spPr>
          <a:xfrm>
            <a:off x="7582205" y="6981444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Logística</a:t>
            </a:r>
            <a:endParaRPr lang="en-US" sz="1425" dirty="0"/>
          </a:p>
        </p:txBody>
      </p:sp>
      <p:sp>
        <p:nvSpPr>
          <p:cNvPr id="85" name="Shape 42"/>
          <p:cNvSpPr/>
          <p:nvPr/>
        </p:nvSpPr>
        <p:spPr>
          <a:xfrm>
            <a:off x="6896405" y="7582205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43"/>
          <p:cNvSpPr txBox="1"/>
          <p:nvPr/>
        </p:nvSpPr>
        <p:spPr>
          <a:xfrm>
            <a:off x="7028993" y="7653528"/>
            <a:ext cx="2953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125" dirty="0"/>
          </a:p>
        </p:txBody>
      </p:sp>
      <p:sp>
        <p:nvSpPr>
          <p:cNvPr id="87" name="Text 44"/>
          <p:cNvSpPr txBox="1"/>
          <p:nvPr/>
        </p:nvSpPr>
        <p:spPr>
          <a:xfrm>
            <a:off x="7582205" y="7629754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425" dirty="0"/>
          </a:p>
        </p:txBody>
      </p:sp>
      <p:pic>
        <p:nvPicPr>
          <p:cNvPr id="88" name="Image 41" descr="gen-dedup-2608aa99263e744df3fa0b32ae56b7c4.png"/>
          <p:cNvPicPr>
            <a:picLocks noChangeAspect="1"/>
          </p:cNvPicPr>
          <p:nvPr/>
        </p:nvPicPr>
        <p:blipFill>
          <a:blip r:embed="rId26"/>
          <a:srcRect t="-10" b="-10"/>
          <a:stretch/>
        </p:blipFill>
        <p:spPr>
          <a:xfrm>
            <a:off x="11811305" y="4667098"/>
            <a:ext cx="1238098" cy="3810305"/>
          </a:xfrm>
          <a:prstGeom prst="rect">
            <a:avLst/>
          </a:prstGeom>
        </p:spPr>
      </p:pic>
      <p:sp>
        <p:nvSpPr>
          <p:cNvPr id="89" name="Text 45"/>
          <p:cNvSpPr txBox="1"/>
          <p:nvPr/>
        </p:nvSpPr>
        <p:spPr>
          <a:xfrm>
            <a:off x="13220395" y="48764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 en el ERP</a:t>
            </a:r>
            <a:endParaRPr lang="en-US" sz="1575" dirty="0"/>
          </a:p>
        </p:txBody>
      </p:sp>
      <p:sp>
        <p:nvSpPr>
          <p:cNvPr id="90" name="Text 46"/>
          <p:cNvSpPr txBox="1"/>
          <p:nvPr/>
        </p:nvSpPr>
        <p:spPr>
          <a:xfrm>
            <a:off x="13220395" y="51544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vía Odoo API</a:t>
            </a:r>
            <a:endParaRPr lang="en-US" sz="1200" dirty="0"/>
          </a:p>
        </p:txBody>
      </p:sp>
      <p:pic>
        <p:nvPicPr>
          <p:cNvPr id="91" name="Image 42" descr="gen-dedup-cad81b674f5ca746b7ee00627dfd46b4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554298" y="5924398"/>
            <a:ext cx="323698" cy="323698"/>
          </a:xfrm>
          <a:prstGeom prst="rect">
            <a:avLst/>
          </a:prstGeom>
        </p:spPr>
      </p:pic>
      <p:sp>
        <p:nvSpPr>
          <p:cNvPr id="92" name="Text 47"/>
          <p:cNvSpPr txBox="1"/>
          <p:nvPr/>
        </p:nvSpPr>
        <p:spPr>
          <a:xfrm>
            <a:off x="13220395" y="58485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de stock</a:t>
            </a:r>
            <a:endParaRPr lang="en-US" sz="1575" dirty="0"/>
          </a:p>
        </p:txBody>
      </p:sp>
      <p:sp>
        <p:nvSpPr>
          <p:cNvPr id="93" name="Text 48"/>
          <p:cNvSpPr txBox="1"/>
          <p:nvPr/>
        </p:nvSpPr>
        <p:spPr>
          <a:xfrm>
            <a:off x="13220395" y="61255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comprometer</a:t>
            </a:r>
            <a:endParaRPr lang="en-US" sz="1200" dirty="0"/>
          </a:p>
        </p:txBody>
      </p:sp>
      <p:sp>
        <p:nvSpPr>
          <p:cNvPr id="94" name="Text 49"/>
          <p:cNvSpPr txBox="1"/>
          <p:nvPr/>
        </p:nvSpPr>
        <p:spPr>
          <a:xfrm>
            <a:off x="13220395" y="68195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y CMR</a:t>
            </a:r>
            <a:endParaRPr lang="en-US" sz="1575" dirty="0"/>
          </a:p>
        </p:txBody>
      </p:sp>
      <p:sp>
        <p:nvSpPr>
          <p:cNvPr id="95" name="Text 50"/>
          <p:cNvSpPr txBox="1"/>
          <p:nvPr/>
        </p:nvSpPr>
        <p:spPr>
          <a:xfrm>
            <a:off x="13220395" y="70975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Generados y pre-validados</a:t>
            </a:r>
            <a:endParaRPr lang="en-US" sz="1200" dirty="0"/>
          </a:p>
        </p:txBody>
      </p:sp>
      <p:pic>
        <p:nvPicPr>
          <p:cNvPr id="96" name="Image 43" descr="gen-dedup-b09fd66f52af72aa409bc4acb25f14da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554298" y="7867498"/>
            <a:ext cx="323698" cy="323698"/>
          </a:xfrm>
          <a:prstGeom prst="rect">
            <a:avLst/>
          </a:prstGeom>
        </p:spPr>
      </p:pic>
      <p:sp>
        <p:nvSpPr>
          <p:cNvPr id="97" name="Text 51"/>
          <p:cNvSpPr txBox="1"/>
          <p:nvPr/>
        </p:nvSpPr>
        <p:spPr>
          <a:xfrm>
            <a:off x="13220395" y="77916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Rutas optimizadas</a:t>
            </a:r>
            <a:endParaRPr lang="en-US" sz="1575" dirty="0"/>
          </a:p>
        </p:txBody>
      </p:sp>
      <p:sp>
        <p:nvSpPr>
          <p:cNvPr id="98" name="Text 52"/>
          <p:cNvSpPr txBox="1"/>
          <p:nvPr/>
        </p:nvSpPr>
        <p:spPr>
          <a:xfrm>
            <a:off x="13220395" y="80686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Ruteo VRP · carga 3D</a:t>
            </a:r>
            <a:endParaRPr lang="en-US" sz="1200" dirty="0"/>
          </a:p>
        </p:txBody>
      </p:sp>
      <p:pic>
        <p:nvPicPr>
          <p:cNvPr id="111" name="Image 1" descr="gen-dedup-3fc9b6bd6bd01734c54b10a0f11af3f3.png">
            <a:extLst>
              <a:ext uri="{FF2B5EF4-FFF2-40B4-BE49-F238E27FC236}">
                <a16:creationId xmlns:a16="http://schemas.microsoft.com/office/drawing/2014/main" id="{FDC43939-9EB8-ACD3-67A7-4ADC3DE07D0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  <p:sp>
        <p:nvSpPr>
          <p:cNvPr id="113" name="Text 63">
            <a:extLst>
              <a:ext uri="{FF2B5EF4-FFF2-40B4-BE49-F238E27FC236}">
                <a16:creationId xmlns:a16="http://schemas.microsoft.com/office/drawing/2014/main" id="{10B18518-7E23-F60B-9F09-D8B2C0B194CD}"/>
              </a:ext>
            </a:extLst>
          </p:cNvPr>
          <p:cNvSpPr txBox="1"/>
          <p:nvPr/>
        </p:nvSpPr>
        <p:spPr>
          <a:xfrm>
            <a:off x="12573000" y="9139174"/>
            <a:ext cx="17236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00" b="1" kern="0" spc="198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Conectados</a:t>
            </a:r>
            <a:r>
              <a:rPr lang="en-US" sz="900" dirty="0"/>
              <a:t> </a:t>
            </a: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7ad208497a0127a0e420179e11b85b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1718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143854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1149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752e8c34e1f413036db12b5ea6cabc7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476695" y="4667098"/>
            <a:ext cx="5333695" cy="38103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72707" y="4762195"/>
            <a:ext cx="5143500" cy="3619195"/>
          </a:xfrm>
          <a:prstGeom prst="roundRect">
            <a:avLst>
              <a:gd name="adj" fmla="val 783"/>
            </a:avLst>
          </a:prstGeom>
          <a:noFill/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4686300"/>
            <a:ext cx="4095598" cy="857707"/>
          </a:xfrm>
          <a:prstGeom prst="rect">
            <a:avLst/>
          </a:prstGeom>
        </p:spPr>
      </p:pic>
      <p:pic>
        <p:nvPicPr>
          <p:cNvPr id="9" name="Image 3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5658307"/>
            <a:ext cx="4095598" cy="857707"/>
          </a:xfrm>
          <a:prstGeom prst="rect">
            <a:avLst/>
          </a:prstGeom>
        </p:spPr>
      </p:pic>
      <p:pic>
        <p:nvPicPr>
          <p:cNvPr id="10" name="Image 4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6629400"/>
            <a:ext cx="4095598" cy="857707"/>
          </a:xfrm>
          <a:prstGeom prst="rect">
            <a:avLst/>
          </a:prstGeom>
        </p:spPr>
      </p:pic>
      <p:pic>
        <p:nvPicPr>
          <p:cNvPr id="11" name="Image 5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7601407"/>
            <a:ext cx="4095598" cy="857707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13049400" y="8725205"/>
            <a:ext cx="4095599" cy="952805"/>
          </a:xfrm>
          <a:prstGeom prst="roundRect">
            <a:avLst>
              <a:gd name="adj" fmla="val 4031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/>
          <p:cNvSpPr/>
          <p:nvPr/>
        </p:nvSpPr>
        <p:spPr>
          <a:xfrm>
            <a:off x="1143000" y="2095805"/>
            <a:ext cx="495605" cy="457200"/>
          </a:xfrm>
          <a:prstGeom prst="roundRect">
            <a:avLst>
              <a:gd name="adj" fmla="val 4200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/>
          <p:cNvSpPr/>
          <p:nvPr/>
        </p:nvSpPr>
        <p:spPr>
          <a:xfrm>
            <a:off x="1285646" y="53154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/>
          <p:cNvSpPr/>
          <p:nvPr/>
        </p:nvSpPr>
        <p:spPr>
          <a:xfrm>
            <a:off x="1285646" y="6286500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8"/>
          <p:cNvSpPr/>
          <p:nvPr/>
        </p:nvSpPr>
        <p:spPr>
          <a:xfrm>
            <a:off x="1285646" y="72585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6" descr="gen-dedup-ce5fa75b8f2c8c62f55bab563be32c6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6762902" y="5715000"/>
            <a:ext cx="4762195" cy="9144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762902" y="6172200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7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48595" y="6277356"/>
            <a:ext cx="342900" cy="342900"/>
          </a:xfrm>
          <a:prstGeom prst="rect">
            <a:avLst/>
          </a:prstGeom>
        </p:spPr>
      </p:pic>
      <p:pic>
        <p:nvPicPr>
          <p:cNvPr id="20" name="Image 8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6277356"/>
            <a:ext cx="342900" cy="342900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6762902" y="6819595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9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6924751"/>
            <a:ext cx="342900" cy="342900"/>
          </a:xfrm>
          <a:prstGeom prst="rect">
            <a:avLst/>
          </a:prstGeom>
        </p:spPr>
      </p:pic>
      <p:pic>
        <p:nvPicPr>
          <p:cNvPr id="23" name="Image 10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6924751"/>
            <a:ext cx="342900" cy="342900"/>
          </a:xfrm>
          <a:prstGeom prst="rect">
            <a:avLst/>
          </a:prstGeom>
        </p:spPr>
      </p:pic>
      <p:sp>
        <p:nvSpPr>
          <p:cNvPr id="24" name="Shape 11"/>
          <p:cNvSpPr/>
          <p:nvPr/>
        </p:nvSpPr>
        <p:spPr>
          <a:xfrm>
            <a:off x="6762902" y="7467905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1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7572146"/>
            <a:ext cx="342900" cy="342900"/>
          </a:xfrm>
          <a:prstGeom prst="rect">
            <a:avLst/>
          </a:prstGeom>
        </p:spPr>
      </p:pic>
      <p:pic>
        <p:nvPicPr>
          <p:cNvPr id="26" name="Image 12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7572146"/>
            <a:ext cx="342900" cy="342900"/>
          </a:xfrm>
          <a:prstGeom prst="rect">
            <a:avLst/>
          </a:prstGeom>
        </p:spPr>
      </p:pic>
      <p:pic>
        <p:nvPicPr>
          <p:cNvPr id="27" name="Image 13" descr="gen-dedup-b0657a3e76b47982c976da763b923f1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430854" y="4828946"/>
            <a:ext cx="571500" cy="571500"/>
          </a:xfrm>
          <a:prstGeom prst="rect">
            <a:avLst/>
          </a:prstGeom>
        </p:spPr>
      </p:pic>
      <p:sp>
        <p:nvSpPr>
          <p:cNvPr id="28" name="Shape 12"/>
          <p:cNvSpPr/>
          <p:nvPr/>
        </p:nvSpPr>
        <p:spPr>
          <a:xfrm>
            <a:off x="16430854" y="5800954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3"/>
          <p:cNvSpPr/>
          <p:nvPr/>
        </p:nvSpPr>
        <p:spPr>
          <a:xfrm>
            <a:off x="16430854" y="6772046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4"/>
          <p:cNvSpPr/>
          <p:nvPr/>
        </p:nvSpPr>
        <p:spPr>
          <a:xfrm>
            <a:off x="16430854" y="7744054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4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382598" y="8991295"/>
            <a:ext cx="418795" cy="418795"/>
          </a:xfrm>
          <a:prstGeom prst="rect">
            <a:avLst/>
          </a:prstGeom>
        </p:spPr>
      </p:pic>
      <p:pic>
        <p:nvPicPr>
          <p:cNvPr id="32" name="Image 15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897405" y="8991295"/>
            <a:ext cx="418795" cy="418795"/>
          </a:xfrm>
          <a:prstGeom prst="rect">
            <a:avLst/>
          </a:prstGeom>
        </p:spPr>
      </p:pic>
      <p:pic>
        <p:nvPicPr>
          <p:cNvPr id="33" name="Image 16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411298" y="8991295"/>
            <a:ext cx="418795" cy="418795"/>
          </a:xfrm>
          <a:prstGeom prst="rect">
            <a:avLst/>
          </a:prstGeom>
        </p:spPr>
      </p:pic>
      <p:pic>
        <p:nvPicPr>
          <p:cNvPr id="34" name="Image 17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926105" y="8991295"/>
            <a:ext cx="418795" cy="418795"/>
          </a:xfrm>
          <a:prstGeom prst="rect">
            <a:avLst/>
          </a:prstGeom>
        </p:spPr>
      </p:pic>
      <p:pic>
        <p:nvPicPr>
          <p:cNvPr id="35" name="Image 18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439998" y="8991295"/>
            <a:ext cx="418795" cy="418795"/>
          </a:xfrm>
          <a:prstGeom prst="rect">
            <a:avLst/>
          </a:prstGeom>
        </p:spPr>
      </p:pic>
      <p:pic>
        <p:nvPicPr>
          <p:cNvPr id="37" name="Image 20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38" name="Image 21" descr="gen-dedup-f8ed294b000c1ef7e579ff30ac06ed18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315346" y="6344107"/>
            <a:ext cx="209398" cy="209398"/>
          </a:xfrm>
          <a:prstGeom prst="rect">
            <a:avLst/>
          </a:prstGeom>
        </p:spPr>
      </p:pic>
      <p:pic>
        <p:nvPicPr>
          <p:cNvPr id="39" name="Image 22" descr="gen-dedup-dbbe570e5ea020bc080cbd7c66058d39.png"/>
          <p:cNvPicPr>
            <a:picLocks noChangeAspect="1"/>
          </p:cNvPicPr>
          <p:nvPr/>
        </p:nvPicPr>
        <p:blipFill>
          <a:blip r:embed="rId12"/>
          <a:srcRect t="-3125" b="-3125"/>
          <a:stretch/>
        </p:blipFill>
        <p:spPr>
          <a:xfrm>
            <a:off x="10715854" y="6344107"/>
            <a:ext cx="209398" cy="209398"/>
          </a:xfrm>
          <a:prstGeom prst="rect">
            <a:avLst/>
          </a:prstGeom>
        </p:spPr>
      </p:pic>
      <p:pic>
        <p:nvPicPr>
          <p:cNvPr id="40" name="Image 23" descr="gen-dedup-5023fea922589d6909f6d48e2362d329.png"/>
          <p:cNvPicPr>
            <a:picLocks noChangeAspect="1"/>
          </p:cNvPicPr>
          <p:nvPr/>
        </p:nvPicPr>
        <p:blipFill>
          <a:blip r:embed="rId13"/>
          <a:srcRect t="-12500" b="-12500"/>
          <a:stretch/>
        </p:blipFill>
        <p:spPr>
          <a:xfrm>
            <a:off x="10715854" y="6991502"/>
            <a:ext cx="209398" cy="209398"/>
          </a:xfrm>
          <a:prstGeom prst="rect">
            <a:avLst/>
          </a:prstGeom>
        </p:spPr>
      </p:pic>
      <p:pic>
        <p:nvPicPr>
          <p:cNvPr id="41" name="Image 24" descr="gen-dedup-04a6c6595c9dff6b95c3b59c31d72678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1115446" y="6991502"/>
            <a:ext cx="209398" cy="209398"/>
          </a:xfrm>
          <a:prstGeom prst="rect">
            <a:avLst/>
          </a:prstGeom>
        </p:spPr>
      </p:pic>
      <p:pic>
        <p:nvPicPr>
          <p:cNvPr id="42" name="Image 25" descr="gen-dedup-c64420af1170f774cb39882a607964c5.png"/>
          <p:cNvPicPr>
            <a:picLocks noChangeAspect="1"/>
          </p:cNvPicPr>
          <p:nvPr/>
        </p:nvPicPr>
        <p:blipFill>
          <a:blip r:embed="rId15"/>
          <a:srcRect l="-7143" r="-7143"/>
          <a:stretch/>
        </p:blipFill>
        <p:spPr>
          <a:xfrm>
            <a:off x="10715854" y="7638898"/>
            <a:ext cx="209398" cy="209398"/>
          </a:xfrm>
          <a:prstGeom prst="rect">
            <a:avLst/>
          </a:prstGeom>
        </p:spPr>
      </p:pic>
      <p:pic>
        <p:nvPicPr>
          <p:cNvPr id="43" name="Image 26" descr="gen-dedup-e7ab78e4355fc2b487175e242ea0f4ef.png"/>
          <p:cNvPicPr>
            <a:picLocks noChangeAspect="1"/>
          </p:cNvPicPr>
          <p:nvPr/>
        </p:nvPicPr>
        <p:blipFill>
          <a:blip r:embed="rId16"/>
          <a:srcRect t="-100000" b="-100000"/>
          <a:stretch/>
        </p:blipFill>
        <p:spPr>
          <a:xfrm>
            <a:off x="11115446" y="7638898"/>
            <a:ext cx="209398" cy="209398"/>
          </a:xfrm>
          <a:prstGeom prst="rect">
            <a:avLst/>
          </a:prstGeom>
        </p:spPr>
      </p:pic>
      <p:pic>
        <p:nvPicPr>
          <p:cNvPr id="44" name="Image 27" descr="gen-dedup-dbbe570e5ea020bc080cbd7c66058d39.png"/>
          <p:cNvPicPr>
            <a:picLocks noChangeAspect="1"/>
          </p:cNvPicPr>
          <p:nvPr/>
        </p:nvPicPr>
        <p:blipFill>
          <a:blip r:embed="rId12"/>
          <a:srcRect t="-3125" b="-3125"/>
          <a:stretch/>
        </p:blipFill>
        <p:spPr>
          <a:xfrm>
            <a:off x="16545154" y="4943246"/>
            <a:ext cx="342900" cy="342900"/>
          </a:xfrm>
          <a:prstGeom prst="rect">
            <a:avLst/>
          </a:prstGeom>
        </p:spPr>
      </p:pic>
      <p:pic>
        <p:nvPicPr>
          <p:cNvPr id="45" name="Image 28" descr="gen-dedup-f8ed294b000c1ef7e579ff30ac06ed18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468551" y="9077249"/>
            <a:ext cx="247802" cy="247802"/>
          </a:xfrm>
          <a:prstGeom prst="rect">
            <a:avLst/>
          </a:prstGeom>
        </p:spPr>
      </p:pic>
      <p:pic>
        <p:nvPicPr>
          <p:cNvPr id="46" name="Image 29" descr="gen-dedup-dbbe570e5ea020bc080cbd7c66058d39.png"/>
          <p:cNvPicPr>
            <a:picLocks noChangeAspect="1"/>
          </p:cNvPicPr>
          <p:nvPr/>
        </p:nvPicPr>
        <p:blipFill>
          <a:blip r:embed="rId12"/>
          <a:srcRect t="-3125" b="-3125"/>
          <a:stretch/>
        </p:blipFill>
        <p:spPr>
          <a:xfrm>
            <a:off x="14982444" y="9077249"/>
            <a:ext cx="247802" cy="247802"/>
          </a:xfrm>
          <a:prstGeom prst="rect">
            <a:avLst/>
          </a:prstGeom>
        </p:spPr>
      </p:pic>
      <p:pic>
        <p:nvPicPr>
          <p:cNvPr id="47" name="Image 30" descr="gen-dedup-5023fea922589d6909f6d48e2362d329.png"/>
          <p:cNvPicPr>
            <a:picLocks noChangeAspect="1"/>
          </p:cNvPicPr>
          <p:nvPr/>
        </p:nvPicPr>
        <p:blipFill>
          <a:blip r:embed="rId13"/>
          <a:srcRect t="-12500" b="-12500"/>
          <a:stretch/>
        </p:blipFill>
        <p:spPr>
          <a:xfrm>
            <a:off x="15497251" y="9077249"/>
            <a:ext cx="247802" cy="247802"/>
          </a:xfrm>
          <a:prstGeom prst="rect">
            <a:avLst/>
          </a:prstGeom>
        </p:spPr>
      </p:pic>
      <p:pic>
        <p:nvPicPr>
          <p:cNvPr id="48" name="Image 31" descr="gen-dedup-04a6c6595c9dff6b95c3b59c31d72678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6011144" y="9077249"/>
            <a:ext cx="247802" cy="247802"/>
          </a:xfrm>
          <a:prstGeom prst="rect">
            <a:avLst/>
          </a:prstGeom>
        </p:spPr>
      </p:pic>
      <p:pic>
        <p:nvPicPr>
          <p:cNvPr id="49" name="Image 32" descr="gen-dedup-bc0a37f2aa86479f1dbba7289591e74a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6525951" y="9077249"/>
            <a:ext cx="247802" cy="247802"/>
          </a:xfrm>
          <a:prstGeom prst="rect">
            <a:avLst/>
          </a:prstGeom>
        </p:spPr>
      </p:pic>
      <p:pic>
        <p:nvPicPr>
          <p:cNvPr id="51" name="Image 33" descr="gen-dedup-40fe17d3ab1353232329f201d424c93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57300" y="2190902"/>
            <a:ext cx="267005" cy="267005"/>
          </a:xfrm>
          <a:prstGeom prst="rect">
            <a:avLst/>
          </a:prstGeom>
        </p:spPr>
      </p:pic>
      <p:sp>
        <p:nvSpPr>
          <p:cNvPr id="52" name="Text 16"/>
          <p:cNvSpPr txBox="1"/>
          <p:nvPr/>
        </p:nvSpPr>
        <p:spPr>
          <a:xfrm>
            <a:off x="1848002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al cliente · Soporte · Cómo ayudamos</a:t>
            </a:r>
            <a:endParaRPr lang="en-US" sz="1125" dirty="0"/>
          </a:p>
        </p:txBody>
      </p:sp>
      <p:sp>
        <p:nvSpPr>
          <p:cNvPr id="53" name="Text 17"/>
          <p:cNvSpPr txBox="1"/>
          <p:nvPr/>
        </p:nvSpPr>
        <p:spPr>
          <a:xfrm>
            <a:off x="1143000" y="2704795"/>
            <a:ext cx="10858500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</a:t>
            </a: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Cliente.</a:t>
            </a:r>
            <a:endParaRPr lang="en-US" sz="5550" dirty="0"/>
          </a:p>
        </p:txBody>
      </p:sp>
      <p:sp>
        <p:nvSpPr>
          <p:cNvPr id="54" name="Text 18"/>
          <p:cNvSpPr txBox="1"/>
          <p:nvPr/>
        </p:nvSpPr>
        <p:spPr>
          <a:xfrm>
            <a:off x="1143000" y="3657600"/>
            <a:ext cx="11049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Teléfono y correo atendidos 24/7, con traspaso inteligente al humano.</a:t>
            </a:r>
            <a:endParaRPr lang="en-US" sz="1950" dirty="0"/>
          </a:p>
        </p:txBody>
      </p:sp>
      <p:sp>
        <p:nvSpPr>
          <p:cNvPr id="55" name="Text 19"/>
          <p:cNvSpPr txBox="1"/>
          <p:nvPr/>
        </p:nvSpPr>
        <p:spPr>
          <a:xfrm>
            <a:off x="12573000" y="2247595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que intervienen</a:t>
            </a:r>
            <a:endParaRPr lang="en-US" sz="975" dirty="0"/>
          </a:p>
        </p:txBody>
      </p:sp>
      <p:sp>
        <p:nvSpPr>
          <p:cNvPr id="56" name="Shape 20"/>
          <p:cNvSpPr/>
          <p:nvPr/>
        </p:nvSpPr>
        <p:spPr>
          <a:xfrm>
            <a:off x="12573000" y="2533802"/>
            <a:ext cx="1714500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21"/>
          <p:cNvSpPr txBox="1"/>
          <p:nvPr/>
        </p:nvSpPr>
        <p:spPr>
          <a:xfrm>
            <a:off x="12573000" y="2533802"/>
            <a:ext cx="17145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 · Voz</a:t>
            </a:r>
            <a:endParaRPr lang="en-US" sz="1125" dirty="0"/>
          </a:p>
        </p:txBody>
      </p:sp>
      <p:sp>
        <p:nvSpPr>
          <p:cNvPr id="58" name="Shape 22"/>
          <p:cNvSpPr/>
          <p:nvPr/>
        </p:nvSpPr>
        <p:spPr>
          <a:xfrm>
            <a:off x="14356080" y="2533802"/>
            <a:ext cx="1895551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23"/>
          <p:cNvSpPr txBox="1"/>
          <p:nvPr/>
        </p:nvSpPr>
        <p:spPr>
          <a:xfrm>
            <a:off x="14356080" y="2533802"/>
            <a:ext cx="18955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 · Correo</a:t>
            </a:r>
            <a:endParaRPr lang="en-US" sz="1125" dirty="0"/>
          </a:p>
        </p:txBody>
      </p:sp>
      <p:sp>
        <p:nvSpPr>
          <p:cNvPr id="60" name="Shape 24"/>
          <p:cNvSpPr/>
          <p:nvPr/>
        </p:nvSpPr>
        <p:spPr>
          <a:xfrm>
            <a:off x="12573000" y="2905049"/>
            <a:ext cx="1666951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25"/>
          <p:cNvSpPr txBox="1"/>
          <p:nvPr/>
        </p:nvSpPr>
        <p:spPr>
          <a:xfrm>
            <a:off x="12573000" y="2905049"/>
            <a:ext cx="16669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 · Conocimiento</a:t>
            </a:r>
            <a:endParaRPr lang="en-US" sz="1125" dirty="0"/>
          </a:p>
        </p:txBody>
      </p:sp>
      <p:sp>
        <p:nvSpPr>
          <p:cNvPr id="62" name="Text 26"/>
          <p:cNvSpPr txBox="1"/>
          <p:nvPr/>
        </p:nvSpPr>
        <p:spPr>
          <a:xfrm>
            <a:off x="1143000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El problema hoy</a:t>
            </a:r>
            <a:endParaRPr lang="en-US" sz="1050" dirty="0"/>
          </a:p>
        </p:txBody>
      </p:sp>
      <p:sp>
        <p:nvSpPr>
          <p:cNvPr id="63" name="Text 27"/>
          <p:cNvSpPr txBox="1"/>
          <p:nvPr/>
        </p:nvSpPr>
        <p:spPr>
          <a:xfrm>
            <a:off x="6476695" y="4324198"/>
            <a:ext cx="533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Orquestador MTi + agentes</a:t>
            </a:r>
            <a:endParaRPr lang="en-US" sz="1050" dirty="0"/>
          </a:p>
        </p:txBody>
      </p:sp>
      <p:sp>
        <p:nvSpPr>
          <p:cNvPr id="64" name="Text 28"/>
          <p:cNvSpPr txBox="1"/>
          <p:nvPr/>
        </p:nvSpPr>
        <p:spPr>
          <a:xfrm>
            <a:off x="13049402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Outputs</a:t>
            </a:r>
            <a:endParaRPr lang="en-US" sz="1050" dirty="0"/>
          </a:p>
        </p:txBody>
      </p:sp>
      <p:pic>
        <p:nvPicPr>
          <p:cNvPr id="65" name="Image 34" descr="gen-dedup-f1784c6f7c720a8a9f58117a3229710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10005" y="5438851"/>
            <a:ext cx="323698" cy="323698"/>
          </a:xfrm>
          <a:prstGeom prst="rect">
            <a:avLst/>
          </a:prstGeom>
        </p:spPr>
      </p:pic>
      <p:sp>
        <p:nvSpPr>
          <p:cNvPr id="66" name="Text 29"/>
          <p:cNvSpPr txBox="1"/>
          <p:nvPr/>
        </p:nvSpPr>
        <p:spPr>
          <a:xfrm>
            <a:off x="2018995" y="5362956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Llamadas perdidas</a:t>
            </a:r>
            <a:endParaRPr lang="en-US" sz="1575" dirty="0"/>
          </a:p>
        </p:txBody>
      </p:sp>
      <p:sp>
        <p:nvSpPr>
          <p:cNvPr id="67" name="Text 30"/>
          <p:cNvSpPr txBox="1"/>
          <p:nvPr/>
        </p:nvSpPr>
        <p:spPr>
          <a:xfrm>
            <a:off x="2018995" y="5640019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Fuera de horario o en picos</a:t>
            </a:r>
            <a:endParaRPr lang="en-US" sz="1200" dirty="0"/>
          </a:p>
        </p:txBody>
      </p:sp>
      <p:pic>
        <p:nvPicPr>
          <p:cNvPr id="68" name="Image 35" descr="gen-dedup-f45cfadb686c255b36fa3a8f19f35296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10005" y="6409944"/>
            <a:ext cx="323698" cy="323698"/>
          </a:xfrm>
          <a:prstGeom prst="rect">
            <a:avLst/>
          </a:prstGeom>
        </p:spPr>
      </p:pic>
      <p:sp>
        <p:nvSpPr>
          <p:cNvPr id="69" name="Text 31"/>
          <p:cNvSpPr txBox="1"/>
          <p:nvPr/>
        </p:nvSpPr>
        <p:spPr>
          <a:xfrm>
            <a:off x="2018995" y="6334049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Buzón saturado</a:t>
            </a:r>
            <a:endParaRPr lang="en-US" sz="1575" dirty="0"/>
          </a:p>
        </p:txBody>
      </p:sp>
      <p:sp>
        <p:nvSpPr>
          <p:cNvPr id="70" name="Text 32"/>
          <p:cNvSpPr txBox="1"/>
          <p:nvPr/>
        </p:nvSpPr>
        <p:spPr>
          <a:xfrm>
            <a:off x="2018995" y="6612026"/>
            <a:ext cx="322326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lentas e inconsistentes</a:t>
            </a:r>
            <a:endParaRPr lang="en-US" sz="1200" dirty="0"/>
          </a:p>
        </p:txBody>
      </p:sp>
      <p:pic>
        <p:nvPicPr>
          <p:cNvPr id="71" name="Image 36" descr="gen-dedup-8c4bc8d7413ed0ac3d1e794b39d9c32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10005" y="7381951"/>
            <a:ext cx="323698" cy="323698"/>
          </a:xfrm>
          <a:prstGeom prst="rect">
            <a:avLst/>
          </a:prstGeom>
        </p:spPr>
      </p:pic>
      <p:sp>
        <p:nvSpPr>
          <p:cNvPr id="72" name="Text 33"/>
          <p:cNvSpPr txBox="1"/>
          <p:nvPr/>
        </p:nvSpPr>
        <p:spPr>
          <a:xfrm>
            <a:off x="2018995" y="7306056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 dispersa</a:t>
            </a:r>
            <a:endParaRPr lang="en-US" sz="1575" dirty="0"/>
          </a:p>
        </p:txBody>
      </p:sp>
      <p:sp>
        <p:nvSpPr>
          <p:cNvPr id="73" name="Text 34"/>
          <p:cNvSpPr txBox="1"/>
          <p:nvPr/>
        </p:nvSpPr>
        <p:spPr>
          <a:xfrm>
            <a:off x="2018995" y="7583119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operador responde distinto</a:t>
            </a:r>
            <a:endParaRPr lang="en-US" sz="1200" dirty="0"/>
          </a:p>
        </p:txBody>
      </p:sp>
      <p:pic>
        <p:nvPicPr>
          <p:cNvPr id="74" name="Image 37" descr="gen-dedup-30c7f13a50906ce24b09279892d160ee.png"/>
          <p:cNvPicPr>
            <a:picLocks noChangeAspect="1"/>
          </p:cNvPicPr>
          <p:nvPr/>
        </p:nvPicPr>
        <p:blipFill>
          <a:blip r:embed="rId22"/>
          <a:srcRect t="-10" b="-10"/>
          <a:stretch/>
        </p:blipFill>
        <p:spPr>
          <a:xfrm>
            <a:off x="5238598" y="4667098"/>
            <a:ext cx="1238098" cy="3810305"/>
          </a:xfrm>
          <a:prstGeom prst="rect">
            <a:avLst/>
          </a:prstGeom>
        </p:spPr>
      </p:pic>
      <p:pic>
        <p:nvPicPr>
          <p:cNvPr id="75" name="Image 38" descr="gen-dedup-1285c3e0a2e0da76b9a21674ffd74905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6762902" y="4914900"/>
            <a:ext cx="609905" cy="609905"/>
          </a:xfrm>
          <a:prstGeom prst="rect">
            <a:avLst/>
          </a:prstGeom>
        </p:spPr>
      </p:pic>
      <p:sp>
        <p:nvSpPr>
          <p:cNvPr id="76" name="Text 35"/>
          <p:cNvSpPr txBox="1"/>
          <p:nvPr/>
        </p:nvSpPr>
        <p:spPr>
          <a:xfrm>
            <a:off x="7543800" y="4972507"/>
            <a:ext cx="4000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Orquestador MTi</a:t>
            </a:r>
            <a:endParaRPr lang="en-US" sz="900" dirty="0"/>
          </a:p>
        </p:txBody>
      </p:sp>
      <p:sp>
        <p:nvSpPr>
          <p:cNvPr id="77" name="Text 36"/>
          <p:cNvSpPr txBox="1"/>
          <p:nvPr/>
        </p:nvSpPr>
        <p:spPr>
          <a:xfrm>
            <a:off x="7543800" y="5181905"/>
            <a:ext cx="4645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· encamina · actúa y explica</a:t>
            </a:r>
            <a:endParaRPr lang="en-US" sz="1650" dirty="0"/>
          </a:p>
        </p:txBody>
      </p:sp>
      <p:sp>
        <p:nvSpPr>
          <p:cNvPr id="78" name="Shape 37"/>
          <p:cNvSpPr/>
          <p:nvPr/>
        </p:nvSpPr>
        <p:spPr>
          <a:xfrm>
            <a:off x="6896405" y="6286500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38"/>
          <p:cNvSpPr txBox="1"/>
          <p:nvPr/>
        </p:nvSpPr>
        <p:spPr>
          <a:xfrm>
            <a:off x="7022592" y="6357823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1125" dirty="0"/>
          </a:p>
        </p:txBody>
      </p:sp>
      <p:sp>
        <p:nvSpPr>
          <p:cNvPr id="80" name="Text 39"/>
          <p:cNvSpPr txBox="1"/>
          <p:nvPr/>
        </p:nvSpPr>
        <p:spPr>
          <a:xfrm>
            <a:off x="7582205" y="6334049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Voz</a:t>
            </a:r>
            <a:endParaRPr lang="en-US" sz="1425" dirty="0"/>
          </a:p>
        </p:txBody>
      </p:sp>
      <p:sp>
        <p:nvSpPr>
          <p:cNvPr id="81" name="Shape 40"/>
          <p:cNvSpPr/>
          <p:nvPr/>
        </p:nvSpPr>
        <p:spPr>
          <a:xfrm>
            <a:off x="11048695" y="6277356"/>
            <a:ext cx="342900" cy="342900"/>
          </a:xfrm>
          <a:prstGeom prst="roundRect">
            <a:avLst>
              <a:gd name="adj" fmla="val 11200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41"/>
          <p:cNvSpPr txBox="1"/>
          <p:nvPr/>
        </p:nvSpPr>
        <p:spPr>
          <a:xfrm>
            <a:off x="11129162" y="6377026"/>
            <a:ext cx="241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SIP</a:t>
            </a:r>
            <a:endParaRPr lang="en-US" sz="900" dirty="0"/>
          </a:p>
        </p:txBody>
      </p:sp>
      <p:sp>
        <p:nvSpPr>
          <p:cNvPr id="83" name="Shape 42"/>
          <p:cNvSpPr/>
          <p:nvPr/>
        </p:nvSpPr>
        <p:spPr>
          <a:xfrm>
            <a:off x="6896405" y="6933895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43"/>
          <p:cNvSpPr txBox="1"/>
          <p:nvPr/>
        </p:nvSpPr>
        <p:spPr>
          <a:xfrm>
            <a:off x="7038137" y="7005218"/>
            <a:ext cx="2770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125" dirty="0"/>
          </a:p>
        </p:txBody>
      </p:sp>
      <p:sp>
        <p:nvSpPr>
          <p:cNvPr id="85" name="Text 44"/>
          <p:cNvSpPr txBox="1"/>
          <p:nvPr/>
        </p:nvSpPr>
        <p:spPr>
          <a:xfrm>
            <a:off x="7582205" y="6981444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Correo</a:t>
            </a:r>
            <a:endParaRPr lang="en-US" sz="1425" dirty="0"/>
          </a:p>
        </p:txBody>
      </p:sp>
      <p:sp>
        <p:nvSpPr>
          <p:cNvPr id="86" name="Shape 45"/>
          <p:cNvSpPr/>
          <p:nvPr/>
        </p:nvSpPr>
        <p:spPr>
          <a:xfrm>
            <a:off x="6896405" y="7582205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46"/>
          <p:cNvSpPr txBox="1"/>
          <p:nvPr/>
        </p:nvSpPr>
        <p:spPr>
          <a:xfrm>
            <a:off x="7028993" y="7653528"/>
            <a:ext cx="2953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125" dirty="0"/>
          </a:p>
        </p:txBody>
      </p:sp>
      <p:sp>
        <p:nvSpPr>
          <p:cNvPr id="88" name="Text 47"/>
          <p:cNvSpPr txBox="1"/>
          <p:nvPr/>
        </p:nvSpPr>
        <p:spPr>
          <a:xfrm>
            <a:off x="7582205" y="7629754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425" dirty="0"/>
          </a:p>
        </p:txBody>
      </p:sp>
      <p:pic>
        <p:nvPicPr>
          <p:cNvPr id="89" name="Image 39" descr="gen-dedup-2608aa99263e744df3fa0b32ae56b7c4.png"/>
          <p:cNvPicPr>
            <a:picLocks noChangeAspect="1"/>
          </p:cNvPicPr>
          <p:nvPr/>
        </p:nvPicPr>
        <p:blipFill>
          <a:blip r:embed="rId24"/>
          <a:srcRect t="-10" b="-10"/>
          <a:stretch/>
        </p:blipFill>
        <p:spPr>
          <a:xfrm>
            <a:off x="11811305" y="4667098"/>
            <a:ext cx="1238098" cy="3810305"/>
          </a:xfrm>
          <a:prstGeom prst="rect">
            <a:avLst/>
          </a:prstGeom>
        </p:spPr>
      </p:pic>
      <p:sp>
        <p:nvSpPr>
          <p:cNvPr id="90" name="Text 48"/>
          <p:cNvSpPr txBox="1"/>
          <p:nvPr/>
        </p:nvSpPr>
        <p:spPr>
          <a:xfrm>
            <a:off x="13220395" y="48764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hablada</a:t>
            </a:r>
            <a:endParaRPr lang="en-US" sz="1575" dirty="0"/>
          </a:p>
        </p:txBody>
      </p:sp>
      <p:sp>
        <p:nvSpPr>
          <p:cNvPr id="91" name="Text 49"/>
          <p:cNvSpPr txBox="1"/>
          <p:nvPr/>
        </p:nvSpPr>
        <p:spPr>
          <a:xfrm>
            <a:off x="13220395" y="51544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Español e inglés, 24/7</a:t>
            </a:r>
            <a:endParaRPr lang="en-US" sz="1200" dirty="0"/>
          </a:p>
        </p:txBody>
      </p:sp>
      <p:pic>
        <p:nvPicPr>
          <p:cNvPr id="92" name="Image 40" descr="gen-dedup-2b4a586b3ab60de3fc74674a155585a7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54298" y="5924398"/>
            <a:ext cx="323698" cy="323698"/>
          </a:xfrm>
          <a:prstGeom prst="rect">
            <a:avLst/>
          </a:prstGeom>
        </p:spPr>
      </p:pic>
      <p:sp>
        <p:nvSpPr>
          <p:cNvPr id="93" name="Text 50"/>
          <p:cNvSpPr txBox="1"/>
          <p:nvPr/>
        </p:nvSpPr>
        <p:spPr>
          <a:xfrm>
            <a:off x="13220395" y="58485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Traspaso al humano</a:t>
            </a:r>
            <a:endParaRPr lang="en-US" sz="1575" dirty="0"/>
          </a:p>
        </p:txBody>
      </p:sp>
      <p:sp>
        <p:nvSpPr>
          <p:cNvPr id="94" name="Text 51"/>
          <p:cNvSpPr txBox="1"/>
          <p:nvPr/>
        </p:nvSpPr>
        <p:spPr>
          <a:xfrm>
            <a:off x="13220395" y="61255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todo el contexto</a:t>
            </a:r>
            <a:endParaRPr lang="en-US" sz="1200" dirty="0"/>
          </a:p>
        </p:txBody>
      </p:sp>
      <p:pic>
        <p:nvPicPr>
          <p:cNvPr id="95" name="Image 41" descr="gen-dedup-ce73183853f9710a6d0473dce2704dc2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6554298" y="6896405"/>
            <a:ext cx="323698" cy="323698"/>
          </a:xfrm>
          <a:prstGeom prst="rect">
            <a:avLst/>
          </a:prstGeom>
        </p:spPr>
      </p:pic>
      <p:sp>
        <p:nvSpPr>
          <p:cNvPr id="96" name="Text 52"/>
          <p:cNvSpPr txBox="1"/>
          <p:nvPr/>
        </p:nvSpPr>
        <p:spPr>
          <a:xfrm>
            <a:off x="13220395" y="68195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con fuentes</a:t>
            </a:r>
            <a:endParaRPr lang="en-US" sz="1575" dirty="0"/>
          </a:p>
        </p:txBody>
      </p:sp>
      <p:sp>
        <p:nvSpPr>
          <p:cNvPr id="97" name="Text 53"/>
          <p:cNvSpPr txBox="1"/>
          <p:nvPr/>
        </p:nvSpPr>
        <p:spPr>
          <a:xfrm>
            <a:off x="13220395" y="70975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 y sección</a:t>
            </a:r>
            <a:endParaRPr lang="en-US" sz="1200" dirty="0"/>
          </a:p>
        </p:txBody>
      </p:sp>
      <p:pic>
        <p:nvPicPr>
          <p:cNvPr id="98" name="Image 42" descr="gen-dedup-4e71fa0306145f1fe8c8f6d6baeae42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554298" y="7867498"/>
            <a:ext cx="323698" cy="323698"/>
          </a:xfrm>
          <a:prstGeom prst="rect">
            <a:avLst/>
          </a:prstGeom>
        </p:spPr>
      </p:pic>
      <p:sp>
        <p:nvSpPr>
          <p:cNvPr id="99" name="Text 54"/>
          <p:cNvSpPr txBox="1"/>
          <p:nvPr/>
        </p:nvSpPr>
        <p:spPr>
          <a:xfrm>
            <a:off x="13220395" y="77916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575" dirty="0"/>
          </a:p>
        </p:txBody>
      </p:sp>
      <p:sp>
        <p:nvSpPr>
          <p:cNvPr id="100" name="Text 55"/>
          <p:cNvSpPr txBox="1"/>
          <p:nvPr/>
        </p:nvSpPr>
        <p:spPr>
          <a:xfrm>
            <a:off x="13220395" y="80686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Transcripción y métricas</a:t>
            </a:r>
            <a:endParaRPr lang="en-US" sz="1200" dirty="0"/>
          </a:p>
        </p:txBody>
      </p:sp>
      <p:pic>
        <p:nvPicPr>
          <p:cNvPr id="113" name="Image 1" descr="gen-dedup-3fc9b6bd6bd01734c54b10a0f11af3f3.png">
            <a:extLst>
              <a:ext uri="{FF2B5EF4-FFF2-40B4-BE49-F238E27FC236}">
                <a16:creationId xmlns:a16="http://schemas.microsoft.com/office/drawing/2014/main" id="{1D4F6686-9144-ABC2-7EED-D76FFF2E4B9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  <p:sp>
        <p:nvSpPr>
          <p:cNvPr id="115" name="Text 63">
            <a:extLst>
              <a:ext uri="{FF2B5EF4-FFF2-40B4-BE49-F238E27FC236}">
                <a16:creationId xmlns:a16="http://schemas.microsoft.com/office/drawing/2014/main" id="{0A123689-A237-8072-8709-3DB0A752253B}"/>
              </a:ext>
            </a:extLst>
          </p:cNvPr>
          <p:cNvSpPr txBox="1"/>
          <p:nvPr/>
        </p:nvSpPr>
        <p:spPr>
          <a:xfrm>
            <a:off x="12573000" y="9139174"/>
            <a:ext cx="17236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00" b="1" kern="0" spc="198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Conectados</a:t>
            </a:r>
            <a:r>
              <a:rPr lang="en-US" sz="900" dirty="0"/>
              <a:t> </a:t>
            </a: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7ad208497a0127a0e420179e11b85b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1718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143854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1149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752e8c34e1f413036db12b5ea6cabc7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476695" y="4667098"/>
            <a:ext cx="5333695" cy="38103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72707" y="4762195"/>
            <a:ext cx="5143500" cy="3619195"/>
          </a:xfrm>
          <a:prstGeom prst="roundRect">
            <a:avLst>
              <a:gd name="adj" fmla="val 783"/>
            </a:avLst>
          </a:prstGeom>
          <a:noFill/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4686300"/>
            <a:ext cx="4095598" cy="857707"/>
          </a:xfrm>
          <a:prstGeom prst="rect">
            <a:avLst/>
          </a:prstGeom>
        </p:spPr>
      </p:pic>
      <p:pic>
        <p:nvPicPr>
          <p:cNvPr id="9" name="Image 3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5658307"/>
            <a:ext cx="4095598" cy="857707"/>
          </a:xfrm>
          <a:prstGeom prst="rect">
            <a:avLst/>
          </a:prstGeom>
        </p:spPr>
      </p:pic>
      <p:pic>
        <p:nvPicPr>
          <p:cNvPr id="10" name="Image 4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6629400"/>
            <a:ext cx="4095598" cy="857707"/>
          </a:xfrm>
          <a:prstGeom prst="rect">
            <a:avLst/>
          </a:prstGeom>
        </p:spPr>
      </p:pic>
      <p:pic>
        <p:nvPicPr>
          <p:cNvPr id="11" name="Image 5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7601407"/>
            <a:ext cx="4095598" cy="857707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13049400" y="8725205"/>
            <a:ext cx="4095599" cy="952805"/>
          </a:xfrm>
          <a:prstGeom prst="roundRect">
            <a:avLst>
              <a:gd name="adj" fmla="val 4031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/>
          <p:cNvSpPr/>
          <p:nvPr/>
        </p:nvSpPr>
        <p:spPr>
          <a:xfrm>
            <a:off x="1143000" y="2095805"/>
            <a:ext cx="495605" cy="457200"/>
          </a:xfrm>
          <a:prstGeom prst="roundRect">
            <a:avLst>
              <a:gd name="adj" fmla="val 4200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/>
          <p:cNvSpPr/>
          <p:nvPr/>
        </p:nvSpPr>
        <p:spPr>
          <a:xfrm>
            <a:off x="1285646" y="53154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/>
          <p:cNvSpPr/>
          <p:nvPr/>
        </p:nvSpPr>
        <p:spPr>
          <a:xfrm>
            <a:off x="1285646" y="6286500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8"/>
          <p:cNvSpPr/>
          <p:nvPr/>
        </p:nvSpPr>
        <p:spPr>
          <a:xfrm>
            <a:off x="1285646" y="72585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6" descr="gen-dedup-ce5fa75b8f2c8c62f55bab563be32c6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6762902" y="5715000"/>
            <a:ext cx="4762195" cy="9144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762902" y="6172200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7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6277356"/>
            <a:ext cx="342900" cy="34290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6762902" y="6819595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8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6924751"/>
            <a:ext cx="342900" cy="342900"/>
          </a:xfrm>
          <a:prstGeom prst="rect">
            <a:avLst/>
          </a:prstGeom>
        </p:spPr>
      </p:pic>
      <p:pic>
        <p:nvPicPr>
          <p:cNvPr id="22" name="Image 9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6924751"/>
            <a:ext cx="342900" cy="342900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6762902" y="7467905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0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7572146"/>
            <a:ext cx="342900" cy="342900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16430854" y="4828946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3"/>
          <p:cNvSpPr/>
          <p:nvPr/>
        </p:nvSpPr>
        <p:spPr>
          <a:xfrm>
            <a:off x="16430854" y="5800954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4"/>
          <p:cNvSpPr/>
          <p:nvPr/>
        </p:nvSpPr>
        <p:spPr>
          <a:xfrm>
            <a:off x="16430854" y="6772046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1" descr="gen-dedup-b0657a3e76b47982c976da763b923f1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430854" y="7744054"/>
            <a:ext cx="571500" cy="571500"/>
          </a:xfrm>
          <a:prstGeom prst="rect">
            <a:avLst/>
          </a:prstGeom>
        </p:spPr>
      </p:pic>
      <p:pic>
        <p:nvPicPr>
          <p:cNvPr id="29" name="Image 12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897405" y="8991295"/>
            <a:ext cx="418795" cy="418795"/>
          </a:xfrm>
          <a:prstGeom prst="rect">
            <a:avLst/>
          </a:prstGeom>
        </p:spPr>
      </p:pic>
      <p:pic>
        <p:nvPicPr>
          <p:cNvPr id="30" name="Image 13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411298" y="8991295"/>
            <a:ext cx="418795" cy="418795"/>
          </a:xfrm>
          <a:prstGeom prst="rect">
            <a:avLst/>
          </a:prstGeom>
        </p:spPr>
      </p:pic>
      <p:pic>
        <p:nvPicPr>
          <p:cNvPr id="31" name="Image 14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926105" y="8991295"/>
            <a:ext cx="418795" cy="418795"/>
          </a:xfrm>
          <a:prstGeom prst="rect">
            <a:avLst/>
          </a:prstGeom>
        </p:spPr>
      </p:pic>
      <p:pic>
        <p:nvPicPr>
          <p:cNvPr id="32" name="Image 15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439998" y="8991295"/>
            <a:ext cx="418795" cy="418795"/>
          </a:xfrm>
          <a:prstGeom prst="rect">
            <a:avLst/>
          </a:prstGeom>
        </p:spPr>
      </p:pic>
      <p:pic>
        <p:nvPicPr>
          <p:cNvPr id="34" name="Image 17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35" name="Image 18" descr="gen-dedup-adb194156bb412e8d13b0f82fa257db1.png"/>
          <p:cNvPicPr>
            <a:picLocks noChangeAspect="1"/>
          </p:cNvPicPr>
          <p:nvPr/>
        </p:nvPicPr>
        <p:blipFill>
          <a:blip r:embed="rId11"/>
          <a:srcRect t="-6250" b="-6250"/>
          <a:stretch/>
        </p:blipFill>
        <p:spPr>
          <a:xfrm>
            <a:off x="10715854" y="6344107"/>
            <a:ext cx="209398" cy="209398"/>
          </a:xfrm>
          <a:prstGeom prst="rect">
            <a:avLst/>
          </a:prstGeom>
        </p:spPr>
      </p:pic>
      <p:pic>
        <p:nvPicPr>
          <p:cNvPr id="36" name="Image 19" descr="gen-dedup-c64420af1170f774cb39882a607964c5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10715854" y="6991502"/>
            <a:ext cx="209398" cy="209398"/>
          </a:xfrm>
          <a:prstGeom prst="rect">
            <a:avLst/>
          </a:prstGeom>
        </p:spPr>
      </p:pic>
      <p:pic>
        <p:nvPicPr>
          <p:cNvPr id="37" name="Image 20" descr="gen-dedup-e7ab78e4355fc2b487175e242ea0f4ef.png"/>
          <p:cNvPicPr>
            <a:picLocks noChangeAspect="1"/>
          </p:cNvPicPr>
          <p:nvPr/>
        </p:nvPicPr>
        <p:blipFill>
          <a:blip r:embed="rId13"/>
          <a:srcRect t="-100000" b="-100000"/>
          <a:stretch/>
        </p:blipFill>
        <p:spPr>
          <a:xfrm>
            <a:off x="11115446" y="6991502"/>
            <a:ext cx="209398" cy="209398"/>
          </a:xfrm>
          <a:prstGeom prst="rect">
            <a:avLst/>
          </a:prstGeom>
        </p:spPr>
      </p:pic>
      <p:pic>
        <p:nvPicPr>
          <p:cNvPr id="38" name="Image 21" descr="gen-dedup-f8ed294b000c1ef7e579ff30ac06ed18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1115446" y="7638898"/>
            <a:ext cx="209398" cy="209398"/>
          </a:xfrm>
          <a:prstGeom prst="rect">
            <a:avLst/>
          </a:prstGeom>
        </p:spPr>
      </p:pic>
      <p:pic>
        <p:nvPicPr>
          <p:cNvPr id="39" name="Image 22" descr="gen-dedup-e65a801e1d2e7d7f545c66da47e65295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545154" y="7858354"/>
            <a:ext cx="342900" cy="342900"/>
          </a:xfrm>
          <a:prstGeom prst="rect">
            <a:avLst/>
          </a:prstGeom>
        </p:spPr>
      </p:pic>
      <p:pic>
        <p:nvPicPr>
          <p:cNvPr id="40" name="Image 23" descr="gen-dedup-adb194156bb412e8d13b0f82fa257db1.png"/>
          <p:cNvPicPr>
            <a:picLocks noChangeAspect="1"/>
          </p:cNvPicPr>
          <p:nvPr/>
        </p:nvPicPr>
        <p:blipFill>
          <a:blip r:embed="rId11"/>
          <a:srcRect t="-6250" b="-6250"/>
          <a:stretch/>
        </p:blipFill>
        <p:spPr>
          <a:xfrm>
            <a:off x="14982444" y="9077249"/>
            <a:ext cx="247802" cy="247802"/>
          </a:xfrm>
          <a:prstGeom prst="rect">
            <a:avLst/>
          </a:prstGeom>
        </p:spPr>
      </p:pic>
      <p:pic>
        <p:nvPicPr>
          <p:cNvPr id="41" name="Image 24" descr="gen-dedup-f8ed294b000c1ef7e579ff30ac06ed18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5497251" y="9077249"/>
            <a:ext cx="247802" cy="247802"/>
          </a:xfrm>
          <a:prstGeom prst="rect">
            <a:avLst/>
          </a:prstGeom>
        </p:spPr>
      </p:pic>
      <p:pic>
        <p:nvPicPr>
          <p:cNvPr id="42" name="Image 25" descr="gen-dedup-e65a801e1d2e7d7f545c66da47e65295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011144" y="9077249"/>
            <a:ext cx="247802" cy="247802"/>
          </a:xfrm>
          <a:prstGeom prst="rect">
            <a:avLst/>
          </a:prstGeom>
        </p:spPr>
      </p:pic>
      <p:pic>
        <p:nvPicPr>
          <p:cNvPr id="43" name="Image 26" descr="gen-dedup-1ca55d8bcfd048e85c2feec6baee4754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525951" y="9077249"/>
            <a:ext cx="247802" cy="247802"/>
          </a:xfrm>
          <a:prstGeom prst="rect">
            <a:avLst/>
          </a:prstGeom>
        </p:spPr>
      </p:pic>
      <p:pic>
        <p:nvPicPr>
          <p:cNvPr id="45" name="Image 27" descr="gen-dedup-21392aff2a05efa6ef5db03d2b1405a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7300" y="2190902"/>
            <a:ext cx="267005" cy="267005"/>
          </a:xfrm>
          <a:prstGeom prst="rect">
            <a:avLst/>
          </a:prstGeom>
        </p:spPr>
      </p:pic>
      <p:sp>
        <p:nvSpPr>
          <p:cNvPr id="46" name="Text 16"/>
          <p:cNvSpPr txBox="1"/>
          <p:nvPr/>
        </p:nvSpPr>
        <p:spPr>
          <a:xfrm>
            <a:off x="1848002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· Producción · Cómo ayudamos</a:t>
            </a:r>
            <a:endParaRPr lang="en-US" sz="1125" dirty="0"/>
          </a:p>
        </p:txBody>
      </p:sp>
      <p:sp>
        <p:nvSpPr>
          <p:cNvPr id="47" name="Text 17"/>
          <p:cNvSpPr txBox="1"/>
          <p:nvPr/>
        </p:nvSpPr>
        <p:spPr>
          <a:xfrm>
            <a:off x="1143000" y="2704795"/>
            <a:ext cx="10858500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</a:t>
            </a: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Producción.</a:t>
            </a:r>
            <a:endParaRPr lang="en-US" sz="5550" dirty="0"/>
          </a:p>
        </p:txBody>
      </p:sp>
      <p:sp>
        <p:nvSpPr>
          <p:cNvPr id="48" name="Text 18"/>
          <p:cNvSpPr txBox="1"/>
          <p:nvPr/>
        </p:nvSpPr>
        <p:spPr>
          <a:xfrm>
            <a:off x="1143000" y="3657600"/>
            <a:ext cx="11049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reporte del operario al cierre con causa raíz documentada.</a:t>
            </a:r>
            <a:endParaRPr lang="en-US" sz="1950" dirty="0"/>
          </a:p>
        </p:txBody>
      </p:sp>
      <p:sp>
        <p:nvSpPr>
          <p:cNvPr id="49" name="Text 19"/>
          <p:cNvSpPr txBox="1"/>
          <p:nvPr/>
        </p:nvSpPr>
        <p:spPr>
          <a:xfrm>
            <a:off x="12573000" y="2247595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que intervienen</a:t>
            </a:r>
            <a:endParaRPr lang="en-US" sz="975" dirty="0"/>
          </a:p>
        </p:txBody>
      </p:sp>
      <p:sp>
        <p:nvSpPr>
          <p:cNvPr id="50" name="Shape 20"/>
          <p:cNvSpPr/>
          <p:nvPr/>
        </p:nvSpPr>
        <p:spPr>
          <a:xfrm>
            <a:off x="12573000" y="2533802"/>
            <a:ext cx="2190902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1"/>
          <p:cNvSpPr txBox="1"/>
          <p:nvPr/>
        </p:nvSpPr>
        <p:spPr>
          <a:xfrm>
            <a:off x="12573000" y="2533802"/>
            <a:ext cx="2190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 · Incidencias &amp; Calidad</a:t>
            </a:r>
            <a:endParaRPr lang="en-US" sz="1125" dirty="0"/>
          </a:p>
        </p:txBody>
      </p:sp>
      <p:sp>
        <p:nvSpPr>
          <p:cNvPr id="52" name="Shape 22"/>
          <p:cNvSpPr/>
          <p:nvPr/>
        </p:nvSpPr>
        <p:spPr>
          <a:xfrm>
            <a:off x="14839798" y="2533802"/>
            <a:ext cx="1666951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23"/>
          <p:cNvSpPr txBox="1"/>
          <p:nvPr/>
        </p:nvSpPr>
        <p:spPr>
          <a:xfrm>
            <a:off x="14839798" y="2533802"/>
            <a:ext cx="16669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 · Conocimiento</a:t>
            </a:r>
            <a:endParaRPr lang="en-US" sz="1125" dirty="0"/>
          </a:p>
        </p:txBody>
      </p:sp>
      <p:sp>
        <p:nvSpPr>
          <p:cNvPr id="54" name="Shape 24"/>
          <p:cNvSpPr/>
          <p:nvPr/>
        </p:nvSpPr>
        <p:spPr>
          <a:xfrm>
            <a:off x="12573000" y="2905049"/>
            <a:ext cx="1714500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5"/>
          <p:cNvSpPr txBox="1"/>
          <p:nvPr/>
        </p:nvSpPr>
        <p:spPr>
          <a:xfrm>
            <a:off x="12573000" y="2905049"/>
            <a:ext cx="17145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 · Agente de Voz</a:t>
            </a:r>
            <a:endParaRPr lang="en-US" sz="1125" dirty="0"/>
          </a:p>
        </p:txBody>
      </p:sp>
      <p:sp>
        <p:nvSpPr>
          <p:cNvPr id="56" name="Text 26"/>
          <p:cNvSpPr txBox="1"/>
          <p:nvPr/>
        </p:nvSpPr>
        <p:spPr>
          <a:xfrm>
            <a:off x="1143000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El problema hoy</a:t>
            </a:r>
            <a:endParaRPr lang="en-US" sz="1050" dirty="0"/>
          </a:p>
        </p:txBody>
      </p:sp>
      <p:sp>
        <p:nvSpPr>
          <p:cNvPr id="57" name="Text 27"/>
          <p:cNvSpPr txBox="1"/>
          <p:nvPr/>
        </p:nvSpPr>
        <p:spPr>
          <a:xfrm>
            <a:off x="6476695" y="4324198"/>
            <a:ext cx="533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Orquestador MTi + agentes</a:t>
            </a:r>
            <a:endParaRPr lang="en-US" sz="1050" dirty="0"/>
          </a:p>
        </p:txBody>
      </p:sp>
      <p:sp>
        <p:nvSpPr>
          <p:cNvPr id="58" name="Text 28"/>
          <p:cNvSpPr txBox="1"/>
          <p:nvPr/>
        </p:nvSpPr>
        <p:spPr>
          <a:xfrm>
            <a:off x="13049402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Outputs</a:t>
            </a:r>
            <a:endParaRPr lang="en-US" sz="1050" dirty="0"/>
          </a:p>
        </p:txBody>
      </p:sp>
      <p:pic>
        <p:nvPicPr>
          <p:cNvPr id="59" name="Image 28" descr="gen-dedup-5975824bfa7e7d6fb11c2d0aca84060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10005" y="5438851"/>
            <a:ext cx="323698" cy="323698"/>
          </a:xfrm>
          <a:prstGeom prst="rect">
            <a:avLst/>
          </a:prstGeom>
        </p:spPr>
      </p:pic>
      <p:sp>
        <p:nvSpPr>
          <p:cNvPr id="60" name="Text 29"/>
          <p:cNvSpPr txBox="1"/>
          <p:nvPr/>
        </p:nvSpPr>
        <p:spPr>
          <a:xfrm>
            <a:off x="2018995" y="5362956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conformidades en papel</a:t>
            </a:r>
            <a:endParaRPr lang="en-US" sz="1575" dirty="0"/>
          </a:p>
        </p:txBody>
      </p:sp>
      <p:sp>
        <p:nvSpPr>
          <p:cNvPr id="61" name="Text 30"/>
          <p:cNvSpPr txBox="1"/>
          <p:nvPr/>
        </p:nvSpPr>
        <p:spPr>
          <a:xfrm>
            <a:off x="2018995" y="5640019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Reportes incompletos o tardíos</a:t>
            </a:r>
            <a:endParaRPr lang="en-US" sz="1200" dirty="0"/>
          </a:p>
        </p:txBody>
      </p:sp>
      <p:pic>
        <p:nvPicPr>
          <p:cNvPr id="62" name="Image 29" descr="gen-dedup-8d5f3c585a4c96595278139d26794959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10005" y="6409944"/>
            <a:ext cx="323698" cy="323698"/>
          </a:xfrm>
          <a:prstGeom prst="rect">
            <a:avLst/>
          </a:prstGeom>
        </p:spPr>
      </p:pic>
      <p:sp>
        <p:nvSpPr>
          <p:cNvPr id="63" name="Text 31"/>
          <p:cNvSpPr txBox="1"/>
          <p:nvPr/>
        </p:nvSpPr>
        <p:spPr>
          <a:xfrm>
            <a:off x="2018995" y="6334049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Normativa dispersa</a:t>
            </a:r>
            <a:endParaRPr lang="en-US" sz="1575" dirty="0"/>
          </a:p>
        </p:txBody>
      </p:sp>
      <p:sp>
        <p:nvSpPr>
          <p:cNvPr id="64" name="Text 32"/>
          <p:cNvSpPr txBox="1"/>
          <p:nvPr/>
        </p:nvSpPr>
        <p:spPr>
          <a:xfrm>
            <a:off x="2018995" y="661202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sabe qué norma aplica</a:t>
            </a:r>
            <a:endParaRPr lang="en-US" sz="1200" dirty="0"/>
          </a:p>
        </p:txBody>
      </p:sp>
      <p:pic>
        <p:nvPicPr>
          <p:cNvPr id="65" name="Image 30" descr="gen-dedup-bb6f87d3fbdb17eabc8d4bf10437763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10005" y="7381951"/>
            <a:ext cx="323698" cy="323698"/>
          </a:xfrm>
          <a:prstGeom prst="rect">
            <a:avLst/>
          </a:prstGeom>
        </p:spPr>
      </p:pic>
      <p:sp>
        <p:nvSpPr>
          <p:cNvPr id="66" name="Text 33"/>
          <p:cNvSpPr txBox="1"/>
          <p:nvPr/>
        </p:nvSpPr>
        <p:spPr>
          <a:xfrm>
            <a:off x="2018995" y="7306056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Informes manuales</a:t>
            </a:r>
            <a:endParaRPr lang="en-US" sz="1575" dirty="0"/>
          </a:p>
        </p:txBody>
      </p:sp>
      <p:sp>
        <p:nvSpPr>
          <p:cNvPr id="67" name="Text 34"/>
          <p:cNvSpPr txBox="1"/>
          <p:nvPr/>
        </p:nvSpPr>
        <p:spPr>
          <a:xfrm>
            <a:off x="2018995" y="7583119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Horas cada mes en Excel</a:t>
            </a:r>
            <a:endParaRPr lang="en-US" sz="1200" dirty="0"/>
          </a:p>
        </p:txBody>
      </p:sp>
      <p:pic>
        <p:nvPicPr>
          <p:cNvPr id="68" name="Image 31" descr="gen-dedup-30c7f13a50906ce24b09279892d160ee.png"/>
          <p:cNvPicPr>
            <a:picLocks noChangeAspect="1"/>
          </p:cNvPicPr>
          <p:nvPr/>
        </p:nvPicPr>
        <p:blipFill>
          <a:blip r:embed="rId21"/>
          <a:srcRect t="-10" b="-10"/>
          <a:stretch/>
        </p:blipFill>
        <p:spPr>
          <a:xfrm>
            <a:off x="5238598" y="4667098"/>
            <a:ext cx="1238098" cy="3810305"/>
          </a:xfrm>
          <a:prstGeom prst="rect">
            <a:avLst/>
          </a:prstGeom>
        </p:spPr>
      </p:pic>
      <p:pic>
        <p:nvPicPr>
          <p:cNvPr id="69" name="Image 32" descr="gen-dedup-1285c3e0a2e0da76b9a21674ffd74905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6762902" y="4914900"/>
            <a:ext cx="609905" cy="609905"/>
          </a:xfrm>
          <a:prstGeom prst="rect">
            <a:avLst/>
          </a:prstGeom>
        </p:spPr>
      </p:pic>
      <p:sp>
        <p:nvSpPr>
          <p:cNvPr id="70" name="Text 35"/>
          <p:cNvSpPr txBox="1"/>
          <p:nvPr/>
        </p:nvSpPr>
        <p:spPr>
          <a:xfrm>
            <a:off x="7543800" y="4972507"/>
            <a:ext cx="4000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Orquestador MTi</a:t>
            </a:r>
            <a:endParaRPr lang="en-US" sz="900" dirty="0"/>
          </a:p>
        </p:txBody>
      </p:sp>
      <p:sp>
        <p:nvSpPr>
          <p:cNvPr id="71" name="Text 36"/>
          <p:cNvSpPr txBox="1"/>
          <p:nvPr/>
        </p:nvSpPr>
        <p:spPr>
          <a:xfrm>
            <a:off x="7543800" y="5181905"/>
            <a:ext cx="4645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· encamina · actúa y explica</a:t>
            </a:r>
            <a:endParaRPr lang="en-US" sz="1650" dirty="0"/>
          </a:p>
        </p:txBody>
      </p:sp>
      <p:sp>
        <p:nvSpPr>
          <p:cNvPr id="72" name="Shape 37"/>
          <p:cNvSpPr/>
          <p:nvPr/>
        </p:nvSpPr>
        <p:spPr>
          <a:xfrm>
            <a:off x="6896405" y="6286500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38"/>
          <p:cNvSpPr txBox="1"/>
          <p:nvPr/>
        </p:nvSpPr>
        <p:spPr>
          <a:xfrm>
            <a:off x="7022592" y="6357823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1125" dirty="0"/>
          </a:p>
        </p:txBody>
      </p:sp>
      <p:sp>
        <p:nvSpPr>
          <p:cNvPr id="74" name="Text 39"/>
          <p:cNvSpPr txBox="1"/>
          <p:nvPr/>
        </p:nvSpPr>
        <p:spPr>
          <a:xfrm>
            <a:off x="7582205" y="6334049"/>
            <a:ext cx="244784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&amp; Calidad</a:t>
            </a:r>
            <a:endParaRPr lang="en-US" sz="1425" dirty="0"/>
          </a:p>
        </p:txBody>
      </p:sp>
      <p:sp>
        <p:nvSpPr>
          <p:cNvPr id="75" name="Shape 40"/>
          <p:cNvSpPr/>
          <p:nvPr/>
        </p:nvSpPr>
        <p:spPr>
          <a:xfrm>
            <a:off x="11048695" y="6277356"/>
            <a:ext cx="342900" cy="342900"/>
          </a:xfrm>
          <a:prstGeom prst="roundRect">
            <a:avLst>
              <a:gd name="adj" fmla="val 11200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41"/>
          <p:cNvSpPr txBox="1"/>
          <p:nvPr/>
        </p:nvSpPr>
        <p:spPr>
          <a:xfrm>
            <a:off x="11096244" y="6377026"/>
            <a:ext cx="2578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900" dirty="0"/>
          </a:p>
        </p:txBody>
      </p:sp>
      <p:sp>
        <p:nvSpPr>
          <p:cNvPr id="77" name="Shape 42"/>
          <p:cNvSpPr/>
          <p:nvPr/>
        </p:nvSpPr>
        <p:spPr>
          <a:xfrm>
            <a:off x="6896405" y="6933895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43"/>
          <p:cNvSpPr txBox="1"/>
          <p:nvPr/>
        </p:nvSpPr>
        <p:spPr>
          <a:xfrm>
            <a:off x="7028993" y="7005218"/>
            <a:ext cx="2953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125" dirty="0"/>
          </a:p>
        </p:txBody>
      </p:sp>
      <p:sp>
        <p:nvSpPr>
          <p:cNvPr id="79" name="Text 44"/>
          <p:cNvSpPr txBox="1"/>
          <p:nvPr/>
        </p:nvSpPr>
        <p:spPr>
          <a:xfrm>
            <a:off x="7582205" y="6981444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425" dirty="0"/>
          </a:p>
        </p:txBody>
      </p:sp>
      <p:sp>
        <p:nvSpPr>
          <p:cNvPr id="80" name="Shape 45"/>
          <p:cNvSpPr/>
          <p:nvPr/>
        </p:nvSpPr>
        <p:spPr>
          <a:xfrm>
            <a:off x="6896405" y="7582205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46"/>
          <p:cNvSpPr txBox="1"/>
          <p:nvPr/>
        </p:nvSpPr>
        <p:spPr>
          <a:xfrm>
            <a:off x="7022592" y="7653528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1125" dirty="0"/>
          </a:p>
        </p:txBody>
      </p:sp>
      <p:sp>
        <p:nvSpPr>
          <p:cNvPr id="82" name="Text 47"/>
          <p:cNvSpPr txBox="1"/>
          <p:nvPr/>
        </p:nvSpPr>
        <p:spPr>
          <a:xfrm>
            <a:off x="7582205" y="7629754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Voz</a:t>
            </a:r>
            <a:endParaRPr lang="en-US" sz="1425" dirty="0"/>
          </a:p>
        </p:txBody>
      </p:sp>
      <p:pic>
        <p:nvPicPr>
          <p:cNvPr id="83" name="Image 33" descr="gen-dedup-2608aa99263e744df3fa0b32ae56b7c4.png"/>
          <p:cNvPicPr>
            <a:picLocks noChangeAspect="1"/>
          </p:cNvPicPr>
          <p:nvPr/>
        </p:nvPicPr>
        <p:blipFill>
          <a:blip r:embed="rId23"/>
          <a:srcRect t="-10" b="-10"/>
          <a:stretch/>
        </p:blipFill>
        <p:spPr>
          <a:xfrm>
            <a:off x="11811305" y="4667098"/>
            <a:ext cx="1238098" cy="3810305"/>
          </a:xfrm>
          <a:prstGeom prst="rect">
            <a:avLst/>
          </a:prstGeom>
        </p:spPr>
      </p:pic>
      <p:pic>
        <p:nvPicPr>
          <p:cNvPr id="84" name="Image 34" descr="gen-dedup-cad81b674f5ca746b7ee00627dfd46b4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554298" y="4953305"/>
            <a:ext cx="323698" cy="323698"/>
          </a:xfrm>
          <a:prstGeom prst="rect">
            <a:avLst/>
          </a:prstGeom>
        </p:spPr>
      </p:pic>
      <p:sp>
        <p:nvSpPr>
          <p:cNvPr id="85" name="Text 48"/>
          <p:cNvSpPr txBox="1"/>
          <p:nvPr/>
        </p:nvSpPr>
        <p:spPr>
          <a:xfrm>
            <a:off x="13220395" y="48764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 clasificada</a:t>
            </a:r>
            <a:endParaRPr lang="en-US" sz="1575" dirty="0"/>
          </a:p>
        </p:txBody>
      </p:sp>
      <p:sp>
        <p:nvSpPr>
          <p:cNvPr id="86" name="Text 49"/>
          <p:cNvSpPr txBox="1"/>
          <p:nvPr/>
        </p:nvSpPr>
        <p:spPr>
          <a:xfrm>
            <a:off x="13220395" y="51544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Gravedad y responsable</a:t>
            </a:r>
            <a:endParaRPr lang="en-US" sz="1200" dirty="0"/>
          </a:p>
        </p:txBody>
      </p:sp>
      <p:pic>
        <p:nvPicPr>
          <p:cNvPr id="87" name="Image 35" descr="gen-dedup-3ebdaa17aa4f73f0a40cf173e01637c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54298" y="5924398"/>
            <a:ext cx="323698" cy="323698"/>
          </a:xfrm>
          <a:prstGeom prst="rect">
            <a:avLst/>
          </a:prstGeom>
        </p:spPr>
      </p:pic>
      <p:sp>
        <p:nvSpPr>
          <p:cNvPr id="88" name="Text 50"/>
          <p:cNvSpPr txBox="1"/>
          <p:nvPr/>
        </p:nvSpPr>
        <p:spPr>
          <a:xfrm>
            <a:off x="13220395" y="58485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Normativa citada</a:t>
            </a:r>
            <a:endParaRPr lang="en-US" sz="1575" dirty="0"/>
          </a:p>
        </p:txBody>
      </p:sp>
      <p:sp>
        <p:nvSpPr>
          <p:cNvPr id="89" name="Text 51"/>
          <p:cNvSpPr txBox="1"/>
          <p:nvPr/>
        </p:nvSpPr>
        <p:spPr>
          <a:xfrm>
            <a:off x="13220395" y="61255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 aplicable</a:t>
            </a:r>
            <a:endParaRPr lang="en-US" sz="1200" dirty="0"/>
          </a:p>
        </p:txBody>
      </p:sp>
      <p:pic>
        <p:nvPicPr>
          <p:cNvPr id="90" name="Image 36" descr="gen-dedup-1a73ae5e9a5e40ea785eb0f40b3dcfb9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6554298" y="6896405"/>
            <a:ext cx="323698" cy="323698"/>
          </a:xfrm>
          <a:prstGeom prst="rect">
            <a:avLst/>
          </a:prstGeom>
        </p:spPr>
      </p:pic>
      <p:sp>
        <p:nvSpPr>
          <p:cNvPr id="91" name="Text 52"/>
          <p:cNvSpPr txBox="1"/>
          <p:nvPr/>
        </p:nvSpPr>
        <p:spPr>
          <a:xfrm>
            <a:off x="13220395" y="68195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 correctiva</a:t>
            </a:r>
            <a:endParaRPr lang="en-US" sz="1575" dirty="0"/>
          </a:p>
        </p:txBody>
      </p:sp>
      <p:sp>
        <p:nvSpPr>
          <p:cNvPr id="92" name="Text 53"/>
          <p:cNvSpPr txBox="1"/>
          <p:nvPr/>
        </p:nvSpPr>
        <p:spPr>
          <a:xfrm>
            <a:off x="13220395" y="70975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con SLA</a:t>
            </a:r>
            <a:endParaRPr lang="en-US" sz="1200" dirty="0"/>
          </a:p>
        </p:txBody>
      </p:sp>
      <p:sp>
        <p:nvSpPr>
          <p:cNvPr id="93" name="Text 54"/>
          <p:cNvSpPr txBox="1"/>
          <p:nvPr/>
        </p:nvSpPr>
        <p:spPr>
          <a:xfrm>
            <a:off x="13220395" y="77916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 de calidad</a:t>
            </a:r>
            <a:endParaRPr lang="en-US" sz="1575" dirty="0"/>
          </a:p>
        </p:txBody>
      </p:sp>
      <p:sp>
        <p:nvSpPr>
          <p:cNvPr id="94" name="Text 55"/>
          <p:cNvSpPr txBox="1"/>
          <p:nvPr/>
        </p:nvSpPr>
        <p:spPr>
          <a:xfrm>
            <a:off x="13220395" y="80686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Generado automáticamente</a:t>
            </a:r>
            <a:endParaRPr lang="en-US" sz="1200" dirty="0"/>
          </a:p>
        </p:txBody>
      </p:sp>
      <p:pic>
        <p:nvPicPr>
          <p:cNvPr id="107" name="Image 1" descr="gen-dedup-3fc9b6bd6bd01734c54b10a0f11af3f3.png">
            <a:extLst>
              <a:ext uri="{FF2B5EF4-FFF2-40B4-BE49-F238E27FC236}">
                <a16:creationId xmlns:a16="http://schemas.microsoft.com/office/drawing/2014/main" id="{39B47FA8-2FD1-4821-5C35-DFDC7012378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  <p:sp>
        <p:nvSpPr>
          <p:cNvPr id="109" name="Text 63">
            <a:extLst>
              <a:ext uri="{FF2B5EF4-FFF2-40B4-BE49-F238E27FC236}">
                <a16:creationId xmlns:a16="http://schemas.microsoft.com/office/drawing/2014/main" id="{C03C9A9C-DB2D-1096-A5EA-B27B09713141}"/>
              </a:ext>
            </a:extLst>
          </p:cNvPr>
          <p:cNvSpPr txBox="1"/>
          <p:nvPr/>
        </p:nvSpPr>
        <p:spPr>
          <a:xfrm>
            <a:off x="12573000" y="9139174"/>
            <a:ext cx="17236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00" b="1" kern="0" spc="198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Conectados</a:t>
            </a:r>
            <a:r>
              <a:rPr lang="en-US" sz="900" dirty="0"/>
              <a:t> </a:t>
            </a: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7ad208497a0127a0e420179e11b85b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1718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143854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114946"/>
            <a:ext cx="4095598" cy="857707"/>
          </a:xfrm>
          <a:prstGeom prst="roundRect">
            <a:avLst>
              <a:gd name="adj" fmla="val 4478"/>
            </a:avLst>
          </a:prstGeom>
          <a:solidFill>
            <a:srgbClr val="F8FAFC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752e8c34e1f413036db12b5ea6cabc7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476695" y="4667098"/>
            <a:ext cx="5333695" cy="38103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72707" y="4762195"/>
            <a:ext cx="5143500" cy="3619195"/>
          </a:xfrm>
          <a:prstGeom prst="roundRect">
            <a:avLst>
              <a:gd name="adj" fmla="val 783"/>
            </a:avLst>
          </a:prstGeom>
          <a:noFill/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4686300"/>
            <a:ext cx="4095598" cy="857707"/>
          </a:xfrm>
          <a:prstGeom prst="rect">
            <a:avLst/>
          </a:prstGeom>
        </p:spPr>
      </p:pic>
      <p:pic>
        <p:nvPicPr>
          <p:cNvPr id="9" name="Image 3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5658307"/>
            <a:ext cx="4095598" cy="857707"/>
          </a:xfrm>
          <a:prstGeom prst="rect">
            <a:avLst/>
          </a:prstGeom>
        </p:spPr>
      </p:pic>
      <p:pic>
        <p:nvPicPr>
          <p:cNvPr id="10" name="Image 4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6629400"/>
            <a:ext cx="4095598" cy="857707"/>
          </a:xfrm>
          <a:prstGeom prst="rect">
            <a:avLst/>
          </a:prstGeom>
        </p:spPr>
      </p:pic>
      <p:pic>
        <p:nvPicPr>
          <p:cNvPr id="11" name="Image 5" descr="gen-dedup-e11ba29102c08da1eb18ff18d4b444bc.png"/>
          <p:cNvPicPr>
            <a:picLocks noChangeAspect="1"/>
          </p:cNvPicPr>
          <p:nvPr/>
        </p:nvPicPr>
        <p:blipFill>
          <a:blip r:embed="rId5"/>
          <a:srcRect t="-29" b="-29"/>
          <a:stretch/>
        </p:blipFill>
        <p:spPr>
          <a:xfrm>
            <a:off x="13049402" y="7601407"/>
            <a:ext cx="4095598" cy="857707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13049402" y="8725205"/>
            <a:ext cx="4095597" cy="952805"/>
          </a:xfrm>
          <a:prstGeom prst="roundRect">
            <a:avLst>
              <a:gd name="adj" fmla="val 4031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/>
          <p:cNvSpPr/>
          <p:nvPr/>
        </p:nvSpPr>
        <p:spPr>
          <a:xfrm>
            <a:off x="1143000" y="2095805"/>
            <a:ext cx="495605" cy="457200"/>
          </a:xfrm>
          <a:prstGeom prst="roundRect">
            <a:avLst>
              <a:gd name="adj" fmla="val 4200"/>
            </a:avLst>
          </a:prstGeom>
          <a:solidFill>
            <a:srgbClr val="E6A817">
              <a:alpha val="8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/>
          <p:cNvSpPr/>
          <p:nvPr/>
        </p:nvSpPr>
        <p:spPr>
          <a:xfrm>
            <a:off x="1285646" y="53154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/>
          <p:cNvSpPr/>
          <p:nvPr/>
        </p:nvSpPr>
        <p:spPr>
          <a:xfrm>
            <a:off x="1285646" y="6286500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8"/>
          <p:cNvSpPr/>
          <p:nvPr/>
        </p:nvSpPr>
        <p:spPr>
          <a:xfrm>
            <a:off x="1285646" y="7258507"/>
            <a:ext cx="571500" cy="571500"/>
          </a:xfrm>
          <a:prstGeom prst="roundRect">
            <a:avLst>
              <a:gd name="adj" fmla="val 6720"/>
            </a:avLst>
          </a:prstGeom>
          <a:solidFill>
            <a:srgbClr val="F1F5F9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6" descr="gen-dedup-ce5fa75b8f2c8c62f55bab563be32c6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6762902" y="5715000"/>
            <a:ext cx="4762195" cy="9144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762902" y="6172200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7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48595" y="6277356"/>
            <a:ext cx="342900" cy="342900"/>
          </a:xfrm>
          <a:prstGeom prst="rect">
            <a:avLst/>
          </a:prstGeom>
        </p:spPr>
      </p:pic>
      <p:pic>
        <p:nvPicPr>
          <p:cNvPr id="20" name="Image 8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49102" y="6277356"/>
            <a:ext cx="342900" cy="342900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6762902" y="6819595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9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6924751"/>
            <a:ext cx="342900" cy="342900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6762902" y="7467905"/>
            <a:ext cx="4762195" cy="552298"/>
          </a:xfrm>
          <a:prstGeom prst="roundRect">
            <a:avLst>
              <a:gd name="adj" fmla="val 69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0" descr="gen-dedup-4d461a51eb1a4ba33029a88cd7bc002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7572146"/>
            <a:ext cx="342900" cy="342900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16430854" y="4828946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3"/>
          <p:cNvSpPr/>
          <p:nvPr/>
        </p:nvSpPr>
        <p:spPr>
          <a:xfrm>
            <a:off x="16430854" y="5800954"/>
            <a:ext cx="571500" cy="571500"/>
          </a:xfrm>
          <a:prstGeom prst="roundRect">
            <a:avLst>
              <a:gd name="adj" fmla="val 672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1" descr="gen-dedup-b0657a3e76b47982c976da763b923f1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430854" y="6772046"/>
            <a:ext cx="571500" cy="571500"/>
          </a:xfrm>
          <a:prstGeom prst="rect">
            <a:avLst/>
          </a:prstGeom>
        </p:spPr>
      </p:pic>
      <p:pic>
        <p:nvPicPr>
          <p:cNvPr id="28" name="Image 12" descr="gen-dedup-b0657a3e76b47982c976da763b923f1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430854" y="7744054"/>
            <a:ext cx="571500" cy="571500"/>
          </a:xfrm>
          <a:prstGeom prst="rect">
            <a:avLst/>
          </a:prstGeom>
        </p:spPr>
      </p:pic>
      <p:pic>
        <p:nvPicPr>
          <p:cNvPr id="29" name="Image 13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897405" y="8991295"/>
            <a:ext cx="418795" cy="418795"/>
          </a:xfrm>
          <a:prstGeom prst="rect">
            <a:avLst/>
          </a:prstGeom>
        </p:spPr>
      </p:pic>
      <p:pic>
        <p:nvPicPr>
          <p:cNvPr id="30" name="Image 14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411298" y="8991295"/>
            <a:ext cx="418795" cy="418795"/>
          </a:xfrm>
          <a:prstGeom prst="rect">
            <a:avLst/>
          </a:prstGeom>
        </p:spPr>
      </p:pic>
      <p:pic>
        <p:nvPicPr>
          <p:cNvPr id="31" name="Image 15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926105" y="8991295"/>
            <a:ext cx="418795" cy="418795"/>
          </a:xfrm>
          <a:prstGeom prst="rect">
            <a:avLst/>
          </a:prstGeom>
        </p:spPr>
      </p:pic>
      <p:pic>
        <p:nvPicPr>
          <p:cNvPr id="32" name="Image 16" descr="gen-dedup-9be80b6c48e8dc76b354fc0204fe6a7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439998" y="8991295"/>
            <a:ext cx="418795" cy="418795"/>
          </a:xfrm>
          <a:prstGeom prst="rect">
            <a:avLst/>
          </a:prstGeom>
        </p:spPr>
      </p:pic>
      <p:pic>
        <p:nvPicPr>
          <p:cNvPr id="34" name="Image 18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35" name="Image 19" descr="gen-dedup-cccdc2a040b214ef7fde3dbc2c4c0c91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315346" y="6344107"/>
            <a:ext cx="209398" cy="209398"/>
          </a:xfrm>
          <a:prstGeom prst="rect">
            <a:avLst/>
          </a:prstGeom>
        </p:spPr>
      </p:pic>
      <p:pic>
        <p:nvPicPr>
          <p:cNvPr id="36" name="Image 20" descr="gen-dedup-e65a801e1d2e7d7f545c66da47e65295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715854" y="6344107"/>
            <a:ext cx="209398" cy="209398"/>
          </a:xfrm>
          <a:prstGeom prst="rect">
            <a:avLst/>
          </a:prstGeom>
        </p:spPr>
      </p:pic>
      <p:pic>
        <p:nvPicPr>
          <p:cNvPr id="37" name="Image 21" descr="gen-dedup-cccdc2a040b214ef7fde3dbc2c4c0c91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115446" y="6991502"/>
            <a:ext cx="209398" cy="209398"/>
          </a:xfrm>
          <a:prstGeom prst="rect">
            <a:avLst/>
          </a:prstGeom>
        </p:spPr>
      </p:pic>
      <p:pic>
        <p:nvPicPr>
          <p:cNvPr id="38" name="Image 22" descr="gen-dedup-1ca55d8bcfd048e85c2feec6baee4754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115446" y="7638898"/>
            <a:ext cx="209398" cy="209398"/>
          </a:xfrm>
          <a:prstGeom prst="rect">
            <a:avLst/>
          </a:prstGeom>
        </p:spPr>
      </p:pic>
      <p:pic>
        <p:nvPicPr>
          <p:cNvPr id="39" name="Image 23" descr="gen-dedup-e65a801e1d2e7d7f545c66da47e65295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6545154" y="6886346"/>
            <a:ext cx="342900" cy="342900"/>
          </a:xfrm>
          <a:prstGeom prst="rect">
            <a:avLst/>
          </a:prstGeom>
        </p:spPr>
      </p:pic>
      <p:pic>
        <p:nvPicPr>
          <p:cNvPr id="40" name="Image 24" descr="gen-dedup-097c4cdc002ec87c7cb4fa3dcf4a769f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6545154" y="7858354"/>
            <a:ext cx="342900" cy="342900"/>
          </a:xfrm>
          <a:prstGeom prst="rect">
            <a:avLst/>
          </a:prstGeom>
        </p:spPr>
      </p:pic>
      <p:pic>
        <p:nvPicPr>
          <p:cNvPr id="41" name="Image 25" descr="gen-dedup-038f9e27434e2a0b02f224e085a42298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4982444" y="9077249"/>
            <a:ext cx="247802" cy="247802"/>
          </a:xfrm>
          <a:prstGeom prst="rect">
            <a:avLst/>
          </a:prstGeom>
        </p:spPr>
      </p:pic>
      <p:pic>
        <p:nvPicPr>
          <p:cNvPr id="42" name="Image 26" descr="gen-dedup-1d344c7a59f5a91386bffe2900bacfe0.png"/>
          <p:cNvPicPr>
            <a:picLocks noChangeAspect="1"/>
          </p:cNvPicPr>
          <p:nvPr/>
        </p:nvPicPr>
        <p:blipFill>
          <a:blip r:embed="rId16"/>
          <a:srcRect t="-50000" b="-50000"/>
          <a:stretch/>
        </p:blipFill>
        <p:spPr>
          <a:xfrm>
            <a:off x="15497251" y="9077249"/>
            <a:ext cx="247802" cy="247802"/>
          </a:xfrm>
          <a:prstGeom prst="rect">
            <a:avLst/>
          </a:prstGeom>
        </p:spPr>
      </p:pic>
      <p:pic>
        <p:nvPicPr>
          <p:cNvPr id="43" name="Image 27" descr="gen-dedup-1ca55d8bcfd048e85c2feec6baee4754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6011144" y="9077249"/>
            <a:ext cx="247802" cy="247802"/>
          </a:xfrm>
          <a:prstGeom prst="rect">
            <a:avLst/>
          </a:prstGeom>
        </p:spPr>
      </p:pic>
      <p:pic>
        <p:nvPicPr>
          <p:cNvPr id="44" name="Image 28" descr="gen-dedup-04a6c6595c9dff6b95c3b59c31d72678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6525951" y="9077249"/>
            <a:ext cx="247802" cy="247802"/>
          </a:xfrm>
          <a:prstGeom prst="rect">
            <a:avLst/>
          </a:prstGeom>
        </p:spPr>
      </p:pic>
      <p:pic>
        <p:nvPicPr>
          <p:cNvPr id="46" name="Image 29" descr="gen-dedup-a16a80f0963ce5104b817517ca3b047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57300" y="2190902"/>
            <a:ext cx="267005" cy="267005"/>
          </a:xfrm>
          <a:prstGeom prst="rect">
            <a:avLst/>
          </a:prstGeom>
        </p:spPr>
      </p:pic>
      <p:sp>
        <p:nvSpPr>
          <p:cNvPr id="47" name="Text 15"/>
          <p:cNvSpPr txBox="1"/>
          <p:nvPr/>
        </p:nvSpPr>
        <p:spPr>
          <a:xfrm>
            <a:off x="1848002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Administración · Finanzas · Cómo ayudamos</a:t>
            </a:r>
            <a:endParaRPr lang="en-US" sz="1125" dirty="0"/>
          </a:p>
        </p:txBody>
      </p:sp>
      <p:sp>
        <p:nvSpPr>
          <p:cNvPr id="48" name="Text 16"/>
          <p:cNvSpPr txBox="1"/>
          <p:nvPr/>
        </p:nvSpPr>
        <p:spPr>
          <a:xfrm>
            <a:off x="1143000" y="2704795"/>
            <a:ext cx="10858500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Administración </a:t>
            </a: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Finanzas.</a:t>
            </a:r>
            <a:endParaRPr lang="en-US" sz="5550" dirty="0"/>
          </a:p>
        </p:txBody>
      </p:sp>
      <p:sp>
        <p:nvSpPr>
          <p:cNvPr id="49" name="Text 17"/>
          <p:cNvSpPr txBox="1"/>
          <p:nvPr/>
        </p:nvSpPr>
        <p:spPr>
          <a:xfrm>
            <a:off x="1143000" y="3657600"/>
            <a:ext cx="11049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Documentos, tarifas y conciliaciones que cuadran solos.</a:t>
            </a:r>
            <a:endParaRPr lang="en-US" sz="1950" dirty="0"/>
          </a:p>
        </p:txBody>
      </p:sp>
      <p:sp>
        <p:nvSpPr>
          <p:cNvPr id="50" name="Text 18"/>
          <p:cNvSpPr txBox="1"/>
          <p:nvPr/>
        </p:nvSpPr>
        <p:spPr>
          <a:xfrm>
            <a:off x="12573000" y="2247595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que intervienen</a:t>
            </a:r>
            <a:endParaRPr lang="en-US" sz="975" dirty="0"/>
          </a:p>
        </p:txBody>
      </p:sp>
      <p:sp>
        <p:nvSpPr>
          <p:cNvPr id="51" name="Shape 19"/>
          <p:cNvSpPr/>
          <p:nvPr/>
        </p:nvSpPr>
        <p:spPr>
          <a:xfrm>
            <a:off x="12573000" y="2533802"/>
            <a:ext cx="1933956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20"/>
          <p:cNvSpPr txBox="1"/>
          <p:nvPr/>
        </p:nvSpPr>
        <p:spPr>
          <a:xfrm>
            <a:off x="12573000" y="2533802"/>
            <a:ext cx="19339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 · </a:t>
            </a:r>
            <a:r>
              <a:rPr lang="en-US" sz="112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Logística</a:t>
            </a:r>
            <a:endParaRPr lang="en-US" sz="1125" dirty="0"/>
          </a:p>
        </p:txBody>
      </p:sp>
      <p:sp>
        <p:nvSpPr>
          <p:cNvPr id="53" name="Shape 21"/>
          <p:cNvSpPr/>
          <p:nvPr/>
        </p:nvSpPr>
        <p:spPr>
          <a:xfrm>
            <a:off x="14576450" y="2533802"/>
            <a:ext cx="202905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22"/>
          <p:cNvSpPr txBox="1"/>
          <p:nvPr/>
        </p:nvSpPr>
        <p:spPr>
          <a:xfrm>
            <a:off x="14576450" y="2533802"/>
            <a:ext cx="2029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 · </a:t>
            </a:r>
            <a:r>
              <a:rPr lang="en-US" sz="112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125" dirty="0"/>
          </a:p>
        </p:txBody>
      </p:sp>
      <p:sp>
        <p:nvSpPr>
          <p:cNvPr id="55" name="Shape 23"/>
          <p:cNvSpPr/>
          <p:nvPr/>
        </p:nvSpPr>
        <p:spPr>
          <a:xfrm>
            <a:off x="12573000" y="2905049"/>
            <a:ext cx="1752905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24"/>
          <p:cNvSpPr txBox="1"/>
          <p:nvPr/>
        </p:nvSpPr>
        <p:spPr>
          <a:xfrm>
            <a:off x="12573000" y="2905049"/>
            <a:ext cx="17529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 · </a:t>
            </a:r>
            <a:r>
              <a:rPr lang="en-US" sz="112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Licitacion</a:t>
            </a:r>
            <a:endParaRPr lang="en-US" sz="1125" dirty="0"/>
          </a:p>
        </p:txBody>
      </p:sp>
      <p:sp>
        <p:nvSpPr>
          <p:cNvPr id="57" name="Text 25"/>
          <p:cNvSpPr txBox="1"/>
          <p:nvPr/>
        </p:nvSpPr>
        <p:spPr>
          <a:xfrm>
            <a:off x="1143000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El problema hoy</a:t>
            </a:r>
            <a:endParaRPr lang="en-US" sz="1050" dirty="0"/>
          </a:p>
        </p:txBody>
      </p:sp>
      <p:sp>
        <p:nvSpPr>
          <p:cNvPr id="58" name="Text 26"/>
          <p:cNvSpPr txBox="1"/>
          <p:nvPr/>
        </p:nvSpPr>
        <p:spPr>
          <a:xfrm>
            <a:off x="6476695" y="4324198"/>
            <a:ext cx="533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Orquestador MTi + agentes</a:t>
            </a:r>
            <a:endParaRPr lang="en-US" sz="1050" dirty="0"/>
          </a:p>
        </p:txBody>
      </p:sp>
      <p:sp>
        <p:nvSpPr>
          <p:cNvPr id="59" name="Text 27"/>
          <p:cNvSpPr txBox="1"/>
          <p:nvPr/>
        </p:nvSpPr>
        <p:spPr>
          <a:xfrm>
            <a:off x="13049402" y="432419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Outputs</a:t>
            </a:r>
            <a:endParaRPr lang="en-US" sz="1050" dirty="0"/>
          </a:p>
        </p:txBody>
      </p:sp>
      <p:pic>
        <p:nvPicPr>
          <p:cNvPr id="60" name="Image 30" descr="gen-dedup-9116e44b1d4b9d386b2baf1f521c02f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10005" y="5438851"/>
            <a:ext cx="323698" cy="323698"/>
          </a:xfrm>
          <a:prstGeom prst="rect">
            <a:avLst/>
          </a:prstGeom>
        </p:spPr>
      </p:pic>
      <p:sp>
        <p:nvSpPr>
          <p:cNvPr id="61" name="Text 28"/>
          <p:cNvSpPr txBox="1"/>
          <p:nvPr/>
        </p:nvSpPr>
        <p:spPr>
          <a:xfrm>
            <a:off x="2018995" y="5362956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Conciliación en Excel</a:t>
            </a:r>
            <a:endParaRPr lang="en-US" sz="1575" dirty="0"/>
          </a:p>
        </p:txBody>
      </p:sp>
      <p:sp>
        <p:nvSpPr>
          <p:cNvPr id="62" name="Text 29"/>
          <p:cNvSpPr txBox="1"/>
          <p:nvPr/>
        </p:nvSpPr>
        <p:spPr>
          <a:xfrm>
            <a:off x="2018995" y="5640019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Expedido vs facturado a mano</a:t>
            </a:r>
            <a:endParaRPr lang="en-US" sz="1200" dirty="0"/>
          </a:p>
        </p:txBody>
      </p:sp>
      <p:pic>
        <p:nvPicPr>
          <p:cNvPr id="63" name="Image 31" descr="gen-dedup-09c4a8b6020e75ce517c49e0757ada8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10005" y="6409944"/>
            <a:ext cx="323698" cy="323698"/>
          </a:xfrm>
          <a:prstGeom prst="rect">
            <a:avLst/>
          </a:prstGeom>
        </p:spPr>
      </p:pic>
      <p:sp>
        <p:nvSpPr>
          <p:cNvPr id="64" name="Text 30"/>
          <p:cNvSpPr txBox="1"/>
          <p:nvPr/>
        </p:nvSpPr>
        <p:spPr>
          <a:xfrm>
            <a:off x="2018995" y="6334049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Discrepancias tardías</a:t>
            </a:r>
            <a:endParaRPr lang="en-US" sz="1575" dirty="0"/>
          </a:p>
        </p:txBody>
      </p:sp>
      <p:sp>
        <p:nvSpPr>
          <p:cNvPr id="65" name="Text 31"/>
          <p:cNvSpPr txBox="1"/>
          <p:nvPr/>
        </p:nvSpPr>
        <p:spPr>
          <a:xfrm>
            <a:off x="2018995" y="661202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detectan a fin de mes</a:t>
            </a:r>
            <a:endParaRPr lang="en-US" sz="1200" dirty="0"/>
          </a:p>
        </p:txBody>
      </p:sp>
      <p:pic>
        <p:nvPicPr>
          <p:cNvPr id="66" name="Image 32" descr="gen-dedup-0bae61dbff6aed01da88fdb5f4104a1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10005" y="7381951"/>
            <a:ext cx="323698" cy="323698"/>
          </a:xfrm>
          <a:prstGeom prst="rect">
            <a:avLst/>
          </a:prstGeom>
        </p:spPr>
      </p:pic>
      <p:sp>
        <p:nvSpPr>
          <p:cNvPr id="67" name="Text 32"/>
          <p:cNvSpPr txBox="1"/>
          <p:nvPr/>
        </p:nvSpPr>
        <p:spPr>
          <a:xfrm>
            <a:off x="2018995" y="7306056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-3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Tarifas desincronizadas</a:t>
            </a:r>
            <a:endParaRPr lang="en-US" sz="1575" dirty="0"/>
          </a:p>
        </p:txBody>
      </p:sp>
      <p:sp>
        <p:nvSpPr>
          <p:cNvPr id="68" name="Text 33"/>
          <p:cNvSpPr txBox="1"/>
          <p:nvPr/>
        </p:nvSpPr>
        <p:spPr>
          <a:xfrm>
            <a:off x="2018995" y="7583119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 con precios antiguos</a:t>
            </a:r>
            <a:endParaRPr lang="en-US" sz="1200" dirty="0"/>
          </a:p>
        </p:txBody>
      </p:sp>
      <p:pic>
        <p:nvPicPr>
          <p:cNvPr id="69" name="Image 33" descr="gen-dedup-30c7f13a50906ce24b09279892d160ee.png"/>
          <p:cNvPicPr>
            <a:picLocks noChangeAspect="1"/>
          </p:cNvPicPr>
          <p:nvPr/>
        </p:nvPicPr>
        <p:blipFill>
          <a:blip r:embed="rId22"/>
          <a:srcRect t="-10" b="-10"/>
          <a:stretch/>
        </p:blipFill>
        <p:spPr>
          <a:xfrm>
            <a:off x="5238598" y="4667098"/>
            <a:ext cx="1238098" cy="3810305"/>
          </a:xfrm>
          <a:prstGeom prst="rect">
            <a:avLst/>
          </a:prstGeom>
        </p:spPr>
      </p:pic>
      <p:pic>
        <p:nvPicPr>
          <p:cNvPr id="70" name="Image 34" descr="gen-dedup-1285c3e0a2e0da76b9a21674ffd74905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6762902" y="4914900"/>
            <a:ext cx="609905" cy="609905"/>
          </a:xfrm>
          <a:prstGeom prst="rect">
            <a:avLst/>
          </a:prstGeom>
        </p:spPr>
      </p:pic>
      <p:sp>
        <p:nvSpPr>
          <p:cNvPr id="71" name="Text 34"/>
          <p:cNvSpPr txBox="1"/>
          <p:nvPr/>
        </p:nvSpPr>
        <p:spPr>
          <a:xfrm>
            <a:off x="7543800" y="4972507"/>
            <a:ext cx="4000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Orquestador MTi</a:t>
            </a:r>
            <a:endParaRPr lang="en-US" sz="900" dirty="0"/>
          </a:p>
        </p:txBody>
      </p:sp>
      <p:sp>
        <p:nvSpPr>
          <p:cNvPr id="72" name="Text 35"/>
          <p:cNvSpPr txBox="1"/>
          <p:nvPr/>
        </p:nvSpPr>
        <p:spPr>
          <a:xfrm>
            <a:off x="7543800" y="5181905"/>
            <a:ext cx="4645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· encamina · actúa y explica</a:t>
            </a:r>
            <a:endParaRPr lang="en-US" sz="1650" dirty="0"/>
          </a:p>
        </p:txBody>
      </p:sp>
      <p:sp>
        <p:nvSpPr>
          <p:cNvPr id="73" name="Shape 36"/>
          <p:cNvSpPr/>
          <p:nvPr/>
        </p:nvSpPr>
        <p:spPr>
          <a:xfrm>
            <a:off x="6896405" y="6286500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37"/>
          <p:cNvSpPr txBox="1"/>
          <p:nvPr/>
        </p:nvSpPr>
        <p:spPr>
          <a:xfrm>
            <a:off x="7022592" y="6357823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125" dirty="0"/>
          </a:p>
        </p:txBody>
      </p:sp>
      <p:sp>
        <p:nvSpPr>
          <p:cNvPr id="75" name="Text 38"/>
          <p:cNvSpPr txBox="1"/>
          <p:nvPr/>
        </p:nvSpPr>
        <p:spPr>
          <a:xfrm>
            <a:off x="7582205" y="6334049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&amp; Docs</a:t>
            </a:r>
            <a:endParaRPr lang="en-US" sz="1425" dirty="0"/>
          </a:p>
        </p:txBody>
      </p:sp>
      <p:sp>
        <p:nvSpPr>
          <p:cNvPr id="76" name="Shape 39"/>
          <p:cNvSpPr/>
          <p:nvPr/>
        </p:nvSpPr>
        <p:spPr>
          <a:xfrm>
            <a:off x="11048695" y="6277356"/>
            <a:ext cx="342900" cy="342900"/>
          </a:xfrm>
          <a:prstGeom prst="roundRect">
            <a:avLst>
              <a:gd name="adj" fmla="val 11200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40"/>
          <p:cNvSpPr txBox="1"/>
          <p:nvPr/>
        </p:nvSpPr>
        <p:spPr>
          <a:xfrm>
            <a:off x="11128248" y="6377026"/>
            <a:ext cx="241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</a:t>
            </a:r>
            <a:endParaRPr lang="en-US" sz="900" dirty="0"/>
          </a:p>
        </p:txBody>
      </p:sp>
      <p:sp>
        <p:nvSpPr>
          <p:cNvPr id="78" name="Shape 41"/>
          <p:cNvSpPr/>
          <p:nvPr/>
        </p:nvSpPr>
        <p:spPr>
          <a:xfrm>
            <a:off x="6896405" y="6933895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42"/>
          <p:cNvSpPr txBox="1"/>
          <p:nvPr/>
        </p:nvSpPr>
        <p:spPr>
          <a:xfrm>
            <a:off x="7024421" y="7005218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125" dirty="0"/>
          </a:p>
        </p:txBody>
      </p:sp>
      <p:sp>
        <p:nvSpPr>
          <p:cNvPr id="80" name="Text 43"/>
          <p:cNvSpPr txBox="1"/>
          <p:nvPr/>
        </p:nvSpPr>
        <p:spPr>
          <a:xfrm>
            <a:off x="7582205" y="6981444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Multicanal</a:t>
            </a:r>
            <a:endParaRPr lang="en-US" sz="1425" dirty="0"/>
          </a:p>
        </p:txBody>
      </p:sp>
      <p:sp>
        <p:nvSpPr>
          <p:cNvPr id="81" name="Shape 44"/>
          <p:cNvSpPr/>
          <p:nvPr/>
        </p:nvSpPr>
        <p:spPr>
          <a:xfrm>
            <a:off x="6896405" y="7582205"/>
            <a:ext cx="552298" cy="323698"/>
          </a:xfrm>
          <a:prstGeom prst="roundRect">
            <a:avLst>
              <a:gd name="adj" fmla="val 5932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45"/>
          <p:cNvSpPr txBox="1"/>
          <p:nvPr/>
        </p:nvSpPr>
        <p:spPr>
          <a:xfrm>
            <a:off x="7024421" y="7653528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125" dirty="0"/>
          </a:p>
        </p:txBody>
      </p:sp>
      <p:sp>
        <p:nvSpPr>
          <p:cNvPr id="83" name="Text 46"/>
          <p:cNvSpPr txBox="1"/>
          <p:nvPr/>
        </p:nvSpPr>
        <p:spPr>
          <a:xfrm>
            <a:off x="7582205" y="7629754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· Pricing</a:t>
            </a:r>
            <a:endParaRPr lang="en-US" sz="1425" dirty="0"/>
          </a:p>
        </p:txBody>
      </p:sp>
      <p:pic>
        <p:nvPicPr>
          <p:cNvPr id="84" name="Image 35" descr="gen-dedup-2608aa99263e744df3fa0b32ae56b7c4.png"/>
          <p:cNvPicPr>
            <a:picLocks noChangeAspect="1"/>
          </p:cNvPicPr>
          <p:nvPr/>
        </p:nvPicPr>
        <p:blipFill>
          <a:blip r:embed="rId24"/>
          <a:srcRect t="-10" b="-10"/>
          <a:stretch/>
        </p:blipFill>
        <p:spPr>
          <a:xfrm>
            <a:off x="11811305" y="4667098"/>
            <a:ext cx="1238098" cy="3810305"/>
          </a:xfrm>
          <a:prstGeom prst="rect">
            <a:avLst/>
          </a:prstGeom>
        </p:spPr>
      </p:pic>
      <p:pic>
        <p:nvPicPr>
          <p:cNvPr id="85" name="Image 36" descr="gen-dedup-935b36395c352ac305ff3aa2f0b3b097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54298" y="4953305"/>
            <a:ext cx="323698" cy="323698"/>
          </a:xfrm>
          <a:prstGeom prst="rect">
            <a:avLst/>
          </a:prstGeom>
        </p:spPr>
      </p:pic>
      <p:sp>
        <p:nvSpPr>
          <p:cNvPr id="86" name="Text 47"/>
          <p:cNvSpPr txBox="1"/>
          <p:nvPr/>
        </p:nvSpPr>
        <p:spPr>
          <a:xfrm>
            <a:off x="13220395" y="48764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Conciliación diaria</a:t>
            </a:r>
            <a:endParaRPr lang="en-US" sz="1575" dirty="0"/>
          </a:p>
        </p:txBody>
      </p:sp>
      <p:sp>
        <p:nvSpPr>
          <p:cNvPr id="87" name="Text 48"/>
          <p:cNvSpPr txBox="1"/>
          <p:nvPr/>
        </p:nvSpPr>
        <p:spPr>
          <a:xfrm>
            <a:off x="13220395" y="51544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Expedido vs facturado</a:t>
            </a:r>
            <a:endParaRPr lang="en-US" sz="1200" dirty="0"/>
          </a:p>
        </p:txBody>
      </p:sp>
      <p:pic>
        <p:nvPicPr>
          <p:cNvPr id="88" name="Image 37" descr="gen-dedup-cad81b674f5ca746b7ee00627dfd46b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6554298" y="5924398"/>
            <a:ext cx="323698" cy="323698"/>
          </a:xfrm>
          <a:prstGeom prst="rect">
            <a:avLst/>
          </a:prstGeom>
        </p:spPr>
      </p:pic>
      <p:sp>
        <p:nvSpPr>
          <p:cNvPr id="89" name="Text 49"/>
          <p:cNvSpPr txBox="1"/>
          <p:nvPr/>
        </p:nvSpPr>
        <p:spPr>
          <a:xfrm>
            <a:off x="13220395" y="58485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Discrepancias al momento</a:t>
            </a:r>
            <a:endParaRPr lang="en-US" sz="1575" dirty="0"/>
          </a:p>
        </p:txBody>
      </p:sp>
      <p:sp>
        <p:nvSpPr>
          <p:cNvPr id="90" name="Text 50"/>
          <p:cNvSpPr txBox="1"/>
          <p:nvPr/>
        </p:nvSpPr>
        <p:spPr>
          <a:xfrm>
            <a:off x="13220395" y="61255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Elevadas al responsable</a:t>
            </a:r>
            <a:endParaRPr lang="en-US" sz="1200" dirty="0"/>
          </a:p>
        </p:txBody>
      </p:sp>
      <p:sp>
        <p:nvSpPr>
          <p:cNvPr id="91" name="Text 51"/>
          <p:cNvSpPr txBox="1"/>
          <p:nvPr/>
        </p:nvSpPr>
        <p:spPr>
          <a:xfrm>
            <a:off x="13220395" y="6819595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Facturas y albaranes</a:t>
            </a:r>
            <a:endParaRPr lang="en-US" sz="1575" dirty="0"/>
          </a:p>
        </p:txBody>
      </p:sp>
      <p:sp>
        <p:nvSpPr>
          <p:cNvPr id="92" name="Text 52"/>
          <p:cNvSpPr txBox="1"/>
          <p:nvPr/>
        </p:nvSpPr>
        <p:spPr>
          <a:xfrm>
            <a:off x="13220395" y="7097573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· Excel · EDI</a:t>
            </a:r>
            <a:endParaRPr lang="en-US" sz="1200" dirty="0"/>
          </a:p>
        </p:txBody>
      </p:sp>
      <p:sp>
        <p:nvSpPr>
          <p:cNvPr id="93" name="Text 53"/>
          <p:cNvSpPr txBox="1"/>
          <p:nvPr/>
        </p:nvSpPr>
        <p:spPr>
          <a:xfrm>
            <a:off x="13220395" y="7791602"/>
            <a:ext cx="3048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75" b="1" kern="0" spc="-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Tarifas sincronizadas</a:t>
            </a:r>
            <a:endParaRPr lang="en-US" sz="1575" dirty="0"/>
          </a:p>
        </p:txBody>
      </p:sp>
      <p:sp>
        <p:nvSpPr>
          <p:cNvPr id="94" name="Text 54"/>
          <p:cNvSpPr txBox="1"/>
          <p:nvPr/>
        </p:nvSpPr>
        <p:spPr>
          <a:xfrm>
            <a:off x="13220395" y="8068666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coherentes en Odoo</a:t>
            </a:r>
            <a:endParaRPr lang="en-US" sz="1200" dirty="0"/>
          </a:p>
        </p:txBody>
      </p:sp>
      <p:pic>
        <p:nvPicPr>
          <p:cNvPr id="107" name="Image 1" descr="gen-dedup-3fc9b6bd6bd01734c54b10a0f11af3f3.png">
            <a:extLst>
              <a:ext uri="{FF2B5EF4-FFF2-40B4-BE49-F238E27FC236}">
                <a16:creationId xmlns:a16="http://schemas.microsoft.com/office/drawing/2014/main" id="{1D33DBF6-DC0F-B64C-E896-E8A732777EC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  <p:sp>
        <p:nvSpPr>
          <p:cNvPr id="109" name="Text 63">
            <a:extLst>
              <a:ext uri="{FF2B5EF4-FFF2-40B4-BE49-F238E27FC236}">
                <a16:creationId xmlns:a16="http://schemas.microsoft.com/office/drawing/2014/main" id="{34DD1C1D-30B9-3C1E-E639-591399E2FB3A}"/>
              </a:ext>
            </a:extLst>
          </p:cNvPr>
          <p:cNvSpPr txBox="1"/>
          <p:nvPr/>
        </p:nvSpPr>
        <p:spPr>
          <a:xfrm>
            <a:off x="12573000" y="9139174"/>
            <a:ext cx="17236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00" b="1" kern="0" spc="198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Conectados</a:t>
            </a:r>
            <a:r>
              <a:rPr lang="en-US" sz="900" dirty="0"/>
              <a:t> </a:t>
            </a: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7d8f83aef2e8069af52187507d6f7eb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a418881573468369477ea05b17bf4e8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7ed7bb912f7c94ef41a7d56085217d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761695"/>
            <a:ext cx="1714500" cy="1218895"/>
          </a:xfrm>
          <a:prstGeom prst="rect">
            <a:avLst/>
          </a:prstGeom>
        </p:spPr>
      </p:pic>
      <p:pic>
        <p:nvPicPr>
          <p:cNvPr id="5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286000"/>
            <a:ext cx="914400" cy="3840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11811305" y="2286000"/>
            <a:ext cx="5333695" cy="5715000"/>
          </a:xfrm>
          <a:prstGeom prst="roundRect">
            <a:avLst>
              <a:gd name="adj" fmla="val 2143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4" descr="gen-dedup-21010b4c20abbbcb8e45be4e38abdc38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pic>
        <p:nvPicPr>
          <p:cNvPr id="8" name="Image 5" descr="gen-dedup-2af54001c3e361a51d5e514c28114ac9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2191695" y="4095598"/>
            <a:ext cx="4572000" cy="9144"/>
          </a:xfrm>
          <a:prstGeom prst="rect">
            <a:avLst/>
          </a:prstGeom>
        </p:spPr>
      </p:pic>
      <p:pic>
        <p:nvPicPr>
          <p:cNvPr id="9" name="Image 6" descr="gen-dedup-2af54001c3e361a51d5e514c28114ac9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2191695" y="5296205"/>
            <a:ext cx="4572000" cy="9144"/>
          </a:xfrm>
          <a:prstGeom prst="rect">
            <a:avLst/>
          </a:prstGeom>
        </p:spPr>
      </p:pic>
      <p:pic>
        <p:nvPicPr>
          <p:cNvPr id="10" name="Image 7" descr="gen-dedup-2af54001c3e361a51d5e514c28114ac9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2191695" y="6495898"/>
            <a:ext cx="4572000" cy="9144"/>
          </a:xfrm>
          <a:prstGeom prst="rect">
            <a:avLst/>
          </a:prstGeom>
        </p:spPr>
      </p:pic>
      <p:sp>
        <p:nvSpPr>
          <p:cNvPr id="12" name="Text 2"/>
          <p:cNvSpPr txBox="1"/>
          <p:nvPr/>
        </p:nvSpPr>
        <p:spPr>
          <a:xfrm>
            <a:off x="1143000" y="255300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Construyamos el siguiente juntos.</a:t>
            </a:r>
            <a:endParaRPr lang="en-US" sz="1125" dirty="0"/>
          </a:p>
        </p:txBody>
      </p:sp>
      <p:sp>
        <p:nvSpPr>
          <p:cNvPr id="13" name="Text 3"/>
          <p:cNvSpPr txBox="1"/>
          <p:nvPr/>
        </p:nvSpPr>
        <p:spPr>
          <a:xfrm>
            <a:off x="1143000" y="2971800"/>
            <a:ext cx="10096805" cy="2382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9600" b="1" kern="0" spc="-3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</a:t>
            </a:r>
            <a:r>
              <a:rPr lang="en-US" sz="9600" b="1" kern="0" spc="-346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</a:t>
            </a:r>
            <a:endParaRPr lang="en-US" sz="9600" b="1" dirty="0"/>
          </a:p>
          <a:p>
            <a:pPr>
              <a:lnSpc>
                <a:spcPct val="105000"/>
              </a:lnSpc>
            </a:pPr>
            <a:r>
              <a:rPr lang="en-US" sz="9600" b="1" kern="0" spc="-3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</a:t>
            </a:r>
            <a:r>
              <a:rPr lang="en-US" sz="9600" kern="0" spc="-3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600" b="1" kern="0" spc="-34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</a:t>
            </a:r>
            <a:endParaRPr lang="en-US" sz="9600" dirty="0"/>
          </a:p>
        </p:txBody>
      </p:sp>
      <p:sp>
        <p:nvSpPr>
          <p:cNvPr id="14" name="Text 4"/>
          <p:cNvSpPr txBox="1"/>
          <p:nvPr/>
        </p:nvSpPr>
        <p:spPr>
          <a:xfrm>
            <a:off x="1143000" y="6038697"/>
            <a:ext cx="9715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Cuéntanos tu reto. Te mostraremos cómo encaja un agente MTi dentro de tus operaciones — con tecnología real, integraciones reales y resultados medibles desde el día uno.</a:t>
            </a:r>
            <a:endParaRPr lang="en-US" sz="1650" dirty="0"/>
          </a:p>
        </p:txBody>
      </p:sp>
      <p:sp>
        <p:nvSpPr>
          <p:cNvPr id="15" name="Text 5"/>
          <p:cNvSpPr txBox="1"/>
          <p:nvPr/>
        </p:nvSpPr>
        <p:spPr>
          <a:xfrm>
            <a:off x="12191695" y="2667305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Hablemos</a:t>
            </a:r>
            <a:endParaRPr lang="en-US" sz="1050" dirty="0"/>
          </a:p>
        </p:txBody>
      </p:sp>
      <p:sp>
        <p:nvSpPr>
          <p:cNvPr id="16" name="Text 6"/>
          <p:cNvSpPr txBox="1"/>
          <p:nvPr/>
        </p:nvSpPr>
        <p:spPr>
          <a:xfrm>
            <a:off x="12191695" y="3143707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00" dirty="0"/>
          </a:p>
        </p:txBody>
      </p:sp>
      <p:sp>
        <p:nvSpPr>
          <p:cNvPr id="17" name="Text 7"/>
          <p:cNvSpPr txBox="1"/>
          <p:nvPr/>
        </p:nvSpPr>
        <p:spPr>
          <a:xfrm>
            <a:off x="12191695" y="3343046"/>
            <a:ext cx="457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info@mingothings.com</a:t>
            </a:r>
            <a:endParaRPr lang="en-US" sz="1950" dirty="0"/>
          </a:p>
        </p:txBody>
      </p:sp>
      <p:sp>
        <p:nvSpPr>
          <p:cNvPr id="18" name="Text 8"/>
          <p:cNvSpPr txBox="1"/>
          <p:nvPr/>
        </p:nvSpPr>
        <p:spPr>
          <a:xfrm>
            <a:off x="12191695" y="4343400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TELÉFONO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12191695" y="4543654"/>
            <a:ext cx="457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+34 934 860 961</a:t>
            </a:r>
            <a:endParaRPr lang="en-US" sz="1950" dirty="0"/>
          </a:p>
        </p:txBody>
      </p:sp>
      <p:sp>
        <p:nvSpPr>
          <p:cNvPr id="20" name="Text 10"/>
          <p:cNvSpPr txBox="1"/>
          <p:nvPr/>
        </p:nvSpPr>
        <p:spPr>
          <a:xfrm>
            <a:off x="12191695" y="5544007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900" dirty="0"/>
          </a:p>
        </p:txBody>
      </p:sp>
      <p:sp>
        <p:nvSpPr>
          <p:cNvPr id="21" name="Text 11"/>
          <p:cNvSpPr txBox="1"/>
          <p:nvPr/>
        </p:nvSpPr>
        <p:spPr>
          <a:xfrm>
            <a:off x="12191695" y="5743346"/>
            <a:ext cx="457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www.mingothings.com</a:t>
            </a:r>
            <a:endParaRPr lang="en-US" sz="1950" dirty="0"/>
          </a:p>
        </p:txBody>
      </p:sp>
      <p:sp>
        <p:nvSpPr>
          <p:cNvPr id="22" name="Text 12"/>
          <p:cNvSpPr txBox="1"/>
          <p:nvPr/>
        </p:nvSpPr>
        <p:spPr>
          <a:xfrm>
            <a:off x="12191695" y="6762902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SEDE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12191695" y="6963156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Barcelona, España</a:t>
            </a:r>
            <a:endParaRPr lang="en-US" sz="1350" dirty="0"/>
          </a:p>
        </p:txBody>
      </p:sp>
      <p:sp>
        <p:nvSpPr>
          <p:cNvPr id="24" name="Text 14"/>
          <p:cNvSpPr txBox="1"/>
          <p:nvPr/>
        </p:nvSpPr>
        <p:spPr>
          <a:xfrm>
            <a:off x="12191695" y="7259422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F1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 hubs </a:t>
            </a:r>
            <a:r>
              <a:rPr lang="en-US" sz="1050" dirty="0" err="1">
                <a:solidFill>
                  <a:srgbClr val="0A0F1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</a:t>
            </a:r>
            <a:r>
              <a:rPr lang="en-US" sz="1050" dirty="0">
                <a:solidFill>
                  <a:srgbClr val="0A0F1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cuatro continentes.</a:t>
            </a:r>
            <a:endParaRPr lang="en-US" sz="1050" dirty="0"/>
          </a:p>
        </p:txBody>
      </p:sp>
      <p:sp>
        <p:nvSpPr>
          <p:cNvPr id="25" name="Text 15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MTi Group · Mingothings S.L. · Todos los derechos reservados · ISO 9001 certificado</a:t>
            </a:r>
            <a:endParaRPr lang="en-US" sz="975" dirty="0"/>
          </a:p>
        </p:txBody>
      </p:sp>
      <p:sp>
        <p:nvSpPr>
          <p:cNvPr id="26" name="Text 16"/>
          <p:cNvSpPr txBox="1"/>
          <p:nvPr/>
        </p:nvSpPr>
        <p:spPr>
          <a:xfrm>
            <a:off x="14097305" y="10019995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Gracias.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3520232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b4ddae22bedef8b87ff326f01f4c58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74b96e5666bf3cda27c9008de1617d4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6286500" y="3381451"/>
            <a:ext cx="914400" cy="38405"/>
          </a:xfrm>
          <a:prstGeom prst="rect">
            <a:avLst/>
          </a:prstGeom>
        </p:spPr>
      </p:pic>
      <p:pic>
        <p:nvPicPr>
          <p:cNvPr id="5" name="Image 3" descr="gen-dedup-88517622ce00ba509b5675516fbb8565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16954805" y="1143000"/>
            <a:ext cx="19202" cy="80010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1143000" y="7616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Capítulo · Casos de uso</a:t>
            </a:r>
            <a:endParaRPr lang="en-US" sz="975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1714500"/>
            <a:ext cx="4953305" cy="2514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0" b="1" kern="0" spc="-900" dirty="0">
                <a:solidFill>
                  <a:srgbClr val="E6A817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0" dirty="0"/>
          </a:p>
        </p:txBody>
      </p:sp>
      <p:sp>
        <p:nvSpPr>
          <p:cNvPr id="10" name="Text 3"/>
          <p:cNvSpPr txBox="1"/>
          <p:nvPr/>
        </p:nvSpPr>
        <p:spPr>
          <a:xfrm>
            <a:off x="6286500" y="3666744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8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Catorce despliegues en producción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6286500" y="4095598"/>
            <a:ext cx="11430000" cy="123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0" b="1" kern="0" spc="-3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uso.</a:t>
            </a:r>
            <a:endParaRPr lang="en-US" sz="9750" dirty="0"/>
          </a:p>
        </p:txBody>
      </p:sp>
      <p:sp>
        <p:nvSpPr>
          <p:cNvPr id="12" name="Text 5"/>
          <p:cNvSpPr txBox="1"/>
          <p:nvPr/>
        </p:nvSpPr>
        <p:spPr>
          <a:xfrm>
            <a:off x="6286500" y="5715000"/>
            <a:ext cx="10858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reales. Números reales. Integración real con sus sistemas </a:t>
            </a:r>
            <a:r>
              <a:rPr lang="en-US" sz="1800" dirty="0" err="1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existentes</a:t>
            </a: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800" dirty="0"/>
          </a:p>
        </p:txBody>
      </p:sp>
      <p:sp>
        <p:nvSpPr>
          <p:cNvPr id="13" name="Shape 6"/>
          <p:cNvSpPr/>
          <p:nvPr/>
        </p:nvSpPr>
        <p:spPr>
          <a:xfrm>
            <a:off x="3485693" y="8820302"/>
            <a:ext cx="923544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3485693" y="8820302"/>
            <a:ext cx="92445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COPEGAL</a:t>
            </a:r>
            <a:endParaRPr lang="en-US" sz="825" dirty="0"/>
          </a:p>
        </p:txBody>
      </p:sp>
      <p:sp>
        <p:nvSpPr>
          <p:cNvPr id="15" name="Shape 8"/>
          <p:cNvSpPr/>
          <p:nvPr/>
        </p:nvSpPr>
        <p:spPr>
          <a:xfrm>
            <a:off x="4555541" y="8820302"/>
            <a:ext cx="676656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4555541" y="8820302"/>
            <a:ext cx="6766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825" dirty="0"/>
          </a:p>
        </p:txBody>
      </p:sp>
      <p:sp>
        <p:nvSpPr>
          <p:cNvPr id="17" name="Shape 10"/>
          <p:cNvSpPr/>
          <p:nvPr/>
        </p:nvSpPr>
        <p:spPr>
          <a:xfrm>
            <a:off x="5378501" y="8820302"/>
            <a:ext cx="676656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5378501" y="8820302"/>
            <a:ext cx="6766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825" dirty="0"/>
          </a:p>
        </p:txBody>
      </p:sp>
      <p:sp>
        <p:nvSpPr>
          <p:cNvPr id="19" name="Shape 12"/>
          <p:cNvSpPr/>
          <p:nvPr/>
        </p:nvSpPr>
        <p:spPr>
          <a:xfrm>
            <a:off x="6206947" y="8820302"/>
            <a:ext cx="1009498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6206947" y="8820302"/>
            <a:ext cx="10104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REGENASA</a:t>
            </a:r>
            <a:endParaRPr lang="en-US" sz="825" dirty="0"/>
          </a:p>
        </p:txBody>
      </p:sp>
      <p:sp>
        <p:nvSpPr>
          <p:cNvPr id="21" name="Shape 14"/>
          <p:cNvSpPr/>
          <p:nvPr/>
        </p:nvSpPr>
        <p:spPr>
          <a:xfrm>
            <a:off x="7367321" y="8820302"/>
            <a:ext cx="1019556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7367321" y="8820302"/>
            <a:ext cx="10195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GALMETEC</a:t>
            </a:r>
            <a:endParaRPr lang="en-US" sz="825" dirty="0"/>
          </a:p>
        </p:txBody>
      </p:sp>
      <p:sp>
        <p:nvSpPr>
          <p:cNvPr id="23" name="Shape 16"/>
          <p:cNvSpPr/>
          <p:nvPr/>
        </p:nvSpPr>
        <p:spPr>
          <a:xfrm>
            <a:off x="8537753" y="8820302"/>
            <a:ext cx="952805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8537753" y="8820302"/>
            <a:ext cx="9528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PROMEGA</a:t>
            </a:r>
            <a:endParaRPr lang="en-US" sz="825" dirty="0"/>
          </a:p>
        </p:txBody>
      </p:sp>
      <p:sp>
        <p:nvSpPr>
          <p:cNvPr id="25" name="Shape 18"/>
          <p:cNvSpPr/>
          <p:nvPr/>
        </p:nvSpPr>
        <p:spPr>
          <a:xfrm>
            <a:off x="9635947" y="8820302"/>
            <a:ext cx="694944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9635947" y="8820302"/>
            <a:ext cx="69585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PRISA</a:t>
            </a:r>
            <a:endParaRPr lang="en-US" sz="825" dirty="0"/>
          </a:p>
        </p:txBody>
      </p:sp>
      <p:sp>
        <p:nvSpPr>
          <p:cNvPr id="27" name="Shape 20"/>
          <p:cNvSpPr/>
          <p:nvPr/>
        </p:nvSpPr>
        <p:spPr>
          <a:xfrm>
            <a:off x="10476281" y="8820302"/>
            <a:ext cx="838505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10476281" y="8820302"/>
            <a:ext cx="8385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UCALSA</a:t>
            </a:r>
            <a:endParaRPr lang="en-US" sz="825" dirty="0"/>
          </a:p>
        </p:txBody>
      </p:sp>
      <p:sp>
        <p:nvSpPr>
          <p:cNvPr id="29" name="Shape 22"/>
          <p:cNvSpPr/>
          <p:nvPr/>
        </p:nvSpPr>
        <p:spPr>
          <a:xfrm>
            <a:off x="11458346" y="8820302"/>
            <a:ext cx="694944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11458346" y="8820302"/>
            <a:ext cx="69585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GALPI</a:t>
            </a:r>
            <a:endParaRPr lang="en-US" sz="825" dirty="0"/>
          </a:p>
        </p:txBody>
      </p:sp>
      <p:sp>
        <p:nvSpPr>
          <p:cNvPr id="31" name="Shape 24"/>
          <p:cNvSpPr/>
          <p:nvPr/>
        </p:nvSpPr>
        <p:spPr>
          <a:xfrm>
            <a:off x="12298680" y="8820302"/>
            <a:ext cx="571500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12298680" y="8820302"/>
            <a:ext cx="57150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SIGI</a:t>
            </a:r>
            <a:endParaRPr lang="en-US" sz="825" dirty="0"/>
          </a:p>
        </p:txBody>
      </p:sp>
      <p:sp>
        <p:nvSpPr>
          <p:cNvPr id="33" name="Shape 26"/>
          <p:cNvSpPr/>
          <p:nvPr/>
        </p:nvSpPr>
        <p:spPr>
          <a:xfrm>
            <a:off x="13016484" y="8820302"/>
            <a:ext cx="905256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13016484" y="8820302"/>
            <a:ext cx="9052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n-US" sz="825" dirty="0"/>
          </a:p>
        </p:txBody>
      </p:sp>
      <p:sp>
        <p:nvSpPr>
          <p:cNvPr id="35" name="Shape 28"/>
          <p:cNvSpPr/>
          <p:nvPr/>
        </p:nvSpPr>
        <p:spPr>
          <a:xfrm>
            <a:off x="14071702" y="8820302"/>
            <a:ext cx="733349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14071702" y="8820302"/>
            <a:ext cx="73426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ASPOL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195" y="1904695"/>
            <a:ext cx="7810805" cy="4095598"/>
          </a:xfrm>
          <a:prstGeom prst="roundRect">
            <a:avLst>
              <a:gd name="adj" fmla="val 18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69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5330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gen-dedup-c598c0eaea1b63fd6e102d7e43f05bfb.jp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9334195" y="1904695"/>
            <a:ext cx="7810805" cy="4095598"/>
          </a:xfrm>
          <a:prstGeom prst="rect">
            <a:avLst/>
          </a:prstGeom>
        </p:spPr>
      </p:pic>
      <p:pic>
        <p:nvPicPr>
          <p:cNvPr id="8" name="Image 1" descr="gen-dedup-8d36d38583ddb784200f4bd6f6321296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9334195" y="1904695"/>
            <a:ext cx="7810805" cy="4095598"/>
          </a:xfrm>
          <a:prstGeom prst="rect">
            <a:avLst/>
          </a:prstGeom>
        </p:spPr>
      </p:pic>
      <p:pic>
        <p:nvPicPr>
          <p:cNvPr id="10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pic>
        <p:nvPicPr>
          <p:cNvPr id="11" name="Image 4" descr="gen-dedup-8a4746f7ae18871903d6c6f0da58ca57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12573000" y="2286000"/>
            <a:ext cx="3238805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 txBox="1"/>
          <p:nvPr/>
        </p:nvSpPr>
        <p:spPr>
          <a:xfrm>
            <a:off x="1143000" y="1904695"/>
            <a:ext cx="5715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1714500" y="1938528"/>
            <a:ext cx="3847795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1714500" y="1938528"/>
            <a:ext cx="38487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COPLEGAL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2952598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configuración y cálculo</a:t>
            </a:r>
            <a:endParaRPr lang="en-US" sz="1125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3429000"/>
            <a:ext cx="7810805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Cotizaciones que </a:t>
            </a: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construyen solas.</a:t>
            </a:r>
            <a:endParaRPr lang="en-US" sz="555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5585613"/>
            <a:ext cx="72393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Estandariza y agiliza la preparación de cotizaciones integrando datos del ERP, documentación histórica y tarifas. Lee cada PDF, extrae parámetros, calcula cada línea y devuelve la oferta al ERP con trazabilidad completa.</a:t>
            </a:r>
            <a:endParaRPr lang="en-US" sz="1425" dirty="0"/>
          </a:p>
        </p:txBody>
      </p:sp>
      <p:sp>
        <p:nvSpPr>
          <p:cNvPr id="24" name="Text 17"/>
          <p:cNvSpPr txBox="1"/>
          <p:nvPr/>
        </p:nvSpPr>
        <p:spPr>
          <a:xfrm>
            <a:off x="9620402" y="3829507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49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Fabricante de racores, soportes y herrajes de precisión.</a:t>
            </a:r>
            <a:endParaRPr lang="en-US" sz="975" dirty="0"/>
          </a:p>
        </p:txBody>
      </p:sp>
      <p:sp>
        <p:nvSpPr>
          <p:cNvPr id="25" name="Shape 18"/>
          <p:cNvSpPr/>
          <p:nvPr/>
        </p:nvSpPr>
        <p:spPr>
          <a:xfrm>
            <a:off x="9334195" y="4286707"/>
            <a:ext cx="7810805" cy="1772107"/>
          </a:xfrm>
          <a:prstGeom prst="roundRect">
            <a:avLst>
              <a:gd name="adj" fmla="val 536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9544507" y="4496105"/>
            <a:ext cx="7392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7" name="Shape 20"/>
          <p:cNvSpPr/>
          <p:nvPr/>
        </p:nvSpPr>
        <p:spPr>
          <a:xfrm>
            <a:off x="9544507" y="4762195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9667951" y="4858207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9667951" y="48582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0067544" y="4884725"/>
            <a:ext cx="10287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975" dirty="0"/>
          </a:p>
        </p:txBody>
      </p:sp>
      <p:sp>
        <p:nvSpPr>
          <p:cNvPr id="31" name="Text 24"/>
          <p:cNvSpPr txBox="1"/>
          <p:nvPr/>
        </p:nvSpPr>
        <p:spPr>
          <a:xfrm>
            <a:off x="10067544" y="5020970"/>
            <a:ext cx="122438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Composición de oferta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13287146" y="4762195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13411505" y="4858207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13411505" y="48582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3811098" y="4884725"/>
            <a:ext cx="105156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975" dirty="0"/>
          </a:p>
        </p:txBody>
      </p:sp>
      <p:sp>
        <p:nvSpPr>
          <p:cNvPr id="36" name="Text 29"/>
          <p:cNvSpPr txBox="1"/>
          <p:nvPr/>
        </p:nvSpPr>
        <p:spPr>
          <a:xfrm>
            <a:off x="13811098" y="5020970"/>
            <a:ext cx="12161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Tarifas &amp; histórico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9544507" y="5352898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9667951" y="5447995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9667951" y="544799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10067544" y="5475427"/>
            <a:ext cx="7818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975" dirty="0"/>
          </a:p>
        </p:txBody>
      </p:sp>
      <p:sp>
        <p:nvSpPr>
          <p:cNvPr id="41" name="Text 34"/>
          <p:cNvSpPr txBox="1"/>
          <p:nvPr/>
        </p:nvSpPr>
        <p:spPr>
          <a:xfrm>
            <a:off x="10067544" y="5611673"/>
            <a:ext cx="114665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 justificada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13287146" y="5352898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13411505" y="5447995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13411505" y="544799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3811098" y="5475427"/>
            <a:ext cx="952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75" dirty="0"/>
          </a:p>
        </p:txBody>
      </p:sp>
      <p:sp>
        <p:nvSpPr>
          <p:cNvPr id="46" name="Text 39"/>
          <p:cNvSpPr txBox="1"/>
          <p:nvPr/>
        </p:nvSpPr>
        <p:spPr>
          <a:xfrm>
            <a:off x="13811098" y="5611673"/>
            <a:ext cx="113385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Solicitudes entrantes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133319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−80%</a:t>
            </a:r>
            <a:endParaRPr lang="en-US" sz="3300" dirty="0"/>
          </a:p>
        </p:txBody>
      </p:sp>
      <p:sp>
        <p:nvSpPr>
          <p:cNvPr id="48" name="Text 41"/>
          <p:cNvSpPr txBox="1"/>
          <p:nvPr/>
        </p:nvSpPr>
        <p:spPr>
          <a:xfrm>
            <a:off x="1333195" y="7905902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de cotización</a:t>
            </a:r>
            <a:endParaRPr lang="en-US" sz="825" dirty="0"/>
          </a:p>
        </p:txBody>
      </p:sp>
      <p:sp>
        <p:nvSpPr>
          <p:cNvPr id="49" name="Text 42"/>
          <p:cNvSpPr txBox="1"/>
          <p:nvPr/>
        </p:nvSpPr>
        <p:spPr>
          <a:xfrm>
            <a:off x="323880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−40%</a:t>
            </a:r>
            <a:endParaRPr lang="en-US" sz="3300" dirty="0"/>
          </a:p>
        </p:txBody>
      </p:sp>
      <p:sp>
        <p:nvSpPr>
          <p:cNvPr id="50" name="Text 43"/>
          <p:cNvSpPr txBox="1"/>
          <p:nvPr/>
        </p:nvSpPr>
        <p:spPr>
          <a:xfrm>
            <a:off x="3238805" y="7905902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manuales</a:t>
            </a:r>
            <a:endParaRPr lang="en-US" sz="825" dirty="0"/>
          </a:p>
        </p:txBody>
      </p:sp>
      <p:sp>
        <p:nvSpPr>
          <p:cNvPr id="51" name="Text 44"/>
          <p:cNvSpPr txBox="1"/>
          <p:nvPr/>
        </p:nvSpPr>
        <p:spPr>
          <a:xfrm>
            <a:off x="5143500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300" dirty="0"/>
          </a:p>
        </p:txBody>
      </p:sp>
      <p:sp>
        <p:nvSpPr>
          <p:cNvPr id="52" name="Text 45"/>
          <p:cNvSpPr txBox="1"/>
          <p:nvPr/>
        </p:nvSpPr>
        <p:spPr>
          <a:xfrm>
            <a:off x="5143500" y="7905902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Trazable</a:t>
            </a:r>
            <a:endParaRPr lang="en-US" sz="825" dirty="0"/>
          </a:p>
        </p:txBody>
      </p:sp>
      <p:sp>
        <p:nvSpPr>
          <p:cNvPr id="53" name="Text 46"/>
          <p:cNvSpPr txBox="1"/>
          <p:nvPr/>
        </p:nvSpPr>
        <p:spPr>
          <a:xfrm>
            <a:off x="704819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3300" dirty="0"/>
          </a:p>
        </p:txBody>
      </p:sp>
      <p:sp>
        <p:nvSpPr>
          <p:cNvPr id="54" name="Text 47"/>
          <p:cNvSpPr txBox="1"/>
          <p:nvPr/>
        </p:nvSpPr>
        <p:spPr>
          <a:xfrm>
            <a:off x="7048195" y="7905902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 de cotización</a:t>
            </a:r>
            <a:endParaRPr lang="en-US" sz="825" dirty="0"/>
          </a:p>
        </p:txBody>
      </p:sp>
      <p:sp>
        <p:nvSpPr>
          <p:cNvPr id="55" name="Shape 48"/>
          <p:cNvSpPr/>
          <p:nvPr/>
        </p:nvSpPr>
        <p:spPr>
          <a:xfrm>
            <a:off x="9334195" y="6286500"/>
            <a:ext cx="7810805" cy="961949"/>
          </a:xfrm>
          <a:prstGeom prst="roundRect">
            <a:avLst>
              <a:gd name="adj" fmla="val 9886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 txBox="1"/>
          <p:nvPr/>
        </p:nvSpPr>
        <p:spPr>
          <a:xfrm>
            <a:off x="9553651" y="6467551"/>
            <a:ext cx="73728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HACE</a:t>
            </a:r>
            <a:endParaRPr lang="en-US" sz="825" dirty="0"/>
          </a:p>
        </p:txBody>
      </p:sp>
      <p:sp>
        <p:nvSpPr>
          <p:cNvPr id="57" name="Text 50"/>
          <p:cNvSpPr txBox="1"/>
          <p:nvPr/>
        </p:nvSpPr>
        <p:spPr>
          <a:xfrm>
            <a:off x="9553651" y="6696151"/>
            <a:ext cx="73728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PDFs y planos · Extrae material · Calcula línea + tiempo estándar + margen · Tarifas e histórico · Documento final con justificación.</a:t>
            </a:r>
            <a:endParaRPr lang="en-US" sz="975" dirty="0"/>
          </a:p>
        </p:txBody>
      </p:sp>
      <p:sp>
        <p:nvSpPr>
          <p:cNvPr id="58" name="Text 51"/>
          <p:cNvSpPr txBox="1"/>
          <p:nvPr/>
        </p:nvSpPr>
        <p:spPr>
          <a:xfrm>
            <a:off x="1143000" y="10039198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Real autonomy, real deployments</a:t>
            </a:r>
            <a:endParaRPr lang="en-US" sz="975" dirty="0"/>
          </a:p>
        </p:txBody>
      </p:sp>
      <p:sp>
        <p:nvSpPr>
          <p:cNvPr id="59" name="Text 52"/>
          <p:cNvSpPr txBox="1"/>
          <p:nvPr/>
        </p:nvSpPr>
        <p:spPr>
          <a:xfrm>
            <a:off x="14287500" y="10039198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 desde 2024</a:t>
            </a:r>
            <a:endParaRPr lang="en-US" sz="975" dirty="0"/>
          </a:p>
        </p:txBody>
      </p:sp>
      <p:pic>
        <p:nvPicPr>
          <p:cNvPr id="61" name="Imagen 2" descr="COPLEGAL | LinkedIn">
            <a:extLst>
              <a:ext uri="{FF2B5EF4-FFF2-40B4-BE49-F238E27FC236}">
                <a16:creationId xmlns:a16="http://schemas.microsoft.com/office/drawing/2014/main" id="{D8C72E66-B89E-1B49-1509-E634615320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30" b="4454"/>
          <a:stretch>
            <a:fillRect/>
          </a:stretch>
        </p:blipFill>
        <p:spPr>
          <a:xfrm>
            <a:off x="13735903" y="2429230"/>
            <a:ext cx="912998" cy="8565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878483" y="1238097"/>
            <a:ext cx="7810805" cy="4095598"/>
          </a:xfrm>
          <a:prstGeom prst="roundRect">
            <a:avLst>
              <a:gd name="adj" fmla="val 18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69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5330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gen-dedup-3fc9b6bd6bd01734c54b10a0f11af3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8" name="Image 1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9927093" y="1619402"/>
            <a:ext cx="3238805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1143000" y="1904695"/>
            <a:ext cx="5715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1714500" y="1938528"/>
            <a:ext cx="3305556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714500" y="1938528"/>
            <a:ext cx="3305556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 · Logística &amp; freight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2952598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Suite de automatización logística</a:t>
            </a:r>
            <a:endParaRPr lang="en-US" sz="1125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3429000"/>
            <a:ext cx="8924544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convertidas en pedidos, </a:t>
            </a: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automáticamente.</a:t>
            </a:r>
            <a:endParaRPr lang="en-US" sz="555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5333695"/>
            <a:ext cx="7429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cada solicitud de transporte, consulta APIs de freight, calcula reposiciones, redacta la respuesta y la escribe en CRM y ERP, con trazabilidad completa.</a:t>
            </a:r>
            <a:endParaRPr lang="en-US" sz="1425" dirty="0"/>
          </a:p>
        </p:txBody>
      </p:sp>
      <p:sp>
        <p:nvSpPr>
          <p:cNvPr id="22" name="Text 17"/>
          <p:cNvSpPr txBox="1"/>
          <p:nvPr/>
        </p:nvSpPr>
        <p:spPr>
          <a:xfrm>
            <a:off x="27164690" y="3181197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49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 logístico, gestiona solicitudes, ciclos de reposición y respuestas.</a:t>
            </a:r>
            <a:endParaRPr lang="en-US" sz="975" dirty="0"/>
          </a:p>
        </p:txBody>
      </p:sp>
      <p:sp>
        <p:nvSpPr>
          <p:cNvPr id="23" name="Shape 18"/>
          <p:cNvSpPr/>
          <p:nvPr/>
        </p:nvSpPr>
        <p:spPr>
          <a:xfrm>
            <a:off x="26878483" y="3715207"/>
            <a:ext cx="7810805" cy="1181405"/>
          </a:xfrm>
          <a:prstGeom prst="roundRect">
            <a:avLst>
              <a:gd name="adj" fmla="val 805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27088795" y="3924604"/>
            <a:ext cx="7392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5" name="Shape 20"/>
          <p:cNvSpPr/>
          <p:nvPr/>
        </p:nvSpPr>
        <p:spPr>
          <a:xfrm>
            <a:off x="10200132" y="5921655"/>
            <a:ext cx="2400300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10323576" y="6016753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10323576" y="601675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0723169" y="6043270"/>
            <a:ext cx="5532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12695530" y="5921655"/>
            <a:ext cx="2400300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12818974" y="6016753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12818974" y="601675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3219481" y="6043270"/>
            <a:ext cx="8961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975" dirty="0"/>
          </a:p>
        </p:txBody>
      </p:sp>
      <p:sp>
        <p:nvSpPr>
          <p:cNvPr id="35" name="Shape 30"/>
          <p:cNvSpPr/>
          <p:nvPr/>
        </p:nvSpPr>
        <p:spPr>
          <a:xfrm>
            <a:off x="15190927" y="5921655"/>
            <a:ext cx="2400300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15314371" y="6016753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15314371" y="601675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5714879" y="6043270"/>
            <a:ext cx="10287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975" dirty="0"/>
          </a:p>
        </p:txBody>
      </p:sp>
      <p:sp>
        <p:nvSpPr>
          <p:cNvPr id="40" name="Text 35"/>
          <p:cNvSpPr txBox="1"/>
          <p:nvPr/>
        </p:nvSpPr>
        <p:spPr>
          <a:xfrm>
            <a:off x="133319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−65%</a:t>
            </a:r>
            <a:endParaRPr lang="en-US" sz="3300" dirty="0"/>
          </a:p>
        </p:txBody>
      </p:sp>
      <p:sp>
        <p:nvSpPr>
          <p:cNvPr id="41" name="Text 36"/>
          <p:cNvSpPr txBox="1"/>
          <p:nvPr/>
        </p:nvSpPr>
        <p:spPr>
          <a:xfrm>
            <a:off x="1333195" y="7905902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consultas</a:t>
            </a:r>
            <a:endParaRPr lang="en-US" sz="825" dirty="0"/>
          </a:p>
        </p:txBody>
      </p:sp>
      <p:sp>
        <p:nvSpPr>
          <p:cNvPr id="42" name="Text 37"/>
          <p:cNvSpPr txBox="1"/>
          <p:nvPr/>
        </p:nvSpPr>
        <p:spPr>
          <a:xfrm>
            <a:off x="323880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3300" dirty="0"/>
          </a:p>
        </p:txBody>
      </p:sp>
      <p:sp>
        <p:nvSpPr>
          <p:cNvPr id="43" name="Text 38"/>
          <p:cNvSpPr txBox="1"/>
          <p:nvPr/>
        </p:nvSpPr>
        <p:spPr>
          <a:xfrm>
            <a:off x="3238805" y="7905902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</a:t>
            </a:r>
            <a:endParaRPr lang="en-US" sz="825" dirty="0"/>
          </a:p>
        </p:txBody>
      </p:sp>
      <p:sp>
        <p:nvSpPr>
          <p:cNvPr id="44" name="Text 39"/>
          <p:cNvSpPr txBox="1"/>
          <p:nvPr/>
        </p:nvSpPr>
        <p:spPr>
          <a:xfrm>
            <a:off x="5143500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300" dirty="0"/>
          </a:p>
        </p:txBody>
      </p:sp>
      <p:sp>
        <p:nvSpPr>
          <p:cNvPr id="45" name="Text 40"/>
          <p:cNvSpPr txBox="1"/>
          <p:nvPr/>
        </p:nvSpPr>
        <p:spPr>
          <a:xfrm>
            <a:off x="5143500" y="7905902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Trazable</a:t>
            </a:r>
            <a:endParaRPr lang="en-US" sz="825" dirty="0"/>
          </a:p>
        </p:txBody>
      </p:sp>
      <p:sp>
        <p:nvSpPr>
          <p:cNvPr id="46" name="Text 41"/>
          <p:cNvSpPr txBox="1"/>
          <p:nvPr/>
        </p:nvSpPr>
        <p:spPr>
          <a:xfrm>
            <a:off x="704819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</a:t>
            </a:r>
            <a:endParaRPr lang="en-US" sz="3300" dirty="0"/>
          </a:p>
        </p:txBody>
      </p:sp>
      <p:sp>
        <p:nvSpPr>
          <p:cNvPr id="47" name="Text 42"/>
          <p:cNvSpPr txBox="1"/>
          <p:nvPr/>
        </p:nvSpPr>
        <p:spPr>
          <a:xfrm>
            <a:off x="7048195" y="7905902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Uptime de reservas</a:t>
            </a:r>
            <a:endParaRPr lang="en-US" sz="825" dirty="0"/>
          </a:p>
        </p:txBody>
      </p:sp>
      <p:sp>
        <p:nvSpPr>
          <p:cNvPr id="48" name="Shape 43"/>
          <p:cNvSpPr/>
          <p:nvPr/>
        </p:nvSpPr>
        <p:spPr>
          <a:xfrm>
            <a:off x="10200132" y="6381598"/>
            <a:ext cx="7810805" cy="780898"/>
          </a:xfrm>
          <a:prstGeom prst="roundRect">
            <a:avLst>
              <a:gd name="adj" fmla="val 12178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 txBox="1"/>
          <p:nvPr/>
        </p:nvSpPr>
        <p:spPr>
          <a:xfrm>
            <a:off x="10419588" y="6562649"/>
            <a:ext cx="73728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HACE</a:t>
            </a:r>
            <a:endParaRPr lang="en-US" sz="825" dirty="0"/>
          </a:p>
        </p:txBody>
      </p:sp>
      <p:sp>
        <p:nvSpPr>
          <p:cNvPr id="50" name="Text 45"/>
          <p:cNvSpPr txBox="1"/>
          <p:nvPr/>
        </p:nvSpPr>
        <p:spPr>
          <a:xfrm>
            <a:off x="10419588" y="6791249"/>
            <a:ext cx="73728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 consultas · Detecta reposiciones · Consulta tarifas &amp; APIs · Reserva + respuesta.</a:t>
            </a:r>
            <a:endParaRPr lang="en-US" sz="975" dirty="0"/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3AED397C-4010-A568-00E3-94123E84454B}"/>
              </a:ext>
            </a:extLst>
          </p:cNvPr>
          <p:cNvSpPr/>
          <p:nvPr/>
        </p:nvSpPr>
        <p:spPr>
          <a:xfrm>
            <a:off x="10190632" y="1838402"/>
            <a:ext cx="7810805" cy="4095598"/>
          </a:xfrm>
          <a:prstGeom prst="roundRect">
            <a:avLst>
              <a:gd name="adj" fmla="val 18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0" descr="gen-dedup-f4eacfdfa571aa76cea4aa5dbad1ebc4.png">
            <a:extLst>
              <a:ext uri="{FF2B5EF4-FFF2-40B4-BE49-F238E27FC236}">
                <a16:creationId xmlns:a16="http://schemas.microsoft.com/office/drawing/2014/main" id="{ADD0C912-29EF-E87D-AF59-E28F534CF4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10190632" y="1838402"/>
            <a:ext cx="7810805" cy="4095598"/>
          </a:xfrm>
          <a:prstGeom prst="rect">
            <a:avLst/>
          </a:prstGeom>
        </p:spPr>
      </p:pic>
      <p:sp>
        <p:nvSpPr>
          <p:cNvPr id="58" name="Shape 6">
            <a:extLst>
              <a:ext uri="{FF2B5EF4-FFF2-40B4-BE49-F238E27FC236}">
                <a16:creationId xmlns:a16="http://schemas.microsoft.com/office/drawing/2014/main" id="{C6BEC74C-60AB-4C2A-88A5-913692EC7B69}"/>
              </a:ext>
            </a:extLst>
          </p:cNvPr>
          <p:cNvSpPr/>
          <p:nvPr/>
        </p:nvSpPr>
        <p:spPr>
          <a:xfrm>
            <a:off x="13537844" y="1887754"/>
            <a:ext cx="1498600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91B0C64C-92C4-3F9A-2E2A-74EBC7048346}"/>
              </a:ext>
            </a:extLst>
          </p:cNvPr>
          <p:cNvSpPr txBox="1"/>
          <p:nvPr/>
        </p:nvSpPr>
        <p:spPr>
          <a:xfrm>
            <a:off x="10476839" y="5077207"/>
            <a:ext cx="7239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s-ES" sz="975" kern="0" spc="49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 logístico, gestiona solicitudes, ciclos de reposición y respuestas.</a:t>
            </a:r>
          </a:p>
        </p:txBody>
      </p:sp>
      <p:pic>
        <p:nvPicPr>
          <p:cNvPr id="62" name="Image 6" descr="preencoded.png">
            <a:extLst>
              <a:ext uri="{FF2B5EF4-FFF2-40B4-BE49-F238E27FC236}">
                <a16:creationId xmlns:a16="http://schemas.microsoft.com/office/drawing/2014/main" id="{499A75C4-A6C9-F389-2E0E-9EC14D4813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850187" y="2057146"/>
            <a:ext cx="785927" cy="785927"/>
          </a:xfrm>
          <a:prstGeom prst="rect">
            <a:avLst/>
          </a:prstGeom>
        </p:spPr>
      </p:pic>
      <p:sp>
        <p:nvSpPr>
          <p:cNvPr id="96" name="Text 19">
            <a:extLst>
              <a:ext uri="{FF2B5EF4-FFF2-40B4-BE49-F238E27FC236}">
                <a16:creationId xmlns:a16="http://schemas.microsoft.com/office/drawing/2014/main" id="{B16FB4AE-D914-09FF-3BE6-B454F07843F0}"/>
              </a:ext>
            </a:extLst>
          </p:cNvPr>
          <p:cNvSpPr txBox="1"/>
          <p:nvPr/>
        </p:nvSpPr>
        <p:spPr>
          <a:xfrm>
            <a:off x="27241195" y="4077004"/>
            <a:ext cx="7392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334195" y="1904695"/>
            <a:ext cx="7810805" cy="4095598"/>
          </a:xfrm>
          <a:prstGeom prst="roundRect">
            <a:avLst>
              <a:gd name="adj" fmla="val 18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7239305"/>
            <a:ext cx="7810805" cy="2533802"/>
          </a:xfrm>
          <a:prstGeom prst="roundRect">
            <a:avLst>
              <a:gd name="adj" fmla="val 252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gen-dedup-c598c0eaea1b63fd6e102d7e43f05bf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195" y="1904695"/>
            <a:ext cx="7810805" cy="4095598"/>
          </a:xfrm>
          <a:prstGeom prst="rect">
            <a:avLst/>
          </a:prstGeom>
        </p:spPr>
      </p:pic>
      <p:pic>
        <p:nvPicPr>
          <p:cNvPr id="6" name="Image 2" descr="gen-dedup-8d36d38583ddb784200f4bd6f6321296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9334195" y="1904695"/>
            <a:ext cx="7810805" cy="4095598"/>
          </a:xfrm>
          <a:prstGeom prst="rect">
            <a:avLst/>
          </a:prstGeom>
        </p:spPr>
      </p:pic>
      <p:pic>
        <p:nvPicPr>
          <p:cNvPr id="8" name="Image 4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2382805" y="2286000"/>
            <a:ext cx="3238805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4"/>
          <p:cNvSpPr txBox="1"/>
          <p:nvPr/>
        </p:nvSpPr>
        <p:spPr>
          <a:xfrm>
            <a:off x="1143000" y="1904695"/>
            <a:ext cx="5715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3" name="Shape 5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6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350" dirty="0"/>
          </a:p>
        </p:txBody>
      </p:sp>
      <p:sp>
        <p:nvSpPr>
          <p:cNvPr id="15" name="Shape 7"/>
          <p:cNvSpPr/>
          <p:nvPr/>
        </p:nvSpPr>
        <p:spPr>
          <a:xfrm>
            <a:off x="1714500" y="1938528"/>
            <a:ext cx="3648456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8"/>
          <p:cNvSpPr/>
          <p:nvPr/>
        </p:nvSpPr>
        <p:spPr>
          <a:xfrm>
            <a:off x="1714500" y="1938528"/>
            <a:ext cx="3648456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FERRI · Maquinaria industrial</a:t>
            </a:r>
            <a:endParaRPr lang="en-US" sz="105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2952598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Configurador inteligente de ofertas</a:t>
            </a:r>
            <a:endParaRPr lang="en-US" sz="1125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3643427"/>
            <a:ext cx="7429500" cy="1094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66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r>
              <a:rPr lang="en-US" sz="5550" b="1" kern="0" spc="-166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550" b="1" kern="0" spc="-166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técnicas</a:t>
            </a:r>
            <a:endParaRPr lang="en-US" sz="5550" b="1" kern="0" spc="-166" dirty="0"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5550" b="1" kern="0" spc="-16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procesadas</a:t>
            </a:r>
            <a:endParaRPr lang="en-US" sz="5550" dirty="0"/>
          </a:p>
        </p:txBody>
      </p:sp>
      <p:sp>
        <p:nvSpPr>
          <p:cNvPr id="19" name="Text 11"/>
          <p:cNvSpPr txBox="1"/>
          <p:nvPr/>
        </p:nvSpPr>
        <p:spPr>
          <a:xfrm>
            <a:off x="1143000" y="5333695"/>
            <a:ext cx="742950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Analiza documentación técnica, identifica parámetros, busca el histórico del ERP y ejecuta el motor de analogía sobre coste y hora. </a:t>
            </a:r>
            <a:r>
              <a:rPr lang="en-US" sz="1425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Elaborando</a:t>
            </a:r>
            <a:r>
              <a:rPr lang="en-U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 la oferta lista para revisión.</a:t>
            </a:r>
            <a:endParaRPr lang="en-US" sz="1425" dirty="0"/>
          </a:p>
        </p:txBody>
      </p:sp>
      <p:sp>
        <p:nvSpPr>
          <p:cNvPr id="22" name="Text 14"/>
          <p:cNvSpPr txBox="1"/>
          <p:nvPr/>
        </p:nvSpPr>
        <p:spPr>
          <a:xfrm>
            <a:off x="9620402" y="3829507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49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Fabricante de maquinaria industrial para mercados marino e industrial.</a:t>
            </a:r>
            <a:endParaRPr lang="en-US" sz="975" dirty="0"/>
          </a:p>
        </p:txBody>
      </p:sp>
      <p:sp>
        <p:nvSpPr>
          <p:cNvPr id="23" name="Text 15"/>
          <p:cNvSpPr txBox="1"/>
          <p:nvPr/>
        </p:nvSpPr>
        <p:spPr>
          <a:xfrm>
            <a:off x="1524305" y="7487107"/>
            <a:ext cx="7239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DEL CASO</a:t>
            </a:r>
            <a:endParaRPr lang="en-US" sz="825" dirty="0"/>
          </a:p>
        </p:txBody>
      </p:sp>
      <p:sp>
        <p:nvSpPr>
          <p:cNvPr id="24" name="Text 16"/>
          <p:cNvSpPr txBox="1"/>
          <p:nvPr/>
        </p:nvSpPr>
        <p:spPr>
          <a:xfrm>
            <a:off x="1524305" y="7677302"/>
            <a:ext cx="7239305" cy="1219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600" b="1" kern="0" spc="-3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−70%</a:t>
            </a:r>
            <a:endParaRPr lang="en-US" sz="9600" dirty="0"/>
          </a:p>
        </p:txBody>
      </p:sp>
      <p:sp>
        <p:nvSpPr>
          <p:cNvPr id="25" name="Text 17"/>
          <p:cNvSpPr txBox="1"/>
          <p:nvPr/>
        </p:nvSpPr>
        <p:spPr>
          <a:xfrm>
            <a:off x="1524305" y="8953805"/>
            <a:ext cx="7239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preparación de oferta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1524305" y="9286646"/>
            <a:ext cx="8961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−40%</a:t>
            </a:r>
            <a:endParaRPr lang="en-US" sz="2100" dirty="0"/>
          </a:p>
        </p:txBody>
      </p:sp>
      <p:sp>
        <p:nvSpPr>
          <p:cNvPr id="27" name="Text 19"/>
          <p:cNvSpPr txBox="1"/>
          <p:nvPr/>
        </p:nvSpPr>
        <p:spPr>
          <a:xfrm>
            <a:off x="1524305" y="9592056"/>
            <a:ext cx="103235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Variabilidad</a:t>
            </a:r>
            <a:endParaRPr lang="en-US" sz="800" dirty="0"/>
          </a:p>
        </p:txBody>
      </p:sp>
      <p:sp>
        <p:nvSpPr>
          <p:cNvPr id="28" name="Text 20"/>
          <p:cNvSpPr txBox="1"/>
          <p:nvPr/>
        </p:nvSpPr>
        <p:spPr>
          <a:xfrm>
            <a:off x="2791663" y="9286646"/>
            <a:ext cx="1390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100" dirty="0"/>
          </a:p>
        </p:txBody>
      </p:sp>
      <p:sp>
        <p:nvSpPr>
          <p:cNvPr id="29" name="Text 21"/>
          <p:cNvSpPr txBox="1"/>
          <p:nvPr/>
        </p:nvSpPr>
        <p:spPr>
          <a:xfrm>
            <a:off x="2791663" y="9592056"/>
            <a:ext cx="13908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Reuso de know-how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9334195" y="6476695"/>
            <a:ext cx="7810805" cy="1009498"/>
          </a:xfrm>
          <a:prstGeom prst="roundRect">
            <a:avLst>
              <a:gd name="adj" fmla="val 942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9553651" y="6657746"/>
            <a:ext cx="73728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ESPECIALISTA</a:t>
            </a:r>
            <a:endParaRPr lang="en-US" sz="825" dirty="0"/>
          </a:p>
        </p:txBody>
      </p:sp>
      <p:sp>
        <p:nvSpPr>
          <p:cNvPr id="32" name="Text 24"/>
          <p:cNvSpPr txBox="1"/>
          <p:nvPr/>
        </p:nvSpPr>
        <p:spPr>
          <a:xfrm>
            <a:off x="9553651" y="6886346"/>
            <a:ext cx="73728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Reader → Parameters → Historical → Project → Estimating → Departures. Seis especialistas orquestrados en un único flujo de oferta.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9286646" y="6344107"/>
            <a:ext cx="7810805" cy="1333195"/>
          </a:xfrm>
          <a:prstGeom prst="roundRect">
            <a:avLst>
              <a:gd name="adj" fmla="val 53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28"/>
          <p:cNvSpPr txBox="1"/>
          <p:nvPr/>
        </p:nvSpPr>
        <p:spPr>
          <a:xfrm>
            <a:off x="9553651" y="4600346"/>
            <a:ext cx="73728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37" name="Shape 29"/>
          <p:cNvSpPr/>
          <p:nvPr/>
        </p:nvSpPr>
        <p:spPr>
          <a:xfrm>
            <a:off x="9553651" y="4867351"/>
            <a:ext cx="3638398" cy="495605"/>
          </a:xfrm>
          <a:prstGeom prst="roundRect">
            <a:avLst>
              <a:gd name="adj" fmla="val 153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9677095" y="4962449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 txBox="1"/>
          <p:nvPr/>
        </p:nvSpPr>
        <p:spPr>
          <a:xfrm>
            <a:off x="9677095" y="4962449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0077602" y="4989881"/>
            <a:ext cx="1143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975" dirty="0"/>
          </a:p>
        </p:txBody>
      </p:sp>
      <p:sp>
        <p:nvSpPr>
          <p:cNvPr id="41" name="Text 33"/>
          <p:cNvSpPr txBox="1"/>
          <p:nvPr/>
        </p:nvSpPr>
        <p:spPr>
          <a:xfrm>
            <a:off x="10077602" y="5126126"/>
            <a:ext cx="136062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Estructuración de ofertas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13287146" y="4867351"/>
            <a:ext cx="3638398" cy="495605"/>
          </a:xfrm>
          <a:prstGeom prst="roundRect">
            <a:avLst>
              <a:gd name="adj" fmla="val 153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13411505" y="4962449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 txBox="1"/>
          <p:nvPr/>
        </p:nvSpPr>
        <p:spPr>
          <a:xfrm>
            <a:off x="13411505" y="4962449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13811098" y="4989881"/>
            <a:ext cx="9244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975" dirty="0"/>
          </a:p>
        </p:txBody>
      </p:sp>
      <p:sp>
        <p:nvSpPr>
          <p:cNvPr id="46" name="Text 38"/>
          <p:cNvSpPr txBox="1"/>
          <p:nvPr/>
        </p:nvSpPr>
        <p:spPr>
          <a:xfrm>
            <a:off x="13811098" y="5126126"/>
            <a:ext cx="128198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históricos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553651" y="5458054"/>
            <a:ext cx="3638398" cy="495605"/>
          </a:xfrm>
          <a:prstGeom prst="roundRect">
            <a:avLst>
              <a:gd name="adj" fmla="val 153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9677095" y="5553151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 txBox="1"/>
          <p:nvPr/>
        </p:nvSpPr>
        <p:spPr>
          <a:xfrm>
            <a:off x="9677095" y="5553151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10077602" y="5580583"/>
            <a:ext cx="8101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975" dirty="0"/>
          </a:p>
        </p:txBody>
      </p:sp>
      <p:sp>
        <p:nvSpPr>
          <p:cNvPr id="51" name="Text 43"/>
          <p:cNvSpPr txBox="1"/>
          <p:nvPr/>
        </p:nvSpPr>
        <p:spPr>
          <a:xfrm>
            <a:off x="10077602" y="5715914"/>
            <a:ext cx="115031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Salidas y reportes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13287146" y="5458054"/>
            <a:ext cx="3638398" cy="495605"/>
          </a:xfrm>
          <a:prstGeom prst="roundRect">
            <a:avLst>
              <a:gd name="adj" fmla="val 153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13411505" y="5553151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 txBox="1"/>
          <p:nvPr/>
        </p:nvSpPr>
        <p:spPr>
          <a:xfrm>
            <a:off x="13411505" y="5553151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900" dirty="0"/>
          </a:p>
        </p:txBody>
      </p:sp>
      <p:sp>
        <p:nvSpPr>
          <p:cNvPr id="55" name="Text 47"/>
          <p:cNvSpPr txBox="1"/>
          <p:nvPr/>
        </p:nvSpPr>
        <p:spPr>
          <a:xfrm>
            <a:off x="13811098" y="5580583"/>
            <a:ext cx="10195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975" dirty="0"/>
          </a:p>
        </p:txBody>
      </p:sp>
      <p:sp>
        <p:nvSpPr>
          <p:cNvPr id="56" name="Text 48"/>
          <p:cNvSpPr txBox="1"/>
          <p:nvPr/>
        </p:nvSpPr>
        <p:spPr>
          <a:xfrm>
            <a:off x="13811098" y="5715914"/>
            <a:ext cx="12134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variabilidad</a:t>
            </a:r>
            <a:endParaRPr lang="en-US" sz="800" dirty="0"/>
          </a:p>
        </p:txBody>
      </p:sp>
      <p:pic>
        <p:nvPicPr>
          <p:cNvPr id="58" name="Image 6" descr="preencoded.png">
            <a:extLst>
              <a:ext uri="{FF2B5EF4-FFF2-40B4-BE49-F238E27FC236}">
                <a16:creationId xmlns:a16="http://schemas.microsoft.com/office/drawing/2014/main" id="{FC2222A0-73FE-DD35-EB1F-D0665F0DDA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459053" y="2310689"/>
            <a:ext cx="1086308" cy="1086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69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5330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gen-dedup-3fc9b6bd6bd01734c54b10a0f11af3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9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1904695"/>
            <a:ext cx="5715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1714500" y="1938528"/>
            <a:ext cx="4076395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1714500" y="1938528"/>
            <a:ext cx="40773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REGENASA · Workspace de ofertas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2952598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Preparación de ofertas · outfitting naval</a:t>
            </a:r>
            <a:endParaRPr lang="en-US" sz="1125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3429000"/>
            <a:ext cx="142875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Ciclos más cortos.</a:t>
            </a:r>
            <a:endParaRPr lang="en-US" sz="55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desajustes.</a:t>
            </a:r>
            <a:endParaRPr lang="en-US" sz="555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5333695"/>
            <a:ext cx="8763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</a:t>
            </a:r>
            <a:endParaRPr lang="en-US" sz="825" dirty="0"/>
          </a:p>
        </p:txBody>
      </p:sp>
      <p:sp>
        <p:nvSpPr>
          <p:cNvPr id="21" name="Text 15"/>
          <p:cNvSpPr txBox="1"/>
          <p:nvPr/>
        </p:nvSpPr>
        <p:spPr>
          <a:xfrm>
            <a:off x="1143000" y="5600700"/>
            <a:ext cx="78108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 información dispersa — correos, planos DWG/PDF, especificaciones. Detecta versiones automáticamente, asiste ante planos incompletos con históricos navales, redacta memorandos técnicos listos para revisión experta.</a:t>
            </a:r>
            <a:endParaRPr lang="en-US" sz="1425" dirty="0"/>
          </a:p>
        </p:txBody>
      </p:sp>
      <p:sp>
        <p:nvSpPr>
          <p:cNvPr id="24" name="Text 18"/>
          <p:cNvSpPr txBox="1"/>
          <p:nvPr/>
        </p:nvSpPr>
        <p:spPr>
          <a:xfrm>
            <a:off x="133319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−55%</a:t>
            </a:r>
            <a:endParaRPr lang="en-US" sz="3300" dirty="0"/>
          </a:p>
        </p:txBody>
      </p:sp>
      <p:sp>
        <p:nvSpPr>
          <p:cNvPr id="25" name="Text 19"/>
          <p:cNvSpPr txBox="1"/>
          <p:nvPr/>
        </p:nvSpPr>
        <p:spPr>
          <a:xfrm>
            <a:off x="1333195" y="7905902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Ciclos de oferta</a:t>
            </a:r>
            <a:endParaRPr lang="en-US" sz="825" dirty="0"/>
          </a:p>
        </p:txBody>
      </p:sp>
      <p:sp>
        <p:nvSpPr>
          <p:cNvPr id="26" name="Text 20"/>
          <p:cNvSpPr txBox="1"/>
          <p:nvPr/>
        </p:nvSpPr>
        <p:spPr>
          <a:xfrm>
            <a:off x="3238805" y="7429500"/>
            <a:ext cx="1334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</a:t>
            </a:r>
            <a:endParaRPr lang="en-US" sz="2700" dirty="0"/>
          </a:p>
        </p:txBody>
      </p:sp>
      <p:sp>
        <p:nvSpPr>
          <p:cNvPr id="27" name="Text 21"/>
          <p:cNvSpPr txBox="1"/>
          <p:nvPr/>
        </p:nvSpPr>
        <p:spPr>
          <a:xfrm>
            <a:off x="3238805" y="7830007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Desajuste de versión</a:t>
            </a:r>
            <a:endParaRPr lang="en-US" sz="825" dirty="0"/>
          </a:p>
        </p:txBody>
      </p:sp>
      <p:sp>
        <p:nvSpPr>
          <p:cNvPr id="28" name="Text 22"/>
          <p:cNvSpPr txBox="1"/>
          <p:nvPr/>
        </p:nvSpPr>
        <p:spPr>
          <a:xfrm>
            <a:off x="5143500" y="7429500"/>
            <a:ext cx="1334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700" dirty="0"/>
          </a:p>
        </p:txBody>
      </p:sp>
      <p:sp>
        <p:nvSpPr>
          <p:cNvPr id="29" name="Text 23"/>
          <p:cNvSpPr txBox="1"/>
          <p:nvPr/>
        </p:nvSpPr>
        <p:spPr>
          <a:xfrm>
            <a:off x="5143500" y="7830007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Explicable</a:t>
            </a:r>
            <a:endParaRPr lang="en-US" sz="825" dirty="0"/>
          </a:p>
        </p:txBody>
      </p:sp>
      <p:sp>
        <p:nvSpPr>
          <p:cNvPr id="30" name="Text 24"/>
          <p:cNvSpPr txBox="1"/>
          <p:nvPr/>
        </p:nvSpPr>
        <p:spPr>
          <a:xfrm>
            <a:off x="7048195" y="7429500"/>
            <a:ext cx="1334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700" dirty="0"/>
          </a:p>
        </p:txBody>
      </p:sp>
      <p:sp>
        <p:nvSpPr>
          <p:cNvPr id="31" name="Text 25"/>
          <p:cNvSpPr txBox="1"/>
          <p:nvPr/>
        </p:nvSpPr>
        <p:spPr>
          <a:xfrm>
            <a:off x="7048195" y="7830007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Especialistas</a:t>
            </a:r>
            <a:endParaRPr lang="en-US" sz="825" dirty="0"/>
          </a:p>
        </p:txBody>
      </p:sp>
      <p:sp>
        <p:nvSpPr>
          <p:cNvPr id="32" name="Shape 26"/>
          <p:cNvSpPr/>
          <p:nvPr/>
        </p:nvSpPr>
        <p:spPr>
          <a:xfrm>
            <a:off x="9330538" y="8124443"/>
            <a:ext cx="7810805" cy="961949"/>
          </a:xfrm>
          <a:prstGeom prst="roundRect">
            <a:avLst>
              <a:gd name="adj" fmla="val 988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9540850" y="8296350"/>
            <a:ext cx="7392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ESPECIALISTAS POR OFERTA</a:t>
            </a:r>
            <a:endParaRPr lang="en-US" sz="825" dirty="0"/>
          </a:p>
        </p:txBody>
      </p:sp>
      <p:sp>
        <p:nvSpPr>
          <p:cNvPr id="34" name="Text 28"/>
          <p:cNvSpPr txBox="1"/>
          <p:nvPr/>
        </p:nvSpPr>
        <p:spPr>
          <a:xfrm>
            <a:off x="9540850" y="8524950"/>
            <a:ext cx="73920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&amp; Versioning · Drawing Change Detection · Plan Interpretation · Technical Memo Generator — orquestrados por un agente.</a:t>
            </a:r>
            <a:endParaRPr lang="en-US" sz="975" dirty="0"/>
          </a:p>
        </p:txBody>
      </p:sp>
      <p:sp>
        <p:nvSpPr>
          <p:cNvPr id="38" name="Text 32"/>
          <p:cNvSpPr txBox="1"/>
          <p:nvPr/>
        </p:nvSpPr>
        <p:spPr>
          <a:xfrm>
            <a:off x="9540850" y="6238950"/>
            <a:ext cx="7392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39" name="Shape 33"/>
          <p:cNvSpPr/>
          <p:nvPr/>
        </p:nvSpPr>
        <p:spPr>
          <a:xfrm>
            <a:off x="9540850" y="6505955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9664294" y="6601053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9664294" y="660105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0063887" y="6627570"/>
            <a:ext cx="9720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10063887" y="6763816"/>
            <a:ext cx="11750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de memo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13283489" y="6505955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13407848" y="6601053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 txBox="1"/>
          <p:nvPr/>
        </p:nvSpPr>
        <p:spPr>
          <a:xfrm>
            <a:off x="13407848" y="660105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3807441" y="6627570"/>
            <a:ext cx="1053389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975" dirty="0"/>
          </a:p>
        </p:txBody>
      </p:sp>
      <p:sp>
        <p:nvSpPr>
          <p:cNvPr id="48" name="Text 42"/>
          <p:cNvSpPr txBox="1"/>
          <p:nvPr/>
        </p:nvSpPr>
        <p:spPr>
          <a:xfrm>
            <a:off x="13807441" y="6763816"/>
            <a:ext cx="1217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histórico naval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9540850" y="7095743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9664294" y="7191755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 txBox="1"/>
          <p:nvPr/>
        </p:nvSpPr>
        <p:spPr>
          <a:xfrm>
            <a:off x="9664294" y="719175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10063887" y="7218273"/>
            <a:ext cx="10287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75" dirty="0"/>
          </a:p>
        </p:txBody>
      </p:sp>
      <p:sp>
        <p:nvSpPr>
          <p:cNvPr id="53" name="Text 47"/>
          <p:cNvSpPr txBox="1"/>
          <p:nvPr/>
        </p:nvSpPr>
        <p:spPr>
          <a:xfrm>
            <a:off x="10063887" y="7354518"/>
            <a:ext cx="12975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 entrantes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13283489" y="7095743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9"/>
          <p:cNvSpPr/>
          <p:nvPr/>
        </p:nvSpPr>
        <p:spPr>
          <a:xfrm>
            <a:off x="13407848" y="7191755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 txBox="1"/>
          <p:nvPr/>
        </p:nvSpPr>
        <p:spPr>
          <a:xfrm>
            <a:off x="13407848" y="719175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13807441" y="7218273"/>
            <a:ext cx="6766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975" dirty="0"/>
          </a:p>
        </p:txBody>
      </p:sp>
      <p:sp>
        <p:nvSpPr>
          <p:cNvPr id="58" name="Text 52"/>
          <p:cNvSpPr txBox="1"/>
          <p:nvPr/>
        </p:nvSpPr>
        <p:spPr>
          <a:xfrm>
            <a:off x="13807441" y="7354518"/>
            <a:ext cx="9592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Difs de versión</a:t>
            </a:r>
            <a:endParaRPr lang="en-US" sz="800" dirty="0"/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A1A9F4CC-E51A-C205-DBC6-8C6E9FED89D2}"/>
              </a:ext>
            </a:extLst>
          </p:cNvPr>
          <p:cNvSpPr/>
          <p:nvPr/>
        </p:nvSpPr>
        <p:spPr>
          <a:xfrm>
            <a:off x="9334195" y="1904695"/>
            <a:ext cx="7810805" cy="4095598"/>
          </a:xfrm>
          <a:prstGeom prst="roundRect">
            <a:avLst>
              <a:gd name="adj" fmla="val 18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0" descr="gen-dedup-d9739f7de6f5b87f4ba56f15921984a1.png">
            <a:extLst>
              <a:ext uri="{FF2B5EF4-FFF2-40B4-BE49-F238E27FC236}">
                <a16:creationId xmlns:a16="http://schemas.microsoft.com/office/drawing/2014/main" id="{B055E00D-04A8-5E54-E180-661D80E2C2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9334195" y="1904695"/>
            <a:ext cx="7810805" cy="4095598"/>
          </a:xfrm>
          <a:prstGeom prst="rect">
            <a:avLst/>
          </a:prstGeom>
        </p:spPr>
      </p:pic>
      <p:sp>
        <p:nvSpPr>
          <p:cNvPr id="66" name="Shape 6">
            <a:extLst>
              <a:ext uri="{FF2B5EF4-FFF2-40B4-BE49-F238E27FC236}">
                <a16:creationId xmlns:a16="http://schemas.microsoft.com/office/drawing/2014/main" id="{DA927491-4796-8BB6-B4F5-9343AB7D1865}"/>
              </a:ext>
            </a:extLst>
          </p:cNvPr>
          <p:cNvSpPr/>
          <p:nvPr/>
        </p:nvSpPr>
        <p:spPr>
          <a:xfrm>
            <a:off x="12382805" y="2286000"/>
            <a:ext cx="3238805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n 13" descr="Regenasa | Marine Interiors">
            <a:extLst>
              <a:ext uri="{FF2B5EF4-FFF2-40B4-BE49-F238E27FC236}">
                <a16:creationId xmlns:a16="http://schemas.microsoft.com/office/drawing/2014/main" id="{EBB0CB11-AC25-3F4D-8D8A-7AF215198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28192" y="2719388"/>
            <a:ext cx="1314427" cy="29081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8001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gen-dedup-a4995e85e1cd827f75ba3e464ac99c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1904695"/>
            <a:ext cx="6858000" cy="4953305"/>
          </a:xfrm>
          <a:prstGeom prst="rect">
            <a:avLst/>
          </a:prstGeom>
        </p:spPr>
      </p:pic>
      <p:pic>
        <p:nvPicPr>
          <p:cNvPr id="4" name="Image 1" descr="gen-dedup-d26daa09a68de5a41e5c849d45e70fa1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10858500" y="1904695"/>
            <a:ext cx="6858000" cy="4953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858500" y="7239305"/>
            <a:ext cx="6858000" cy="2286000"/>
          </a:xfrm>
          <a:prstGeom prst="roundRect">
            <a:avLst>
              <a:gd name="adj" fmla="val 3320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pic>
        <p:nvPicPr>
          <p:cNvPr id="8" name="Image 4" descr="gen-dedup-8a4746f7ae18871903d6c6f0da58ca57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43000" y="1904695"/>
            <a:ext cx="7429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350" dirty="0"/>
          </a:p>
        </p:txBody>
      </p:sp>
      <p:sp>
        <p:nvSpPr>
          <p:cNvPr id="13" name="Shape 6"/>
          <p:cNvSpPr/>
          <p:nvPr/>
        </p:nvSpPr>
        <p:spPr>
          <a:xfrm>
            <a:off x="1714500" y="1938528"/>
            <a:ext cx="4190695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1714500" y="1938528"/>
            <a:ext cx="41916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GALMETEC · Mecanizado de precisión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2933395"/>
            <a:ext cx="7429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Estimación automática de tiempos · desde CAD</a:t>
            </a:r>
            <a:endParaRPr lang="en-US" sz="1125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3372307"/>
            <a:ext cx="857250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Tiempos de mecanizado </a:t>
            </a:r>
            <a:r>
              <a:rPr lang="en-US" sz="4350" b="1" kern="0" spc="-13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planos,</a:t>
            </a:r>
            <a:r>
              <a:rPr lang="en-U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desde expertos.</a:t>
            </a:r>
            <a:endParaRPr lang="en-US" sz="435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4714646"/>
            <a:ext cx="857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planos técnicos 2D (PDF/DXF) y modelos 3D (STEP/IGES), aplica heurísticas explícitas de proceso y corrige cada tiempo con un modelo de ML entrenado con la producción e históricos reales. Defendible, trazable y sin cálculos sólo de experto.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6286500"/>
            <a:ext cx="8763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19" name="Shape 12"/>
          <p:cNvSpPr/>
          <p:nvPr/>
        </p:nvSpPr>
        <p:spPr>
          <a:xfrm>
            <a:off x="1143000" y="6553505"/>
            <a:ext cx="2704795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1304849" y="6676949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 txBox="1"/>
          <p:nvPr/>
        </p:nvSpPr>
        <p:spPr>
          <a:xfrm>
            <a:off x="1304849" y="6676949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1781251" y="6697066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125" dirty="0"/>
          </a:p>
        </p:txBody>
      </p:sp>
      <p:sp>
        <p:nvSpPr>
          <p:cNvPr id="23" name="Text 16"/>
          <p:cNvSpPr txBox="1"/>
          <p:nvPr/>
        </p:nvSpPr>
        <p:spPr>
          <a:xfrm>
            <a:off x="1781251" y="6882689"/>
            <a:ext cx="22677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Búsqueda de CAD + estimación previa</a:t>
            </a:r>
            <a:endParaRPr lang="en-US" sz="825" dirty="0"/>
          </a:p>
        </p:txBody>
      </p:sp>
      <p:sp>
        <p:nvSpPr>
          <p:cNvPr id="24" name="Shape 17"/>
          <p:cNvSpPr/>
          <p:nvPr/>
        </p:nvSpPr>
        <p:spPr>
          <a:xfrm>
            <a:off x="3977640" y="6553505"/>
            <a:ext cx="2371954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139489" y="6676949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4139489" y="6676949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4615891" y="6697066"/>
            <a:ext cx="15718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125" dirty="0"/>
          </a:p>
        </p:txBody>
      </p:sp>
      <p:sp>
        <p:nvSpPr>
          <p:cNvPr id="28" name="Text 21"/>
          <p:cNvSpPr txBox="1"/>
          <p:nvPr/>
        </p:nvSpPr>
        <p:spPr>
          <a:xfrm>
            <a:off x="4615891" y="6882689"/>
            <a:ext cx="18708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 estimaciones a ofertas</a:t>
            </a:r>
            <a:endParaRPr lang="en-US" sz="825" dirty="0"/>
          </a:p>
        </p:txBody>
      </p:sp>
      <p:sp>
        <p:nvSpPr>
          <p:cNvPr id="29" name="Shape 22"/>
          <p:cNvSpPr/>
          <p:nvPr/>
        </p:nvSpPr>
        <p:spPr>
          <a:xfrm>
            <a:off x="6476695" y="6553505"/>
            <a:ext cx="2495398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638544" y="6676949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 txBox="1"/>
          <p:nvPr/>
        </p:nvSpPr>
        <p:spPr>
          <a:xfrm>
            <a:off x="6638544" y="6676949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7114946" y="6697066"/>
            <a:ext cx="16962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125" dirty="0"/>
          </a:p>
        </p:txBody>
      </p:sp>
      <p:sp>
        <p:nvSpPr>
          <p:cNvPr id="33" name="Text 26"/>
          <p:cNvSpPr txBox="1"/>
          <p:nvPr/>
        </p:nvSpPr>
        <p:spPr>
          <a:xfrm>
            <a:off x="7114946" y="6882689"/>
            <a:ext cx="201808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Corrección predictiva &amp; validación</a:t>
            </a:r>
            <a:endParaRPr lang="en-US" sz="825" dirty="0"/>
          </a:p>
        </p:txBody>
      </p:sp>
      <p:sp>
        <p:nvSpPr>
          <p:cNvPr id="34" name="Shape 27"/>
          <p:cNvSpPr/>
          <p:nvPr/>
        </p:nvSpPr>
        <p:spPr>
          <a:xfrm>
            <a:off x="1143000" y="7905902"/>
            <a:ext cx="4315054" cy="952805"/>
          </a:xfrm>
          <a:prstGeom prst="roundRect">
            <a:avLst>
              <a:gd name="adj" fmla="val 9981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 txBox="1"/>
          <p:nvPr/>
        </p:nvSpPr>
        <p:spPr>
          <a:xfrm>
            <a:off x="1352398" y="8096098"/>
            <a:ext cx="38962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↓</a:t>
            </a:r>
            <a:endParaRPr lang="en-US" sz="2700" dirty="0"/>
          </a:p>
        </p:txBody>
      </p:sp>
      <p:sp>
        <p:nvSpPr>
          <p:cNvPr id="36" name="Text 29"/>
          <p:cNvSpPr txBox="1"/>
          <p:nvPr/>
        </p:nvSpPr>
        <p:spPr>
          <a:xfrm>
            <a:off x="1352398" y="8515807"/>
            <a:ext cx="38962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Reducción de tiempos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5591556" y="7905902"/>
            <a:ext cx="4315054" cy="952805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5810098" y="8106156"/>
            <a:ext cx="38770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Bajo ↓</a:t>
            </a:r>
            <a:endParaRPr lang="en-US" sz="2700" dirty="0"/>
          </a:p>
        </p:txBody>
      </p:sp>
      <p:sp>
        <p:nvSpPr>
          <p:cNvPr id="39" name="Text 32"/>
          <p:cNvSpPr txBox="1"/>
          <p:nvPr/>
        </p:nvSpPr>
        <p:spPr>
          <a:xfrm>
            <a:off x="5810098" y="8524951"/>
            <a:ext cx="3877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 del experto</a:t>
            </a:r>
            <a:endParaRPr lang="en-US" sz="825" dirty="0"/>
          </a:p>
        </p:txBody>
      </p:sp>
      <p:sp>
        <p:nvSpPr>
          <p:cNvPr id="40" name="Shape 33"/>
          <p:cNvSpPr/>
          <p:nvPr/>
        </p:nvSpPr>
        <p:spPr>
          <a:xfrm>
            <a:off x="1143000" y="9182405"/>
            <a:ext cx="8762695" cy="819302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1362456" y="9363456"/>
            <a:ext cx="3219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Explicable</a:t>
            </a:r>
            <a:endParaRPr lang="en-US" sz="1800" dirty="0"/>
          </a:p>
        </p:txBody>
      </p:sp>
      <p:sp>
        <p:nvSpPr>
          <p:cNvPr id="42" name="Text 35"/>
          <p:cNvSpPr txBox="1"/>
          <p:nvPr/>
        </p:nvSpPr>
        <p:spPr>
          <a:xfrm>
            <a:off x="1362456" y="9648749"/>
            <a:ext cx="381670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Estimaciones defendibles y trazables — sin caja negra.</a:t>
            </a:r>
            <a:endParaRPr lang="en-US" sz="975" dirty="0"/>
          </a:p>
        </p:txBody>
      </p:sp>
      <p:sp>
        <p:nvSpPr>
          <p:cNvPr id="43" name="Text 36"/>
          <p:cNvSpPr txBox="1"/>
          <p:nvPr/>
        </p:nvSpPr>
        <p:spPr>
          <a:xfrm>
            <a:off x="8043977" y="9513418"/>
            <a:ext cx="16486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caja negra →</a:t>
            </a:r>
            <a:endParaRPr lang="en-US" sz="975" dirty="0"/>
          </a:p>
        </p:txBody>
      </p:sp>
      <p:sp>
        <p:nvSpPr>
          <p:cNvPr id="44" name="Text 37"/>
          <p:cNvSpPr txBox="1"/>
          <p:nvPr/>
        </p:nvSpPr>
        <p:spPr>
          <a:xfrm>
            <a:off x="11239805" y="2247595"/>
            <a:ext cx="6286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 industrial · fabricación metálica</a:t>
            </a:r>
            <a:endParaRPr lang="en-US" sz="825" dirty="0"/>
          </a:p>
        </p:txBody>
      </p:sp>
      <p:sp>
        <p:nvSpPr>
          <p:cNvPr id="45" name="Text 38"/>
          <p:cNvSpPr txBox="1"/>
          <p:nvPr/>
        </p:nvSpPr>
        <p:spPr>
          <a:xfrm>
            <a:off x="11239805" y="2476195"/>
            <a:ext cx="628650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kern="0" spc="-1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Especialistas en mecanizado de precisión, con fuerte dependencia de ingeniería de proceso y estimación de tiempos.</a:t>
            </a:r>
            <a:endParaRPr lang="en-US" sz="1800" dirty="0"/>
          </a:p>
        </p:txBody>
      </p:sp>
      <p:sp>
        <p:nvSpPr>
          <p:cNvPr id="46" name="Text 39"/>
          <p:cNvSpPr txBox="1"/>
          <p:nvPr/>
        </p:nvSpPr>
        <p:spPr>
          <a:xfrm>
            <a:off x="11239805" y="7429500"/>
            <a:ext cx="6286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 a</a:t>
            </a:r>
            <a:endParaRPr lang="en-US" sz="825" dirty="0"/>
          </a:p>
        </p:txBody>
      </p:sp>
      <p:sp>
        <p:nvSpPr>
          <p:cNvPr id="47" name="Shape 40"/>
          <p:cNvSpPr/>
          <p:nvPr/>
        </p:nvSpPr>
        <p:spPr>
          <a:xfrm>
            <a:off x="11239805" y="7696505"/>
            <a:ext cx="1438351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11239805" y="7696505"/>
            <a:ext cx="14383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Planos 2D PDF/DXF</a:t>
            </a:r>
            <a:endParaRPr lang="en-US" sz="975" dirty="0"/>
          </a:p>
        </p:txBody>
      </p:sp>
      <p:sp>
        <p:nvSpPr>
          <p:cNvPr id="49" name="Shape 42"/>
          <p:cNvSpPr/>
          <p:nvPr/>
        </p:nvSpPr>
        <p:spPr>
          <a:xfrm>
            <a:off x="12767767" y="7696505"/>
            <a:ext cx="1666951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12767767" y="7696505"/>
            <a:ext cx="16669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3D STEP/IGES</a:t>
            </a:r>
            <a:endParaRPr lang="en-US" sz="975" dirty="0"/>
          </a:p>
        </p:txBody>
      </p:sp>
      <p:sp>
        <p:nvSpPr>
          <p:cNvPr id="51" name="Shape 44"/>
          <p:cNvSpPr/>
          <p:nvPr/>
        </p:nvSpPr>
        <p:spPr>
          <a:xfrm>
            <a:off x="14521586" y="7696505"/>
            <a:ext cx="1514246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14521586" y="7696505"/>
            <a:ext cx="15151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producción</a:t>
            </a:r>
            <a:endParaRPr lang="en-US" sz="975" dirty="0"/>
          </a:p>
        </p:txBody>
      </p:sp>
      <p:sp>
        <p:nvSpPr>
          <p:cNvPr id="53" name="Shape 46"/>
          <p:cNvSpPr/>
          <p:nvPr/>
        </p:nvSpPr>
        <p:spPr>
          <a:xfrm>
            <a:off x="16123615" y="7696505"/>
            <a:ext cx="1095451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16123615" y="7696505"/>
            <a:ext cx="10954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correctivo</a:t>
            </a:r>
            <a:endParaRPr lang="en-US" sz="975" dirty="0"/>
          </a:p>
        </p:txBody>
      </p:sp>
      <p:sp>
        <p:nvSpPr>
          <p:cNvPr id="55" name="Shape 48"/>
          <p:cNvSpPr/>
          <p:nvPr/>
        </p:nvSpPr>
        <p:spPr>
          <a:xfrm>
            <a:off x="11239805" y="8115300"/>
            <a:ext cx="1324051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/>
          <p:nvPr/>
        </p:nvSpPr>
        <p:spPr>
          <a:xfrm>
            <a:off x="11239805" y="8115300"/>
            <a:ext cx="13240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Repositorios CAD</a:t>
            </a:r>
            <a:endParaRPr lang="en-US" sz="975" dirty="0"/>
          </a:p>
        </p:txBody>
      </p:sp>
      <p:pic>
        <p:nvPicPr>
          <p:cNvPr id="60" name="Image 4" descr="preencoded.png">
            <a:extLst>
              <a:ext uri="{FF2B5EF4-FFF2-40B4-BE49-F238E27FC236}">
                <a16:creationId xmlns:a16="http://schemas.microsoft.com/office/drawing/2014/main" id="{D920AD07-7185-B5E9-70B9-76A9F01A648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14" b="314"/>
          <a:stretch/>
        </p:blipFill>
        <p:spPr>
          <a:xfrm>
            <a:off x="7116317" y="1777048"/>
            <a:ext cx="1161289" cy="6040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gen-dedup-8f4a7ef5ffcf73500a6d9bccb56331a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39305" cy="10287000"/>
          </a:xfrm>
          <a:prstGeom prst="rect">
            <a:avLst/>
          </a:prstGeom>
        </p:spPr>
      </p:pic>
      <p:pic>
        <p:nvPicPr>
          <p:cNvPr id="4" name="Image 2" descr="gen-dedup-6e656ec628884e0f590ca68d40e2c46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0" y="0"/>
            <a:ext cx="7239305" cy="10287000"/>
          </a:xfrm>
          <a:prstGeom prst="rect">
            <a:avLst/>
          </a:prstGeom>
        </p:spPr>
      </p:pic>
      <p:pic>
        <p:nvPicPr>
          <p:cNvPr id="6" name="Image 4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7810805" y="2343607"/>
            <a:ext cx="914400" cy="38405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7810805" y="1619402"/>
            <a:ext cx="9525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7810805" y="1619402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/>
          <p:cNvSpPr txBox="1"/>
          <p:nvPr/>
        </p:nvSpPr>
        <p:spPr>
          <a:xfrm>
            <a:off x="7810805" y="1619402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350" dirty="0"/>
          </a:p>
        </p:txBody>
      </p:sp>
      <p:sp>
        <p:nvSpPr>
          <p:cNvPr id="12" name="Shape 4"/>
          <p:cNvSpPr/>
          <p:nvPr/>
        </p:nvSpPr>
        <p:spPr>
          <a:xfrm>
            <a:off x="8382305" y="1652321"/>
            <a:ext cx="4095598" cy="37124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/>
          <p:cNvSpPr/>
          <p:nvPr/>
        </p:nvSpPr>
        <p:spPr>
          <a:xfrm>
            <a:off x="8382305" y="1652321"/>
            <a:ext cx="4096512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Radio Vigo · Grupo PRISA · Galicia</a:t>
            </a:r>
            <a:endParaRPr lang="en-US" sz="1050" dirty="0"/>
          </a:p>
        </p:txBody>
      </p:sp>
      <p:sp>
        <p:nvSpPr>
          <p:cNvPr id="14" name="Text 6"/>
          <p:cNvSpPr txBox="1"/>
          <p:nvPr/>
        </p:nvSpPr>
        <p:spPr>
          <a:xfrm>
            <a:off x="7810805" y="2590495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control de calidad de emisión</a:t>
            </a:r>
            <a:endParaRPr lang="en-US" sz="1125" dirty="0"/>
          </a:p>
        </p:txBody>
      </p:sp>
      <p:sp>
        <p:nvSpPr>
          <p:cNvPr id="15" name="Text 7"/>
          <p:cNvSpPr txBox="1"/>
          <p:nvPr/>
        </p:nvSpPr>
        <p:spPr>
          <a:xfrm>
            <a:off x="7810805" y="3010205"/>
            <a:ext cx="9525305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Salta la revisión manual.</a:t>
            </a:r>
            <a:endParaRPr lang="en-US" sz="4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800" b="1" kern="0" spc="-14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sólo los incidentes.</a:t>
            </a:r>
            <a:endParaRPr lang="en-US" sz="4800" dirty="0"/>
          </a:p>
        </p:txBody>
      </p:sp>
      <p:sp>
        <p:nvSpPr>
          <p:cNvPr id="16" name="Text 8"/>
          <p:cNvSpPr txBox="1"/>
          <p:nvPr/>
        </p:nvSpPr>
        <p:spPr>
          <a:xfrm>
            <a:off x="7810805" y="4533595"/>
            <a:ext cx="914400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Escucha emisiones en vivo y grabadas, detecta silencios, cortes y errores de voz. Los operadores consultan una interfaz web, revisan sólo los incidentes marcados, y el agente estandariza criterios y exporta resultados a Excel y Odoo.</a:t>
            </a:r>
            <a:endParaRPr lang="en-US" sz="1425" dirty="0"/>
          </a:p>
        </p:txBody>
      </p:sp>
      <p:sp>
        <p:nvSpPr>
          <p:cNvPr id="17" name="Text 9"/>
          <p:cNvSpPr txBox="1"/>
          <p:nvPr/>
        </p:nvSpPr>
        <p:spPr>
          <a:xfrm>
            <a:off x="7810805" y="5810098"/>
            <a:ext cx="9525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18" name="Shape 10"/>
          <p:cNvSpPr/>
          <p:nvPr/>
        </p:nvSpPr>
        <p:spPr>
          <a:xfrm>
            <a:off x="7810805" y="6077102"/>
            <a:ext cx="2457907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1"/>
          <p:cNvSpPr/>
          <p:nvPr/>
        </p:nvSpPr>
        <p:spPr>
          <a:xfrm>
            <a:off x="7972654" y="6200546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2"/>
          <p:cNvSpPr txBox="1"/>
          <p:nvPr/>
        </p:nvSpPr>
        <p:spPr>
          <a:xfrm>
            <a:off x="7972654" y="6200546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8449056" y="6220663"/>
            <a:ext cx="16578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125" dirty="0"/>
          </a:p>
        </p:txBody>
      </p:sp>
      <p:sp>
        <p:nvSpPr>
          <p:cNvPr id="22" name="Text 14"/>
          <p:cNvSpPr txBox="1"/>
          <p:nvPr/>
        </p:nvSpPr>
        <p:spPr>
          <a:xfrm>
            <a:off x="8449056" y="6406286"/>
            <a:ext cx="19723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Análisis y segmentación de audio</a:t>
            </a:r>
            <a:endParaRPr lang="en-US" sz="825" dirty="0"/>
          </a:p>
        </p:txBody>
      </p:sp>
      <p:sp>
        <p:nvSpPr>
          <p:cNvPr id="23" name="Shape 15"/>
          <p:cNvSpPr/>
          <p:nvPr/>
        </p:nvSpPr>
        <p:spPr>
          <a:xfrm>
            <a:off x="10378440" y="6077102"/>
            <a:ext cx="2143354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10541203" y="6200546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 txBox="1"/>
          <p:nvPr/>
        </p:nvSpPr>
        <p:spPr>
          <a:xfrm>
            <a:off x="10541203" y="6200546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1050" dirty="0"/>
          </a:p>
        </p:txBody>
      </p:sp>
      <p:sp>
        <p:nvSpPr>
          <p:cNvPr id="26" name="Text 18"/>
          <p:cNvSpPr txBox="1"/>
          <p:nvPr/>
        </p:nvSpPr>
        <p:spPr>
          <a:xfrm>
            <a:off x="11016691" y="6220663"/>
            <a:ext cx="1200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125" dirty="0"/>
          </a:p>
        </p:txBody>
      </p:sp>
      <p:sp>
        <p:nvSpPr>
          <p:cNvPr id="27" name="Text 19"/>
          <p:cNvSpPr txBox="1"/>
          <p:nvPr/>
        </p:nvSpPr>
        <p:spPr>
          <a:xfrm>
            <a:off x="11016691" y="6406286"/>
            <a:ext cx="142829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Detección de incidentes</a:t>
            </a:r>
            <a:endParaRPr lang="en-US" sz="825" dirty="0"/>
          </a:p>
        </p:txBody>
      </p:sp>
      <p:sp>
        <p:nvSpPr>
          <p:cNvPr id="28" name="Shape 20"/>
          <p:cNvSpPr/>
          <p:nvPr/>
        </p:nvSpPr>
        <p:spPr>
          <a:xfrm>
            <a:off x="12636094" y="6077102"/>
            <a:ext cx="2162556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12797942" y="6200546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 txBox="1"/>
          <p:nvPr/>
        </p:nvSpPr>
        <p:spPr>
          <a:xfrm>
            <a:off x="12797942" y="6200546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13274345" y="6220663"/>
            <a:ext cx="13624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125" dirty="0"/>
          </a:p>
        </p:txBody>
      </p:sp>
      <p:sp>
        <p:nvSpPr>
          <p:cNvPr id="32" name="Text 24"/>
          <p:cNvSpPr txBox="1"/>
          <p:nvPr/>
        </p:nvSpPr>
        <p:spPr>
          <a:xfrm>
            <a:off x="13274345" y="6406286"/>
            <a:ext cx="162123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Exportación a Excel y Odoo</a:t>
            </a:r>
            <a:endParaRPr lang="en-US" sz="825" dirty="0"/>
          </a:p>
        </p:txBody>
      </p:sp>
      <p:sp>
        <p:nvSpPr>
          <p:cNvPr id="33" name="Shape 25"/>
          <p:cNvSpPr/>
          <p:nvPr/>
        </p:nvSpPr>
        <p:spPr>
          <a:xfrm>
            <a:off x="14912035" y="6077102"/>
            <a:ext cx="2143354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15073884" y="6200546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 txBox="1"/>
          <p:nvPr/>
        </p:nvSpPr>
        <p:spPr>
          <a:xfrm>
            <a:off x="15073884" y="6200546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15550286" y="6220663"/>
            <a:ext cx="10479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125" dirty="0"/>
          </a:p>
        </p:txBody>
      </p:sp>
      <p:sp>
        <p:nvSpPr>
          <p:cNvPr id="37" name="Text 29"/>
          <p:cNvSpPr txBox="1"/>
          <p:nvPr/>
        </p:nvSpPr>
        <p:spPr>
          <a:xfrm>
            <a:off x="15550286" y="6406286"/>
            <a:ext cx="124724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Flujo de revisión web</a:t>
            </a:r>
            <a:endParaRPr lang="en-US" sz="825" dirty="0"/>
          </a:p>
        </p:txBody>
      </p:sp>
      <p:sp>
        <p:nvSpPr>
          <p:cNvPr id="38" name="Shape 30"/>
          <p:cNvSpPr/>
          <p:nvPr/>
        </p:nvSpPr>
        <p:spPr>
          <a:xfrm>
            <a:off x="7810805" y="7524598"/>
            <a:ext cx="3086100" cy="1285646"/>
          </a:xfrm>
          <a:prstGeom prst="roundRect">
            <a:avLst>
              <a:gd name="adj" fmla="val 73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 txBox="1"/>
          <p:nvPr/>
        </p:nvSpPr>
        <p:spPr>
          <a:xfrm>
            <a:off x="8029346" y="7744054"/>
            <a:ext cx="26481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Ahorro</a:t>
            </a:r>
            <a:endParaRPr lang="en-US" sz="3150" dirty="0"/>
          </a:p>
        </p:txBody>
      </p:sp>
      <p:sp>
        <p:nvSpPr>
          <p:cNvPr id="40" name="Text 32"/>
          <p:cNvSpPr txBox="1"/>
          <p:nvPr/>
        </p:nvSpPr>
        <p:spPr>
          <a:xfrm>
            <a:off x="8029346" y="8238744"/>
            <a:ext cx="2648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latin typeface="Inter" pitchFamily="34" charset="0"/>
                <a:ea typeface="Inter" pitchFamily="34" charset="-122"/>
                <a:cs typeface="Inter" pitchFamily="34" charset="-120"/>
              </a:rPr>
              <a:t>Tiempo de revisión</a:t>
            </a:r>
            <a:endParaRPr lang="en-US" sz="825" dirty="0"/>
          </a:p>
        </p:txBody>
      </p:sp>
      <p:sp>
        <p:nvSpPr>
          <p:cNvPr id="41" name="Text 33"/>
          <p:cNvSpPr txBox="1"/>
          <p:nvPr/>
        </p:nvSpPr>
        <p:spPr>
          <a:xfrm>
            <a:off x="8029346" y="8429854"/>
            <a:ext cx="26481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Sin escuchar grabaciones.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11030407" y="7524598"/>
            <a:ext cx="3086100" cy="1285646"/>
          </a:xfrm>
          <a:prstGeom prst="roundRect">
            <a:avLst>
              <a:gd name="adj" fmla="val 73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 txBox="1"/>
          <p:nvPr/>
        </p:nvSpPr>
        <p:spPr>
          <a:xfrm>
            <a:off x="11248949" y="7744054"/>
            <a:ext cx="26481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3150" dirty="0"/>
          </a:p>
        </p:txBody>
      </p:sp>
      <p:sp>
        <p:nvSpPr>
          <p:cNvPr id="44" name="Text 36"/>
          <p:cNvSpPr txBox="1"/>
          <p:nvPr/>
        </p:nvSpPr>
        <p:spPr>
          <a:xfrm>
            <a:off x="11248949" y="8238744"/>
            <a:ext cx="2648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latin typeface="Inter" pitchFamily="34" charset="0"/>
                <a:ea typeface="Inter" pitchFamily="34" charset="-122"/>
                <a:cs typeface="Inter" pitchFamily="34" charset="-120"/>
              </a:rPr>
              <a:t>Detección homogénea</a:t>
            </a:r>
            <a:endParaRPr lang="en-US" sz="825" dirty="0"/>
          </a:p>
        </p:txBody>
      </p:sp>
      <p:sp>
        <p:nvSpPr>
          <p:cNvPr id="45" name="Text 37"/>
          <p:cNvSpPr txBox="1"/>
          <p:nvPr/>
        </p:nvSpPr>
        <p:spPr>
          <a:xfrm>
            <a:off x="11248949" y="8429854"/>
            <a:ext cx="26481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Mismos criterios por operador.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14249095" y="7524598"/>
            <a:ext cx="3086100" cy="1285646"/>
          </a:xfrm>
          <a:prstGeom prst="roundRect">
            <a:avLst>
              <a:gd name="adj" fmla="val 739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 txBox="1"/>
          <p:nvPr/>
        </p:nvSpPr>
        <p:spPr>
          <a:xfrm>
            <a:off x="14459407" y="7733995"/>
            <a:ext cx="266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150" dirty="0"/>
          </a:p>
        </p:txBody>
      </p:sp>
      <p:sp>
        <p:nvSpPr>
          <p:cNvPr id="48" name="Text 40"/>
          <p:cNvSpPr txBox="1"/>
          <p:nvPr/>
        </p:nvSpPr>
        <p:spPr>
          <a:xfrm>
            <a:off x="14459407" y="8229600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</a:t>
            </a:r>
            <a:endParaRPr lang="en-US" sz="825" dirty="0"/>
          </a:p>
        </p:txBody>
      </p:sp>
      <p:sp>
        <p:nvSpPr>
          <p:cNvPr id="49" name="Text 41"/>
          <p:cNvSpPr txBox="1"/>
          <p:nvPr/>
        </p:nvSpPr>
        <p:spPr>
          <a:xfrm>
            <a:off x="14459407" y="8419795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corte marcado, registrado.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7810805" y="9396374"/>
            <a:ext cx="113385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INTEGRACIONES</a:t>
            </a:r>
            <a:endParaRPr lang="en-US" sz="800" dirty="0"/>
          </a:p>
        </p:txBody>
      </p:sp>
      <p:sp>
        <p:nvSpPr>
          <p:cNvPr id="51" name="Shape 43"/>
          <p:cNvSpPr/>
          <p:nvPr/>
        </p:nvSpPr>
        <p:spPr>
          <a:xfrm>
            <a:off x="9076334" y="9315907"/>
            <a:ext cx="1505102" cy="27614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9076334" y="9315907"/>
            <a:ext cx="150510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de grabación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10657332" y="9315907"/>
            <a:ext cx="552298" cy="27614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/>
          <p:nvPr/>
        </p:nvSpPr>
        <p:spPr>
          <a:xfrm>
            <a:off x="10657332" y="9315907"/>
            <a:ext cx="55321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11277295" y="9315907"/>
            <a:ext cx="552298" cy="27614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11277295" y="9315907"/>
            <a:ext cx="55321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11899087" y="9315907"/>
            <a:ext cx="1190549" cy="27614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/>
          <p:cNvSpPr/>
          <p:nvPr/>
        </p:nvSpPr>
        <p:spPr>
          <a:xfrm>
            <a:off x="11899087" y="9315907"/>
            <a:ext cx="1191463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audio</a:t>
            </a:r>
            <a:endParaRPr lang="en-US" sz="900" dirty="0"/>
          </a:p>
        </p:txBody>
      </p:sp>
      <p:pic>
        <p:nvPicPr>
          <p:cNvPr id="62" name="Image 5" descr="preencoded.png">
            <a:extLst>
              <a:ext uri="{FF2B5EF4-FFF2-40B4-BE49-F238E27FC236}">
                <a16:creationId xmlns:a16="http://schemas.microsoft.com/office/drawing/2014/main" id="{ABB2AEA8-F5A4-CBD8-F129-DF25C0E248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30" b="430"/>
          <a:stretch/>
        </p:blipFill>
        <p:spPr>
          <a:xfrm>
            <a:off x="13508030" y="1341106"/>
            <a:ext cx="1182205" cy="82043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>
            <a:extLst>
              <a:ext uri="{FF2B5EF4-FFF2-40B4-BE49-F238E27FC236}">
                <a16:creationId xmlns:a16="http://schemas.microsoft.com/office/drawing/2014/main" id="{E7C97D71-CADA-8584-4CA5-5D3F617BDE51}"/>
              </a:ext>
            </a:extLst>
          </p:cNvPr>
          <p:cNvSpPr/>
          <p:nvPr/>
        </p:nvSpPr>
        <p:spPr>
          <a:xfrm>
            <a:off x="1001486" y="8226856"/>
            <a:ext cx="6183085" cy="1069239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gen-dedup-0025fc874547e34227dc54edf45cff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207" y="1904695"/>
            <a:ext cx="5429707" cy="3619195"/>
          </a:xfrm>
          <a:prstGeom prst="rect">
            <a:avLst/>
          </a:prstGeom>
        </p:spPr>
      </p:pic>
      <p:pic>
        <p:nvPicPr>
          <p:cNvPr id="5" name="Image 2" descr="gen-dedup-ab4aa29a42dd0bade622a242d9a8b477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11716207" y="1904695"/>
            <a:ext cx="5429707" cy="3619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11906402" y="4953305"/>
            <a:ext cx="5143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STEP hasta estimación</a:t>
            </a:r>
            <a:endParaRPr lang="en-US" sz="825" dirty="0"/>
          </a:p>
        </p:txBody>
      </p:sp>
      <p:pic>
        <p:nvPicPr>
          <p:cNvPr id="8" name="Image 4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pic>
        <p:nvPicPr>
          <p:cNvPr id="9" name="Image 5" descr="gen-dedup-1473232738e87a88a640e54005ce6f59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1904695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2" name="Shape 4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350" dirty="0"/>
          </a:p>
        </p:txBody>
      </p:sp>
      <p:sp>
        <p:nvSpPr>
          <p:cNvPr id="14" name="Shape 6"/>
          <p:cNvSpPr/>
          <p:nvPr/>
        </p:nvSpPr>
        <p:spPr>
          <a:xfrm>
            <a:off x="1714500" y="1938528"/>
            <a:ext cx="3924605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7"/>
          <p:cNvSpPr/>
          <p:nvPr/>
        </p:nvSpPr>
        <p:spPr>
          <a:xfrm>
            <a:off x="1714500" y="1938528"/>
            <a:ext cx="3924605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PROMEGA · Fabricación industrial</a:t>
            </a:r>
            <a:endParaRPr lang="en-US" sz="105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2933395"/>
            <a:ext cx="10287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Estimación de tiempos de fabricación desde CAD</a:t>
            </a:r>
            <a:endParaRPr lang="en-US" sz="1125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3372307"/>
            <a:ext cx="10287000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3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Predice el tiempo de fabricación </a:t>
            </a:r>
            <a:r>
              <a:rPr lang="en-US" sz="4500" b="1" kern="0" spc="-13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directamente desde STEP.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4817003"/>
            <a:ext cx="10287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piezas CAD en formato STEP, extrae geometría y rasgos relevantes, y aprovecha datos históricos y patrones previos de producción. Cada estimación sale como una predicción estructurada por operación — precisa, explicable y consistente.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1143000" y="5952744"/>
            <a:ext cx="3343046" cy="875995"/>
          </a:xfrm>
          <a:prstGeom prst="roundRect">
            <a:avLst>
              <a:gd name="adj" fmla="val 1085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2"/>
          <p:cNvSpPr txBox="1"/>
          <p:nvPr/>
        </p:nvSpPr>
        <p:spPr>
          <a:xfrm>
            <a:off x="1333195" y="6124651"/>
            <a:ext cx="296265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rápido</a:t>
            </a:r>
            <a:endParaRPr lang="en-US" sz="2550" dirty="0"/>
          </a:p>
        </p:txBody>
      </p:sp>
      <p:sp>
        <p:nvSpPr>
          <p:cNvPr id="21" name="Text 13"/>
          <p:cNvSpPr txBox="1"/>
          <p:nvPr/>
        </p:nvSpPr>
        <p:spPr>
          <a:xfrm>
            <a:off x="1333195" y="6524244"/>
            <a:ext cx="29626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de estimaciones</a:t>
            </a:r>
            <a:endParaRPr lang="en-US" sz="825" dirty="0"/>
          </a:p>
        </p:txBody>
      </p:sp>
      <p:sp>
        <p:nvSpPr>
          <p:cNvPr id="22" name="Shape 14"/>
          <p:cNvSpPr/>
          <p:nvPr/>
        </p:nvSpPr>
        <p:spPr>
          <a:xfrm>
            <a:off x="4616806" y="5952744"/>
            <a:ext cx="3343046" cy="875995"/>
          </a:xfrm>
          <a:prstGeom prst="roundRect">
            <a:avLst>
              <a:gd name="adj" fmla="val 1085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 txBox="1"/>
          <p:nvPr/>
        </p:nvSpPr>
        <p:spPr>
          <a:xfrm>
            <a:off x="4807001" y="6124651"/>
            <a:ext cx="296265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↑</a:t>
            </a:r>
            <a:endParaRPr lang="en-US" sz="2550" dirty="0"/>
          </a:p>
        </p:txBody>
      </p:sp>
      <p:sp>
        <p:nvSpPr>
          <p:cNvPr id="24" name="Text 16"/>
          <p:cNvSpPr txBox="1"/>
          <p:nvPr/>
        </p:nvSpPr>
        <p:spPr>
          <a:xfrm>
            <a:off x="4807001" y="6524244"/>
            <a:ext cx="29626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acierto</a:t>
            </a:r>
            <a:endParaRPr lang="en-US" sz="825" dirty="0"/>
          </a:p>
        </p:txBody>
      </p:sp>
      <p:sp>
        <p:nvSpPr>
          <p:cNvPr id="25" name="Shape 17"/>
          <p:cNvSpPr/>
          <p:nvPr/>
        </p:nvSpPr>
        <p:spPr>
          <a:xfrm>
            <a:off x="8089697" y="5952744"/>
            <a:ext cx="3343046" cy="875995"/>
          </a:xfrm>
          <a:prstGeom prst="roundRect">
            <a:avLst>
              <a:gd name="adj" fmla="val 10856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 txBox="1"/>
          <p:nvPr/>
        </p:nvSpPr>
        <p:spPr>
          <a:xfrm>
            <a:off x="8280806" y="6124651"/>
            <a:ext cx="296265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Autonomía</a:t>
            </a:r>
            <a:endParaRPr lang="en-US" sz="2550" dirty="0"/>
          </a:p>
        </p:txBody>
      </p:sp>
      <p:sp>
        <p:nvSpPr>
          <p:cNvPr id="27" name="Text 19"/>
          <p:cNvSpPr txBox="1"/>
          <p:nvPr/>
        </p:nvSpPr>
        <p:spPr>
          <a:xfrm>
            <a:off x="8280806" y="6524244"/>
            <a:ext cx="29626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dependencia del experto</a:t>
            </a:r>
            <a:endParaRPr lang="en-US" sz="825" dirty="0"/>
          </a:p>
        </p:txBody>
      </p:sp>
      <p:sp>
        <p:nvSpPr>
          <p:cNvPr id="28" name="Text 20"/>
          <p:cNvSpPr txBox="1"/>
          <p:nvPr/>
        </p:nvSpPr>
        <p:spPr>
          <a:xfrm>
            <a:off x="1143000" y="7239305"/>
            <a:ext cx="10287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9" name="Shape 21"/>
          <p:cNvSpPr/>
          <p:nvPr/>
        </p:nvSpPr>
        <p:spPr>
          <a:xfrm>
            <a:off x="1143000" y="7505395"/>
            <a:ext cx="2476195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1304849" y="7629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1304849" y="7629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1781251" y="7649870"/>
            <a:ext cx="1677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125" dirty="0"/>
          </a:p>
        </p:txBody>
      </p:sp>
      <p:sp>
        <p:nvSpPr>
          <p:cNvPr id="33" name="Text 25"/>
          <p:cNvSpPr txBox="1"/>
          <p:nvPr/>
        </p:nvSpPr>
        <p:spPr>
          <a:xfrm>
            <a:off x="1781251" y="7835494"/>
            <a:ext cx="199522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sobre operaciones históricas</a:t>
            </a:r>
            <a:endParaRPr lang="en-US" sz="825" dirty="0"/>
          </a:p>
        </p:txBody>
      </p:sp>
      <p:sp>
        <p:nvSpPr>
          <p:cNvPr id="34" name="Shape 26"/>
          <p:cNvSpPr/>
          <p:nvPr/>
        </p:nvSpPr>
        <p:spPr>
          <a:xfrm>
            <a:off x="3733495" y="7505395"/>
            <a:ext cx="2286000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3895344" y="7629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3895344" y="7629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4371746" y="7649870"/>
            <a:ext cx="10954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125" dirty="0"/>
          </a:p>
        </p:txBody>
      </p:sp>
      <p:sp>
        <p:nvSpPr>
          <p:cNvPr id="38" name="Text 30"/>
          <p:cNvSpPr txBox="1"/>
          <p:nvPr/>
        </p:nvSpPr>
        <p:spPr>
          <a:xfrm>
            <a:off x="4371746" y="7835494"/>
            <a:ext cx="130393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Alimenta cotizaciones</a:t>
            </a:r>
            <a:endParaRPr lang="en-US" sz="825" dirty="0"/>
          </a:p>
        </p:txBody>
      </p:sp>
      <p:sp>
        <p:nvSpPr>
          <p:cNvPr id="39" name="Shape 31"/>
          <p:cNvSpPr/>
          <p:nvPr/>
        </p:nvSpPr>
        <p:spPr>
          <a:xfrm>
            <a:off x="6133795" y="7505395"/>
            <a:ext cx="2286000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6295644" y="7629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 txBox="1"/>
          <p:nvPr/>
        </p:nvSpPr>
        <p:spPr>
          <a:xfrm>
            <a:off x="6295644" y="7629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050" dirty="0"/>
          </a:p>
        </p:txBody>
      </p:sp>
      <p:sp>
        <p:nvSpPr>
          <p:cNvPr id="42" name="Text 34"/>
          <p:cNvSpPr txBox="1"/>
          <p:nvPr/>
        </p:nvSpPr>
        <p:spPr>
          <a:xfrm>
            <a:off x="6772046" y="7649870"/>
            <a:ext cx="12765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125" dirty="0"/>
          </a:p>
        </p:txBody>
      </p:sp>
      <p:sp>
        <p:nvSpPr>
          <p:cNvPr id="43" name="Text 35"/>
          <p:cNvSpPr txBox="1"/>
          <p:nvPr/>
        </p:nvSpPr>
        <p:spPr>
          <a:xfrm>
            <a:off x="6772046" y="7835494"/>
            <a:ext cx="151973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Planificación downstream</a:t>
            </a:r>
            <a:endParaRPr lang="en-US" sz="825" dirty="0"/>
          </a:p>
        </p:txBody>
      </p:sp>
      <p:sp>
        <p:nvSpPr>
          <p:cNvPr id="44" name="Text 36"/>
          <p:cNvSpPr txBox="1"/>
          <p:nvPr/>
        </p:nvSpPr>
        <p:spPr>
          <a:xfrm>
            <a:off x="1143000" y="8382305"/>
            <a:ext cx="10478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 a</a:t>
            </a:r>
            <a:endParaRPr lang="en-US" sz="825" dirty="0"/>
          </a:p>
        </p:txBody>
      </p:sp>
      <p:sp>
        <p:nvSpPr>
          <p:cNvPr id="45" name="Shape 37"/>
          <p:cNvSpPr/>
          <p:nvPr/>
        </p:nvSpPr>
        <p:spPr>
          <a:xfrm>
            <a:off x="1143000" y="8648395"/>
            <a:ext cx="1571854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1143000" y="8648395"/>
            <a:ext cx="15718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Archivos STEP (.step)</a:t>
            </a:r>
            <a:endParaRPr lang="en-US" sz="975" dirty="0"/>
          </a:p>
        </p:txBody>
      </p:sp>
      <p:sp>
        <p:nvSpPr>
          <p:cNvPr id="47" name="Shape 39"/>
          <p:cNvSpPr/>
          <p:nvPr/>
        </p:nvSpPr>
        <p:spPr>
          <a:xfrm>
            <a:off x="2805379" y="8648395"/>
            <a:ext cx="1705356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2805379" y="8648395"/>
            <a:ext cx="1705356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fabricación</a:t>
            </a:r>
            <a:endParaRPr lang="en-US" sz="975" dirty="0"/>
          </a:p>
        </p:txBody>
      </p:sp>
      <p:sp>
        <p:nvSpPr>
          <p:cNvPr id="49" name="Shape 41"/>
          <p:cNvSpPr/>
          <p:nvPr/>
        </p:nvSpPr>
        <p:spPr>
          <a:xfrm>
            <a:off x="4597603" y="8648395"/>
            <a:ext cx="923544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4597603" y="8648395"/>
            <a:ext cx="9244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&amp; MES</a:t>
            </a:r>
            <a:endParaRPr lang="en-US" sz="975" dirty="0"/>
          </a:p>
        </p:txBody>
      </p:sp>
      <p:sp>
        <p:nvSpPr>
          <p:cNvPr id="51" name="Shape 43"/>
          <p:cNvSpPr/>
          <p:nvPr/>
        </p:nvSpPr>
        <p:spPr>
          <a:xfrm>
            <a:off x="5609844" y="8648395"/>
            <a:ext cx="1324051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5609844" y="8648395"/>
            <a:ext cx="13240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Repositorios CAD</a:t>
            </a:r>
            <a:endParaRPr lang="en-US" sz="975" dirty="0"/>
          </a:p>
        </p:txBody>
      </p:sp>
      <p:sp>
        <p:nvSpPr>
          <p:cNvPr id="53" name="Text 45"/>
          <p:cNvSpPr txBox="1"/>
          <p:nvPr/>
        </p:nvSpPr>
        <p:spPr>
          <a:xfrm>
            <a:off x="1143000" y="10039198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Real autonomy, real deployments</a:t>
            </a:r>
            <a:endParaRPr lang="en-US" sz="975" dirty="0"/>
          </a:p>
        </p:txBody>
      </p:sp>
      <p:sp>
        <p:nvSpPr>
          <p:cNvPr id="54" name="Text 46"/>
          <p:cNvSpPr txBox="1"/>
          <p:nvPr/>
        </p:nvSpPr>
        <p:spPr>
          <a:xfrm>
            <a:off x="14287500" y="10039198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Cotización CAD-driven · España</a:t>
            </a:r>
            <a:endParaRPr lang="en-US" sz="975" dirty="0"/>
          </a:p>
        </p:txBody>
      </p:sp>
      <p:pic>
        <p:nvPicPr>
          <p:cNvPr id="58" name="Imagen 10" descr="Datei:Promega-Logo.svg – Wikipedia">
            <a:extLst>
              <a:ext uri="{FF2B5EF4-FFF2-40B4-BE49-F238E27FC236}">
                <a16:creationId xmlns:a16="http://schemas.microsoft.com/office/drawing/2014/main" id="{0FAECD2C-A73A-63BA-5500-99B36A7ED2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981" y="1664185"/>
            <a:ext cx="1276501" cy="78883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1904695"/>
            <a:ext cx="8572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endParaRPr lang="en-US" sz="1350" dirty="0"/>
          </a:p>
        </p:txBody>
      </p:sp>
      <p:sp>
        <p:nvSpPr>
          <p:cNvPr id="11" name="Shape 5"/>
          <p:cNvSpPr/>
          <p:nvPr/>
        </p:nvSpPr>
        <p:spPr>
          <a:xfrm>
            <a:off x="1714500" y="1938528"/>
            <a:ext cx="4038905" cy="37124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/>
          <p:nvPr/>
        </p:nvSpPr>
        <p:spPr>
          <a:xfrm>
            <a:off x="1714500" y="1938528"/>
            <a:ext cx="4038905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UCALSA · Producción data-driven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2933395"/>
            <a:ext cx="12192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Planificación inteligente de producción</a:t>
            </a:r>
            <a:endParaRPr lang="en-US" sz="1125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3372307"/>
            <a:ext cx="13335610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Planes que aguantan, </a:t>
            </a:r>
            <a:r>
              <a:rPr lang="en-US" sz="4800" b="1" kern="0" spc="-14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incluso cuando todo cambia.</a:t>
            </a:r>
            <a:endParaRPr lang="en-US" sz="48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4780026"/>
            <a:ext cx="12192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Estima tiempos de producción desde el histórico del ERP, construye automáticamente planes viables respetando capacidades y restricciones, y simula escenarios ante pedidos urgentes o cambios de recursos — minimizando Excel, maximizando decisiones.</a:t>
            </a:r>
            <a:endParaRPr lang="en-US" sz="1425" dirty="0"/>
          </a:p>
        </p:txBody>
      </p:sp>
      <p:sp>
        <p:nvSpPr>
          <p:cNvPr id="16" name="Shape 10"/>
          <p:cNvSpPr/>
          <p:nvPr/>
        </p:nvSpPr>
        <p:spPr>
          <a:xfrm>
            <a:off x="1143000" y="5810098"/>
            <a:ext cx="5248656" cy="1133856"/>
          </a:xfrm>
          <a:prstGeom prst="roundRect">
            <a:avLst>
              <a:gd name="adj" fmla="val 838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1362456" y="6029554"/>
            <a:ext cx="4810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01</a:t>
            </a:r>
            <a:endParaRPr lang="en-US" sz="825" dirty="0"/>
          </a:p>
        </p:txBody>
      </p:sp>
      <p:sp>
        <p:nvSpPr>
          <p:cNvPr id="18" name="Text 12"/>
          <p:cNvSpPr txBox="1"/>
          <p:nvPr/>
        </p:nvSpPr>
        <p:spPr>
          <a:xfrm>
            <a:off x="1362456" y="6219749"/>
            <a:ext cx="481065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Estimación de tiempos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1362456" y="6537046"/>
            <a:ext cx="48106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latin typeface="Inter" pitchFamily="34" charset="0"/>
                <a:ea typeface="Inter" pitchFamily="34" charset="-122"/>
                <a:cs typeface="Inter" pitchFamily="34" charset="-120"/>
              </a:rPr>
              <a:t>Aprende del histórico del ERP.</a:t>
            </a:r>
            <a:endParaRPr lang="en-US" sz="975" dirty="0"/>
          </a:p>
        </p:txBody>
      </p:sp>
      <p:sp>
        <p:nvSpPr>
          <p:cNvPr id="20" name="Shape 14"/>
          <p:cNvSpPr/>
          <p:nvPr/>
        </p:nvSpPr>
        <p:spPr>
          <a:xfrm>
            <a:off x="6521501" y="5810098"/>
            <a:ext cx="5248656" cy="1133856"/>
          </a:xfrm>
          <a:prstGeom prst="roundRect">
            <a:avLst>
              <a:gd name="adj" fmla="val 838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6740042" y="6029554"/>
            <a:ext cx="4810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02</a:t>
            </a:r>
            <a:endParaRPr lang="en-US" sz="825" dirty="0"/>
          </a:p>
        </p:txBody>
      </p:sp>
      <p:sp>
        <p:nvSpPr>
          <p:cNvPr id="22" name="Text 16"/>
          <p:cNvSpPr txBox="1"/>
          <p:nvPr/>
        </p:nvSpPr>
        <p:spPr>
          <a:xfrm>
            <a:off x="6740042" y="6219749"/>
            <a:ext cx="481065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Planificación automática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740042" y="6537046"/>
            <a:ext cx="48106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latin typeface="Inter" pitchFamily="34" charset="0"/>
                <a:ea typeface="Inter" pitchFamily="34" charset="-122"/>
                <a:cs typeface="Inter" pitchFamily="34" charset="-120"/>
              </a:rPr>
              <a:t>Planes viables, capacidades y restricciones.</a:t>
            </a:r>
            <a:endParaRPr lang="en-US" sz="975" dirty="0"/>
          </a:p>
        </p:txBody>
      </p:sp>
      <p:sp>
        <p:nvSpPr>
          <p:cNvPr id="24" name="Shape 18"/>
          <p:cNvSpPr/>
          <p:nvPr/>
        </p:nvSpPr>
        <p:spPr>
          <a:xfrm>
            <a:off x="11900002" y="5810098"/>
            <a:ext cx="5248656" cy="1133856"/>
          </a:xfrm>
          <a:prstGeom prst="roundRect">
            <a:avLst>
              <a:gd name="adj" fmla="val 838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12118543" y="6029554"/>
            <a:ext cx="4810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03</a:t>
            </a:r>
            <a:endParaRPr lang="en-US" sz="825" dirty="0"/>
          </a:p>
        </p:txBody>
      </p:sp>
      <p:sp>
        <p:nvSpPr>
          <p:cNvPr id="26" name="Text 20"/>
          <p:cNvSpPr txBox="1"/>
          <p:nvPr/>
        </p:nvSpPr>
        <p:spPr>
          <a:xfrm>
            <a:off x="12118543" y="6219749"/>
            <a:ext cx="481065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Simulación de escenarios</a:t>
            </a:r>
            <a:endParaRPr lang="en-US" sz="1650" dirty="0"/>
          </a:p>
        </p:txBody>
      </p:sp>
      <p:sp>
        <p:nvSpPr>
          <p:cNvPr id="27" name="Text 21"/>
          <p:cNvSpPr txBox="1"/>
          <p:nvPr/>
        </p:nvSpPr>
        <p:spPr>
          <a:xfrm>
            <a:off x="12118543" y="6537046"/>
            <a:ext cx="48106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latin typeface="Inter" pitchFamily="34" charset="0"/>
                <a:ea typeface="Inter" pitchFamily="34" charset="-122"/>
                <a:cs typeface="Inter" pitchFamily="34" charset="-120"/>
              </a:rPr>
              <a:t>Urgencias, cambios, restricciones.</a:t>
            </a:r>
            <a:endParaRPr lang="en-US" sz="975" dirty="0"/>
          </a:p>
        </p:txBody>
      </p:sp>
      <p:sp>
        <p:nvSpPr>
          <p:cNvPr id="28" name="Text 22"/>
          <p:cNvSpPr txBox="1"/>
          <p:nvPr/>
        </p:nvSpPr>
        <p:spPr>
          <a:xfrm>
            <a:off x="1143000" y="7619695"/>
            <a:ext cx="1600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9" name="Shape 23"/>
          <p:cNvSpPr/>
          <p:nvPr/>
        </p:nvSpPr>
        <p:spPr>
          <a:xfrm>
            <a:off x="1143000" y="7886700"/>
            <a:ext cx="2286000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304849" y="801014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1304849" y="801014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1781251" y="8030261"/>
            <a:ext cx="11622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125" dirty="0"/>
          </a:p>
        </p:txBody>
      </p:sp>
      <p:sp>
        <p:nvSpPr>
          <p:cNvPr id="33" name="Text 27"/>
          <p:cNvSpPr txBox="1"/>
          <p:nvPr/>
        </p:nvSpPr>
        <p:spPr>
          <a:xfrm>
            <a:off x="1781251" y="8215884"/>
            <a:ext cx="138348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Planificación y órdenes</a:t>
            </a:r>
            <a:endParaRPr lang="en-US" sz="825" dirty="0"/>
          </a:p>
        </p:txBody>
      </p:sp>
      <p:sp>
        <p:nvSpPr>
          <p:cNvPr id="34" name="Shape 28"/>
          <p:cNvSpPr/>
          <p:nvPr/>
        </p:nvSpPr>
        <p:spPr>
          <a:xfrm>
            <a:off x="3543300" y="7886700"/>
            <a:ext cx="2286000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3705149" y="801014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3705149" y="801014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4181551" y="8030261"/>
            <a:ext cx="12198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125" dirty="0"/>
          </a:p>
        </p:txBody>
      </p:sp>
      <p:sp>
        <p:nvSpPr>
          <p:cNvPr id="38" name="Text 32"/>
          <p:cNvSpPr txBox="1"/>
          <p:nvPr/>
        </p:nvSpPr>
        <p:spPr>
          <a:xfrm>
            <a:off x="4181551" y="8215884"/>
            <a:ext cx="145115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Biblioteca de escenarios</a:t>
            </a:r>
            <a:endParaRPr lang="en-US" sz="825" dirty="0"/>
          </a:p>
        </p:txBody>
      </p:sp>
      <p:sp>
        <p:nvSpPr>
          <p:cNvPr id="39" name="Shape 33"/>
          <p:cNvSpPr/>
          <p:nvPr/>
        </p:nvSpPr>
        <p:spPr>
          <a:xfrm>
            <a:off x="5943600" y="7886700"/>
            <a:ext cx="2286000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6105449" y="801014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6105449" y="801014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6581851" y="8030261"/>
            <a:ext cx="9052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125" dirty="0"/>
          </a:p>
        </p:txBody>
      </p:sp>
      <p:sp>
        <p:nvSpPr>
          <p:cNvPr id="43" name="Text 37"/>
          <p:cNvSpPr txBox="1"/>
          <p:nvPr/>
        </p:nvSpPr>
        <p:spPr>
          <a:xfrm>
            <a:off x="6581851" y="8215884"/>
            <a:ext cx="12673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Salidas y reportes</a:t>
            </a:r>
            <a:endParaRPr lang="en-US" sz="825" dirty="0"/>
          </a:p>
        </p:txBody>
      </p:sp>
      <p:sp>
        <p:nvSpPr>
          <p:cNvPr id="44" name="Text 38"/>
          <p:cNvSpPr txBox="1"/>
          <p:nvPr/>
        </p:nvSpPr>
        <p:spPr>
          <a:xfrm>
            <a:off x="1143000" y="9424721"/>
            <a:ext cx="8961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chemeClr val="tx1">
                    <a:alpha val="5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800" dirty="0">
              <a:solidFill>
                <a:schemeClr val="tx1">
                  <a:alpha val="55000"/>
                </a:schemeClr>
              </a:solidFill>
            </a:endParaRPr>
          </a:p>
        </p:txBody>
      </p:sp>
      <p:sp>
        <p:nvSpPr>
          <p:cNvPr id="45" name="Shape 39"/>
          <p:cNvSpPr/>
          <p:nvPr/>
        </p:nvSpPr>
        <p:spPr>
          <a:xfrm>
            <a:off x="2190902" y="9353398"/>
            <a:ext cx="1410005" cy="256946"/>
          </a:xfrm>
          <a:prstGeom prst="roundRect">
            <a:avLst>
              <a:gd name="adj" fmla="val 50178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2190902" y="9353398"/>
            <a:ext cx="14100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Mejor planificación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3691433" y="9353398"/>
            <a:ext cx="1561795" cy="256946"/>
          </a:xfrm>
          <a:prstGeom prst="roundRect">
            <a:avLst>
              <a:gd name="adj" fmla="val 5017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3691433" y="9353398"/>
            <a:ext cx="156271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− Dependencia de Excel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5343754" y="9353398"/>
            <a:ext cx="972007" cy="256946"/>
          </a:xfrm>
          <a:prstGeom prst="roundRect">
            <a:avLst>
              <a:gd name="adj" fmla="val 5017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5343754" y="9353398"/>
            <a:ext cx="972007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↑ Decisiones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6406286" y="9353398"/>
            <a:ext cx="1619402" cy="256946"/>
          </a:xfrm>
          <a:prstGeom prst="roundRect">
            <a:avLst>
              <a:gd name="adj" fmla="val 5017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406286" y="9353398"/>
            <a:ext cx="16194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Mayor adherencia al plan</a:t>
            </a:r>
            <a:endParaRPr lang="en-US" sz="900" dirty="0"/>
          </a:p>
        </p:txBody>
      </p:sp>
      <p:pic>
        <p:nvPicPr>
          <p:cNvPr id="56" name="Imagen 1" descr="HOW DO WE DO IT? - Ucalsa S.A.">
            <a:extLst>
              <a:ext uri="{FF2B5EF4-FFF2-40B4-BE49-F238E27FC236}">
                <a16:creationId xmlns:a16="http://schemas.microsoft.com/office/drawing/2014/main" id="{F8BC965D-1B5A-920C-7F80-D17A1C562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571" y="1763914"/>
            <a:ext cx="2553701" cy="66977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a0322b50a319f66d46ae7c3398ddb3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39805" y="2286001"/>
            <a:ext cx="5715000" cy="51050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9805" y="2286000"/>
            <a:ext cx="5905195" cy="5333695"/>
          </a:xfrm>
          <a:prstGeom prst="roundRect">
            <a:avLst>
              <a:gd name="adj" fmla="val 142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1904695"/>
            <a:ext cx="7429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350" dirty="0"/>
          </a:p>
        </p:txBody>
      </p:sp>
      <p:sp>
        <p:nvSpPr>
          <p:cNvPr id="11" name="Shape 5"/>
          <p:cNvSpPr/>
          <p:nvPr/>
        </p:nvSpPr>
        <p:spPr>
          <a:xfrm>
            <a:off x="1714500" y="1938528"/>
            <a:ext cx="3095244" cy="37124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/>
          <p:nvPr/>
        </p:nvSpPr>
        <p:spPr>
          <a:xfrm>
            <a:off x="1714500" y="1938528"/>
            <a:ext cx="3096158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GALPI · </a:t>
            </a:r>
            <a:r>
              <a:rPr lang="en-US" sz="1050" b="1" kern="0" spc="29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Cálculo</a:t>
            </a: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50" b="1" kern="0" spc="29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tarifas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2933395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</a:t>
            </a: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25" b="1" kern="0" spc="3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inteligente</a:t>
            </a: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pricing · Odoo + ARPA</a:t>
            </a:r>
            <a:endParaRPr lang="en-US" sz="1125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3520902"/>
            <a:ext cx="9525305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Cotizaciones</a:t>
            </a:r>
            <a:r>
              <a:rPr lang="es-ES" sz="48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s-E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que</a:t>
            </a:r>
            <a:r>
              <a:rPr lang="es-ES" sz="48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s-E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se</a:t>
            </a:r>
            <a:r>
              <a:rPr lang="es-ES" sz="48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s-E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actualizan</a:t>
            </a:r>
            <a:r>
              <a:rPr lang="es-ES" sz="48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s-ES" sz="4800" b="1" kern="0" spc="-144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mientras negocias</a:t>
            </a:r>
            <a:endParaRPr lang="en-US" sz="48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216835"/>
            <a:ext cx="933511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s-E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Automatiza el cálculo de tarifas integrándose con </a:t>
            </a:r>
            <a:r>
              <a:rPr lang="es-ES" sz="1425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r>
              <a:rPr lang="es-E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 como ERP central y ARPA como motor especializado de tarifas. Elimina las hojas de cálculo manuales, garantiza la coherencia entre sistemas y recalcula las ofertas automáticamente antes de la negociación y de las revisiones financieras.</a:t>
            </a:r>
            <a:endParaRPr lang="en-US" sz="1425" dirty="0"/>
          </a:p>
        </p:txBody>
      </p:sp>
      <p:pic>
        <p:nvPicPr>
          <p:cNvPr id="16" name="Image 4" descr="gen-dedup-69a8041980f9ab4d44ef68ccdf3f8e8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430000" y="2476195"/>
            <a:ext cx="5524805" cy="49533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6537540"/>
            <a:ext cx="30294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0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−65%</a:t>
            </a:r>
            <a:endParaRPr lang="en-US" sz="360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7089837"/>
            <a:ext cx="30294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preparación de ofertas</a:t>
            </a:r>
            <a:endParaRPr lang="en-US" sz="825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7280033"/>
            <a:ext cx="30294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latin typeface="Inter" pitchFamily="34" charset="0"/>
                <a:ea typeface="Inter" pitchFamily="34" charset="-122"/>
                <a:cs typeface="Inter" pitchFamily="34" charset="-120"/>
              </a:rPr>
              <a:t>De Dias a horas</a:t>
            </a:r>
            <a:endParaRPr lang="en-US" sz="975" dirty="0"/>
          </a:p>
        </p:txBody>
      </p:sp>
      <p:sp>
        <p:nvSpPr>
          <p:cNvPr id="20" name="Text 13"/>
          <p:cNvSpPr txBox="1"/>
          <p:nvPr/>
        </p:nvSpPr>
        <p:spPr>
          <a:xfrm>
            <a:off x="4394606" y="6537540"/>
            <a:ext cx="30294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0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+9%</a:t>
            </a:r>
            <a:endParaRPr lang="en-US" sz="3600" dirty="0"/>
          </a:p>
        </p:txBody>
      </p:sp>
      <p:sp>
        <p:nvSpPr>
          <p:cNvPr id="21" name="Text 14"/>
          <p:cNvSpPr txBox="1"/>
          <p:nvPr/>
        </p:nvSpPr>
        <p:spPr>
          <a:xfrm>
            <a:off x="4394606" y="7089837"/>
            <a:ext cx="30294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Margen</a:t>
            </a: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medio</a:t>
            </a:r>
            <a:endParaRPr lang="en-US" sz="825" dirty="0"/>
          </a:p>
        </p:txBody>
      </p:sp>
      <p:sp>
        <p:nvSpPr>
          <p:cNvPr id="22" name="Text 15"/>
          <p:cNvSpPr txBox="1"/>
          <p:nvPr/>
        </p:nvSpPr>
        <p:spPr>
          <a:xfrm>
            <a:off x="4394606" y="7280033"/>
            <a:ext cx="30294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latin typeface="Inter" pitchFamily="34" charset="0"/>
                <a:ea typeface="Inter" pitchFamily="34" charset="-122"/>
                <a:cs typeface="Inter" pitchFamily="34" charset="-120"/>
              </a:rPr>
              <a:t>Smart discount engine.</a:t>
            </a:r>
            <a:endParaRPr lang="en-US" sz="975" dirty="0"/>
          </a:p>
        </p:txBody>
      </p:sp>
      <p:sp>
        <p:nvSpPr>
          <p:cNvPr id="23" name="Text 16"/>
          <p:cNvSpPr txBox="1"/>
          <p:nvPr/>
        </p:nvSpPr>
        <p:spPr>
          <a:xfrm>
            <a:off x="7645298" y="6772084"/>
            <a:ext cx="30294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Sincronización</a:t>
            </a:r>
            <a:r>
              <a:rPr lang="en-US" sz="2700" b="1" kern="0" spc="-54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700" b="1" kern="0" spc="-54" dirty="0">
                <a:latin typeface="Inter" pitchFamily="34" charset="0"/>
                <a:ea typeface="Inter" pitchFamily="34" charset="-122"/>
                <a:cs typeface="Inter" pitchFamily="34" charset="-120"/>
              </a:rPr>
              <a:t>de </a:t>
            </a:r>
            <a:r>
              <a:rPr lang="en-US" sz="2700" b="1" kern="0" spc="-5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tarifas</a:t>
            </a:r>
            <a:endParaRPr lang="en-US" sz="2700" dirty="0"/>
          </a:p>
        </p:txBody>
      </p:sp>
      <p:sp>
        <p:nvSpPr>
          <p:cNvPr id="24" name="Text 17"/>
          <p:cNvSpPr txBox="1"/>
          <p:nvPr/>
        </p:nvSpPr>
        <p:spPr>
          <a:xfrm>
            <a:off x="7645298" y="7381988"/>
            <a:ext cx="30294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latin typeface="Inter" pitchFamily="34" charset="0"/>
                <a:ea typeface="Inter" pitchFamily="34" charset="-122"/>
                <a:cs typeface="Inter" pitchFamily="34" charset="-120"/>
              </a:rPr>
              <a:t>0 % manual / 100 % </a:t>
            </a:r>
            <a:r>
              <a:rPr lang="en-US" sz="825" b="1" kern="0" spc="182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coherente</a:t>
            </a:r>
            <a:endParaRPr lang="en-US" sz="825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8382305"/>
            <a:ext cx="9525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6" name="Shape 19"/>
          <p:cNvSpPr/>
          <p:nvPr/>
        </p:nvSpPr>
        <p:spPr>
          <a:xfrm>
            <a:off x="1143000" y="8648395"/>
            <a:ext cx="2190902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1304849" y="8772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 txBox="1"/>
          <p:nvPr/>
        </p:nvSpPr>
        <p:spPr>
          <a:xfrm>
            <a:off x="1304849" y="8772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1781251" y="8792870"/>
            <a:ext cx="12481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125" dirty="0"/>
          </a:p>
        </p:txBody>
      </p:sp>
      <p:sp>
        <p:nvSpPr>
          <p:cNvPr id="30" name="Text 23"/>
          <p:cNvSpPr txBox="1"/>
          <p:nvPr/>
        </p:nvSpPr>
        <p:spPr>
          <a:xfrm>
            <a:off x="1781251" y="9021479"/>
            <a:ext cx="148498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Configuración y cálculo </a:t>
            </a:r>
          </a:p>
          <a:p>
            <a:pPr marL="0" indent="0" algn="l">
              <a:buNone/>
            </a:pPr>
            <a:r>
              <a:rPr lang="es-E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de tarifas</a:t>
            </a:r>
            <a:endParaRPr lang="en-US" sz="825" dirty="0"/>
          </a:p>
        </p:txBody>
      </p:sp>
      <p:sp>
        <p:nvSpPr>
          <p:cNvPr id="31" name="Shape 24"/>
          <p:cNvSpPr/>
          <p:nvPr/>
        </p:nvSpPr>
        <p:spPr>
          <a:xfrm>
            <a:off x="3448202" y="8648395"/>
            <a:ext cx="2190902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3610051" y="8772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3610051" y="8772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4086454" y="8792870"/>
            <a:ext cx="11338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125" dirty="0"/>
          </a:p>
        </p:txBody>
      </p:sp>
      <p:sp>
        <p:nvSpPr>
          <p:cNvPr id="35" name="Text 28"/>
          <p:cNvSpPr txBox="1"/>
          <p:nvPr/>
        </p:nvSpPr>
        <p:spPr>
          <a:xfrm>
            <a:off x="4086454" y="8978494"/>
            <a:ext cx="13496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Conexión</a:t>
            </a: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825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825" dirty="0"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5753405" y="8648395"/>
            <a:ext cx="2190902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5915254" y="8772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5915254" y="8772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6391656" y="8792870"/>
            <a:ext cx="10954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125" dirty="0"/>
          </a:p>
        </p:txBody>
      </p:sp>
      <p:sp>
        <p:nvSpPr>
          <p:cNvPr id="40" name="Text 33"/>
          <p:cNvSpPr txBox="1"/>
          <p:nvPr/>
        </p:nvSpPr>
        <p:spPr>
          <a:xfrm>
            <a:off x="6391656" y="9020556"/>
            <a:ext cx="14218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Generación de ofertas </a:t>
            </a:r>
          </a:p>
          <a:p>
            <a:pPr marL="0" indent="0" algn="l">
              <a:buNone/>
            </a:pPr>
            <a:r>
              <a:rPr lang="es-E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y documentos</a:t>
            </a:r>
            <a:endParaRPr lang="en-US" sz="825" dirty="0"/>
          </a:p>
        </p:txBody>
      </p:sp>
      <p:pic>
        <p:nvPicPr>
          <p:cNvPr id="44" name="Image 6" descr="preencoded.png">
            <a:extLst>
              <a:ext uri="{FF2B5EF4-FFF2-40B4-BE49-F238E27FC236}">
                <a16:creationId xmlns:a16="http://schemas.microsoft.com/office/drawing/2014/main" id="{1E745DA4-15B0-7A4F-2606-C9E93EB112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39454" y="1520209"/>
            <a:ext cx="899294" cy="899294"/>
          </a:xfrm>
          <a:prstGeom prst="rect">
            <a:avLst/>
          </a:prstGeom>
        </p:spPr>
      </p:pic>
      <p:pic>
        <p:nvPicPr>
          <p:cNvPr id="46" name="Image 1" descr="gen-dedup-3fc9b6bd6bd01734c54b10a0f11af3f3.png">
            <a:extLst>
              <a:ext uri="{FF2B5EF4-FFF2-40B4-BE49-F238E27FC236}">
                <a16:creationId xmlns:a16="http://schemas.microsoft.com/office/drawing/2014/main" id="{814B7361-229E-D5B1-AC30-E0E6D268E1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c92f09ff42270fcd2aeeabf0eee15f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33965" cy="10287000"/>
          </a:xfrm>
          <a:prstGeom prst="rect">
            <a:avLst/>
          </a:prstGeom>
        </p:spPr>
      </p:pic>
      <p:pic>
        <p:nvPicPr>
          <p:cNvPr id="3" name="Image 1" descr="gen-dedup-781ad57c8f6ea245fbf8cfbff4a3e77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7429500" cy="10287000"/>
          </a:xfrm>
          <a:prstGeom prst="rect">
            <a:avLst/>
          </a:prstGeom>
        </p:spPr>
      </p:pic>
      <p:pic>
        <p:nvPicPr>
          <p:cNvPr id="5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8191195" y="1904695"/>
            <a:ext cx="914400" cy="38405"/>
          </a:xfrm>
          <a:prstGeom prst="rect">
            <a:avLst/>
          </a:prstGeom>
        </p:spPr>
      </p:pic>
      <p:pic>
        <p:nvPicPr>
          <p:cNvPr id="6" name="Image 4" descr="gen-dedup-8a4746f7ae18871903d6c6f0da58ca57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571500" y="1904695"/>
            <a:ext cx="6477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5715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2"/>
          <p:cNvSpPr txBox="1"/>
          <p:nvPr/>
        </p:nvSpPr>
        <p:spPr>
          <a:xfrm>
            <a:off x="5715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350" dirty="0"/>
          </a:p>
        </p:txBody>
      </p:sp>
      <p:sp>
        <p:nvSpPr>
          <p:cNvPr id="10" name="Shape 3"/>
          <p:cNvSpPr/>
          <p:nvPr/>
        </p:nvSpPr>
        <p:spPr>
          <a:xfrm>
            <a:off x="1143000" y="1938528"/>
            <a:ext cx="3696005" cy="37124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/>
          <p:cNvSpPr/>
          <p:nvPr/>
        </p:nvSpPr>
        <p:spPr>
          <a:xfrm>
            <a:off x="1143000" y="1938528"/>
            <a:ext cx="3696005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s-ES" sz="1050" b="1" kern="0" spc="2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SIGI · Asistente CAU en tiempo real</a:t>
            </a:r>
            <a:endParaRPr lang="en-US" sz="1050" dirty="0"/>
          </a:p>
        </p:txBody>
      </p:sp>
      <p:sp>
        <p:nvSpPr>
          <p:cNvPr id="12" name="Text 5"/>
          <p:cNvSpPr txBox="1"/>
          <p:nvPr/>
        </p:nvSpPr>
        <p:spPr>
          <a:xfrm>
            <a:off x="571500" y="2667305"/>
            <a:ext cx="6667805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s-ES" sz="4500" b="1" kern="0" spc="-13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 permanente para el </a:t>
            </a:r>
            <a:r>
              <a:rPr lang="es-ES" sz="4500" b="1" kern="0" spc="-135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personal clínico</a:t>
            </a:r>
            <a:endParaRPr lang="en-US" sz="45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4324198"/>
            <a:ext cx="6667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76"/>
              </a:lnSpc>
              <a:buNone/>
            </a:pPr>
            <a:r>
              <a:rPr lang="es-ES" sz="1275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Llamadas de voz en tiempo real, procesamiento efímero — sin almacenamiento de audio — y creación estructurada de incidencias directamente en SIGI/CAU </a:t>
            </a:r>
            <a:r>
              <a:rPr lang="es-ES" sz="1275" dirty="0" err="1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Plexus</a:t>
            </a:r>
            <a:r>
              <a:rPr lang="es-ES" sz="1275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75" dirty="0"/>
          </a:p>
        </p:txBody>
      </p:sp>
      <p:sp>
        <p:nvSpPr>
          <p:cNvPr id="14" name="Text 7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975" dirty="0"/>
          </a:p>
        </p:txBody>
      </p:sp>
      <p:sp>
        <p:nvSpPr>
          <p:cNvPr id="15" name="Text 8"/>
          <p:cNvSpPr txBox="1"/>
          <p:nvPr/>
        </p:nvSpPr>
        <p:spPr>
          <a:xfrm>
            <a:off x="8191195" y="2171700"/>
            <a:ext cx="8953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 Álvaro Cunqueiro · SERGAS</a:t>
            </a:r>
            <a:endParaRPr lang="en-US" sz="825" dirty="0"/>
          </a:p>
        </p:txBody>
      </p:sp>
      <p:sp>
        <p:nvSpPr>
          <p:cNvPr id="16" name="Text 9"/>
          <p:cNvSpPr txBox="1"/>
          <p:nvPr/>
        </p:nvSpPr>
        <p:spPr>
          <a:xfrm>
            <a:off x="8191195" y="2476195"/>
            <a:ext cx="976853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3450" b="1" kern="0" spc="-10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en tiempo real de </a:t>
            </a:r>
            <a:r>
              <a:rPr lang="es-ES" sz="3450" b="1" kern="0" spc="-103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llamadas clínicas.</a:t>
            </a:r>
          </a:p>
        </p:txBody>
      </p:sp>
      <p:sp>
        <p:nvSpPr>
          <p:cNvPr id="17" name="Text 10"/>
          <p:cNvSpPr txBox="1"/>
          <p:nvPr/>
        </p:nvSpPr>
        <p:spPr>
          <a:xfrm>
            <a:off x="8191195" y="3562502"/>
            <a:ext cx="8953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s-E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soporte al CAU hospitalario (SIGI) mediante análisis de voz en tiempo real, extracción automática de información relevante para la incidencia e integración directa vía API con </a:t>
            </a:r>
            <a:r>
              <a:rPr lang="es-ES" sz="1350" dirty="0" err="1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Plexus</a:t>
            </a:r>
            <a:r>
              <a:rPr lang="es-E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Privacidad desde el diseño: procesamiento efímero, sin almacenamiento de audio y conforme al RGPD.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8191195" y="4953305"/>
            <a:ext cx="8953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HACE</a:t>
            </a:r>
            <a:endParaRPr lang="en-US" sz="825" dirty="0"/>
          </a:p>
        </p:txBody>
      </p:sp>
      <p:sp>
        <p:nvSpPr>
          <p:cNvPr id="19" name="Shape 12"/>
          <p:cNvSpPr/>
          <p:nvPr/>
        </p:nvSpPr>
        <p:spPr>
          <a:xfrm>
            <a:off x="8191195" y="5219395"/>
            <a:ext cx="4410151" cy="694944"/>
          </a:xfrm>
          <a:prstGeom prst="roundRect">
            <a:avLst>
              <a:gd name="adj" fmla="val 10921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 txBox="1"/>
          <p:nvPr/>
        </p:nvSpPr>
        <p:spPr>
          <a:xfrm>
            <a:off x="8372246" y="5362956"/>
            <a:ext cx="40489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voz en tiempo real</a:t>
            </a:r>
            <a:endParaRPr lang="en-US" sz="1275" dirty="0"/>
          </a:p>
        </p:txBody>
      </p:sp>
      <p:sp>
        <p:nvSpPr>
          <p:cNvPr id="21" name="Text 14"/>
          <p:cNvSpPr txBox="1"/>
          <p:nvPr/>
        </p:nvSpPr>
        <p:spPr>
          <a:xfrm>
            <a:off x="8372246" y="5591556"/>
            <a:ext cx="442386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usuarios y operadores, estructurado y sin almacenar audio.</a:t>
            </a:r>
            <a:endParaRPr lang="en-US" sz="975" dirty="0"/>
          </a:p>
        </p:txBody>
      </p:sp>
      <p:sp>
        <p:nvSpPr>
          <p:cNvPr id="22" name="Shape 15"/>
          <p:cNvSpPr/>
          <p:nvPr/>
        </p:nvSpPr>
        <p:spPr>
          <a:xfrm>
            <a:off x="12734849" y="5219395"/>
            <a:ext cx="4410151" cy="694944"/>
          </a:xfrm>
          <a:prstGeom prst="roundRect">
            <a:avLst>
              <a:gd name="adj" fmla="val 10921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12915900" y="5362956"/>
            <a:ext cx="40489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Estructuración</a:t>
            </a: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</a:t>
            </a:r>
            <a:endParaRPr lang="en-US" sz="1275" dirty="0"/>
          </a:p>
        </p:txBody>
      </p:sp>
      <p:sp>
        <p:nvSpPr>
          <p:cNvPr id="24" name="Text 17"/>
          <p:cNvSpPr txBox="1"/>
          <p:nvPr/>
        </p:nvSpPr>
        <p:spPr>
          <a:xfrm>
            <a:off x="12915900" y="5591556"/>
            <a:ext cx="4048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 y estructura automáticamente el registro.</a:t>
            </a:r>
            <a:endParaRPr lang="en-US" sz="975" dirty="0"/>
          </a:p>
        </p:txBody>
      </p:sp>
      <p:sp>
        <p:nvSpPr>
          <p:cNvPr id="25" name="Shape 18"/>
          <p:cNvSpPr/>
          <p:nvPr/>
        </p:nvSpPr>
        <p:spPr>
          <a:xfrm>
            <a:off x="8191195" y="6040526"/>
            <a:ext cx="4410151" cy="694944"/>
          </a:xfrm>
          <a:prstGeom prst="roundRect">
            <a:avLst>
              <a:gd name="adj" fmla="val 10921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8372246" y="6183173"/>
            <a:ext cx="40489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</a:t>
            </a: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con Plexus</a:t>
            </a:r>
            <a:endParaRPr lang="en-US" sz="1275" dirty="0"/>
          </a:p>
        </p:txBody>
      </p:sp>
      <p:sp>
        <p:nvSpPr>
          <p:cNvPr id="27" name="Text 20"/>
          <p:cNvSpPr txBox="1"/>
          <p:nvPr/>
        </p:nvSpPr>
        <p:spPr>
          <a:xfrm>
            <a:off x="8372246" y="6411773"/>
            <a:ext cx="4048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Escritura directa en el CAU del hospital.</a:t>
            </a:r>
            <a:endParaRPr lang="en-US" sz="975" dirty="0"/>
          </a:p>
        </p:txBody>
      </p:sp>
      <p:sp>
        <p:nvSpPr>
          <p:cNvPr id="28" name="Shape 21"/>
          <p:cNvSpPr/>
          <p:nvPr/>
        </p:nvSpPr>
        <p:spPr>
          <a:xfrm>
            <a:off x="12734849" y="6040526"/>
            <a:ext cx="4410151" cy="694944"/>
          </a:xfrm>
          <a:prstGeom prst="roundRect">
            <a:avLst>
              <a:gd name="adj" fmla="val 10921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12915900" y="6183173"/>
            <a:ext cx="40489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Privacidad</a:t>
            </a: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</a:t>
            </a: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</a:t>
            </a: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</a:t>
            </a:r>
            <a:endParaRPr lang="en-US" sz="1275" dirty="0"/>
          </a:p>
        </p:txBody>
      </p:sp>
      <p:sp>
        <p:nvSpPr>
          <p:cNvPr id="30" name="Text 23"/>
          <p:cNvSpPr txBox="1"/>
          <p:nvPr/>
        </p:nvSpPr>
        <p:spPr>
          <a:xfrm>
            <a:off x="12915900" y="6411773"/>
            <a:ext cx="4048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 efímero, sin persistencia y 100 % privado.</a:t>
            </a:r>
            <a:endParaRPr lang="en-US" sz="975" dirty="0"/>
          </a:p>
        </p:txBody>
      </p:sp>
      <p:sp>
        <p:nvSpPr>
          <p:cNvPr id="31" name="Shape 24"/>
          <p:cNvSpPr/>
          <p:nvPr/>
        </p:nvSpPr>
        <p:spPr>
          <a:xfrm>
            <a:off x="8191195" y="7429500"/>
            <a:ext cx="2895905" cy="895198"/>
          </a:xfrm>
          <a:prstGeom prst="roundRect">
            <a:avLst>
              <a:gd name="adj" fmla="val 1062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 txBox="1"/>
          <p:nvPr/>
        </p:nvSpPr>
        <p:spPr>
          <a:xfrm>
            <a:off x="8401507" y="7601407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real</a:t>
            </a:r>
            <a:endParaRPr lang="en-US" sz="2700" dirty="0"/>
          </a:p>
        </p:txBody>
      </p:sp>
      <p:sp>
        <p:nvSpPr>
          <p:cNvPr id="33" name="Text 26"/>
          <p:cNvSpPr txBox="1"/>
          <p:nvPr/>
        </p:nvSpPr>
        <p:spPr>
          <a:xfrm>
            <a:off x="8401507" y="8020202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14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 a </a:t>
            </a:r>
            <a:r>
              <a:rPr lang="en-US" sz="825" kern="0" spc="149" dirty="0" err="1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</a:t>
            </a:r>
            <a:endParaRPr lang="en-US" sz="825" dirty="0"/>
          </a:p>
        </p:txBody>
      </p:sp>
      <p:sp>
        <p:nvSpPr>
          <p:cNvPr id="34" name="Shape 27"/>
          <p:cNvSpPr/>
          <p:nvPr/>
        </p:nvSpPr>
        <p:spPr>
          <a:xfrm>
            <a:off x="11220602" y="7429500"/>
            <a:ext cx="2895905" cy="895198"/>
          </a:xfrm>
          <a:prstGeom prst="roundRect">
            <a:avLst>
              <a:gd name="adj" fmla="val 10623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 txBox="1"/>
          <p:nvPr/>
        </p:nvSpPr>
        <p:spPr>
          <a:xfrm>
            <a:off x="11430000" y="7601407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700" dirty="0"/>
          </a:p>
        </p:txBody>
      </p:sp>
      <p:sp>
        <p:nvSpPr>
          <p:cNvPr id="36" name="Text 29"/>
          <p:cNvSpPr txBox="1"/>
          <p:nvPr/>
        </p:nvSpPr>
        <p:spPr>
          <a:xfrm>
            <a:off x="11430000" y="8020202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Privacidad</a:t>
            </a:r>
            <a:r>
              <a:rPr lang="en-US" sz="825" b="1" kern="0" spc="14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sin audio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14249095" y="7429500"/>
            <a:ext cx="2895905" cy="895198"/>
          </a:xfrm>
          <a:prstGeom prst="roundRect">
            <a:avLst>
              <a:gd name="adj" fmla="val 1062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14459407" y="7601407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</a:t>
            </a:r>
            <a:r>
              <a:rPr lang="en-US" sz="2700" b="1" kern="0" spc="-81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avanzada</a:t>
            </a:r>
            <a:endParaRPr lang="en-US" sz="2700" dirty="0"/>
          </a:p>
        </p:txBody>
      </p:sp>
      <p:sp>
        <p:nvSpPr>
          <p:cNvPr id="39" name="Text 32"/>
          <p:cNvSpPr txBox="1"/>
          <p:nvPr/>
        </p:nvSpPr>
        <p:spPr>
          <a:xfrm>
            <a:off x="14459407" y="8020202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14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environment</a:t>
            </a:r>
            <a:endParaRPr lang="en-US" sz="825" dirty="0"/>
          </a:p>
        </p:txBody>
      </p:sp>
      <p:sp>
        <p:nvSpPr>
          <p:cNvPr id="42" name="Text 35"/>
          <p:cNvSpPr txBox="1"/>
          <p:nvPr/>
        </p:nvSpPr>
        <p:spPr>
          <a:xfrm>
            <a:off x="8191195" y="8953805"/>
            <a:ext cx="8953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43" name="Shape 36"/>
          <p:cNvSpPr/>
          <p:nvPr/>
        </p:nvSpPr>
        <p:spPr>
          <a:xfrm>
            <a:off x="8191195" y="9219895"/>
            <a:ext cx="1904695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8334756" y="9325051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8334756" y="9325051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975" dirty="0"/>
          </a:p>
        </p:txBody>
      </p:sp>
      <p:sp>
        <p:nvSpPr>
          <p:cNvPr id="46" name="Text 39"/>
          <p:cNvSpPr txBox="1"/>
          <p:nvPr/>
        </p:nvSpPr>
        <p:spPr>
          <a:xfrm>
            <a:off x="8772754" y="9346997"/>
            <a:ext cx="11814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050" dirty="0"/>
          </a:p>
        </p:txBody>
      </p:sp>
      <p:sp>
        <p:nvSpPr>
          <p:cNvPr id="47" name="Text 40"/>
          <p:cNvSpPr txBox="1"/>
          <p:nvPr/>
        </p:nvSpPr>
        <p:spPr>
          <a:xfrm>
            <a:off x="8772754" y="9512503"/>
            <a:ext cx="14063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voz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10207447" y="9219895"/>
            <a:ext cx="1705356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10350094" y="9325051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10350094" y="9325051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975" dirty="0"/>
          </a:p>
        </p:txBody>
      </p:sp>
      <p:sp>
        <p:nvSpPr>
          <p:cNvPr id="51" name="Text 44"/>
          <p:cNvSpPr txBox="1"/>
          <p:nvPr/>
        </p:nvSpPr>
        <p:spPr>
          <a:xfrm>
            <a:off x="10789006" y="9346997"/>
            <a:ext cx="9811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</a:rPr>
              <a:t>C</a:t>
            </a: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</a:rPr>
              <a:t>alidad</a:t>
            </a:r>
            <a:endParaRPr lang="en-US" sz="1050" dirty="0"/>
          </a:p>
        </p:txBody>
      </p:sp>
      <p:sp>
        <p:nvSpPr>
          <p:cNvPr id="52" name="Text 45"/>
          <p:cNvSpPr txBox="1"/>
          <p:nvPr/>
        </p:nvSpPr>
        <p:spPr>
          <a:xfrm>
            <a:off x="10789006" y="9544508"/>
            <a:ext cx="116768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Clasificación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</a:p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12022531" y="9219895"/>
            <a:ext cx="1695298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7"/>
          <p:cNvSpPr/>
          <p:nvPr/>
        </p:nvSpPr>
        <p:spPr>
          <a:xfrm>
            <a:off x="12166092" y="9325051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 txBox="1"/>
          <p:nvPr/>
        </p:nvSpPr>
        <p:spPr>
          <a:xfrm>
            <a:off x="12166092" y="9325051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975" dirty="0"/>
          </a:p>
        </p:txBody>
      </p:sp>
      <p:sp>
        <p:nvSpPr>
          <p:cNvPr id="56" name="Text 49"/>
          <p:cNvSpPr txBox="1"/>
          <p:nvPr/>
        </p:nvSpPr>
        <p:spPr>
          <a:xfrm>
            <a:off x="12604090" y="9346997"/>
            <a:ext cx="9720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050" dirty="0"/>
          </a:p>
        </p:txBody>
      </p:sp>
      <p:sp>
        <p:nvSpPr>
          <p:cNvPr id="57" name="Text 50"/>
          <p:cNvSpPr txBox="1"/>
          <p:nvPr/>
        </p:nvSpPr>
        <p:spPr>
          <a:xfrm>
            <a:off x="12604090" y="9512503"/>
            <a:ext cx="12316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trabajo</a:t>
            </a:r>
            <a:endParaRPr lang="en-US" sz="800" dirty="0"/>
          </a:p>
        </p:txBody>
      </p:sp>
      <p:pic>
        <p:nvPicPr>
          <p:cNvPr id="59" name="Image 6" descr="preencoded.png">
            <a:extLst>
              <a:ext uri="{FF2B5EF4-FFF2-40B4-BE49-F238E27FC236}">
                <a16:creationId xmlns:a16="http://schemas.microsoft.com/office/drawing/2014/main" id="{7C984CCC-85CC-172D-E5BC-B4B4D87B98F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3" r="283"/>
          <a:stretch/>
        </p:blipFill>
        <p:spPr>
          <a:xfrm>
            <a:off x="15684093" y="1610314"/>
            <a:ext cx="1651102" cy="672961"/>
          </a:xfrm>
          <a:prstGeom prst="rect">
            <a:avLst/>
          </a:prstGeom>
        </p:spPr>
      </p:pic>
      <p:pic>
        <p:nvPicPr>
          <p:cNvPr id="61" name="Image 1" descr="gen-dedup-3fc9b6bd6bd01734c54b10a0f11af3f3.png">
            <a:extLst>
              <a:ext uri="{FF2B5EF4-FFF2-40B4-BE49-F238E27FC236}">
                <a16:creationId xmlns:a16="http://schemas.microsoft.com/office/drawing/2014/main" id="{15BA99EA-B3DF-1A0B-5269-7A26C7293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1618486"/>
            <a:ext cx="8001000" cy="4096514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gen-dedup-12c203fd2c8972915c4c4a7b859396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1904695"/>
            <a:ext cx="6858000" cy="3620621"/>
          </a:xfrm>
          <a:prstGeom prst="rect">
            <a:avLst/>
          </a:prstGeom>
        </p:spPr>
      </p:pic>
      <p:pic>
        <p:nvPicPr>
          <p:cNvPr id="4" name="Image 1" descr="gen-dedup-43c906d75807ec85f5be793b42c82405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10858500" y="1904695"/>
            <a:ext cx="6858000" cy="3619195"/>
          </a:xfrm>
          <a:prstGeom prst="rect">
            <a:avLst/>
          </a:prstGeom>
        </p:spPr>
      </p:pic>
      <p:pic>
        <p:nvPicPr>
          <p:cNvPr id="6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pic>
        <p:nvPicPr>
          <p:cNvPr id="7" name="Image 4" descr="gen-dedup-8a4746f7ae18871903d6c6f0da58ca57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975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1904695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0" name="Shape 3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350" dirty="0"/>
          </a:p>
        </p:txBody>
      </p:sp>
      <p:sp>
        <p:nvSpPr>
          <p:cNvPr id="12" name="Shape 5"/>
          <p:cNvSpPr/>
          <p:nvPr/>
        </p:nvSpPr>
        <p:spPr>
          <a:xfrm>
            <a:off x="1714499" y="1938528"/>
            <a:ext cx="4686301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6"/>
          <p:cNvSpPr/>
          <p:nvPr/>
        </p:nvSpPr>
        <p:spPr>
          <a:xfrm>
            <a:off x="2078431" y="1952383"/>
            <a:ext cx="3844138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 · </a:t>
            </a:r>
            <a:r>
              <a:rPr lang="en-US" sz="1050" b="1" kern="0" spc="294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</a:t>
            </a: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</a:t>
            </a:r>
            <a:r>
              <a:rPr lang="en-US" sz="1050" b="1" kern="0" spc="294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cadena</a:t>
            </a: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50" b="1" kern="0" spc="294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frío</a:t>
            </a:r>
            <a:endParaRPr lang="en-US" sz="105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2933395"/>
            <a:ext cx="9335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Digitalización de almacenes frigoríficos · 9 especialistas</a:t>
            </a:r>
            <a:endParaRPr lang="en-US" sz="1125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3372307"/>
            <a:ext cx="933511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Marisco, </a:t>
            </a:r>
            <a:r>
              <a:rPr lang="en-US" sz="4350" b="1" kern="0" spc="-130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congelado</a:t>
            </a:r>
            <a:r>
              <a:rPr lang="en-U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fresco. Sin </a:t>
            </a:r>
            <a:r>
              <a:rPr lang="en-US" sz="4350" b="1" kern="0" spc="-130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stock a </a:t>
            </a:r>
            <a:r>
              <a:rPr lang="en-US" sz="4350" b="1" kern="0" spc="-130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ciegas</a:t>
            </a:r>
            <a:endParaRPr lang="en-US" sz="435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4809294"/>
            <a:ext cx="8763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s-E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Recepción controlada por voz, lectura de etiquetas mediante visión + OCR en condiciones extremas, seguimiento de activos en interiores mediante RTLS, documentación de exportación y RAG sobre procedimientos internos, con modelos de ML para la previsión energética y de ocupación.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1143000" y="6096305"/>
            <a:ext cx="2238451" cy="875995"/>
          </a:xfrm>
          <a:prstGeom prst="roundRect">
            <a:avLst>
              <a:gd name="adj" fmla="val 1085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 txBox="1"/>
          <p:nvPr/>
        </p:nvSpPr>
        <p:spPr>
          <a:xfrm>
            <a:off x="1333195" y="6267298"/>
            <a:ext cx="18580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</a:t>
            </a:r>
            <a:endParaRPr lang="en-US" sz="255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666780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Recepción</a:t>
            </a: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25" b="1" kern="0" spc="14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</a:t>
            </a: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25" b="1" kern="0" spc="14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rápida</a:t>
            </a:r>
            <a:endParaRPr lang="en-US" sz="825" dirty="0"/>
          </a:p>
        </p:txBody>
      </p:sp>
      <p:sp>
        <p:nvSpPr>
          <p:cNvPr id="20" name="Shape 13"/>
          <p:cNvSpPr/>
          <p:nvPr/>
        </p:nvSpPr>
        <p:spPr>
          <a:xfrm>
            <a:off x="3510382" y="6096305"/>
            <a:ext cx="2238451" cy="875995"/>
          </a:xfrm>
          <a:prstGeom prst="roundRect">
            <a:avLst>
              <a:gd name="adj" fmla="val 1085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 txBox="1"/>
          <p:nvPr/>
        </p:nvSpPr>
        <p:spPr>
          <a:xfrm>
            <a:off x="3700577" y="6267298"/>
            <a:ext cx="18580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−28%</a:t>
            </a:r>
            <a:endParaRPr lang="en-US" sz="2550" dirty="0"/>
          </a:p>
        </p:txBody>
      </p:sp>
      <p:sp>
        <p:nvSpPr>
          <p:cNvPr id="22" name="Text 15"/>
          <p:cNvSpPr txBox="1"/>
          <p:nvPr/>
        </p:nvSpPr>
        <p:spPr>
          <a:xfrm>
            <a:off x="3700577" y="666780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Perdidas</a:t>
            </a: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Frio</a:t>
            </a:r>
            <a:endParaRPr lang="en-US" sz="825" dirty="0"/>
          </a:p>
        </p:txBody>
      </p:sp>
      <p:sp>
        <p:nvSpPr>
          <p:cNvPr id="23" name="Shape 16"/>
          <p:cNvSpPr/>
          <p:nvPr/>
        </p:nvSpPr>
        <p:spPr>
          <a:xfrm>
            <a:off x="5876849" y="6096305"/>
            <a:ext cx="2238451" cy="875995"/>
          </a:xfrm>
          <a:prstGeom prst="roundRect">
            <a:avLst>
              <a:gd name="adj" fmla="val 1085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 txBox="1"/>
          <p:nvPr/>
        </p:nvSpPr>
        <p:spPr>
          <a:xfrm>
            <a:off x="6067044" y="6267298"/>
            <a:ext cx="18580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</a:t>
            </a:r>
            <a:endParaRPr lang="en-US" sz="2550" dirty="0"/>
          </a:p>
        </p:txBody>
      </p:sp>
      <p:sp>
        <p:nvSpPr>
          <p:cNvPr id="25" name="Text 18"/>
          <p:cNvSpPr txBox="1"/>
          <p:nvPr/>
        </p:nvSpPr>
        <p:spPr>
          <a:xfrm>
            <a:off x="6067044" y="666780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Entradas </a:t>
            </a:r>
            <a:r>
              <a:rPr lang="en-US" sz="825" b="1" kern="0" spc="14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Manuales</a:t>
            </a:r>
            <a:endParaRPr lang="en-US" sz="825" dirty="0"/>
          </a:p>
        </p:txBody>
      </p:sp>
      <p:sp>
        <p:nvSpPr>
          <p:cNvPr id="26" name="Shape 19"/>
          <p:cNvSpPr/>
          <p:nvPr/>
        </p:nvSpPr>
        <p:spPr>
          <a:xfrm>
            <a:off x="8244230" y="6096305"/>
            <a:ext cx="2238451" cy="875995"/>
          </a:xfrm>
          <a:prstGeom prst="roundRect">
            <a:avLst>
              <a:gd name="adj" fmla="val 10856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 txBox="1"/>
          <p:nvPr/>
        </p:nvSpPr>
        <p:spPr>
          <a:xfrm>
            <a:off x="8434426" y="6267298"/>
            <a:ext cx="18580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10–20%</a:t>
            </a:r>
            <a:endParaRPr lang="en-US" sz="2550" dirty="0"/>
          </a:p>
        </p:txBody>
      </p:sp>
      <p:sp>
        <p:nvSpPr>
          <p:cNvPr id="28" name="Text 21"/>
          <p:cNvSpPr txBox="1"/>
          <p:nvPr/>
        </p:nvSpPr>
        <p:spPr>
          <a:xfrm>
            <a:off x="8434426" y="666780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Ahorro </a:t>
            </a:r>
            <a:r>
              <a:rPr lang="en-US" sz="825" b="1" kern="0" spc="149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Energético</a:t>
            </a:r>
            <a:endParaRPr lang="en-US" sz="825" dirty="0"/>
          </a:p>
        </p:txBody>
      </p:sp>
      <p:sp>
        <p:nvSpPr>
          <p:cNvPr id="29" name="Text 22"/>
          <p:cNvSpPr txBox="1"/>
          <p:nvPr/>
        </p:nvSpPr>
        <p:spPr>
          <a:xfrm>
            <a:off x="1143000" y="7524598"/>
            <a:ext cx="9335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AGENTESEN ESTE CASO</a:t>
            </a:r>
            <a:endParaRPr lang="en-US" sz="825" dirty="0"/>
          </a:p>
        </p:txBody>
      </p:sp>
      <p:sp>
        <p:nvSpPr>
          <p:cNvPr id="30" name="Shape 23"/>
          <p:cNvSpPr/>
          <p:nvPr/>
        </p:nvSpPr>
        <p:spPr>
          <a:xfrm>
            <a:off x="1143000" y="7791602"/>
            <a:ext cx="1543507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285646" y="7895844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 txBox="1"/>
          <p:nvPr/>
        </p:nvSpPr>
        <p:spPr>
          <a:xfrm>
            <a:off x="1285646" y="78958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975" dirty="0"/>
          </a:p>
        </p:txBody>
      </p:sp>
      <p:sp>
        <p:nvSpPr>
          <p:cNvPr id="33" name="Text 26"/>
          <p:cNvSpPr txBox="1"/>
          <p:nvPr/>
        </p:nvSpPr>
        <p:spPr>
          <a:xfrm>
            <a:off x="1723644" y="7917790"/>
            <a:ext cx="8193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1723644" y="8124392"/>
            <a:ext cx="109453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Recepción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manos</a:t>
            </a:r>
          </a:p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libres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2791663" y="7791602"/>
            <a:ext cx="1914754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2934310" y="7895844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 txBox="1"/>
          <p:nvPr/>
        </p:nvSpPr>
        <p:spPr>
          <a:xfrm>
            <a:off x="2934310" y="78958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975" dirty="0"/>
          </a:p>
        </p:txBody>
      </p:sp>
      <p:sp>
        <p:nvSpPr>
          <p:cNvPr id="38" name="Text 31"/>
          <p:cNvSpPr txBox="1"/>
          <p:nvPr/>
        </p:nvSpPr>
        <p:spPr>
          <a:xfrm>
            <a:off x="3372307" y="7917790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3372307" y="8124392"/>
            <a:ext cx="14173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 de </a:t>
            </a:r>
          </a:p>
          <a:p>
            <a:pPr marL="0" indent="0" algn="l">
              <a:buNone/>
            </a:pPr>
            <a:r>
              <a:rPr lang="es-E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desde email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4815230" y="7791602"/>
            <a:ext cx="2124151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4957877" y="7895844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4957877" y="78958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975" dirty="0"/>
          </a:p>
        </p:txBody>
      </p:sp>
      <p:sp>
        <p:nvSpPr>
          <p:cNvPr id="43" name="Text 36"/>
          <p:cNvSpPr txBox="1"/>
          <p:nvPr/>
        </p:nvSpPr>
        <p:spPr>
          <a:xfrm>
            <a:off x="5395874" y="7917790"/>
            <a:ext cx="14008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050" dirty="0"/>
          </a:p>
        </p:txBody>
      </p:sp>
      <p:sp>
        <p:nvSpPr>
          <p:cNvPr id="44" name="Text 37"/>
          <p:cNvSpPr txBox="1"/>
          <p:nvPr/>
        </p:nvSpPr>
        <p:spPr>
          <a:xfrm>
            <a:off x="5395874" y="8138009"/>
            <a:ext cx="16669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aduanera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</a:t>
            </a: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logística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7049110" y="7791602"/>
            <a:ext cx="1828800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7191756" y="7895844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7191756" y="78958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75" dirty="0"/>
          </a:p>
        </p:txBody>
      </p:sp>
      <p:sp>
        <p:nvSpPr>
          <p:cNvPr id="48" name="Text 41"/>
          <p:cNvSpPr txBox="1"/>
          <p:nvPr/>
        </p:nvSpPr>
        <p:spPr>
          <a:xfrm>
            <a:off x="7629754" y="7917790"/>
            <a:ext cx="11055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</a:rPr>
              <a:t>C</a:t>
            </a:r>
            <a:r>
              <a:rPr lang="en-US" sz="105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</a:rPr>
              <a:t>onocimiento</a:t>
            </a:r>
            <a:endParaRPr lang="en-US" sz="1050" dirty="0"/>
          </a:p>
        </p:txBody>
      </p:sp>
      <p:sp>
        <p:nvSpPr>
          <p:cNvPr id="49" name="Text 42"/>
          <p:cNvSpPr txBox="1"/>
          <p:nvPr/>
        </p:nvSpPr>
        <p:spPr>
          <a:xfrm>
            <a:off x="7629755" y="8139533"/>
            <a:ext cx="10519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</a:t>
            </a: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procedimientos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internos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1143000" y="8438998"/>
            <a:ext cx="1705356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1285646" y="8544154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 txBox="1"/>
          <p:nvPr/>
        </p:nvSpPr>
        <p:spPr>
          <a:xfrm>
            <a:off x="1285646" y="854415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975" dirty="0"/>
          </a:p>
        </p:txBody>
      </p:sp>
      <p:sp>
        <p:nvSpPr>
          <p:cNvPr id="53" name="Text 46"/>
          <p:cNvSpPr txBox="1"/>
          <p:nvPr/>
        </p:nvSpPr>
        <p:spPr>
          <a:xfrm>
            <a:off x="1723644" y="8566099"/>
            <a:ext cx="9811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050" dirty="0"/>
          </a:p>
        </p:txBody>
      </p:sp>
      <p:sp>
        <p:nvSpPr>
          <p:cNvPr id="54" name="Text 47"/>
          <p:cNvSpPr txBox="1"/>
          <p:nvPr/>
        </p:nvSpPr>
        <p:spPr>
          <a:xfrm>
            <a:off x="1723644" y="8777370"/>
            <a:ext cx="10680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para energía </a:t>
            </a:r>
          </a:p>
          <a:p>
            <a:pPr marL="0" indent="0" algn="l">
              <a:buNone/>
            </a:pPr>
            <a:r>
              <a:rPr lang="es-E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anomalías</a:t>
            </a:r>
            <a:endParaRPr lang="en-US" sz="800" dirty="0"/>
          </a:p>
        </p:txBody>
      </p:sp>
      <p:sp>
        <p:nvSpPr>
          <p:cNvPr id="55" name="Text 48"/>
          <p:cNvSpPr txBox="1"/>
          <p:nvPr/>
        </p:nvSpPr>
        <p:spPr>
          <a:xfrm>
            <a:off x="10858500" y="5810098"/>
            <a:ext cx="6858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 A</a:t>
            </a:r>
            <a:endParaRPr lang="en-US" sz="825" dirty="0"/>
          </a:p>
        </p:txBody>
      </p:sp>
      <p:sp>
        <p:nvSpPr>
          <p:cNvPr id="56" name="Shape 49"/>
          <p:cNvSpPr/>
          <p:nvPr/>
        </p:nvSpPr>
        <p:spPr>
          <a:xfrm>
            <a:off x="10858500" y="6077102"/>
            <a:ext cx="866851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10858500" y="6077102"/>
            <a:ext cx="8668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WMS / ERP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11799418" y="6077102"/>
            <a:ext cx="780898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/>
          <p:nvPr/>
        </p:nvSpPr>
        <p:spPr>
          <a:xfrm>
            <a:off x="11799418" y="6077102"/>
            <a:ext cx="7818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Scanners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12653467" y="6077102"/>
            <a:ext cx="543154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12653467" y="6077102"/>
            <a:ext cx="5431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RTLS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13268858" y="6077102"/>
            <a:ext cx="552298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6"/>
          <p:cNvSpPr/>
          <p:nvPr/>
        </p:nvSpPr>
        <p:spPr>
          <a:xfrm>
            <a:off x="13268858" y="6077102"/>
            <a:ext cx="5532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13894308" y="6077102"/>
            <a:ext cx="752551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/>
          <p:nvPr/>
        </p:nvSpPr>
        <p:spPr>
          <a:xfrm>
            <a:off x="13894308" y="6077102"/>
            <a:ext cx="7525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Customs</a:t>
            </a:r>
            <a:endParaRPr lang="en-US" sz="900" dirty="0"/>
          </a:p>
        </p:txBody>
      </p:sp>
      <p:sp>
        <p:nvSpPr>
          <p:cNvPr id="66" name="Shape 59"/>
          <p:cNvSpPr/>
          <p:nvPr/>
        </p:nvSpPr>
        <p:spPr>
          <a:xfrm>
            <a:off x="14717268" y="6077102"/>
            <a:ext cx="914400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0"/>
          <p:cNvSpPr/>
          <p:nvPr/>
        </p:nvSpPr>
        <p:spPr>
          <a:xfrm>
            <a:off x="14717268" y="6077102"/>
            <a:ext cx="9144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· SCADA</a:t>
            </a:r>
            <a:endParaRPr lang="en-US" sz="900" dirty="0"/>
          </a:p>
        </p:txBody>
      </p:sp>
      <p:sp>
        <p:nvSpPr>
          <p:cNvPr id="68" name="Text 61"/>
          <p:cNvSpPr txBox="1"/>
          <p:nvPr/>
        </p:nvSpPr>
        <p:spPr>
          <a:xfrm>
            <a:off x="1143000" y="100199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Real autonomy, real deployments</a:t>
            </a:r>
            <a:endParaRPr lang="en-US" sz="975" dirty="0"/>
          </a:p>
        </p:txBody>
      </p:sp>
      <p:sp>
        <p:nvSpPr>
          <p:cNvPr id="69" name="Text 62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Cold-chain · Galicia</a:t>
            </a:r>
            <a:endParaRPr lang="en-US" sz="975" dirty="0"/>
          </a:p>
        </p:txBody>
      </p:sp>
      <p:pic>
        <p:nvPicPr>
          <p:cNvPr id="71" name="Imagen 4" descr="SaecData – Soluciones Tecnológicas">
            <a:extLst>
              <a:ext uri="{FF2B5EF4-FFF2-40B4-BE49-F238E27FC236}">
                <a16:creationId xmlns:a16="http://schemas.microsoft.com/office/drawing/2014/main" id="{B06C991F-8DA3-79B2-5DFC-AB07ABE3053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601" b="20464"/>
          <a:stretch>
            <a:fillRect/>
          </a:stretch>
        </p:blipFill>
        <p:spPr>
          <a:xfrm>
            <a:off x="6542017" y="1870290"/>
            <a:ext cx="1623175" cy="545213"/>
          </a:xfrm>
          <a:prstGeom prst="rect">
            <a:avLst/>
          </a:prstGeom>
        </p:spPr>
      </p:pic>
      <p:pic>
        <p:nvPicPr>
          <p:cNvPr id="73" name="Image 1" descr="gen-dedup-3fc9b6bd6bd01734c54b10a0f11af3f3.png">
            <a:extLst>
              <a:ext uri="{FF2B5EF4-FFF2-40B4-BE49-F238E27FC236}">
                <a16:creationId xmlns:a16="http://schemas.microsoft.com/office/drawing/2014/main" id="{723A0AC9-7AE3-4273-32CF-A77668558B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8001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gen-dedup-9fdc99d196403a0432ef302aaec20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195" y="1904695"/>
            <a:ext cx="7429500" cy="4953305"/>
          </a:xfrm>
          <a:prstGeom prst="rect">
            <a:avLst/>
          </a:prstGeom>
        </p:spPr>
      </p:pic>
      <p:pic>
        <p:nvPicPr>
          <p:cNvPr id="4" name="Image 1" descr="gen-dedup-9a4b8215e0159d65143c5a51d6142f6e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10477195" y="1904695"/>
            <a:ext cx="7429500" cy="4953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477195" y="7239305"/>
            <a:ext cx="7429500" cy="1904695"/>
          </a:xfrm>
          <a:prstGeom prst="roundRect">
            <a:avLst>
              <a:gd name="adj" fmla="val 499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pic>
        <p:nvPicPr>
          <p:cNvPr id="8" name="Image 4" descr="gen-dedup-8a4746f7ae18871903d6c6f0da58ca57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0858500" y="2171700"/>
            <a:ext cx="6667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&amp; transporte</a:t>
            </a:r>
            <a:endParaRPr lang="en-US" sz="825" dirty="0"/>
          </a:p>
        </p:txBody>
      </p:sp>
      <p:sp>
        <p:nvSpPr>
          <p:cNvPr id="10" name="Text 3"/>
          <p:cNvSpPr txBox="1"/>
          <p:nvPr/>
        </p:nvSpPr>
        <p:spPr>
          <a:xfrm>
            <a:off x="10858500" y="2381098"/>
            <a:ext cx="6667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kern="0" spc="-1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 logístico centrado en optimizar gestión de transporte.</a:t>
            </a:r>
            <a:endParaRPr lang="en-US" sz="1800" dirty="0"/>
          </a:p>
        </p:txBody>
      </p:sp>
      <p:sp>
        <p:nvSpPr>
          <p:cNvPr id="11" name="Text 4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975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1904695"/>
            <a:ext cx="8763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3" name="Shape 6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1714500" y="1938528"/>
            <a:ext cx="4114800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1714500" y="1938528"/>
            <a:ext cx="41148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ASPOL · Optimización y documentos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2933395"/>
            <a:ext cx="8763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3D · rutas VRP · documentación</a:t>
            </a:r>
            <a:endParaRPr lang="en-US" sz="1125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3372307"/>
            <a:ext cx="876361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camiones en ruta,</a:t>
            </a:r>
            <a:endParaRPr lang="en-US" sz="4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13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 errores en papel.</a:t>
            </a:r>
            <a:endParaRPr lang="en-US" sz="435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4705502"/>
            <a:ext cx="8763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Empaquetado 3D que aprovecha el camión, ruteo VRP que minimiza kilómetros, y generación + pre-validación automática de albaranes, CMRs y facturas desde pedidos de Odoo.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5810098"/>
            <a:ext cx="8763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HACE</a:t>
            </a:r>
            <a:endParaRPr lang="en-US" sz="825" dirty="0"/>
          </a:p>
        </p:txBody>
      </p:sp>
      <p:sp>
        <p:nvSpPr>
          <p:cNvPr id="21" name="Shape 14"/>
          <p:cNvSpPr/>
          <p:nvPr/>
        </p:nvSpPr>
        <p:spPr>
          <a:xfrm>
            <a:off x="1143000" y="6077102"/>
            <a:ext cx="8762695" cy="9144"/>
          </a:xfrm>
          <a:prstGeom prst="rect">
            <a:avLst/>
          </a:prstGeom>
          <a:solidFill>
            <a:srgbClr val="0A0F1E">
              <a:alpha val="10000"/>
            </a:srgbClr>
          </a:solidFill>
          <a:ln w="12700">
            <a:solidFill>
              <a:srgbClr val="0A0F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1143000" y="6219749"/>
            <a:ext cx="3246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1600200" y="6219749"/>
            <a:ext cx="41815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Empaquetado 3D</a:t>
            </a:r>
            <a:endParaRPr lang="en-US" sz="1275" dirty="0"/>
          </a:p>
        </p:txBody>
      </p:sp>
      <p:sp>
        <p:nvSpPr>
          <p:cNvPr id="24" name="Text 17"/>
          <p:cNvSpPr txBox="1"/>
          <p:nvPr/>
        </p:nvSpPr>
        <p:spPr>
          <a:xfrm>
            <a:off x="1600200" y="6439205"/>
            <a:ext cx="48673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 el espacio del camión: dimensiones, restricciones, capacidad.</a:t>
            </a:r>
            <a:endParaRPr lang="en-US" sz="975" dirty="0"/>
          </a:p>
        </p:txBody>
      </p:sp>
      <p:sp>
        <p:nvSpPr>
          <p:cNvPr id="25" name="Shape 18"/>
          <p:cNvSpPr/>
          <p:nvPr/>
        </p:nvSpPr>
        <p:spPr>
          <a:xfrm>
            <a:off x="1143000" y="6724498"/>
            <a:ext cx="8762695" cy="9144"/>
          </a:xfrm>
          <a:prstGeom prst="rect">
            <a:avLst/>
          </a:prstGeom>
          <a:solidFill>
            <a:srgbClr val="0A0F1E">
              <a:alpha val="10000"/>
            </a:srgbClr>
          </a:solidFill>
          <a:ln w="12700">
            <a:solidFill>
              <a:srgbClr val="0A0F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1143000" y="6867144"/>
            <a:ext cx="3246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1600200" y="6867144"/>
            <a:ext cx="28008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Ruteo VRP</a:t>
            </a:r>
            <a:endParaRPr lang="en-US" sz="1275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7086600"/>
            <a:ext cx="333298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Rutas óptimas que recortan distancias y costes.</a:t>
            </a:r>
            <a:endParaRPr lang="en-US" sz="975" dirty="0"/>
          </a:p>
        </p:txBody>
      </p:sp>
      <p:sp>
        <p:nvSpPr>
          <p:cNvPr id="29" name="Shape 22"/>
          <p:cNvSpPr/>
          <p:nvPr/>
        </p:nvSpPr>
        <p:spPr>
          <a:xfrm>
            <a:off x="1143000" y="7372807"/>
            <a:ext cx="8762695" cy="9144"/>
          </a:xfrm>
          <a:prstGeom prst="rect">
            <a:avLst/>
          </a:prstGeom>
          <a:solidFill>
            <a:srgbClr val="0A0F1E">
              <a:alpha val="10000"/>
            </a:srgbClr>
          </a:solidFill>
          <a:ln w="12700">
            <a:solidFill>
              <a:srgbClr val="0A0F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1143000" y="7515454"/>
            <a:ext cx="3246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1600200" y="7515454"/>
            <a:ext cx="249722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de documentos</a:t>
            </a:r>
            <a:endParaRPr lang="en-US" sz="1275" dirty="0"/>
          </a:p>
        </p:txBody>
      </p:sp>
      <p:sp>
        <p:nvSpPr>
          <p:cNvPr id="32" name="Text 25"/>
          <p:cNvSpPr txBox="1"/>
          <p:nvPr/>
        </p:nvSpPr>
        <p:spPr>
          <a:xfrm>
            <a:off x="1600200" y="7733995"/>
            <a:ext cx="259598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 albaranes, CMR, ECI, facturas.</a:t>
            </a:r>
            <a:endParaRPr lang="en-US" sz="975" dirty="0"/>
          </a:p>
        </p:txBody>
      </p:sp>
      <p:sp>
        <p:nvSpPr>
          <p:cNvPr id="33" name="Shape 26"/>
          <p:cNvSpPr/>
          <p:nvPr/>
        </p:nvSpPr>
        <p:spPr>
          <a:xfrm>
            <a:off x="1143000" y="8020202"/>
            <a:ext cx="8762695" cy="657454"/>
          </a:xfrm>
          <a:prstGeom prst="rect">
            <a:avLst/>
          </a:prstGeom>
          <a:noFill/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1143000" y="8162849"/>
            <a:ext cx="3246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1600200" y="8162849"/>
            <a:ext cx="26865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Pre-validación</a:t>
            </a:r>
            <a:endParaRPr lang="en-US" sz="1275" dirty="0"/>
          </a:p>
        </p:txBody>
      </p:sp>
      <p:sp>
        <p:nvSpPr>
          <p:cNvPr id="36" name="Text 29"/>
          <p:cNvSpPr txBox="1"/>
          <p:nvPr/>
        </p:nvSpPr>
        <p:spPr>
          <a:xfrm>
            <a:off x="1600200" y="8382305"/>
            <a:ext cx="319674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errores antes de emitir el documento.</a:t>
            </a:r>
            <a:endParaRPr lang="en-US" sz="975" dirty="0"/>
          </a:p>
        </p:txBody>
      </p:sp>
      <p:sp>
        <p:nvSpPr>
          <p:cNvPr id="37" name="Text 30"/>
          <p:cNvSpPr txBox="1"/>
          <p:nvPr/>
        </p:nvSpPr>
        <p:spPr>
          <a:xfrm>
            <a:off x="10858500" y="7429500"/>
            <a:ext cx="6858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</a:t>
            </a:r>
            <a:endParaRPr lang="en-US" sz="825" dirty="0"/>
          </a:p>
        </p:txBody>
      </p:sp>
      <p:sp>
        <p:nvSpPr>
          <p:cNvPr id="38" name="Text 31"/>
          <p:cNvSpPr txBox="1"/>
          <p:nvPr/>
        </p:nvSpPr>
        <p:spPr>
          <a:xfrm>
            <a:off x="10858500" y="7696505"/>
            <a:ext cx="2171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</a:t>
            </a:r>
            <a:endParaRPr lang="en-US" sz="2400" dirty="0"/>
          </a:p>
        </p:txBody>
      </p:sp>
      <p:sp>
        <p:nvSpPr>
          <p:cNvPr id="39" name="Text 32"/>
          <p:cNvSpPr txBox="1"/>
          <p:nvPr/>
        </p:nvSpPr>
        <p:spPr>
          <a:xfrm>
            <a:off x="10858500" y="8058607"/>
            <a:ext cx="2171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Viajes &amp; costes</a:t>
            </a:r>
            <a:endParaRPr lang="en-US" sz="825" dirty="0"/>
          </a:p>
        </p:txBody>
      </p:sp>
      <p:sp>
        <p:nvSpPr>
          <p:cNvPr id="40" name="Text 33"/>
          <p:cNvSpPr txBox="1"/>
          <p:nvPr/>
        </p:nvSpPr>
        <p:spPr>
          <a:xfrm>
            <a:off x="13202107" y="7696505"/>
            <a:ext cx="2171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</a:t>
            </a:r>
            <a:endParaRPr lang="en-US" sz="2400" dirty="0"/>
          </a:p>
        </p:txBody>
      </p:sp>
      <p:sp>
        <p:nvSpPr>
          <p:cNvPr id="41" name="Text 34"/>
          <p:cNvSpPr txBox="1"/>
          <p:nvPr/>
        </p:nvSpPr>
        <p:spPr>
          <a:xfrm>
            <a:off x="13202107" y="8058607"/>
            <a:ext cx="2171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admin.</a:t>
            </a:r>
            <a:endParaRPr lang="en-US" sz="825" dirty="0"/>
          </a:p>
        </p:txBody>
      </p:sp>
      <p:sp>
        <p:nvSpPr>
          <p:cNvPr id="42" name="Text 35"/>
          <p:cNvSpPr txBox="1"/>
          <p:nvPr/>
        </p:nvSpPr>
        <p:spPr>
          <a:xfrm>
            <a:off x="15544800" y="7696505"/>
            <a:ext cx="2171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400" dirty="0"/>
          </a:p>
        </p:txBody>
      </p:sp>
      <p:sp>
        <p:nvSpPr>
          <p:cNvPr id="43" name="Text 36"/>
          <p:cNvSpPr txBox="1"/>
          <p:nvPr/>
        </p:nvSpPr>
        <p:spPr>
          <a:xfrm>
            <a:off x="15544800" y="8058607"/>
            <a:ext cx="2171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Pre-validado</a:t>
            </a:r>
            <a:endParaRPr lang="en-US" sz="825" dirty="0"/>
          </a:p>
        </p:txBody>
      </p:sp>
      <p:sp>
        <p:nvSpPr>
          <p:cNvPr id="44" name="Text 37"/>
          <p:cNvSpPr txBox="1"/>
          <p:nvPr/>
        </p:nvSpPr>
        <p:spPr>
          <a:xfrm>
            <a:off x="1143000" y="9219895"/>
            <a:ext cx="12192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45" name="Shape 38"/>
          <p:cNvSpPr/>
          <p:nvPr/>
        </p:nvSpPr>
        <p:spPr>
          <a:xfrm>
            <a:off x="1143000" y="9448495"/>
            <a:ext cx="1990649" cy="476402"/>
          </a:xfrm>
          <a:prstGeom prst="roundRect">
            <a:avLst>
              <a:gd name="adj" fmla="val 4990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1285646" y="9544507"/>
            <a:ext cx="286207" cy="286207"/>
          </a:xfrm>
          <a:prstGeom prst="roundRect">
            <a:avLst>
              <a:gd name="adj" fmla="val 1661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1285646" y="9544507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1666951" y="9610344"/>
            <a:ext cx="172638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· desde Odoo</a:t>
            </a:r>
            <a:endParaRPr lang="en-US" sz="975" dirty="0"/>
          </a:p>
        </p:txBody>
      </p:sp>
      <p:sp>
        <p:nvSpPr>
          <p:cNvPr id="49" name="Shape 42"/>
          <p:cNvSpPr/>
          <p:nvPr/>
        </p:nvSpPr>
        <p:spPr>
          <a:xfrm>
            <a:off x="3220517" y="9448495"/>
            <a:ext cx="2324405" cy="476402"/>
          </a:xfrm>
          <a:prstGeom prst="roundRect">
            <a:avLst>
              <a:gd name="adj" fmla="val 4990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3363163" y="9544507"/>
            <a:ext cx="286207" cy="286207"/>
          </a:xfrm>
          <a:prstGeom prst="roundRect">
            <a:avLst>
              <a:gd name="adj" fmla="val 1661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 txBox="1"/>
          <p:nvPr/>
        </p:nvSpPr>
        <p:spPr>
          <a:xfrm>
            <a:off x="3363163" y="9544507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3744468" y="9610344"/>
            <a:ext cx="19723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 · gen &amp; validar</a:t>
            </a:r>
            <a:endParaRPr lang="en-US" sz="975" dirty="0"/>
          </a:p>
        </p:txBody>
      </p:sp>
      <p:sp>
        <p:nvSpPr>
          <p:cNvPr id="53" name="Shape 46"/>
          <p:cNvSpPr/>
          <p:nvPr/>
        </p:nvSpPr>
        <p:spPr>
          <a:xfrm>
            <a:off x="5634533" y="9448495"/>
            <a:ext cx="2276856" cy="476402"/>
          </a:xfrm>
          <a:prstGeom prst="roundRect">
            <a:avLst>
              <a:gd name="adj" fmla="val 4990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7"/>
          <p:cNvSpPr/>
          <p:nvPr/>
        </p:nvSpPr>
        <p:spPr>
          <a:xfrm>
            <a:off x="5777179" y="9544507"/>
            <a:ext cx="286207" cy="286207"/>
          </a:xfrm>
          <a:prstGeom prst="roundRect">
            <a:avLst>
              <a:gd name="adj" fmla="val 1661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 txBox="1"/>
          <p:nvPr/>
        </p:nvSpPr>
        <p:spPr>
          <a:xfrm>
            <a:off x="5777179" y="9544507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00" dirty="0"/>
          </a:p>
        </p:txBody>
      </p:sp>
      <p:sp>
        <p:nvSpPr>
          <p:cNvPr id="56" name="Text 49"/>
          <p:cNvSpPr txBox="1"/>
          <p:nvPr/>
        </p:nvSpPr>
        <p:spPr>
          <a:xfrm>
            <a:off x="6158484" y="9610344"/>
            <a:ext cx="191566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 · decisiones</a:t>
            </a:r>
            <a:endParaRPr lang="en-US" sz="975" dirty="0"/>
          </a:p>
        </p:txBody>
      </p:sp>
      <p:sp>
        <p:nvSpPr>
          <p:cNvPr id="57" name="Text 50"/>
          <p:cNvSpPr txBox="1"/>
          <p:nvPr/>
        </p:nvSpPr>
        <p:spPr>
          <a:xfrm>
            <a:off x="10477195" y="9239098"/>
            <a:ext cx="7429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 a</a:t>
            </a:r>
            <a:endParaRPr lang="en-US" sz="800" dirty="0"/>
          </a:p>
        </p:txBody>
      </p:sp>
      <p:sp>
        <p:nvSpPr>
          <p:cNvPr id="58" name="Shape 51"/>
          <p:cNvSpPr/>
          <p:nvPr/>
        </p:nvSpPr>
        <p:spPr>
          <a:xfrm>
            <a:off x="10477195" y="9448495"/>
            <a:ext cx="800100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/>
          <p:nvPr/>
        </p:nvSpPr>
        <p:spPr>
          <a:xfrm>
            <a:off x="10477195" y="9448495"/>
            <a:ext cx="8001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ERP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11345875" y="9448495"/>
            <a:ext cx="875995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11345875" y="9448495"/>
            <a:ext cx="8769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Packing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12295022" y="9448495"/>
            <a:ext cx="761695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6"/>
          <p:cNvSpPr/>
          <p:nvPr/>
        </p:nvSpPr>
        <p:spPr>
          <a:xfrm>
            <a:off x="12295022" y="9448495"/>
            <a:ext cx="7626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VRP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13130784" y="9448495"/>
            <a:ext cx="800100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/>
          <p:nvPr/>
        </p:nvSpPr>
        <p:spPr>
          <a:xfrm>
            <a:off x="13130784" y="9448495"/>
            <a:ext cx="8001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Flota/GPS</a:t>
            </a:r>
            <a:endParaRPr lang="en-US" sz="900" dirty="0"/>
          </a:p>
        </p:txBody>
      </p:sp>
      <p:sp>
        <p:nvSpPr>
          <p:cNvPr id="67" name="Text 60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975" dirty="0"/>
          </a:p>
        </p:txBody>
      </p:sp>
      <p:pic>
        <p:nvPicPr>
          <p:cNvPr id="69" name="Imagen 1" descr="Productos de Aspol en las tiendas de El Corte Inglés">
            <a:extLst>
              <a:ext uri="{FF2B5EF4-FFF2-40B4-BE49-F238E27FC236}">
                <a16:creationId xmlns:a16="http://schemas.microsoft.com/office/drawing/2014/main" id="{04109480-69AD-EEDF-5C39-D062C19CA09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0754" b="24774"/>
          <a:stretch>
            <a:fillRect/>
          </a:stretch>
        </p:blipFill>
        <p:spPr>
          <a:xfrm>
            <a:off x="7007733" y="1818868"/>
            <a:ext cx="1085622" cy="59136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ol de las navieras en el transporte: guía 2026">
            <a:extLst>
              <a:ext uri="{FF2B5EF4-FFF2-40B4-BE49-F238E27FC236}">
                <a16:creationId xmlns:a16="http://schemas.microsoft.com/office/drawing/2014/main" id="{BA388090-03DF-4D45-BD5B-66C944754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807" y="1944788"/>
            <a:ext cx="8730723" cy="5816221"/>
          </a:xfrm>
          <a:prstGeom prst="rect">
            <a:avLst/>
          </a:prstGeom>
        </p:spPr>
      </p:pic>
      <p:pic>
        <p:nvPicPr>
          <p:cNvPr id="6" name="Image 4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1143000" y="1904695"/>
            <a:ext cx="6477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1350" dirty="0"/>
          </a:p>
        </p:txBody>
      </p:sp>
      <p:sp>
        <p:nvSpPr>
          <p:cNvPr id="12" name="Shape 4"/>
          <p:cNvSpPr/>
          <p:nvPr/>
        </p:nvSpPr>
        <p:spPr>
          <a:xfrm>
            <a:off x="1714500" y="1938528"/>
            <a:ext cx="4076395" cy="37124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/>
          <p:cNvSpPr/>
          <p:nvPr/>
        </p:nvSpPr>
        <p:spPr>
          <a:xfrm>
            <a:off x="1714500" y="1938528"/>
            <a:ext cx="40773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NAUTIA · </a:t>
            </a:r>
            <a:r>
              <a:rPr lang="en-US" sz="1050" b="1" kern="0" spc="29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1050" b="1" kern="0" spc="29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regulación</a:t>
            </a:r>
            <a:endParaRPr lang="en-US" sz="1050" dirty="0"/>
          </a:p>
        </p:txBody>
      </p:sp>
      <p:sp>
        <p:nvSpPr>
          <p:cNvPr id="14" name="Text 6"/>
          <p:cNvSpPr txBox="1"/>
          <p:nvPr/>
        </p:nvSpPr>
        <p:spPr>
          <a:xfrm>
            <a:off x="1143000" y="2933395"/>
            <a:ext cx="7810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conocimiento y regulación</a:t>
            </a:r>
            <a:endParaRPr lang="en-US" sz="1125" dirty="0"/>
          </a:p>
        </p:txBody>
      </p:sp>
      <p:sp>
        <p:nvSpPr>
          <p:cNvPr id="15" name="Text 7"/>
          <p:cNvSpPr txBox="1"/>
          <p:nvPr/>
        </p:nvSpPr>
        <p:spPr>
          <a:xfrm>
            <a:off x="1143000" y="3372307"/>
            <a:ext cx="800100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s-ES" sz="4350" b="1" kern="0" spc="-130" dirty="0">
                <a:latin typeface="Inter" pitchFamily="34" charset="0"/>
                <a:ea typeface="Inter" pitchFamily="34" charset="-122"/>
                <a:cs typeface="Inter" pitchFamily="34" charset="-120"/>
              </a:rPr>
              <a:t>Convierte el conocimiento corporativo en un </a:t>
            </a:r>
            <a:r>
              <a:rPr lang="es-ES" sz="4350" b="1" kern="0" spc="-130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activo estratégico</a:t>
            </a:r>
            <a:endParaRPr lang="en-US" sz="435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5598454"/>
            <a:ext cx="78108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s-E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Centraliza documentos técnicos, legales y regulatorios. Ejecuta consultas basadas en roles mediante un RAG + grafo de conocimiento. Detecta lagunas regulatorias, realiza análisis de impacto sobre productos y procesos afectados y responde con fuentes totalmente auditables.</a:t>
            </a:r>
            <a:endParaRPr lang="en-US" sz="1425" dirty="0"/>
          </a:p>
        </p:txBody>
      </p:sp>
      <p:sp>
        <p:nvSpPr>
          <p:cNvPr id="17" name="Shape 9"/>
          <p:cNvSpPr/>
          <p:nvPr/>
        </p:nvSpPr>
        <p:spPr>
          <a:xfrm>
            <a:off x="1143000" y="7141047"/>
            <a:ext cx="3838651" cy="1067105"/>
          </a:xfrm>
          <a:prstGeom prst="roundRect">
            <a:avLst>
              <a:gd name="adj" fmla="val 891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0"/>
          <p:cNvSpPr txBox="1"/>
          <p:nvPr/>
        </p:nvSpPr>
        <p:spPr>
          <a:xfrm>
            <a:off x="1362456" y="7360503"/>
            <a:ext cx="3400654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94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Reducción</a:t>
            </a:r>
            <a:r>
              <a:rPr lang="en-US" sz="3150" b="1" kern="0" spc="-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↓</a:t>
            </a:r>
            <a:endParaRPr lang="en-US" sz="3150" dirty="0"/>
          </a:p>
        </p:txBody>
      </p:sp>
      <p:sp>
        <p:nvSpPr>
          <p:cNvPr id="19" name="Text 11"/>
          <p:cNvSpPr txBox="1"/>
          <p:nvPr/>
        </p:nvSpPr>
        <p:spPr>
          <a:xfrm>
            <a:off x="1362456" y="7855193"/>
            <a:ext cx="34006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25" b="1" kern="0" spc="182" dirty="0">
                <a:latin typeface="Inter" pitchFamily="34" charset="0"/>
                <a:ea typeface="Inter" pitchFamily="34" charset="-122"/>
                <a:cs typeface="Inter" pitchFamily="34" charset="-120"/>
              </a:rPr>
              <a:t>Riesgo legal y de </a:t>
            </a:r>
            <a:r>
              <a:rPr lang="es-ES" sz="825" b="1" kern="0" spc="182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825" dirty="0"/>
          </a:p>
        </p:txBody>
      </p:sp>
      <p:sp>
        <p:nvSpPr>
          <p:cNvPr id="20" name="Shape 12"/>
          <p:cNvSpPr/>
          <p:nvPr/>
        </p:nvSpPr>
        <p:spPr>
          <a:xfrm>
            <a:off x="5115154" y="7141047"/>
            <a:ext cx="3838651" cy="1067105"/>
          </a:xfrm>
          <a:prstGeom prst="roundRect">
            <a:avLst>
              <a:gd name="adj" fmla="val 891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 txBox="1"/>
          <p:nvPr/>
        </p:nvSpPr>
        <p:spPr>
          <a:xfrm>
            <a:off x="5333695" y="7360503"/>
            <a:ext cx="3400654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94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Rapidez</a:t>
            </a:r>
            <a:r>
              <a:rPr lang="en-US" sz="3150" b="1" kern="0" spc="-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↑</a:t>
            </a:r>
            <a:endParaRPr lang="en-US" sz="3150" dirty="0"/>
          </a:p>
        </p:txBody>
      </p:sp>
      <p:sp>
        <p:nvSpPr>
          <p:cNvPr id="22" name="Text 14"/>
          <p:cNvSpPr txBox="1"/>
          <p:nvPr/>
        </p:nvSpPr>
        <p:spPr>
          <a:xfrm>
            <a:off x="5333695" y="7855193"/>
            <a:ext cx="34006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Respuestas</a:t>
            </a:r>
            <a:r>
              <a:rPr lang="en-US" sz="825" b="1" kern="0" spc="182" dirty="0">
                <a:latin typeface="Inter" pitchFamily="34" charset="0"/>
                <a:ea typeface="Inter" pitchFamily="34" charset="-122"/>
                <a:cs typeface="Inter" pitchFamily="34" charset="-120"/>
              </a:rPr>
              <a:t> de la </a:t>
            </a:r>
            <a:r>
              <a:rPr lang="en-US" sz="825" b="1" kern="0" spc="182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organización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1143000" y="8474242"/>
            <a:ext cx="12192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4" name="Shape 16"/>
          <p:cNvSpPr/>
          <p:nvPr/>
        </p:nvSpPr>
        <p:spPr>
          <a:xfrm>
            <a:off x="1143000" y="8741247"/>
            <a:ext cx="1848002" cy="533095"/>
          </a:xfrm>
          <a:prstGeom prst="roundRect">
            <a:avLst>
              <a:gd name="adj" fmla="val 1783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7"/>
          <p:cNvSpPr/>
          <p:nvPr/>
        </p:nvSpPr>
        <p:spPr>
          <a:xfrm>
            <a:off x="1285646" y="8846403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 txBox="1"/>
          <p:nvPr/>
        </p:nvSpPr>
        <p:spPr>
          <a:xfrm>
            <a:off x="1285646" y="8846403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75" dirty="0"/>
          </a:p>
        </p:txBody>
      </p:sp>
      <p:sp>
        <p:nvSpPr>
          <p:cNvPr id="27" name="Text 19"/>
          <p:cNvSpPr txBox="1"/>
          <p:nvPr/>
        </p:nvSpPr>
        <p:spPr>
          <a:xfrm>
            <a:off x="1723644" y="8868349"/>
            <a:ext cx="11247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050" dirty="0"/>
          </a:p>
        </p:txBody>
      </p:sp>
      <p:sp>
        <p:nvSpPr>
          <p:cNvPr id="28" name="Text 20"/>
          <p:cNvSpPr txBox="1"/>
          <p:nvPr/>
        </p:nvSpPr>
        <p:spPr>
          <a:xfrm>
            <a:off x="1723644" y="9033855"/>
            <a:ext cx="124541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Inter" pitchFamily="34" charset="0"/>
                <a:ea typeface="Inter" pitchFamily="34" charset="-122"/>
                <a:cs typeface="Inter" pitchFamily="34" charset="-120"/>
              </a:rPr>
              <a:t>RAG + </a:t>
            </a:r>
            <a:r>
              <a:rPr lang="en-US" sz="80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Grafo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3098902" y="8741247"/>
            <a:ext cx="2018995" cy="533095"/>
          </a:xfrm>
          <a:prstGeom prst="roundRect">
            <a:avLst>
              <a:gd name="adj" fmla="val 1783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3241548" y="8846403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3241548" y="8846403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975" dirty="0"/>
          </a:p>
        </p:txBody>
      </p:sp>
      <p:sp>
        <p:nvSpPr>
          <p:cNvPr id="32" name="Text 24"/>
          <p:cNvSpPr txBox="1"/>
          <p:nvPr/>
        </p:nvSpPr>
        <p:spPr>
          <a:xfrm>
            <a:off x="3680460" y="8868349"/>
            <a:ext cx="12957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3680460" y="9033855"/>
            <a:ext cx="15416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Inter" pitchFamily="34" charset="0"/>
                <a:ea typeface="Inter" pitchFamily="34" charset="-122"/>
                <a:cs typeface="Inter" pitchFamily="34" charset="-120"/>
              </a:rPr>
              <a:t>Control </a:t>
            </a:r>
            <a:r>
              <a:rPr lang="en-US" sz="80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Regulatorio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5232197" y="8741247"/>
            <a:ext cx="1732483" cy="533095"/>
          </a:xfrm>
          <a:prstGeom prst="roundRect">
            <a:avLst>
              <a:gd name="adj" fmla="val 1783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5374843" y="8846403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5374843" y="8846403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975" dirty="0"/>
          </a:p>
        </p:txBody>
      </p:sp>
      <p:sp>
        <p:nvSpPr>
          <p:cNvPr id="37" name="Text 29"/>
          <p:cNvSpPr txBox="1"/>
          <p:nvPr/>
        </p:nvSpPr>
        <p:spPr>
          <a:xfrm>
            <a:off x="5812841" y="8868349"/>
            <a:ext cx="7050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5812841" y="9033855"/>
            <a:ext cx="9637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00" dirty="0">
                <a:latin typeface="Inter" pitchFamily="34" charset="0"/>
                <a:ea typeface="Inter" pitchFamily="34" charset="-122"/>
              </a:rPr>
              <a:t>C</a:t>
            </a:r>
            <a:r>
              <a:rPr lang="en-US" sz="800" dirty="0" err="1">
                <a:latin typeface="Inter" pitchFamily="34" charset="0"/>
                <a:ea typeface="Inter" pitchFamily="34" charset="-122"/>
              </a:rPr>
              <a:t>umplimiento</a:t>
            </a:r>
            <a:r>
              <a:rPr lang="en-US" sz="800" dirty="0">
                <a:latin typeface="Inter" pitchFamily="34" charset="0"/>
                <a:ea typeface="Inter" pitchFamily="34" charset="-122"/>
              </a:rPr>
              <a:t> </a:t>
            </a:r>
            <a:r>
              <a:rPr lang="en-US" sz="800" dirty="0" err="1">
                <a:latin typeface="Inter" pitchFamily="34" charset="0"/>
                <a:ea typeface="Inter" pitchFamily="34" charset="-122"/>
              </a:rPr>
              <a:t>Ofertas</a:t>
            </a:r>
            <a:endParaRPr lang="en-US" sz="800" dirty="0"/>
          </a:p>
        </p:txBody>
      </p:sp>
      <p:sp>
        <p:nvSpPr>
          <p:cNvPr id="39" name="Text 31"/>
          <p:cNvSpPr txBox="1"/>
          <p:nvPr/>
        </p:nvSpPr>
        <p:spPr>
          <a:xfrm>
            <a:off x="9715500" y="6667805"/>
            <a:ext cx="7049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</a:t>
            </a:r>
            <a:r>
              <a:rPr lang="en-US" sz="975" b="1" kern="0" spc="2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75" b="1" kern="0" spc="2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estratégico</a:t>
            </a:r>
            <a:endParaRPr lang="en-US" sz="975" dirty="0"/>
          </a:p>
        </p:txBody>
      </p:sp>
      <p:sp>
        <p:nvSpPr>
          <p:cNvPr id="40" name="Text 32"/>
          <p:cNvSpPr txBox="1"/>
          <p:nvPr/>
        </p:nvSpPr>
        <p:spPr>
          <a:xfrm>
            <a:off x="9715500" y="6915607"/>
            <a:ext cx="7049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800" b="1" kern="0" spc="-36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r>
              <a:rPr lang="es-ES" sz="1800" b="1" kern="0" spc="-3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proactivo.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s-ES" sz="1800" b="1" kern="0" spc="-3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Fuentes auditables. Respuestas con citas.</a:t>
            </a:r>
            <a:endParaRPr lang="en-US" sz="1800" dirty="0"/>
          </a:p>
        </p:txBody>
      </p:sp>
      <p:pic>
        <p:nvPicPr>
          <p:cNvPr id="44" name="Picture 84" descr="A logo for a company&#10;&#10;AI-generated content may be incorrect.">
            <a:extLst>
              <a:ext uri="{FF2B5EF4-FFF2-40B4-BE49-F238E27FC236}">
                <a16:creationId xmlns:a16="http://schemas.microsoft.com/office/drawing/2014/main" id="{9DFEECFF-94A5-65F3-A76C-6DBB4CE316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9" t="37457" r="4981" b="41659"/>
          <a:stretch>
            <a:fillRect/>
          </a:stretch>
        </p:blipFill>
        <p:spPr>
          <a:xfrm>
            <a:off x="6200972" y="1919569"/>
            <a:ext cx="2076665" cy="490790"/>
          </a:xfrm>
          <a:prstGeom prst="rect">
            <a:avLst/>
          </a:prstGeom>
        </p:spPr>
      </p:pic>
      <p:pic>
        <p:nvPicPr>
          <p:cNvPr id="46" name="Image 1" descr="gen-dedup-3fc9b6bd6bd01734c54b10a0f11af3f3.png">
            <a:extLst>
              <a:ext uri="{FF2B5EF4-FFF2-40B4-BE49-F238E27FC236}">
                <a16:creationId xmlns:a16="http://schemas.microsoft.com/office/drawing/2014/main" id="{A9FA4555-CE70-409F-7465-26AA6FF7C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4b88e9736d283ff64a91abc9bd3cc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305" cy="10287514"/>
          </a:xfrm>
          <a:prstGeom prst="rect">
            <a:avLst/>
          </a:prstGeom>
        </p:spPr>
      </p:pic>
      <p:pic>
        <p:nvPicPr>
          <p:cNvPr id="5" name="Image 3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6476695" y="2667305"/>
            <a:ext cx="914400" cy="38405"/>
          </a:xfrm>
          <a:prstGeom prst="rect">
            <a:avLst/>
          </a:prstGeom>
        </p:spPr>
      </p:pic>
      <p:pic>
        <p:nvPicPr>
          <p:cNvPr id="6" name="Image 4" descr="gen-dedup-8a4746f7ae18871903d6c6f0da58ca57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6476695" y="1904695"/>
            <a:ext cx="10858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9" name="Shape 2"/>
          <p:cNvSpPr/>
          <p:nvPr/>
        </p:nvSpPr>
        <p:spPr>
          <a:xfrm>
            <a:off x="6476695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3"/>
          <p:cNvSpPr txBox="1"/>
          <p:nvPr/>
        </p:nvSpPr>
        <p:spPr>
          <a:xfrm>
            <a:off x="6476695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1350" dirty="0"/>
          </a:p>
        </p:txBody>
      </p:sp>
      <p:sp>
        <p:nvSpPr>
          <p:cNvPr id="11" name="Shape 4"/>
          <p:cNvSpPr/>
          <p:nvPr/>
        </p:nvSpPr>
        <p:spPr>
          <a:xfrm>
            <a:off x="7048195" y="1938528"/>
            <a:ext cx="4390949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/>
          <p:cNvSpPr/>
          <p:nvPr/>
        </p:nvSpPr>
        <p:spPr>
          <a:xfrm>
            <a:off x="7048195" y="1938528"/>
            <a:ext cx="4391863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TÉCNICAS DEL MAR · Naval e </a:t>
            </a:r>
            <a:r>
              <a:rPr lang="en-US" sz="1050" b="1" kern="0" spc="252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6476695" y="2933395"/>
            <a:ext cx="10858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 de operaciones ERP sobre </a:t>
            </a:r>
            <a:r>
              <a:rPr lang="es-ES" sz="1125" b="1" kern="0" spc="3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endParaRPr lang="en-US" sz="1125" dirty="0"/>
          </a:p>
        </p:txBody>
      </p:sp>
      <p:sp>
        <p:nvSpPr>
          <p:cNvPr id="14" name="Text 7"/>
          <p:cNvSpPr txBox="1"/>
          <p:nvPr/>
        </p:nvSpPr>
        <p:spPr>
          <a:xfrm>
            <a:off x="6476695" y="3372307"/>
            <a:ext cx="11615623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Operabilidad real </a:t>
            </a:r>
            <a:r>
              <a:rPr lang="es-ES" sz="4350" b="1" kern="0" spc="-130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sobre el ERP</a:t>
            </a:r>
            <a:endParaRPr lang="en-US" sz="4350" dirty="0"/>
          </a:p>
        </p:txBody>
      </p:sp>
      <p:sp>
        <p:nvSpPr>
          <p:cNvPr id="15" name="Text 8"/>
          <p:cNvSpPr txBox="1"/>
          <p:nvPr/>
        </p:nvSpPr>
        <p:spPr>
          <a:xfrm>
            <a:off x="6476695" y="4572000"/>
            <a:ext cx="1085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s-E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 y automatiza procesos operativos utilizando </a:t>
            </a:r>
            <a:r>
              <a:rPr lang="es-ES" sz="1350" dirty="0" err="1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r>
              <a:rPr lang="es-E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ERP/CRM como núcleo central de datos. Sobre esta base se incorporan agentes de cálculo y un agente de, todos compartiendo un único histórico operativo. El trabajo manual repetitivo se sustituye por una operabilidad basada en IA, compartida y trazable.</a:t>
            </a:r>
            <a:endParaRPr lang="en-US" sz="1350" dirty="0"/>
          </a:p>
        </p:txBody>
      </p:sp>
      <p:sp>
        <p:nvSpPr>
          <p:cNvPr id="16" name="Text 9"/>
          <p:cNvSpPr txBox="1"/>
          <p:nvPr/>
        </p:nvSpPr>
        <p:spPr>
          <a:xfrm>
            <a:off x="6476695" y="5952744"/>
            <a:ext cx="10858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17" name="Shape 10"/>
          <p:cNvSpPr/>
          <p:nvPr/>
        </p:nvSpPr>
        <p:spPr>
          <a:xfrm>
            <a:off x="6476695" y="6219749"/>
            <a:ext cx="2361895" cy="647395"/>
          </a:xfrm>
          <a:prstGeom prst="roundRect">
            <a:avLst>
              <a:gd name="adj" fmla="val 14689"/>
            </a:avLst>
          </a:prstGeom>
          <a:solidFill>
            <a:srgbClr val="FFFFFF"/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6638544" y="6362395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 txBox="1"/>
          <p:nvPr/>
        </p:nvSpPr>
        <p:spPr>
          <a:xfrm>
            <a:off x="6638544" y="6362395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7114946" y="6382512"/>
            <a:ext cx="14767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125" dirty="0"/>
          </a:p>
        </p:txBody>
      </p:sp>
      <p:sp>
        <p:nvSpPr>
          <p:cNvPr id="21" name="Text 14"/>
          <p:cNvSpPr txBox="1"/>
          <p:nvPr/>
        </p:nvSpPr>
        <p:spPr>
          <a:xfrm>
            <a:off x="7114946" y="6568135"/>
            <a:ext cx="175747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</a:t>
            </a: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Correo</a:t>
            </a:r>
            <a:endParaRPr lang="en-US" sz="825" dirty="0"/>
          </a:p>
        </p:txBody>
      </p:sp>
      <p:sp>
        <p:nvSpPr>
          <p:cNvPr id="22" name="Shape 15"/>
          <p:cNvSpPr/>
          <p:nvPr/>
        </p:nvSpPr>
        <p:spPr>
          <a:xfrm>
            <a:off x="8953805" y="6219749"/>
            <a:ext cx="2361895" cy="647395"/>
          </a:xfrm>
          <a:prstGeom prst="roundRect">
            <a:avLst>
              <a:gd name="adj" fmla="val 14689"/>
            </a:avLst>
          </a:prstGeom>
          <a:solidFill>
            <a:srgbClr val="FFFFFF"/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9115654" y="6362395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 txBox="1"/>
          <p:nvPr/>
        </p:nvSpPr>
        <p:spPr>
          <a:xfrm>
            <a:off x="9115654" y="6362395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9592056" y="6382512"/>
            <a:ext cx="13533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125" dirty="0"/>
          </a:p>
        </p:txBody>
      </p:sp>
      <p:sp>
        <p:nvSpPr>
          <p:cNvPr id="26" name="Text 19"/>
          <p:cNvSpPr txBox="1"/>
          <p:nvPr/>
        </p:nvSpPr>
        <p:spPr>
          <a:xfrm>
            <a:off x="9592056" y="6568135"/>
            <a:ext cx="16102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CRM</a:t>
            </a:r>
            <a:endParaRPr lang="en-US" sz="825" dirty="0"/>
          </a:p>
        </p:txBody>
      </p:sp>
      <p:sp>
        <p:nvSpPr>
          <p:cNvPr id="27" name="Shape 20"/>
          <p:cNvSpPr/>
          <p:nvPr/>
        </p:nvSpPr>
        <p:spPr>
          <a:xfrm>
            <a:off x="11430000" y="6219749"/>
            <a:ext cx="2361895" cy="647395"/>
          </a:xfrm>
          <a:prstGeom prst="roundRect">
            <a:avLst>
              <a:gd name="adj" fmla="val 14689"/>
            </a:avLst>
          </a:prstGeom>
          <a:solidFill>
            <a:srgbClr val="FFFFFF"/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11591849" y="6362395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11591849" y="6362395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12068251" y="6382512"/>
            <a:ext cx="12481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125" dirty="0"/>
          </a:p>
        </p:txBody>
      </p:sp>
      <p:sp>
        <p:nvSpPr>
          <p:cNvPr id="31" name="Text 24"/>
          <p:cNvSpPr txBox="1"/>
          <p:nvPr/>
        </p:nvSpPr>
        <p:spPr>
          <a:xfrm>
            <a:off x="12068251" y="6568135"/>
            <a:ext cx="148498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Calculos</a:t>
            </a: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825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estimaciones</a:t>
            </a:r>
            <a:endParaRPr lang="en-US" sz="825" dirty="0"/>
          </a:p>
        </p:txBody>
      </p:sp>
      <p:sp>
        <p:nvSpPr>
          <p:cNvPr id="32" name="Shape 25"/>
          <p:cNvSpPr/>
          <p:nvPr/>
        </p:nvSpPr>
        <p:spPr>
          <a:xfrm>
            <a:off x="13906195" y="6219749"/>
            <a:ext cx="2361895" cy="647395"/>
          </a:xfrm>
          <a:prstGeom prst="roundRect">
            <a:avLst>
              <a:gd name="adj" fmla="val 14689"/>
            </a:avLst>
          </a:prstGeom>
          <a:solidFill>
            <a:srgbClr val="FFFFFF"/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14068044" y="6362395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14068044" y="6362395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14544446" y="6382512"/>
            <a:ext cx="14484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125" dirty="0"/>
          </a:p>
        </p:txBody>
      </p:sp>
      <p:sp>
        <p:nvSpPr>
          <p:cNvPr id="36" name="Text 29"/>
          <p:cNvSpPr txBox="1"/>
          <p:nvPr/>
        </p:nvSpPr>
        <p:spPr>
          <a:xfrm>
            <a:off x="14544446" y="6568135"/>
            <a:ext cx="172364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Salidas</a:t>
            </a: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25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Operativas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6476695" y="8001000"/>
            <a:ext cx="3534156" cy="990295"/>
          </a:xfrm>
          <a:prstGeom prst="roundRect">
            <a:avLst>
              <a:gd name="adj" fmla="val 960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6687007" y="8210398"/>
            <a:ext cx="31153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↑</a:t>
            </a:r>
            <a:endParaRPr lang="en-US" sz="2700" dirty="0"/>
          </a:p>
        </p:txBody>
      </p:sp>
      <p:sp>
        <p:nvSpPr>
          <p:cNvPr id="39" name="Text 32"/>
          <p:cNvSpPr txBox="1"/>
          <p:nvPr/>
        </p:nvSpPr>
        <p:spPr>
          <a:xfrm>
            <a:off x="6687007" y="8648395"/>
            <a:ext cx="31153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Operabilidad</a:t>
            </a: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 </a:t>
            </a:r>
            <a:r>
              <a:rPr lang="en-US" sz="825" b="1" kern="0" spc="182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integrada</a:t>
            </a:r>
            <a:endParaRPr lang="en-US" sz="825" dirty="0"/>
          </a:p>
        </p:txBody>
      </p:sp>
      <p:sp>
        <p:nvSpPr>
          <p:cNvPr id="40" name="Shape 33"/>
          <p:cNvSpPr/>
          <p:nvPr/>
        </p:nvSpPr>
        <p:spPr>
          <a:xfrm>
            <a:off x="10140696" y="8001000"/>
            <a:ext cx="3534156" cy="990295"/>
          </a:xfrm>
          <a:prstGeom prst="roundRect">
            <a:avLst>
              <a:gd name="adj" fmla="val 960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10350094" y="8210398"/>
            <a:ext cx="31153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700" dirty="0"/>
          </a:p>
        </p:txBody>
      </p:sp>
      <p:sp>
        <p:nvSpPr>
          <p:cNvPr id="42" name="Text 35"/>
          <p:cNvSpPr txBox="1"/>
          <p:nvPr/>
        </p:nvSpPr>
        <p:spPr>
          <a:xfrm>
            <a:off x="10350094" y="8648395"/>
            <a:ext cx="31153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Reutilización</a:t>
            </a: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825" b="1" kern="0" spc="182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</a:t>
            </a:r>
            <a:endParaRPr lang="en-US" sz="825" dirty="0"/>
          </a:p>
        </p:txBody>
      </p:sp>
      <p:sp>
        <p:nvSpPr>
          <p:cNvPr id="43" name="Shape 36"/>
          <p:cNvSpPr/>
          <p:nvPr/>
        </p:nvSpPr>
        <p:spPr>
          <a:xfrm>
            <a:off x="13804697" y="8001000"/>
            <a:ext cx="3534156" cy="990295"/>
          </a:xfrm>
          <a:prstGeom prst="roundRect">
            <a:avLst>
              <a:gd name="adj" fmla="val 9603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14014094" y="8210398"/>
            <a:ext cx="311536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6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</a:t>
            </a:r>
            <a:r>
              <a:rPr lang="en-US" sz="2100" b="1" kern="0" spc="-63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común</a:t>
            </a:r>
            <a:endParaRPr lang="en-US" sz="2100" dirty="0"/>
          </a:p>
        </p:txBody>
      </p:sp>
      <p:sp>
        <p:nvSpPr>
          <p:cNvPr id="45" name="Text 38"/>
          <p:cNvSpPr txBox="1"/>
          <p:nvPr/>
        </p:nvSpPr>
        <p:spPr>
          <a:xfrm>
            <a:off x="14014094" y="8572500"/>
            <a:ext cx="31153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25" b="1" kern="0" spc="18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y menor trabajo manual</a:t>
            </a:r>
            <a:endParaRPr lang="en-US" sz="825" dirty="0"/>
          </a:p>
        </p:txBody>
      </p:sp>
      <p:sp>
        <p:nvSpPr>
          <p:cNvPr id="46" name="Text 39"/>
          <p:cNvSpPr txBox="1"/>
          <p:nvPr/>
        </p:nvSpPr>
        <p:spPr>
          <a:xfrm>
            <a:off x="6476695" y="9510674"/>
            <a:ext cx="8485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CONNECTADO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7457846" y="9430207"/>
            <a:ext cx="1104595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7457846" y="9430207"/>
            <a:ext cx="11055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ERP/CRM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8633765" y="9430207"/>
            <a:ext cx="1133856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8633765" y="9430207"/>
            <a:ext cx="11338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9842602" y="9430207"/>
            <a:ext cx="1324051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9842602" y="9430207"/>
            <a:ext cx="13240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Historico</a:t>
            </a: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Operativo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11238890" y="9430207"/>
            <a:ext cx="1086307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11238890" y="9430207"/>
            <a:ext cx="108630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de </a:t>
            </a:r>
            <a:r>
              <a:rPr lang="en-US" sz="90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Negocio</a:t>
            </a:r>
            <a:endParaRPr lang="en-US" sz="9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F4DB2F71-798F-BF6A-EE52-9C5FBE6699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416"/>
          <a:stretch>
            <a:fillRect/>
          </a:stretch>
        </p:blipFill>
        <p:spPr>
          <a:xfrm>
            <a:off x="-5984939" y="-87874"/>
            <a:ext cx="12095834" cy="10375388"/>
          </a:xfrm>
          <a:prstGeom prst="rect">
            <a:avLst/>
          </a:prstGeom>
        </p:spPr>
      </p:pic>
      <p:pic>
        <p:nvPicPr>
          <p:cNvPr id="3" name="Image 1" descr="gen-dedup-c3ec90e9ea6fed6a7eaf82e6ecb0a87b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10058" y="0"/>
            <a:ext cx="6096305" cy="10287000"/>
          </a:xfrm>
          <a:prstGeom prst="rect">
            <a:avLst/>
          </a:prstGeom>
        </p:spPr>
      </p:pic>
      <p:pic>
        <p:nvPicPr>
          <p:cNvPr id="60" name="Picture 84" descr="A logo for a company&#10;&#10;AI-generated content may be incorrect.">
            <a:extLst>
              <a:ext uri="{FF2B5EF4-FFF2-40B4-BE49-F238E27FC236}">
                <a16:creationId xmlns:a16="http://schemas.microsoft.com/office/drawing/2014/main" id="{544DE1EC-C7BE-A41F-7283-029F8089B57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649" t="37457" r="4981" b="41659"/>
          <a:stretch>
            <a:fillRect/>
          </a:stretch>
        </p:blipFill>
        <p:spPr>
          <a:xfrm>
            <a:off x="11728032" y="1919569"/>
            <a:ext cx="2076665" cy="490790"/>
          </a:xfrm>
          <a:prstGeom prst="rect">
            <a:avLst/>
          </a:prstGeom>
        </p:spPr>
      </p:pic>
      <p:pic>
        <p:nvPicPr>
          <p:cNvPr id="62" name="Image 1" descr="gen-dedup-3fc9b6bd6bd01734c54b10a0f11af3f3.png">
            <a:extLst>
              <a:ext uri="{FF2B5EF4-FFF2-40B4-BE49-F238E27FC236}">
                <a16:creationId xmlns:a16="http://schemas.microsoft.com/office/drawing/2014/main" id="{81B167B5-F151-B657-CAC2-5E25323432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E365A-9B7D-1167-C2F8-44301FB9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de91546ecaf4d0e3a30979264419291.jpg">
            <a:extLst>
              <a:ext uri="{FF2B5EF4-FFF2-40B4-BE49-F238E27FC236}">
                <a16:creationId xmlns:a16="http://schemas.microsoft.com/office/drawing/2014/main" id="{2D79B434-CBFC-5BAA-1A87-C66A5C28C9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07d4da1bf1910daef42c9babebc62b73.png">
            <a:extLst>
              <a:ext uri="{FF2B5EF4-FFF2-40B4-BE49-F238E27FC236}">
                <a16:creationId xmlns:a16="http://schemas.microsoft.com/office/drawing/2014/main" id="{87E491DC-5763-856C-AADF-01823C4587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4143146"/>
            <a:ext cx="914400" cy="38405"/>
          </a:xfrm>
          <a:prstGeom prst="rect">
            <a:avLst/>
          </a:prstGeom>
        </p:spPr>
      </p:pic>
      <p:pic>
        <p:nvPicPr>
          <p:cNvPr id="4" name="Image 2" descr="gen-dedup-88517622ce00ba509b5675516fbb8565.png">
            <a:extLst>
              <a:ext uri="{FF2B5EF4-FFF2-40B4-BE49-F238E27FC236}">
                <a16:creationId xmlns:a16="http://schemas.microsoft.com/office/drawing/2014/main" id="{397A00F3-82A3-94C5-E429-855240F0F5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6954805" y="1143000"/>
            <a:ext cx="19202" cy="8001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6E2830E-D988-74DD-8675-18C07893B4E3}"/>
              </a:ext>
            </a:extLst>
          </p:cNvPr>
          <p:cNvSpPr txBox="1"/>
          <p:nvPr/>
        </p:nvSpPr>
        <p:spPr>
          <a:xfrm>
            <a:off x="1143000" y="7616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E655637-ED9C-F44A-0F57-8601EE4B4412}"/>
              </a:ext>
            </a:extLst>
          </p:cNvPr>
          <p:cNvSpPr txBox="1"/>
          <p:nvPr/>
        </p:nvSpPr>
        <p:spPr>
          <a:xfrm>
            <a:off x="1143000" y="3619195"/>
            <a:ext cx="7620610" cy="293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b="1" kern="0" spc="-1050" dirty="0">
                <a:solidFill>
                  <a:srgbClr val="E6A817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7CB2E0A-E30C-F350-CFFA-8D22E90EA53D}"/>
              </a:ext>
            </a:extLst>
          </p:cNvPr>
          <p:cNvSpPr txBox="1"/>
          <p:nvPr/>
        </p:nvSpPr>
        <p:spPr>
          <a:xfrm>
            <a:off x="3238805" y="4429354"/>
            <a:ext cx="9525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3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</a:t>
            </a:r>
            <a:r>
              <a:rPr lang="en-US" sz="1200" b="1" kern="0" spc="33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Agentiva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E8737DF-A661-F93F-5939-A93043E7A099}"/>
              </a:ext>
            </a:extLst>
          </p:cNvPr>
          <p:cNvSpPr txBox="1"/>
          <p:nvPr/>
        </p:nvSpPr>
        <p:spPr>
          <a:xfrm>
            <a:off x="3238805" y="4858207"/>
            <a:ext cx="13335610" cy="1429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0" b="1" kern="0" spc="-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Nuestros </a:t>
            </a:r>
            <a:r>
              <a:rPr lang="en-US" sz="11250" b="1" kern="0" spc="-450" dirty="0" err="1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</a:t>
            </a:r>
            <a:endParaRPr lang="en-US" sz="11250" dirty="0">
              <a:solidFill>
                <a:srgbClr val="FFC000"/>
              </a:solidFill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B5D02F9-6977-15CC-0698-9E7BAAB4B2DD}"/>
              </a:ext>
            </a:extLst>
          </p:cNvPr>
          <p:cNvSpPr txBox="1"/>
          <p:nvPr/>
        </p:nvSpPr>
        <p:spPr>
          <a:xfrm>
            <a:off x="3238805" y="6953098"/>
            <a:ext cx="12382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75"/>
              </a:lnSpc>
              <a:buNone/>
            </a:pPr>
            <a:endParaRPr lang="en-US" sz="2250" dirty="0"/>
          </a:p>
        </p:txBody>
      </p:sp>
      <p:pic>
        <p:nvPicPr>
          <p:cNvPr id="12" name="Image 4" descr="gen-dedup-265bb08fe2905cdc8d45275c3826a70d.png">
            <a:extLst>
              <a:ext uri="{FF2B5EF4-FFF2-40B4-BE49-F238E27FC236}">
                <a16:creationId xmlns:a16="http://schemas.microsoft.com/office/drawing/2014/main" id="{4652B623-1D54-47D0-40DE-B8C353E40A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0" r="-10"/>
          <a:stretch/>
        </p:blipFill>
        <p:spPr>
          <a:xfrm>
            <a:off x="3238805" y="8762695"/>
            <a:ext cx="13334695" cy="6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760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15bfef8bdeb5f3df44df7e375e5e6d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143500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9430207" y="5143500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6476695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430207" y="6476695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7810805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430207" y="7810805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11" name="Image 3" descr="gen-dedup-21010b4c20abbbcb8e45be4e38abdc38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2190902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corre en producción</a:t>
            </a:r>
            <a:endParaRPr lang="en-US" sz="1125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2619756"/>
            <a:ext cx="14287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</a:t>
            </a:r>
            <a:r>
              <a:rPr lang="en-US" sz="4650" b="1" kern="0" spc="-13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</a:t>
            </a:r>
            <a:r>
              <a:rPr lang="en-US" sz="4650" b="1" kern="0" spc="-1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4650" b="1" kern="0" spc="-139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Catalogados</a:t>
            </a: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4650" dirty="0"/>
          </a:p>
        </p:txBody>
      </p:sp>
      <p:sp>
        <p:nvSpPr>
          <p:cNvPr id="15" name="Shape 9"/>
          <p:cNvSpPr/>
          <p:nvPr/>
        </p:nvSpPr>
        <p:spPr>
          <a:xfrm>
            <a:off x="1143000" y="3810305"/>
            <a:ext cx="16002000" cy="1181405"/>
          </a:xfrm>
          <a:prstGeom prst="rect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 txBox="1"/>
          <p:nvPr/>
        </p:nvSpPr>
        <p:spPr>
          <a:xfrm>
            <a:off x="1143000" y="4028846"/>
            <a:ext cx="36960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</a:t>
            </a:r>
            <a:endParaRPr lang="en-US" sz="825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4238244"/>
            <a:ext cx="36960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10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3450" dirty="0"/>
          </a:p>
        </p:txBody>
      </p:sp>
      <p:sp>
        <p:nvSpPr>
          <p:cNvPr id="18" name="Shape 12"/>
          <p:cNvSpPr/>
          <p:nvPr/>
        </p:nvSpPr>
        <p:spPr>
          <a:xfrm>
            <a:off x="5143500" y="3819449"/>
            <a:ext cx="9144" cy="116220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5458054" y="4028846"/>
            <a:ext cx="33814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en producción</a:t>
            </a:r>
            <a:endParaRPr lang="en-US" sz="825" dirty="0"/>
          </a:p>
        </p:txBody>
      </p:sp>
      <p:sp>
        <p:nvSpPr>
          <p:cNvPr id="20" name="Text 14"/>
          <p:cNvSpPr txBox="1"/>
          <p:nvPr/>
        </p:nvSpPr>
        <p:spPr>
          <a:xfrm>
            <a:off x="5458054" y="4238244"/>
            <a:ext cx="3381451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10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14+</a:t>
            </a:r>
            <a:endParaRPr lang="en-US" sz="3450" dirty="0"/>
          </a:p>
        </p:txBody>
      </p:sp>
      <p:sp>
        <p:nvSpPr>
          <p:cNvPr id="21" name="Shape 15"/>
          <p:cNvSpPr/>
          <p:nvPr/>
        </p:nvSpPr>
        <p:spPr>
          <a:xfrm>
            <a:off x="9144000" y="3819449"/>
            <a:ext cx="9144" cy="116220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9458554" y="4028846"/>
            <a:ext cx="33814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Sectores cubiertos</a:t>
            </a:r>
            <a:endParaRPr lang="en-US" sz="825" dirty="0"/>
          </a:p>
        </p:txBody>
      </p:sp>
      <p:sp>
        <p:nvSpPr>
          <p:cNvPr id="23" name="Text 17"/>
          <p:cNvSpPr txBox="1"/>
          <p:nvPr/>
        </p:nvSpPr>
        <p:spPr>
          <a:xfrm>
            <a:off x="9458554" y="4238244"/>
            <a:ext cx="3381451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10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3450" dirty="0"/>
          </a:p>
        </p:txBody>
      </p:sp>
      <p:sp>
        <p:nvSpPr>
          <p:cNvPr id="24" name="Shape 18"/>
          <p:cNvSpPr/>
          <p:nvPr/>
        </p:nvSpPr>
        <p:spPr>
          <a:xfrm>
            <a:off x="13144500" y="3819449"/>
            <a:ext cx="9144" cy="116220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13459054" y="4028846"/>
            <a:ext cx="33814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a producción</a:t>
            </a:r>
            <a:endParaRPr lang="en-US" sz="825" dirty="0"/>
          </a:p>
        </p:txBody>
      </p:sp>
      <p:sp>
        <p:nvSpPr>
          <p:cNvPr id="26" name="Text 20"/>
          <p:cNvSpPr txBox="1"/>
          <p:nvPr/>
        </p:nvSpPr>
        <p:spPr>
          <a:xfrm>
            <a:off x="13459054" y="4238244"/>
            <a:ext cx="3381451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10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6–14 sem</a:t>
            </a:r>
            <a:endParaRPr lang="en-US" sz="3450" dirty="0"/>
          </a:p>
        </p:txBody>
      </p:sp>
      <p:sp>
        <p:nvSpPr>
          <p:cNvPr id="27" name="Text 21"/>
          <p:cNvSpPr txBox="1"/>
          <p:nvPr/>
        </p:nvSpPr>
        <p:spPr>
          <a:xfrm>
            <a:off x="1371600" y="533369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825" dirty="0"/>
          </a:p>
        </p:txBody>
      </p:sp>
      <p:sp>
        <p:nvSpPr>
          <p:cNvPr id="28" name="Text 22"/>
          <p:cNvSpPr txBox="1"/>
          <p:nvPr/>
        </p:nvSpPr>
        <p:spPr>
          <a:xfrm>
            <a:off x="1371600" y="5486400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Correo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1371600" y="5781751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Bandeja operativa 24/7, en su idioma.</a:t>
            </a:r>
            <a:endParaRPr lang="en-US" sz="975" dirty="0"/>
          </a:p>
        </p:txBody>
      </p:sp>
      <p:sp>
        <p:nvSpPr>
          <p:cNvPr id="30" name="Text 24"/>
          <p:cNvSpPr txBox="1"/>
          <p:nvPr/>
        </p:nvSpPr>
        <p:spPr>
          <a:xfrm>
            <a:off x="7524598" y="5486400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75" dirty="0"/>
          </a:p>
        </p:txBody>
      </p:sp>
      <p:sp>
        <p:nvSpPr>
          <p:cNvPr id="31" name="Text 25"/>
          <p:cNvSpPr txBox="1"/>
          <p:nvPr/>
        </p:nvSpPr>
        <p:spPr>
          <a:xfrm>
            <a:off x="9658807" y="533369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825" dirty="0"/>
          </a:p>
        </p:txBody>
      </p:sp>
      <p:sp>
        <p:nvSpPr>
          <p:cNvPr id="32" name="Text 26"/>
          <p:cNvSpPr txBox="1"/>
          <p:nvPr/>
        </p:nvSpPr>
        <p:spPr>
          <a:xfrm>
            <a:off x="9658807" y="5486400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y Oferta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9658807" y="5781751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Pliego a BC3 firmado en dos horas.</a:t>
            </a:r>
            <a:endParaRPr lang="en-US" sz="975" dirty="0"/>
          </a:p>
        </p:txBody>
      </p:sp>
      <p:sp>
        <p:nvSpPr>
          <p:cNvPr id="34" name="Text 28"/>
          <p:cNvSpPr txBox="1"/>
          <p:nvPr/>
        </p:nvSpPr>
        <p:spPr>
          <a:xfrm>
            <a:off x="15811805" y="5486400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975" dirty="0"/>
          </a:p>
        </p:txBody>
      </p:sp>
      <p:sp>
        <p:nvSpPr>
          <p:cNvPr id="35" name="Text 29"/>
          <p:cNvSpPr txBox="1"/>
          <p:nvPr/>
        </p:nvSpPr>
        <p:spPr>
          <a:xfrm>
            <a:off x="1371600" y="666780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825" dirty="0"/>
          </a:p>
        </p:txBody>
      </p:sp>
      <p:sp>
        <p:nvSpPr>
          <p:cNvPr id="36" name="Text 30"/>
          <p:cNvSpPr txBox="1"/>
          <p:nvPr/>
        </p:nvSpPr>
        <p:spPr>
          <a:xfrm>
            <a:off x="1371600" y="6819595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Voz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1371600" y="7114946"/>
            <a:ext cx="34006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Llamadas atendidas, estructuradas, escaladas.</a:t>
            </a:r>
            <a:endParaRPr lang="en-US" sz="975" dirty="0"/>
          </a:p>
        </p:txBody>
      </p:sp>
      <p:sp>
        <p:nvSpPr>
          <p:cNvPr id="38" name="Text 32"/>
          <p:cNvSpPr txBox="1"/>
          <p:nvPr/>
        </p:nvSpPr>
        <p:spPr>
          <a:xfrm>
            <a:off x="7524598" y="6819595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975" dirty="0"/>
          </a:p>
        </p:txBody>
      </p:sp>
      <p:sp>
        <p:nvSpPr>
          <p:cNvPr id="39" name="Text 33"/>
          <p:cNvSpPr txBox="1"/>
          <p:nvPr/>
        </p:nvSpPr>
        <p:spPr>
          <a:xfrm>
            <a:off x="9658807" y="666780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825" dirty="0"/>
          </a:p>
        </p:txBody>
      </p:sp>
      <p:sp>
        <p:nvSpPr>
          <p:cNvPr id="40" name="Text 34"/>
          <p:cNvSpPr txBox="1"/>
          <p:nvPr/>
        </p:nvSpPr>
        <p:spPr>
          <a:xfrm>
            <a:off x="9658807" y="6819595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CRM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9658807" y="7114946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al día. Pipeline enriquecido.</a:t>
            </a:r>
            <a:endParaRPr lang="en-US" sz="975" dirty="0"/>
          </a:p>
        </p:txBody>
      </p:sp>
      <p:sp>
        <p:nvSpPr>
          <p:cNvPr id="42" name="Text 36"/>
          <p:cNvSpPr txBox="1"/>
          <p:nvPr/>
        </p:nvSpPr>
        <p:spPr>
          <a:xfrm>
            <a:off x="15811805" y="6819595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1371600" y="8001000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825" dirty="0"/>
          </a:p>
        </p:txBody>
      </p:sp>
      <p:sp>
        <p:nvSpPr>
          <p:cNvPr id="44" name="Text 38"/>
          <p:cNvSpPr txBox="1"/>
          <p:nvPr/>
        </p:nvSpPr>
        <p:spPr>
          <a:xfrm>
            <a:off x="1371600" y="8153705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Multicanal</a:t>
            </a:r>
            <a:endParaRPr lang="en-US" sz="1500" dirty="0"/>
          </a:p>
        </p:txBody>
      </p:sp>
      <p:sp>
        <p:nvSpPr>
          <p:cNvPr id="45" name="Text 39"/>
          <p:cNvSpPr txBox="1"/>
          <p:nvPr/>
        </p:nvSpPr>
        <p:spPr>
          <a:xfrm>
            <a:off x="1371600" y="8449056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Correos a ERP. Stock-aware.</a:t>
            </a:r>
            <a:endParaRPr lang="en-US" sz="975" dirty="0"/>
          </a:p>
        </p:txBody>
      </p:sp>
      <p:sp>
        <p:nvSpPr>
          <p:cNvPr id="46" name="Text 40"/>
          <p:cNvSpPr txBox="1"/>
          <p:nvPr/>
        </p:nvSpPr>
        <p:spPr>
          <a:xfrm>
            <a:off x="7524598" y="8153705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975" dirty="0"/>
          </a:p>
        </p:txBody>
      </p:sp>
      <p:sp>
        <p:nvSpPr>
          <p:cNvPr id="47" name="Text 41"/>
          <p:cNvSpPr txBox="1"/>
          <p:nvPr/>
        </p:nvSpPr>
        <p:spPr>
          <a:xfrm>
            <a:off x="9658807" y="8001000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825" dirty="0"/>
          </a:p>
        </p:txBody>
      </p:sp>
      <p:sp>
        <p:nvSpPr>
          <p:cNvPr id="48" name="Text 42"/>
          <p:cNvSpPr txBox="1"/>
          <p:nvPr/>
        </p:nvSpPr>
        <p:spPr>
          <a:xfrm>
            <a:off x="9658807" y="8153705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y Docs</a:t>
            </a:r>
            <a:endParaRPr lang="en-US" sz="1500" dirty="0"/>
          </a:p>
        </p:txBody>
      </p:sp>
      <p:sp>
        <p:nvSpPr>
          <p:cNvPr id="49" name="Text 43"/>
          <p:cNvSpPr txBox="1"/>
          <p:nvPr/>
        </p:nvSpPr>
        <p:spPr>
          <a:xfrm>
            <a:off x="9658807" y="8449056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Notas, facturas, conciliación.</a:t>
            </a:r>
            <a:endParaRPr lang="en-US" sz="975" dirty="0"/>
          </a:p>
        </p:txBody>
      </p:sp>
      <p:sp>
        <p:nvSpPr>
          <p:cNvPr id="50" name="Text 44"/>
          <p:cNvSpPr txBox="1"/>
          <p:nvPr/>
        </p:nvSpPr>
        <p:spPr>
          <a:xfrm>
            <a:off x="15811805" y="8153705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975" dirty="0"/>
          </a:p>
        </p:txBody>
      </p:sp>
      <p:sp>
        <p:nvSpPr>
          <p:cNvPr id="51" name="Text 45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continuación, una página por agente y un caso de producción emparejado.</a:t>
            </a:r>
            <a:endParaRPr lang="en-US" sz="975" dirty="0"/>
          </a:p>
        </p:txBody>
      </p:sp>
      <p:sp>
        <p:nvSpPr>
          <p:cNvPr id="52" name="Text 46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/ 50</a:t>
            </a:r>
            <a:endParaRPr lang="en-US" sz="9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4695" y="0"/>
            <a:ext cx="4953305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gen-dedup-19ad3cfe06ac7578f60b702bacbfe975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13334695" y="0"/>
            <a:ext cx="4953305" cy="10287000"/>
          </a:xfrm>
          <a:prstGeom prst="rect">
            <a:avLst/>
          </a:prstGeom>
        </p:spPr>
      </p:pic>
      <p:pic>
        <p:nvPicPr>
          <p:cNvPr id="5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350" dirty="0"/>
          </a:p>
        </p:txBody>
      </p:sp>
      <p:sp>
        <p:nvSpPr>
          <p:cNvPr id="8" name="Text 3"/>
          <p:cNvSpPr txBox="1"/>
          <p:nvPr/>
        </p:nvSpPr>
        <p:spPr>
          <a:xfrm>
            <a:off x="1886407" y="2115007"/>
            <a:ext cx="22009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de email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857500"/>
            <a:ext cx="11239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Correo.</a:t>
            </a:r>
            <a:endParaRPr lang="en-US" sz="55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3733495"/>
            <a:ext cx="11239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kern="0" spc="-8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buzón corporativo trabajando solo, 24/7.</a:t>
            </a:r>
            <a:endParaRPr lang="en-US" sz="1650" dirty="0"/>
          </a:p>
        </p:txBody>
      </p:sp>
      <p:sp>
        <p:nvSpPr>
          <p:cNvPr id="11" name="Text 6"/>
          <p:cNvSpPr txBox="1"/>
          <p:nvPr/>
        </p:nvSpPr>
        <p:spPr>
          <a:xfrm>
            <a:off x="1181405" y="4304995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Vigila el buzón, lee cada correo, extrae la intención y compone un borrador fundamentado en su documentación. El operario revisa, no redacta.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524805"/>
            <a:ext cx="11239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345082" y="5905195"/>
            <a:ext cx="292516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24/7 del correo entrante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29907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231075" y="5905195"/>
            <a:ext cx="38633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con RAG sobre su documentación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345082" y="6292901"/>
            <a:ext cx="34774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completa por conversación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29907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231075" y="6292901"/>
            <a:ext cx="289041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Bandeja de validación con un clic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345082" y="6681521"/>
            <a:ext cx="27660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 sus plantillas y su tono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29907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7231075" y="6681521"/>
            <a:ext cx="349940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Escribe en el ERP desde la conversación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1143000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1"/>
          <p:cNvSpPr txBox="1"/>
          <p:nvPr/>
        </p:nvSpPr>
        <p:spPr>
          <a:xfrm>
            <a:off x="1143000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2221078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3"/>
          <p:cNvSpPr txBox="1"/>
          <p:nvPr/>
        </p:nvSpPr>
        <p:spPr>
          <a:xfrm>
            <a:off x="2221078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9" name="Shape 24"/>
          <p:cNvSpPr/>
          <p:nvPr/>
        </p:nvSpPr>
        <p:spPr>
          <a:xfrm>
            <a:off x="2894990" y="8762695"/>
            <a:ext cx="6473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5"/>
          <p:cNvSpPr txBox="1"/>
          <p:nvPr/>
        </p:nvSpPr>
        <p:spPr>
          <a:xfrm>
            <a:off x="2894990" y="8762695"/>
            <a:ext cx="6483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3631997" y="8762695"/>
            <a:ext cx="590702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7"/>
          <p:cNvSpPr txBox="1"/>
          <p:nvPr/>
        </p:nvSpPr>
        <p:spPr>
          <a:xfrm>
            <a:off x="3631997" y="8762695"/>
            <a:ext cx="5907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975" dirty="0"/>
          </a:p>
        </p:txBody>
      </p:sp>
      <p:sp>
        <p:nvSpPr>
          <p:cNvPr id="33" name="Shape 28"/>
          <p:cNvSpPr/>
          <p:nvPr/>
        </p:nvSpPr>
        <p:spPr>
          <a:xfrm>
            <a:off x="4310482" y="8762695"/>
            <a:ext cx="129570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9"/>
          <p:cNvSpPr txBox="1"/>
          <p:nvPr/>
        </p:nvSpPr>
        <p:spPr>
          <a:xfrm>
            <a:off x="4310482" y="8762695"/>
            <a:ext cx="12957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Graph</a:t>
            </a:r>
            <a:endParaRPr lang="en-US" sz="975" dirty="0"/>
          </a:p>
        </p:txBody>
      </p:sp>
      <p:sp>
        <p:nvSpPr>
          <p:cNvPr id="35" name="Shape 30"/>
          <p:cNvSpPr/>
          <p:nvPr/>
        </p:nvSpPr>
        <p:spPr>
          <a:xfrm>
            <a:off x="5696712" y="8762695"/>
            <a:ext cx="56235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5696712" y="8762695"/>
            <a:ext cx="562356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</a:t>
            </a:r>
            <a:endParaRPr lang="en-US" sz="975" dirty="0"/>
          </a:p>
        </p:txBody>
      </p:sp>
      <p:sp>
        <p:nvSpPr>
          <p:cNvPr id="37" name="Text 32"/>
          <p:cNvSpPr txBox="1"/>
          <p:nvPr/>
        </p:nvSpPr>
        <p:spPr>
          <a:xfrm>
            <a:off x="14287500" y="19046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0A0F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del borrador</a:t>
            </a:r>
            <a:endParaRPr lang="en-US" sz="825" dirty="0"/>
          </a:p>
        </p:txBody>
      </p:sp>
      <p:pic>
        <p:nvPicPr>
          <p:cNvPr id="38" name="Image 3" descr="gen-dedup-50d3e7a98fe574315dfc6babce433886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14287500" y="2286000"/>
            <a:ext cx="3619195" cy="236372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4525244" y="2505456"/>
            <a:ext cx="31437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0A0F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De: comercial@cliente.eu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4525244" y="2704795"/>
            <a:ext cx="3143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¿Confirmáis que el pedido 2024-0871 ha salido? Necesito el albarán.</a:t>
            </a:r>
            <a:endParaRPr lang="en-US" sz="1050" dirty="0"/>
          </a:p>
        </p:txBody>
      </p:sp>
      <p:pic>
        <p:nvPicPr>
          <p:cNvPr id="41" name="Image 4" descr="gen-dedup-c6b19a81574acf00f6b41fa9d34d3528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14525244" y="3211373"/>
            <a:ext cx="3143707" cy="914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4525244" y="3354934"/>
            <a:ext cx="31437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Borrador generado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4525244" y="3573475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0A0F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Sí, salió ayer a las 14:20. Adjunto albarán A-9981. Quedamos a su disposición.</a:t>
            </a:r>
            <a:endParaRPr lang="en-US" sz="975" dirty="0"/>
          </a:p>
        </p:txBody>
      </p:sp>
      <p:sp>
        <p:nvSpPr>
          <p:cNvPr id="44" name="Text 37"/>
          <p:cNvSpPr txBox="1"/>
          <p:nvPr/>
        </p:nvSpPr>
        <p:spPr>
          <a:xfrm>
            <a:off x="14525244" y="4116629"/>
            <a:ext cx="886054" cy="295351"/>
          </a:xfrm>
          <a:prstGeom prst="rect">
            <a:avLst/>
          </a:prstGeom>
          <a:solidFill>
            <a:srgbClr val="E6A81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Aprobar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5503652" y="4116629"/>
            <a:ext cx="648310" cy="295351"/>
          </a:xfrm>
          <a:prstGeom prst="rect">
            <a:avLst/>
          </a:prstGeom>
          <a:noFill/>
          <a:ln w="12700">
            <a:solidFill>
              <a:srgbClr val="0A0F1E">
                <a:alpha val="2000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Editar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14287500" y="7105802"/>
            <a:ext cx="962863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A5A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GALMETEC</a:t>
            </a:r>
            <a:endParaRPr lang="en-US" sz="975" dirty="0"/>
          </a:p>
        </p:txBody>
      </p:sp>
      <p:sp>
        <p:nvSpPr>
          <p:cNvPr id="47" name="Text 40"/>
          <p:cNvSpPr txBox="1"/>
          <p:nvPr/>
        </p:nvSpPr>
        <p:spPr>
          <a:xfrm>
            <a:off x="15317114" y="7105802"/>
            <a:ext cx="619963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A5A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975" dirty="0"/>
          </a:p>
        </p:txBody>
      </p:sp>
      <p:sp>
        <p:nvSpPr>
          <p:cNvPr id="48" name="Text 41"/>
          <p:cNvSpPr txBox="1"/>
          <p:nvPr/>
        </p:nvSpPr>
        <p:spPr>
          <a:xfrm>
            <a:off x="14287500" y="6858000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0A0F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49" name="Text 42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de producción a continuación.</a:t>
            </a:r>
            <a:endParaRPr lang="en-US" sz="975" dirty="0"/>
          </a:p>
        </p:txBody>
      </p:sp>
      <p:sp>
        <p:nvSpPr>
          <p:cNvPr id="50" name="Text 43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/ 50</a:t>
            </a:r>
            <a:endParaRPr lang="en-US" sz="975" dirty="0"/>
          </a:p>
        </p:txBody>
      </p:sp>
      <p:pic>
        <p:nvPicPr>
          <p:cNvPr id="51" name="Image 5" descr="gen-dedup-07466eeb8f632ca5cc757630dee65b9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382805" y="3429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4C48-0A6F-5290-020C-B89007AC9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>
            <a:extLst>
              <a:ext uri="{FF2B5EF4-FFF2-40B4-BE49-F238E27FC236}">
                <a16:creationId xmlns:a16="http://schemas.microsoft.com/office/drawing/2014/main" id="{9F12EFD8-933C-C029-DEE6-401709CD21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57F7F52-0FA5-C57B-C098-774089F32F23}"/>
              </a:ext>
            </a:extLst>
          </p:cNvPr>
          <p:cNvSpPr/>
          <p:nvPr/>
        </p:nvSpPr>
        <p:spPr>
          <a:xfrm>
            <a:off x="1143000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00F4E5F-2F5C-126C-7A15-C9D144F29046}"/>
              </a:ext>
            </a:extLst>
          </p:cNvPr>
          <p:cNvSpPr/>
          <p:nvPr/>
        </p:nvSpPr>
        <p:spPr>
          <a:xfrm>
            <a:off x="1143000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65D1DA5-30A8-ADBF-F638-7D48C3771A08}"/>
              </a:ext>
            </a:extLst>
          </p:cNvPr>
          <p:cNvSpPr/>
          <p:nvPr/>
        </p:nvSpPr>
        <p:spPr>
          <a:xfrm>
            <a:off x="1143000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741DDBB-B41C-A4D7-823D-9DBF2E2AD3DA}"/>
              </a:ext>
            </a:extLst>
          </p:cNvPr>
          <p:cNvSpPr/>
          <p:nvPr/>
        </p:nvSpPr>
        <p:spPr>
          <a:xfrm>
            <a:off x="1143000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gen-dedup-fac80e9e021134ca9d35aa6425fc9f26.png">
            <a:extLst>
              <a:ext uri="{FF2B5EF4-FFF2-40B4-BE49-F238E27FC236}">
                <a16:creationId xmlns:a16="http://schemas.microsoft.com/office/drawing/2014/main" id="{470007B0-D51F-CF82-2A0A-AA99435B02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CBFBB771-817A-8555-2E17-4E85A6DA55B5}"/>
              </a:ext>
            </a:extLst>
          </p:cNvPr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A0B1EC4-4FE0-E14E-A5BF-F9F8E98BF722}"/>
              </a:ext>
            </a:extLst>
          </p:cNvPr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4485962E-F43B-579C-7DEA-D85216065894}"/>
              </a:ext>
            </a:extLst>
          </p:cNvPr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7F9E154-3537-DE2B-2CCD-90C2DC7AF7AC}"/>
              </a:ext>
            </a:extLst>
          </p:cNvPr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81851CEF-4A31-0C4F-AD4A-8F25020B6D3B}"/>
              </a:ext>
            </a:extLst>
          </p:cNvPr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gen-dedup-8a9a28c3a9840776409e917f9ceffe15.png">
            <a:extLst>
              <a:ext uri="{FF2B5EF4-FFF2-40B4-BE49-F238E27FC236}">
                <a16:creationId xmlns:a16="http://schemas.microsoft.com/office/drawing/2014/main" id="{75365EA9-162C-6C46-9AA3-1846718A86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134356"/>
            <a:ext cx="685800" cy="685800"/>
          </a:xfrm>
          <a:prstGeom prst="rect">
            <a:avLst/>
          </a:prstGeom>
        </p:spPr>
      </p:pic>
      <p:pic>
        <p:nvPicPr>
          <p:cNvPr id="14" name="Image 3" descr="gen-dedup-8a9a28c3a9840776409e917f9ceffe15.png">
            <a:extLst>
              <a:ext uri="{FF2B5EF4-FFF2-40B4-BE49-F238E27FC236}">
                <a16:creationId xmlns:a16="http://schemas.microsoft.com/office/drawing/2014/main" id="{21672B6B-303E-D434-B38E-4BEFD17D1D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334049"/>
            <a:ext cx="685800" cy="685800"/>
          </a:xfrm>
          <a:prstGeom prst="rect">
            <a:avLst/>
          </a:prstGeom>
        </p:spPr>
      </p:pic>
      <p:pic>
        <p:nvPicPr>
          <p:cNvPr id="15" name="Image 4" descr="gen-dedup-8a9a28c3a9840776409e917f9ceffe15.png">
            <a:extLst>
              <a:ext uri="{FF2B5EF4-FFF2-40B4-BE49-F238E27FC236}">
                <a16:creationId xmlns:a16="http://schemas.microsoft.com/office/drawing/2014/main" id="{D4EE1010-E707-87B9-2831-38B771E454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7534656"/>
            <a:ext cx="685800" cy="685800"/>
          </a:xfrm>
          <a:prstGeom prst="rect">
            <a:avLst/>
          </a:prstGeom>
        </p:spPr>
      </p:pic>
      <p:pic>
        <p:nvPicPr>
          <p:cNvPr id="16" name="Image 5" descr="gen-dedup-25ca77fad41c44e392459a669cb46686.png">
            <a:extLst>
              <a:ext uri="{FF2B5EF4-FFF2-40B4-BE49-F238E27FC236}">
                <a16:creationId xmlns:a16="http://schemas.microsoft.com/office/drawing/2014/main" id="{BBB1016C-BC37-92A5-318C-33357E92432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734349"/>
            <a:ext cx="685800" cy="685800"/>
          </a:xfrm>
          <a:prstGeom prst="rect">
            <a:avLst/>
          </a:prstGeom>
        </p:spPr>
      </p:pic>
      <p:pic>
        <p:nvPicPr>
          <p:cNvPr id="17" name="Image 6" descr="gen-dedup-4fd6ab27e8b90bd8fc3508b3072b05e0.png">
            <a:extLst>
              <a:ext uri="{FF2B5EF4-FFF2-40B4-BE49-F238E27FC236}">
                <a16:creationId xmlns:a16="http://schemas.microsoft.com/office/drawing/2014/main" id="{D2BA0C8C-28AB-C08B-1CB7-2694FBCE365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8" name="Image 7" descr="gen-dedup-260dd6da6acb35cd082fc331d2743917.png">
            <a:extLst>
              <a:ext uri="{FF2B5EF4-FFF2-40B4-BE49-F238E27FC236}">
                <a16:creationId xmlns:a16="http://schemas.microsoft.com/office/drawing/2014/main" id="{6E3BEA47-90F8-5937-AB49-A0C2B62A9D9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9600" y="8781898"/>
            <a:ext cx="533095" cy="533095"/>
          </a:xfrm>
          <a:prstGeom prst="rect">
            <a:avLst/>
          </a:prstGeom>
        </p:spPr>
      </p:pic>
      <p:pic>
        <p:nvPicPr>
          <p:cNvPr id="19" name="Image 8" descr="gen-dedup-25ca77fad41c44e392459a669cb46686.png">
            <a:extLst>
              <a:ext uri="{FF2B5EF4-FFF2-40B4-BE49-F238E27FC236}">
                <a16:creationId xmlns:a16="http://schemas.microsoft.com/office/drawing/2014/main" id="{86AC5BA3-1A04-7AC8-0221-EC6F7A7591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20" name="Image 9" descr="gen-dedup-8a9a28c3a9840776409e917f9ceffe15.png">
            <a:extLst>
              <a:ext uri="{FF2B5EF4-FFF2-40B4-BE49-F238E27FC236}">
                <a16:creationId xmlns:a16="http://schemas.microsoft.com/office/drawing/2014/main" id="{32F81B0D-F81A-E60C-B8DB-4C02622BCF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1" name="Image 10" descr="gen-dedup-8a9a28c3a9840776409e917f9ceffe15.png">
            <a:extLst>
              <a:ext uri="{FF2B5EF4-FFF2-40B4-BE49-F238E27FC236}">
                <a16:creationId xmlns:a16="http://schemas.microsoft.com/office/drawing/2014/main" id="{AB3DA7A6-7553-5EF9-AEA1-DAC62BC17C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2" name="Image 11" descr="gen-dedup-25ca77fad41c44e392459a669cb46686.png">
            <a:extLst>
              <a:ext uri="{FF2B5EF4-FFF2-40B4-BE49-F238E27FC236}">
                <a16:creationId xmlns:a16="http://schemas.microsoft.com/office/drawing/2014/main" id="{B42B921E-FB6B-3CC8-440E-CF325E3048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3" name="Image 12" descr="gen-dedup-6b1fea6ef9cf700851503bcdb8011f45.png">
            <a:extLst>
              <a:ext uri="{FF2B5EF4-FFF2-40B4-BE49-F238E27FC236}">
                <a16:creationId xmlns:a16="http://schemas.microsoft.com/office/drawing/2014/main" id="{BE68F50F-E90E-7849-20C7-D39BE98AF8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4" name="Image 13" descr="gen-dedup-07d4da1bf1910daef42c9babebc62b73.png">
            <a:extLst>
              <a:ext uri="{FF2B5EF4-FFF2-40B4-BE49-F238E27FC236}">
                <a16:creationId xmlns:a16="http://schemas.microsoft.com/office/drawing/2014/main" id="{51804404-59DE-B35C-BF0E-8EBF2B9ACCC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5" name="Image 14" descr="gen-dedup-5023fea922589d6909f6d48e2362d329.png">
            <a:extLst>
              <a:ext uri="{FF2B5EF4-FFF2-40B4-BE49-F238E27FC236}">
                <a16:creationId xmlns:a16="http://schemas.microsoft.com/office/drawing/2014/main" id="{74959CB3-CEB3-6FED-DD88-3DFF5D300AD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447495" y="5266944"/>
            <a:ext cx="409651" cy="409651"/>
          </a:xfrm>
          <a:prstGeom prst="rect">
            <a:avLst/>
          </a:prstGeom>
        </p:spPr>
      </p:pic>
      <p:pic>
        <p:nvPicPr>
          <p:cNvPr id="26" name="Image 15" descr="gen-dedup-04a6c6595c9dff6b95c3b59c31d72678.png">
            <a:extLst>
              <a:ext uri="{FF2B5EF4-FFF2-40B4-BE49-F238E27FC236}">
                <a16:creationId xmlns:a16="http://schemas.microsoft.com/office/drawing/2014/main" id="{CE2278CC-CA83-6649-634D-84E4EC585C9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7495" y="6467551"/>
            <a:ext cx="409651" cy="409651"/>
          </a:xfrm>
          <a:prstGeom prst="rect">
            <a:avLst/>
          </a:prstGeom>
        </p:spPr>
      </p:pic>
      <p:pic>
        <p:nvPicPr>
          <p:cNvPr id="27" name="Image 16" descr="gen-dedup-e65a801e1d2e7d7f545c66da47e65295.png">
            <a:extLst>
              <a:ext uri="{FF2B5EF4-FFF2-40B4-BE49-F238E27FC236}">
                <a16:creationId xmlns:a16="http://schemas.microsoft.com/office/drawing/2014/main" id="{1CE4A756-F654-9A74-7D45-B0B93FB0C03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447495" y="7667244"/>
            <a:ext cx="409651" cy="409651"/>
          </a:xfrm>
          <a:prstGeom prst="rect">
            <a:avLst/>
          </a:prstGeom>
        </p:spPr>
      </p:pic>
      <p:pic>
        <p:nvPicPr>
          <p:cNvPr id="28" name="Image 17" descr="gen-dedup-fc23fc46cc0b8a7a71b92116d7c65e62.png">
            <a:extLst>
              <a:ext uri="{FF2B5EF4-FFF2-40B4-BE49-F238E27FC236}">
                <a16:creationId xmlns:a16="http://schemas.microsoft.com/office/drawing/2014/main" id="{5DE74EFB-F34B-383D-9644-8A697B45AF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9" name="Image 18" descr="gen-dedup-1fccdd897c6e68de427f95f9a1ba34cb.png">
            <a:extLst>
              <a:ext uri="{FF2B5EF4-FFF2-40B4-BE49-F238E27FC236}">
                <a16:creationId xmlns:a16="http://schemas.microsoft.com/office/drawing/2014/main" id="{352E1729-4E79-9ADE-969C-12F813D37F6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34756" y="8887054"/>
            <a:ext cx="323698" cy="323698"/>
          </a:xfrm>
          <a:prstGeom prst="rect">
            <a:avLst/>
          </a:prstGeom>
        </p:spPr>
      </p:pic>
      <p:pic>
        <p:nvPicPr>
          <p:cNvPr id="30" name="Image 19" descr="gen-dedup-367a927f5b78b4bbee80af254fbb37ad.png">
            <a:extLst>
              <a:ext uri="{FF2B5EF4-FFF2-40B4-BE49-F238E27FC236}">
                <a16:creationId xmlns:a16="http://schemas.microsoft.com/office/drawing/2014/main" id="{5D860361-1FB2-C341-F90F-E4E6370352A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420795" y="6467551"/>
            <a:ext cx="409651" cy="409651"/>
          </a:xfrm>
          <a:prstGeom prst="rect">
            <a:avLst/>
          </a:prstGeom>
        </p:spPr>
      </p:pic>
      <p:pic>
        <p:nvPicPr>
          <p:cNvPr id="31" name="Image 20" descr="gen-dedup-1d344c7a59f5a91386bffe2900bacfe0.png">
            <a:extLst>
              <a:ext uri="{FF2B5EF4-FFF2-40B4-BE49-F238E27FC236}">
                <a16:creationId xmlns:a16="http://schemas.microsoft.com/office/drawing/2014/main" id="{D609F989-1359-8752-45B9-193577ECC1E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50000" b="-50000"/>
          <a:stretch/>
        </p:blipFill>
        <p:spPr>
          <a:xfrm>
            <a:off x="16420795" y="7667244"/>
            <a:ext cx="409651" cy="409651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2BB375DA-43AD-9292-7104-F908EE17EF90}"/>
              </a:ext>
            </a:extLst>
          </p:cNvPr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C01</a:t>
            </a:r>
            <a:endParaRPr lang="en-US" sz="975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ACD10B52-D224-286C-6362-3B1A4154C2BA}"/>
              </a:ext>
            </a:extLst>
          </p:cNvPr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25C3ABC-2FD1-22B9-6E4A-BE53202563CA}"/>
              </a:ext>
            </a:extLst>
          </p:cNvPr>
          <p:cNvSpPr txBox="1"/>
          <p:nvPr/>
        </p:nvSpPr>
        <p:spPr>
          <a:xfrm>
            <a:off x="1334110" y="2214677"/>
            <a:ext cx="3246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35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411E3EB9-27B6-F55A-57DD-5467BB9B6EAF}"/>
              </a:ext>
            </a:extLst>
          </p:cNvPr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de email · Qué entra, qué sale</a:t>
            </a:r>
            <a:endParaRPr lang="en-US" sz="1125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33A252F3-6CAB-D3D6-AC65-1EE43E77EC10}"/>
              </a:ext>
            </a:extLst>
          </p:cNvPr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Correo.</a:t>
            </a:r>
            <a:endParaRPr lang="en-US" sz="585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96F11452-12AD-9B0F-2ACB-8AA796DFC253}"/>
              </a:ext>
            </a:extLst>
          </p:cNvPr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buzón corporativo trabajando solo, 24/7.</a:t>
            </a:r>
            <a:endParaRPr lang="en-US" sz="195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1FF55B76-4261-384F-C0EC-D9ADF58CA978}"/>
              </a:ext>
            </a:extLst>
          </p:cNvPr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B33AD9BD-8BC0-90A3-DD1E-76E6360EEBA2}"/>
              </a:ext>
            </a:extLst>
          </p:cNvPr>
          <p:cNvSpPr/>
          <p:nvPr/>
        </p:nvSpPr>
        <p:spPr>
          <a:xfrm>
            <a:off x="1238280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12E7556F-EE1A-50EF-B533-C37D9E004F92}"/>
              </a:ext>
            </a:extLst>
          </p:cNvPr>
          <p:cNvSpPr txBox="1"/>
          <p:nvPr/>
        </p:nvSpPr>
        <p:spPr>
          <a:xfrm>
            <a:off x="1238280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7C8DDE03-F164-6032-FAFC-FBF9E8D1A0EB}"/>
              </a:ext>
            </a:extLst>
          </p:cNvPr>
          <p:cNvSpPr/>
          <p:nvPr/>
        </p:nvSpPr>
        <p:spPr>
          <a:xfrm>
            <a:off x="13505688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7E852243-5781-D2C6-1743-449654D80130}"/>
              </a:ext>
            </a:extLst>
          </p:cNvPr>
          <p:cNvSpPr txBox="1"/>
          <p:nvPr/>
        </p:nvSpPr>
        <p:spPr>
          <a:xfrm>
            <a:off x="13505688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8F043313-0B28-FAEE-F177-B78949EBA7C1}"/>
              </a:ext>
            </a:extLst>
          </p:cNvPr>
          <p:cNvSpPr/>
          <p:nvPr/>
        </p:nvSpPr>
        <p:spPr>
          <a:xfrm>
            <a:off x="14160398" y="2533802"/>
            <a:ext cx="65745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8ED4DA5B-8186-7478-6E57-C0EAA1DD3228}"/>
              </a:ext>
            </a:extLst>
          </p:cNvPr>
          <p:cNvSpPr txBox="1"/>
          <p:nvPr/>
        </p:nvSpPr>
        <p:spPr>
          <a:xfrm>
            <a:off x="14160398" y="2533802"/>
            <a:ext cx="6574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1125" dirty="0"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37052563-ED73-C6D8-B11A-43E714E4F664}"/>
              </a:ext>
            </a:extLst>
          </p:cNvPr>
          <p:cNvSpPr/>
          <p:nvPr/>
        </p:nvSpPr>
        <p:spPr>
          <a:xfrm>
            <a:off x="14890090" y="2533802"/>
            <a:ext cx="5907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CB3CD3BB-9EAD-7A96-FE28-451B109F76F6}"/>
              </a:ext>
            </a:extLst>
          </p:cNvPr>
          <p:cNvSpPr txBox="1"/>
          <p:nvPr/>
        </p:nvSpPr>
        <p:spPr>
          <a:xfrm>
            <a:off x="14890090" y="2533802"/>
            <a:ext cx="5907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125" dirty="0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44F0812F-9512-214E-364F-646FF6EFE014}"/>
              </a:ext>
            </a:extLst>
          </p:cNvPr>
          <p:cNvSpPr/>
          <p:nvPr/>
        </p:nvSpPr>
        <p:spPr>
          <a:xfrm>
            <a:off x="15550286" y="2533802"/>
            <a:ext cx="1410005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26E36382-3FAA-BBF6-F798-02D6CDFE805D}"/>
              </a:ext>
            </a:extLst>
          </p:cNvPr>
          <p:cNvSpPr txBox="1"/>
          <p:nvPr/>
        </p:nvSpPr>
        <p:spPr>
          <a:xfrm>
            <a:off x="15550286" y="2533802"/>
            <a:ext cx="14100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Graph</a:t>
            </a:r>
            <a:endParaRPr lang="en-US" sz="1125" dirty="0"/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739E3C3C-32F5-0436-BDC8-8E0D8B4A494A}"/>
              </a:ext>
            </a:extLst>
          </p:cNvPr>
          <p:cNvSpPr/>
          <p:nvPr/>
        </p:nvSpPr>
        <p:spPr>
          <a:xfrm>
            <a:off x="12382805" y="2905049"/>
            <a:ext cx="56235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EECD13FA-390B-2047-2F2D-6A243A728404}"/>
              </a:ext>
            </a:extLst>
          </p:cNvPr>
          <p:cNvSpPr txBox="1"/>
          <p:nvPr/>
        </p:nvSpPr>
        <p:spPr>
          <a:xfrm>
            <a:off x="12382805" y="2905049"/>
            <a:ext cx="5623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</a:t>
            </a:r>
            <a:endParaRPr lang="en-US" sz="1125" dirty="0"/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97FF4646-4DB4-CD6F-2289-57C4EC9B130A}"/>
              </a:ext>
            </a:extLst>
          </p:cNvPr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0FBBC0BF-9BFD-1D50-6602-561B67E105D2}"/>
              </a:ext>
            </a:extLst>
          </p:cNvPr>
          <p:cNvSpPr/>
          <p:nvPr/>
        </p:nvSpPr>
        <p:spPr>
          <a:xfrm>
            <a:off x="12382805" y="3829507"/>
            <a:ext cx="1086307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6D889A1C-74E8-3159-1022-4FA3C391441C}"/>
              </a:ext>
            </a:extLst>
          </p:cNvPr>
          <p:cNvSpPr txBox="1"/>
          <p:nvPr/>
        </p:nvSpPr>
        <p:spPr>
          <a:xfrm>
            <a:off x="12382805" y="3829507"/>
            <a:ext cx="1086307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GALMETEC</a:t>
            </a:r>
            <a:endParaRPr lang="en-US" sz="1125" dirty="0"/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DE1F4C39-A386-A628-A151-7B8665B09846}"/>
              </a:ext>
            </a:extLst>
          </p:cNvPr>
          <p:cNvSpPr/>
          <p:nvPr/>
        </p:nvSpPr>
        <p:spPr>
          <a:xfrm>
            <a:off x="13542264" y="3829507"/>
            <a:ext cx="69494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A12821C0-0717-35BF-A9A4-58001B48883C}"/>
              </a:ext>
            </a:extLst>
          </p:cNvPr>
          <p:cNvSpPr txBox="1"/>
          <p:nvPr/>
        </p:nvSpPr>
        <p:spPr>
          <a:xfrm>
            <a:off x="13542264" y="3829507"/>
            <a:ext cx="6958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1125" dirty="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8FF915B2-DE64-818B-BA4E-87C1D49FBC60}"/>
              </a:ext>
            </a:extLst>
          </p:cNvPr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EFC45F80-8F3D-95F4-6A5A-8DA92086E521}"/>
              </a:ext>
            </a:extLst>
          </p:cNvPr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4814BDC9-A13A-0EEE-1540-8E5B03B92F1C}"/>
              </a:ext>
            </a:extLst>
          </p:cNvPr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2AB8243B-194D-489E-7BE2-AE64055119B1}"/>
              </a:ext>
            </a:extLst>
          </p:cNvPr>
          <p:cNvSpPr txBox="1"/>
          <p:nvPr/>
        </p:nvSpPr>
        <p:spPr>
          <a:xfrm>
            <a:off x="21717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</a:t>
            </a:r>
            <a:endParaRPr lang="en-US" sz="1725" dirty="0"/>
          </a:p>
        </p:txBody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5BE33411-D828-ECBF-F656-1E6E3AF6EE2A}"/>
              </a:ext>
            </a:extLst>
          </p:cNvPr>
          <p:cNvSpPr txBox="1"/>
          <p:nvPr/>
        </p:nvSpPr>
        <p:spPr>
          <a:xfrm>
            <a:off x="21717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Buzón vía IMAP</a:t>
            </a:r>
            <a:endParaRPr lang="en-US" sz="1275" dirty="0"/>
          </a:p>
        </p:txBody>
      </p:sp>
      <p:sp>
        <p:nvSpPr>
          <p:cNvPr id="61" name="Text 38">
            <a:extLst>
              <a:ext uri="{FF2B5EF4-FFF2-40B4-BE49-F238E27FC236}">
                <a16:creationId xmlns:a16="http://schemas.microsoft.com/office/drawing/2014/main" id="{042D1B2D-E997-4D64-3751-D9EA8880226F}"/>
              </a:ext>
            </a:extLst>
          </p:cNvPr>
          <p:cNvSpPr txBox="1"/>
          <p:nvPr/>
        </p:nvSpPr>
        <p:spPr>
          <a:xfrm>
            <a:off x="21717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 / 365</a:t>
            </a:r>
            <a:endParaRPr lang="en-US" sz="1725" dirty="0"/>
          </a:p>
        </p:txBody>
      </p:sp>
      <p:sp>
        <p:nvSpPr>
          <p:cNvPr id="62" name="Text 39">
            <a:extLst>
              <a:ext uri="{FF2B5EF4-FFF2-40B4-BE49-F238E27FC236}">
                <a16:creationId xmlns:a16="http://schemas.microsoft.com/office/drawing/2014/main" id="{A742C428-899B-EB09-C8E2-BCDDBA23C782}"/>
              </a:ext>
            </a:extLst>
          </p:cNvPr>
          <p:cNvSpPr txBox="1"/>
          <p:nvPr/>
        </p:nvSpPr>
        <p:spPr>
          <a:xfrm>
            <a:off x="21717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Graph</a:t>
            </a:r>
            <a:endParaRPr lang="en-US" sz="1275" dirty="0"/>
          </a:p>
        </p:txBody>
      </p:sp>
      <p:sp>
        <p:nvSpPr>
          <p:cNvPr id="63" name="Text 40">
            <a:extLst>
              <a:ext uri="{FF2B5EF4-FFF2-40B4-BE49-F238E27FC236}">
                <a16:creationId xmlns:a16="http://schemas.microsoft.com/office/drawing/2014/main" id="{43DCCBF7-95F4-6E9D-EB97-F29709815ABA}"/>
              </a:ext>
            </a:extLst>
          </p:cNvPr>
          <p:cNvSpPr txBox="1"/>
          <p:nvPr/>
        </p:nvSpPr>
        <p:spPr>
          <a:xfrm>
            <a:off x="21717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Adjuntos</a:t>
            </a:r>
            <a:endParaRPr lang="en-US" sz="1725" dirty="0"/>
          </a:p>
        </p:txBody>
      </p:sp>
      <p:sp>
        <p:nvSpPr>
          <p:cNvPr id="64" name="Text 41">
            <a:extLst>
              <a:ext uri="{FF2B5EF4-FFF2-40B4-BE49-F238E27FC236}">
                <a16:creationId xmlns:a16="http://schemas.microsoft.com/office/drawing/2014/main" id="{6AA6B06E-0EBF-7BF8-AB3C-291B20FED07D}"/>
              </a:ext>
            </a:extLst>
          </p:cNvPr>
          <p:cNvSpPr txBox="1"/>
          <p:nvPr/>
        </p:nvSpPr>
        <p:spPr>
          <a:xfrm>
            <a:off x="21717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Pedidos, PDFs, planos</a:t>
            </a:r>
            <a:endParaRPr lang="en-US" sz="1275" dirty="0"/>
          </a:p>
        </p:txBody>
      </p:sp>
      <p:pic>
        <p:nvPicPr>
          <p:cNvPr id="65" name="Image 21" descr="gen-dedup-ac40fa232d571b071085c7ad71be911e.png">
            <a:extLst>
              <a:ext uri="{FF2B5EF4-FFF2-40B4-BE49-F238E27FC236}">
                <a16:creationId xmlns:a16="http://schemas.microsoft.com/office/drawing/2014/main" id="{7D2F82CF-6927-2326-0ED2-90F5714D6B3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6698" y="8887054"/>
            <a:ext cx="381305" cy="381305"/>
          </a:xfrm>
          <a:prstGeom prst="rect">
            <a:avLst/>
          </a:prstGeom>
        </p:spPr>
      </p:pic>
      <p:sp>
        <p:nvSpPr>
          <p:cNvPr id="66" name="Text 42">
            <a:extLst>
              <a:ext uri="{FF2B5EF4-FFF2-40B4-BE49-F238E27FC236}">
                <a16:creationId xmlns:a16="http://schemas.microsoft.com/office/drawing/2014/main" id="{57A79294-4D9D-2C16-47C6-5AD6E7E56F2B}"/>
              </a:ext>
            </a:extLst>
          </p:cNvPr>
          <p:cNvSpPr txBox="1"/>
          <p:nvPr/>
        </p:nvSpPr>
        <p:spPr>
          <a:xfrm>
            <a:off x="21717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documentación</a:t>
            </a:r>
            <a:endParaRPr lang="en-US" sz="1725" dirty="0"/>
          </a:p>
        </p:txBody>
      </p:sp>
      <p:sp>
        <p:nvSpPr>
          <p:cNvPr id="67" name="Text 43">
            <a:extLst>
              <a:ext uri="{FF2B5EF4-FFF2-40B4-BE49-F238E27FC236}">
                <a16:creationId xmlns:a16="http://schemas.microsoft.com/office/drawing/2014/main" id="{66CDA811-7C5B-832D-D717-32309CA53A87}"/>
              </a:ext>
            </a:extLst>
          </p:cNvPr>
          <p:cNvSpPr txBox="1"/>
          <p:nvPr/>
        </p:nvSpPr>
        <p:spPr>
          <a:xfrm>
            <a:off x="21717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conocimiento</a:t>
            </a:r>
            <a:endParaRPr lang="en-US" sz="1275" dirty="0"/>
          </a:p>
        </p:txBody>
      </p:sp>
      <p:pic>
        <p:nvPicPr>
          <p:cNvPr id="68" name="Image 22" descr="gen-dedup-625f6ee98a837ce7c94bde031f58a71e.png">
            <a:extLst>
              <a:ext uri="{FF2B5EF4-FFF2-40B4-BE49-F238E27FC236}">
                <a16:creationId xmlns:a16="http://schemas.microsoft.com/office/drawing/2014/main" id="{0DA2A424-2F18-2C17-A810-1F604CCE7FA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9" name="Text 44">
            <a:extLst>
              <a:ext uri="{FF2B5EF4-FFF2-40B4-BE49-F238E27FC236}">
                <a16:creationId xmlns:a16="http://schemas.microsoft.com/office/drawing/2014/main" id="{03541172-8692-33FB-1217-E06BBA37570B}"/>
              </a:ext>
            </a:extLst>
          </p:cNvPr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C01</a:t>
            </a:r>
            <a:endParaRPr lang="en-US" sz="900" dirty="0"/>
          </a:p>
        </p:txBody>
      </p:sp>
      <p:sp>
        <p:nvSpPr>
          <p:cNvPr id="70" name="Text 45">
            <a:extLst>
              <a:ext uri="{FF2B5EF4-FFF2-40B4-BE49-F238E27FC236}">
                <a16:creationId xmlns:a16="http://schemas.microsoft.com/office/drawing/2014/main" id="{B6739307-24CA-CAE1-5BC3-5C6778C4CE6B}"/>
              </a:ext>
            </a:extLst>
          </p:cNvPr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Correo</a:t>
            </a:r>
            <a:endParaRPr lang="en-US" sz="2250" dirty="0"/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3237A043-AA2D-52E1-DE34-1AC45BAD96F6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47">
            <a:extLst>
              <a:ext uri="{FF2B5EF4-FFF2-40B4-BE49-F238E27FC236}">
                <a16:creationId xmlns:a16="http://schemas.microsoft.com/office/drawing/2014/main" id="{A31D666B-97AA-5357-4127-BB3008568092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73" name="Text 48">
            <a:extLst>
              <a:ext uri="{FF2B5EF4-FFF2-40B4-BE49-F238E27FC236}">
                <a16:creationId xmlns:a16="http://schemas.microsoft.com/office/drawing/2014/main" id="{1E7601B1-81A7-5072-8033-FBCC8DB122A0}"/>
              </a:ext>
            </a:extLst>
          </p:cNvPr>
          <p:cNvSpPr txBox="1"/>
          <p:nvPr/>
        </p:nvSpPr>
        <p:spPr>
          <a:xfrm>
            <a:off x="7524598" y="6986930"/>
            <a:ext cx="351038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Extrae la intención de cada correo</a:t>
            </a:r>
            <a:endParaRPr lang="en-US" sz="1425" dirty="0"/>
          </a:p>
        </p:txBody>
      </p:sp>
      <p:sp>
        <p:nvSpPr>
          <p:cNvPr id="74" name="Shape 49">
            <a:extLst>
              <a:ext uri="{FF2B5EF4-FFF2-40B4-BE49-F238E27FC236}">
                <a16:creationId xmlns:a16="http://schemas.microsoft.com/office/drawing/2014/main" id="{8A07E715-BDBB-4F2B-57B6-750912A3D4AB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0">
            <a:extLst>
              <a:ext uri="{FF2B5EF4-FFF2-40B4-BE49-F238E27FC236}">
                <a16:creationId xmlns:a16="http://schemas.microsoft.com/office/drawing/2014/main" id="{58C983A9-2735-6E30-2688-F45DED5A7670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6" name="Text 51">
            <a:extLst>
              <a:ext uri="{FF2B5EF4-FFF2-40B4-BE49-F238E27FC236}">
                <a16:creationId xmlns:a16="http://schemas.microsoft.com/office/drawing/2014/main" id="{5B60F26E-0638-4CC7-73A4-47AA0A87B55A}"/>
              </a:ext>
            </a:extLst>
          </p:cNvPr>
          <p:cNvSpPr txBox="1"/>
          <p:nvPr/>
        </p:nvSpPr>
        <p:spPr>
          <a:xfrm>
            <a:off x="7524598" y="7386523"/>
            <a:ext cx="28117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 contexto con RAG</a:t>
            </a:r>
            <a:endParaRPr lang="en-US" sz="1425" dirty="0"/>
          </a:p>
        </p:txBody>
      </p:sp>
      <p:sp>
        <p:nvSpPr>
          <p:cNvPr id="77" name="Shape 52">
            <a:extLst>
              <a:ext uri="{FF2B5EF4-FFF2-40B4-BE49-F238E27FC236}">
                <a16:creationId xmlns:a16="http://schemas.microsoft.com/office/drawing/2014/main" id="{D1FD02BF-5FF6-93E2-C148-30E8949633B3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53">
            <a:extLst>
              <a:ext uri="{FF2B5EF4-FFF2-40B4-BE49-F238E27FC236}">
                <a16:creationId xmlns:a16="http://schemas.microsoft.com/office/drawing/2014/main" id="{5350FB08-85C4-1716-38BD-C7701E5B0BD2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9" name="Text 54">
            <a:extLst>
              <a:ext uri="{FF2B5EF4-FFF2-40B4-BE49-F238E27FC236}">
                <a16:creationId xmlns:a16="http://schemas.microsoft.com/office/drawing/2014/main" id="{52F66D60-B558-AAC6-ECC8-656E114A528C}"/>
              </a:ext>
            </a:extLst>
          </p:cNvPr>
          <p:cNvSpPr txBox="1"/>
          <p:nvPr/>
        </p:nvSpPr>
        <p:spPr>
          <a:xfrm>
            <a:off x="7524598" y="7787030"/>
            <a:ext cx="329915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Redacta el borrador con su tono</a:t>
            </a:r>
            <a:endParaRPr lang="en-US" sz="1425" dirty="0"/>
          </a:p>
        </p:txBody>
      </p:sp>
      <p:sp>
        <p:nvSpPr>
          <p:cNvPr id="80" name="Shape 55">
            <a:extLst>
              <a:ext uri="{FF2B5EF4-FFF2-40B4-BE49-F238E27FC236}">
                <a16:creationId xmlns:a16="http://schemas.microsoft.com/office/drawing/2014/main" id="{A8C09413-C8F7-C76B-9800-6B265A2D3387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56">
            <a:extLst>
              <a:ext uri="{FF2B5EF4-FFF2-40B4-BE49-F238E27FC236}">
                <a16:creationId xmlns:a16="http://schemas.microsoft.com/office/drawing/2014/main" id="{64425465-FD0F-91E5-CC7F-8CCAF0A05372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57">
            <a:extLst>
              <a:ext uri="{FF2B5EF4-FFF2-40B4-BE49-F238E27FC236}">
                <a16:creationId xmlns:a16="http://schemas.microsoft.com/office/drawing/2014/main" id="{B4CA1E70-60C3-98BC-7D35-BD69072FB6BD}"/>
              </a:ext>
            </a:extLst>
          </p:cNvPr>
          <p:cNvSpPr txBox="1"/>
          <p:nvPr/>
        </p:nvSpPr>
        <p:spPr>
          <a:xfrm>
            <a:off x="7524598" y="8186623"/>
            <a:ext cx="343357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Bandeja de validación con un clic</a:t>
            </a:r>
            <a:endParaRPr lang="en-US" sz="1425" dirty="0"/>
          </a:p>
        </p:txBody>
      </p:sp>
      <p:sp>
        <p:nvSpPr>
          <p:cNvPr id="83" name="Shape 58">
            <a:extLst>
              <a:ext uri="{FF2B5EF4-FFF2-40B4-BE49-F238E27FC236}">
                <a16:creationId xmlns:a16="http://schemas.microsoft.com/office/drawing/2014/main" id="{EFC96D58-74EA-2201-E98D-0BFEE85467BC}"/>
              </a:ext>
            </a:extLst>
          </p:cNvPr>
          <p:cNvSpPr/>
          <p:nvPr/>
        </p:nvSpPr>
        <p:spPr>
          <a:xfrm>
            <a:off x="887699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59">
            <a:extLst>
              <a:ext uri="{FF2B5EF4-FFF2-40B4-BE49-F238E27FC236}">
                <a16:creationId xmlns:a16="http://schemas.microsoft.com/office/drawing/2014/main" id="{255F1867-95A6-5C35-A439-31172A6D0CD5}"/>
              </a:ext>
            </a:extLst>
          </p:cNvPr>
          <p:cNvSpPr txBox="1"/>
          <p:nvPr/>
        </p:nvSpPr>
        <p:spPr>
          <a:xfrm>
            <a:off x="8985809" y="8953805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200" dirty="0"/>
          </a:p>
        </p:txBody>
      </p:sp>
      <p:sp>
        <p:nvSpPr>
          <p:cNvPr id="85" name="Shape 60">
            <a:extLst>
              <a:ext uri="{FF2B5EF4-FFF2-40B4-BE49-F238E27FC236}">
                <a16:creationId xmlns:a16="http://schemas.microsoft.com/office/drawing/2014/main" id="{4A8DBBA7-19C4-7872-044F-8F1373603B1D}"/>
              </a:ext>
            </a:extLst>
          </p:cNvPr>
          <p:cNvSpPr/>
          <p:nvPr/>
        </p:nvSpPr>
        <p:spPr>
          <a:xfrm>
            <a:off x="952530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61">
            <a:extLst>
              <a:ext uri="{FF2B5EF4-FFF2-40B4-BE49-F238E27FC236}">
                <a16:creationId xmlns:a16="http://schemas.microsoft.com/office/drawing/2014/main" id="{2D81B169-59F4-AD65-9699-8FD4E74A2F07}"/>
              </a:ext>
            </a:extLst>
          </p:cNvPr>
          <p:cNvSpPr txBox="1"/>
          <p:nvPr/>
        </p:nvSpPr>
        <p:spPr>
          <a:xfrm>
            <a:off x="9628632" y="8953805"/>
            <a:ext cx="333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200" dirty="0"/>
          </a:p>
        </p:txBody>
      </p:sp>
      <p:pic>
        <p:nvPicPr>
          <p:cNvPr id="87" name="Image 23" descr="gen-dedup-9f2da3d601bd1ff2962f48734b24ef49.png">
            <a:extLst>
              <a:ext uri="{FF2B5EF4-FFF2-40B4-BE49-F238E27FC236}">
                <a16:creationId xmlns:a16="http://schemas.microsoft.com/office/drawing/2014/main" id="{0F06BB82-7E5A-71AC-AB7E-E4DE32C99155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pic>
        <p:nvPicPr>
          <p:cNvPr id="88" name="Image 24" descr="gen-dedup-71b00cf5f6514620cb71554ff6b3cc3e.png">
            <a:extLst>
              <a:ext uri="{FF2B5EF4-FFF2-40B4-BE49-F238E27FC236}">
                <a16:creationId xmlns:a16="http://schemas.microsoft.com/office/drawing/2014/main" id="{3913FA62-0E54-E05F-462A-BBDECDB4947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5286146"/>
            <a:ext cx="381305" cy="381305"/>
          </a:xfrm>
          <a:prstGeom prst="rect">
            <a:avLst/>
          </a:prstGeom>
        </p:spPr>
      </p:pic>
      <p:sp>
        <p:nvSpPr>
          <p:cNvPr id="89" name="Text 62">
            <a:extLst>
              <a:ext uri="{FF2B5EF4-FFF2-40B4-BE49-F238E27FC236}">
                <a16:creationId xmlns:a16="http://schemas.microsoft.com/office/drawing/2014/main" id="{AACF7582-385B-7B7C-2C3A-211C527459C1}"/>
              </a:ext>
            </a:extLst>
          </p:cNvPr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enviada</a:t>
            </a:r>
            <a:endParaRPr lang="en-US" sz="1725" dirty="0"/>
          </a:p>
        </p:txBody>
      </p:sp>
      <p:sp>
        <p:nvSpPr>
          <p:cNvPr id="90" name="Text 63">
            <a:extLst>
              <a:ext uri="{FF2B5EF4-FFF2-40B4-BE49-F238E27FC236}">
                <a16:creationId xmlns:a16="http://schemas.microsoft.com/office/drawing/2014/main" id="{E3F4C4CE-B939-B071-5C05-929F6ABD3D96}"/>
              </a:ext>
            </a:extLst>
          </p:cNvPr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Aprobada por el operario</a:t>
            </a:r>
            <a:endParaRPr lang="en-US" sz="1275" dirty="0"/>
          </a:p>
        </p:txBody>
      </p:sp>
      <p:sp>
        <p:nvSpPr>
          <p:cNvPr id="91" name="Text 64">
            <a:extLst>
              <a:ext uri="{FF2B5EF4-FFF2-40B4-BE49-F238E27FC236}">
                <a16:creationId xmlns:a16="http://schemas.microsoft.com/office/drawing/2014/main" id="{D86D1726-A1B6-4316-B256-D4CE093572BE}"/>
              </a:ext>
            </a:extLst>
          </p:cNvPr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endParaRPr lang="en-US" sz="1725" dirty="0"/>
          </a:p>
        </p:txBody>
      </p:sp>
      <p:sp>
        <p:nvSpPr>
          <p:cNvPr id="92" name="Text 65">
            <a:extLst>
              <a:ext uri="{FF2B5EF4-FFF2-40B4-BE49-F238E27FC236}">
                <a16:creationId xmlns:a16="http://schemas.microsoft.com/office/drawing/2014/main" id="{B5E9C803-CD2C-0918-5040-7DF7AD8DC732}"/>
              </a:ext>
            </a:extLst>
          </p:cNvPr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 escrita en el ERP</a:t>
            </a:r>
            <a:endParaRPr lang="en-US" sz="1275" dirty="0"/>
          </a:p>
        </p:txBody>
      </p:sp>
      <p:sp>
        <p:nvSpPr>
          <p:cNvPr id="93" name="Text 66">
            <a:extLst>
              <a:ext uri="{FF2B5EF4-FFF2-40B4-BE49-F238E27FC236}">
                <a16:creationId xmlns:a16="http://schemas.microsoft.com/office/drawing/2014/main" id="{3B1091D7-EA4A-87BB-766D-446697FA94E5}"/>
              </a:ext>
            </a:extLst>
          </p:cNvPr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</a:t>
            </a:r>
            <a:endParaRPr lang="en-US" sz="1725" dirty="0"/>
          </a:p>
        </p:txBody>
      </p:sp>
      <p:sp>
        <p:nvSpPr>
          <p:cNvPr id="94" name="Text 67">
            <a:extLst>
              <a:ext uri="{FF2B5EF4-FFF2-40B4-BE49-F238E27FC236}">
                <a16:creationId xmlns:a16="http://schemas.microsoft.com/office/drawing/2014/main" id="{73957148-3D3A-7036-BE75-C055B4D9F3D5}"/>
              </a:ext>
            </a:extLst>
          </p:cNvPr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Escritura en el ERP</a:t>
            </a:r>
            <a:endParaRPr lang="en-US" sz="1275" dirty="0"/>
          </a:p>
        </p:txBody>
      </p:sp>
      <p:pic>
        <p:nvPicPr>
          <p:cNvPr id="95" name="Image 25" descr="gen-dedup-cae6b8a028f3769cc79ae636363cc91c.png">
            <a:extLst>
              <a:ext uri="{FF2B5EF4-FFF2-40B4-BE49-F238E27FC236}">
                <a16:creationId xmlns:a16="http://schemas.microsoft.com/office/drawing/2014/main" id="{0261FC63-4384-43F1-DD97-87AECC76C97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96" name="Text 68">
            <a:extLst>
              <a:ext uri="{FF2B5EF4-FFF2-40B4-BE49-F238E27FC236}">
                <a16:creationId xmlns:a16="http://schemas.microsoft.com/office/drawing/2014/main" id="{41D35D0A-8331-696B-DE81-83EBA05F995C}"/>
              </a:ext>
            </a:extLst>
          </p:cNvPr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 completa</a:t>
            </a:r>
            <a:endParaRPr lang="en-US" sz="1725" dirty="0"/>
          </a:p>
        </p:txBody>
      </p:sp>
      <p:sp>
        <p:nvSpPr>
          <p:cNvPr id="97" name="Text 69">
            <a:extLst>
              <a:ext uri="{FF2B5EF4-FFF2-40B4-BE49-F238E27FC236}">
                <a16:creationId xmlns:a16="http://schemas.microsoft.com/office/drawing/2014/main" id="{7C44F8A7-527E-3D61-5ACE-712907518E0D}"/>
              </a:ext>
            </a:extLst>
          </p:cNvPr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conversación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1990900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66a5b88e39208e3929c3b95f9e026ca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714500" y="7239305"/>
            <a:ext cx="4572000" cy="4572000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 · 32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51094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Licitaciones y ofertas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Oferta.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expediente de licitación al BC3 firmado en dos horas.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Recibe el pliego, rescata precios reales de su histórico, calcula la oferta y emite una hoja de pre-cierre con go/no-go. No es una respuesta GPT genérica: es una oferta defendible.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380573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automático de PCAP, PPT y anexos.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33329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Recuperación de precios por similitud.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31400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Rango de incertidumbre por partida.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287944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pre-cierre con go/no-go.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221101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Salidas BC3, Excel y PDF.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325343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hasta la fuente histórica.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1815998" y="8762695"/>
            <a:ext cx="590702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1815998" y="8762695"/>
            <a:ext cx="5907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494483" y="8762695"/>
            <a:ext cx="59984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494483" y="8762695"/>
            <a:ext cx="6007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181198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181198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BC3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3851453" y="8762695"/>
            <a:ext cx="752551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3851453" y="8762695"/>
            <a:ext cx="7525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4287500" y="19046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pre-cierre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4287500" y="2286000"/>
            <a:ext cx="3619195" cy="321960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14525244" y="2505456"/>
            <a:ext cx="3143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Expediente</a:t>
            </a:r>
            <a:endParaRPr lang="en-US" sz="825" dirty="0"/>
          </a:p>
        </p:txBody>
      </p:sp>
      <p:sp>
        <p:nvSpPr>
          <p:cNvPr id="37" name="Text 32"/>
          <p:cNvSpPr txBox="1"/>
          <p:nvPr/>
        </p:nvSpPr>
        <p:spPr>
          <a:xfrm>
            <a:off x="14525244" y="2695651"/>
            <a:ext cx="31437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Rehabilitación CEIP-248</a:t>
            </a:r>
            <a:endParaRPr lang="en-US" sz="1350" dirty="0"/>
          </a:p>
        </p:txBody>
      </p:sp>
      <p:pic>
        <p:nvPicPr>
          <p:cNvPr id="38" name="Image 3" descr="gen-dedup-033619add12ab067c5823d4161e19aa1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14525244" y="3029407"/>
            <a:ext cx="3143707" cy="914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4525244" y="3172054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</a:t>
            </a:r>
            <a:endParaRPr lang="en-US" sz="825" dirty="0"/>
          </a:p>
        </p:txBody>
      </p:sp>
      <p:sp>
        <p:nvSpPr>
          <p:cNvPr id="40" name="Text 34"/>
          <p:cNvSpPr txBox="1"/>
          <p:nvPr/>
        </p:nvSpPr>
        <p:spPr>
          <a:xfrm>
            <a:off x="14525244" y="3305556"/>
            <a:ext cx="1505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1 243 800 €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16163849" y="3172054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Rango</a:t>
            </a:r>
            <a:endParaRPr lang="en-US" sz="825" dirty="0"/>
          </a:p>
        </p:txBody>
      </p:sp>
      <p:sp>
        <p:nvSpPr>
          <p:cNvPr id="42" name="Text 36"/>
          <p:cNvSpPr txBox="1"/>
          <p:nvPr/>
        </p:nvSpPr>
        <p:spPr>
          <a:xfrm>
            <a:off x="16163849" y="3305556"/>
            <a:ext cx="1505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 4,8%</a:t>
            </a:r>
            <a:endParaRPr 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14525244" y="3600907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Capítulos</a:t>
            </a:r>
            <a:endParaRPr lang="en-US" sz="825" dirty="0"/>
          </a:p>
        </p:txBody>
      </p:sp>
      <p:sp>
        <p:nvSpPr>
          <p:cNvPr id="44" name="Text 38"/>
          <p:cNvSpPr txBox="1"/>
          <p:nvPr/>
        </p:nvSpPr>
        <p:spPr>
          <a:xfrm>
            <a:off x="14525244" y="3733495"/>
            <a:ext cx="1505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50" dirty="0"/>
          </a:p>
        </p:txBody>
      </p:sp>
      <p:sp>
        <p:nvSpPr>
          <p:cNvPr id="45" name="Text 39"/>
          <p:cNvSpPr txBox="1"/>
          <p:nvPr/>
        </p:nvSpPr>
        <p:spPr>
          <a:xfrm>
            <a:off x="16163849" y="3600907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 temeraria</a:t>
            </a:r>
            <a:endParaRPr lang="en-US" sz="825" dirty="0"/>
          </a:p>
        </p:txBody>
      </p:sp>
      <p:sp>
        <p:nvSpPr>
          <p:cNvPr id="46" name="Text 40"/>
          <p:cNvSpPr txBox="1"/>
          <p:nvPr/>
        </p:nvSpPr>
        <p:spPr>
          <a:xfrm>
            <a:off x="16163849" y="3733495"/>
            <a:ext cx="1505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−12,4%</a:t>
            </a:r>
            <a:endParaRPr lang="en-US" sz="1350" dirty="0"/>
          </a:p>
        </p:txBody>
      </p:sp>
      <p:sp>
        <p:nvSpPr>
          <p:cNvPr id="47" name="Shape 41"/>
          <p:cNvSpPr/>
          <p:nvPr/>
        </p:nvSpPr>
        <p:spPr>
          <a:xfrm>
            <a:off x="14525244" y="4086454"/>
            <a:ext cx="3143707" cy="743407"/>
          </a:xfrm>
          <a:prstGeom prst="rect">
            <a:avLst/>
          </a:prstGeom>
          <a:solidFill>
            <a:srgbClr val="E6A817">
              <a:alpha val="16000"/>
            </a:srgbClr>
          </a:solidFill>
          <a:ln w="12700">
            <a:solidFill>
              <a:srgbClr val="E6A81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42"/>
          <p:cNvSpPr txBox="1"/>
          <p:nvPr/>
        </p:nvSpPr>
        <p:spPr>
          <a:xfrm>
            <a:off x="14688007" y="4267505"/>
            <a:ext cx="11722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Recomendación</a:t>
            </a:r>
            <a:endParaRPr lang="en-US" sz="825" dirty="0"/>
          </a:p>
        </p:txBody>
      </p:sp>
      <p:sp>
        <p:nvSpPr>
          <p:cNvPr id="49" name="Text 43"/>
          <p:cNvSpPr txBox="1"/>
          <p:nvPr/>
        </p:nvSpPr>
        <p:spPr>
          <a:xfrm>
            <a:off x="14688007" y="4401007"/>
            <a:ext cx="11722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Concurrir</a:t>
            </a:r>
            <a:endParaRPr lang="en-US" sz="1650" dirty="0"/>
          </a:p>
        </p:txBody>
      </p:sp>
      <p:sp>
        <p:nvSpPr>
          <p:cNvPr id="50" name="Shape 44"/>
          <p:cNvSpPr/>
          <p:nvPr/>
        </p:nvSpPr>
        <p:spPr>
          <a:xfrm>
            <a:off x="17049902" y="4229100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17049902" y="4229100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50" dirty="0"/>
          </a:p>
        </p:txBody>
      </p:sp>
      <p:sp>
        <p:nvSpPr>
          <p:cNvPr id="52" name="Text 46"/>
          <p:cNvSpPr txBox="1"/>
          <p:nvPr/>
        </p:nvSpPr>
        <p:spPr>
          <a:xfrm>
            <a:off x="14525244" y="4962449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partidas sin histórico · verificación recomendada · 4 días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14287500" y="7239305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48"/>
          <p:cNvSpPr txBox="1"/>
          <p:nvPr/>
        </p:nvSpPr>
        <p:spPr>
          <a:xfrm>
            <a:off x="14287500" y="7420356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5" name="Text 49"/>
          <p:cNvSpPr txBox="1"/>
          <p:nvPr/>
        </p:nvSpPr>
        <p:spPr>
          <a:xfrm>
            <a:off x="14287500" y="7667244"/>
            <a:ext cx="619963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975" dirty="0"/>
          </a:p>
        </p:txBody>
      </p:sp>
      <p:sp>
        <p:nvSpPr>
          <p:cNvPr id="56" name="Text 50"/>
          <p:cNvSpPr txBox="1"/>
          <p:nvPr/>
        </p:nvSpPr>
        <p:spPr>
          <a:xfrm>
            <a:off x="14974214" y="7667244"/>
            <a:ext cx="857707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COPECAL</a:t>
            </a:r>
            <a:endParaRPr lang="en-US" sz="975" dirty="0"/>
          </a:p>
        </p:txBody>
      </p:sp>
      <p:sp>
        <p:nvSpPr>
          <p:cNvPr id="57" name="Text 51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8" name="Text 52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/ 50</a:t>
            </a:r>
            <a:endParaRPr lang="en-US" sz="975" dirty="0"/>
          </a:p>
        </p:txBody>
      </p:sp>
      <p:pic>
        <p:nvPicPr>
          <p:cNvPr id="59" name="Image 4" descr="gen-dedup-2fb34d6af934aa43b0f9c567fb82286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82805" y="3429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5AD1D-A988-BB28-8600-734723E6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>
            <a:extLst>
              <a:ext uri="{FF2B5EF4-FFF2-40B4-BE49-F238E27FC236}">
                <a16:creationId xmlns:a16="http://schemas.microsoft.com/office/drawing/2014/main" id="{F48FDF8A-87A5-E48C-D55E-D8C62F925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8089979-661F-A443-A674-8D69F4716E43}"/>
              </a:ext>
            </a:extLst>
          </p:cNvPr>
          <p:cNvSpPr/>
          <p:nvPr/>
        </p:nvSpPr>
        <p:spPr>
          <a:xfrm>
            <a:off x="1143000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996353D-B886-6E6A-9486-F3EA2E1A21AC}"/>
              </a:ext>
            </a:extLst>
          </p:cNvPr>
          <p:cNvSpPr/>
          <p:nvPr/>
        </p:nvSpPr>
        <p:spPr>
          <a:xfrm>
            <a:off x="1143000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52746FA-D897-CE26-563A-F01B271A319B}"/>
              </a:ext>
            </a:extLst>
          </p:cNvPr>
          <p:cNvSpPr/>
          <p:nvPr/>
        </p:nvSpPr>
        <p:spPr>
          <a:xfrm>
            <a:off x="1143000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192D40F-B0FB-0C86-607A-6A47DF0503D3}"/>
              </a:ext>
            </a:extLst>
          </p:cNvPr>
          <p:cNvSpPr/>
          <p:nvPr/>
        </p:nvSpPr>
        <p:spPr>
          <a:xfrm>
            <a:off x="1143000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gen-dedup-fac80e9e021134ca9d35aa6425fc9f26.png">
            <a:extLst>
              <a:ext uri="{FF2B5EF4-FFF2-40B4-BE49-F238E27FC236}">
                <a16:creationId xmlns:a16="http://schemas.microsoft.com/office/drawing/2014/main" id="{09AF8531-A412-5940-8E24-DDC860391A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900D78A7-38C7-9292-336C-0AB501E3D892}"/>
              </a:ext>
            </a:extLst>
          </p:cNvPr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36253C5-F5E8-467B-1FF5-438A8B2B984E}"/>
              </a:ext>
            </a:extLst>
          </p:cNvPr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482F233-BA55-8AC2-D61E-E044E3D943B3}"/>
              </a:ext>
            </a:extLst>
          </p:cNvPr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7B18F82-83A7-6AF4-A862-F8EF2795CE8B}"/>
              </a:ext>
            </a:extLst>
          </p:cNvPr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FA8FC79-9178-37D0-DA72-570D5C91863F}"/>
              </a:ext>
            </a:extLst>
          </p:cNvPr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gen-dedup-8a9a28c3a9840776409e917f9ceffe15.png">
            <a:extLst>
              <a:ext uri="{FF2B5EF4-FFF2-40B4-BE49-F238E27FC236}">
                <a16:creationId xmlns:a16="http://schemas.microsoft.com/office/drawing/2014/main" id="{15230C06-D389-5B57-CEFE-37F55CF2D7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134356"/>
            <a:ext cx="685800" cy="685800"/>
          </a:xfrm>
          <a:prstGeom prst="rect">
            <a:avLst/>
          </a:prstGeom>
        </p:spPr>
      </p:pic>
      <p:pic>
        <p:nvPicPr>
          <p:cNvPr id="14" name="Image 3" descr="gen-dedup-8a9a28c3a9840776409e917f9ceffe15.png">
            <a:extLst>
              <a:ext uri="{FF2B5EF4-FFF2-40B4-BE49-F238E27FC236}">
                <a16:creationId xmlns:a16="http://schemas.microsoft.com/office/drawing/2014/main" id="{73D878DC-F9B2-42E2-BC85-39BCED81DF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334049"/>
            <a:ext cx="685800" cy="685800"/>
          </a:xfrm>
          <a:prstGeom prst="rect">
            <a:avLst/>
          </a:prstGeom>
        </p:spPr>
      </p:pic>
      <p:pic>
        <p:nvPicPr>
          <p:cNvPr id="15" name="Image 4" descr="gen-dedup-25ca77fad41c44e392459a669cb46686.png">
            <a:extLst>
              <a:ext uri="{FF2B5EF4-FFF2-40B4-BE49-F238E27FC236}">
                <a16:creationId xmlns:a16="http://schemas.microsoft.com/office/drawing/2014/main" id="{9EA55A35-F9DE-70B9-076B-43C2707563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7534656"/>
            <a:ext cx="685800" cy="685800"/>
          </a:xfrm>
          <a:prstGeom prst="rect">
            <a:avLst/>
          </a:prstGeom>
        </p:spPr>
      </p:pic>
      <p:pic>
        <p:nvPicPr>
          <p:cNvPr id="16" name="Image 5" descr="gen-dedup-25ca77fad41c44e392459a669cb46686.png">
            <a:extLst>
              <a:ext uri="{FF2B5EF4-FFF2-40B4-BE49-F238E27FC236}">
                <a16:creationId xmlns:a16="http://schemas.microsoft.com/office/drawing/2014/main" id="{BAE17109-4D9C-7EE0-4EA2-A82F2D316A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734349"/>
            <a:ext cx="685800" cy="685800"/>
          </a:xfrm>
          <a:prstGeom prst="rect">
            <a:avLst/>
          </a:prstGeom>
        </p:spPr>
      </p:pic>
      <p:pic>
        <p:nvPicPr>
          <p:cNvPr id="17" name="Image 6" descr="gen-dedup-4fd6ab27e8b90bd8fc3508b3072b05e0.png">
            <a:extLst>
              <a:ext uri="{FF2B5EF4-FFF2-40B4-BE49-F238E27FC236}">
                <a16:creationId xmlns:a16="http://schemas.microsoft.com/office/drawing/2014/main" id="{03D51464-52EE-D529-DCCA-DCDF8835A3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8" name="Image 7" descr="gen-dedup-260dd6da6acb35cd082fc331d2743917.png">
            <a:extLst>
              <a:ext uri="{FF2B5EF4-FFF2-40B4-BE49-F238E27FC236}">
                <a16:creationId xmlns:a16="http://schemas.microsoft.com/office/drawing/2014/main" id="{DAA9C072-A16A-3F98-6787-BB781D3AE4D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905902" y="8781898"/>
            <a:ext cx="533095" cy="533095"/>
          </a:xfrm>
          <a:prstGeom prst="rect">
            <a:avLst/>
          </a:prstGeom>
        </p:spPr>
      </p:pic>
      <p:pic>
        <p:nvPicPr>
          <p:cNvPr id="19" name="Image 8" descr="gen-dedup-25ca77fad41c44e392459a669cb46686.png">
            <a:extLst>
              <a:ext uri="{FF2B5EF4-FFF2-40B4-BE49-F238E27FC236}">
                <a16:creationId xmlns:a16="http://schemas.microsoft.com/office/drawing/2014/main" id="{D27922AD-FD12-2326-4772-9352436859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20" name="Image 9" descr="gen-dedup-8a9a28c3a9840776409e917f9ceffe15.png">
            <a:extLst>
              <a:ext uri="{FF2B5EF4-FFF2-40B4-BE49-F238E27FC236}">
                <a16:creationId xmlns:a16="http://schemas.microsoft.com/office/drawing/2014/main" id="{43C5E303-868E-5062-0ED3-4F4A1C9826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1" name="Image 10" descr="gen-dedup-8a9a28c3a9840776409e917f9ceffe15.png">
            <a:extLst>
              <a:ext uri="{FF2B5EF4-FFF2-40B4-BE49-F238E27FC236}">
                <a16:creationId xmlns:a16="http://schemas.microsoft.com/office/drawing/2014/main" id="{F7FCFC41-D2C8-0BC7-8266-51545A0AAA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2" name="Image 11" descr="gen-dedup-25ca77fad41c44e392459a669cb46686.png">
            <a:extLst>
              <a:ext uri="{FF2B5EF4-FFF2-40B4-BE49-F238E27FC236}">
                <a16:creationId xmlns:a16="http://schemas.microsoft.com/office/drawing/2014/main" id="{8382CB61-2279-AFBA-AA8D-9663B0EF85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3" name="Image 12" descr="gen-dedup-6b1fea6ef9cf700851503bcdb8011f45.png">
            <a:extLst>
              <a:ext uri="{FF2B5EF4-FFF2-40B4-BE49-F238E27FC236}">
                <a16:creationId xmlns:a16="http://schemas.microsoft.com/office/drawing/2014/main" id="{AA1C7E11-4235-1095-CD2E-10D160C04B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4" name="Image 13" descr="gen-dedup-07d4da1bf1910daef42c9babebc62b73.png">
            <a:extLst>
              <a:ext uri="{FF2B5EF4-FFF2-40B4-BE49-F238E27FC236}">
                <a16:creationId xmlns:a16="http://schemas.microsoft.com/office/drawing/2014/main" id="{CA11EBCB-1A3A-148C-FFA3-0474184802E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5" name="Image 14" descr="gen-dedup-e65a801e1d2e7d7f545c66da47e65295.png">
            <a:extLst>
              <a:ext uri="{FF2B5EF4-FFF2-40B4-BE49-F238E27FC236}">
                <a16:creationId xmlns:a16="http://schemas.microsoft.com/office/drawing/2014/main" id="{DD8EFAD6-278A-A924-6C09-A744CC87472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47495" y="5266944"/>
            <a:ext cx="409651" cy="409651"/>
          </a:xfrm>
          <a:prstGeom prst="rect">
            <a:avLst/>
          </a:prstGeom>
        </p:spPr>
      </p:pic>
      <p:pic>
        <p:nvPicPr>
          <p:cNvPr id="26" name="Image 15" descr="gen-dedup-faef72f8220654017d2ee5f08dc50c2c.png">
            <a:extLst>
              <a:ext uri="{FF2B5EF4-FFF2-40B4-BE49-F238E27FC236}">
                <a16:creationId xmlns:a16="http://schemas.microsoft.com/office/drawing/2014/main" id="{DF0A5B69-681B-37E6-A252-8FD41656EC3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7495" y="6467551"/>
            <a:ext cx="409651" cy="409651"/>
          </a:xfrm>
          <a:prstGeom prst="rect">
            <a:avLst/>
          </a:prstGeom>
        </p:spPr>
      </p:pic>
      <p:pic>
        <p:nvPicPr>
          <p:cNvPr id="27" name="Image 16" descr="gen-dedup-fc23fc46cc0b8a7a71b92116d7c65e62.png">
            <a:extLst>
              <a:ext uri="{FF2B5EF4-FFF2-40B4-BE49-F238E27FC236}">
                <a16:creationId xmlns:a16="http://schemas.microsoft.com/office/drawing/2014/main" id="{3F258CD0-F779-90E4-27AE-8C1D01151B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8" name="Image 17" descr="gen-dedup-77b6ecb90a64700571ecc0eddec1bd09.png">
            <a:extLst>
              <a:ext uri="{FF2B5EF4-FFF2-40B4-BE49-F238E27FC236}">
                <a16:creationId xmlns:a16="http://schemas.microsoft.com/office/drawing/2014/main" id="{A188199E-D706-F4F2-6D81-DD7AC4F44AF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010144" y="8887054"/>
            <a:ext cx="323698" cy="323698"/>
          </a:xfrm>
          <a:prstGeom prst="rect">
            <a:avLst/>
          </a:prstGeom>
        </p:spPr>
      </p:pic>
      <p:pic>
        <p:nvPicPr>
          <p:cNvPr id="29" name="Image 18" descr="gen-dedup-1ca55d8bcfd048e85c2feec6baee4754.png">
            <a:extLst>
              <a:ext uri="{FF2B5EF4-FFF2-40B4-BE49-F238E27FC236}">
                <a16:creationId xmlns:a16="http://schemas.microsoft.com/office/drawing/2014/main" id="{06E5E902-0591-B876-A660-CA73FB0EC79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420795" y="6467551"/>
            <a:ext cx="409651" cy="409651"/>
          </a:xfrm>
          <a:prstGeom prst="rect">
            <a:avLst/>
          </a:prstGeom>
        </p:spPr>
      </p:pic>
      <p:pic>
        <p:nvPicPr>
          <p:cNvPr id="30" name="Image 19" descr="gen-dedup-e65a801e1d2e7d7f545c66da47e65295.png">
            <a:extLst>
              <a:ext uri="{FF2B5EF4-FFF2-40B4-BE49-F238E27FC236}">
                <a16:creationId xmlns:a16="http://schemas.microsoft.com/office/drawing/2014/main" id="{8CDA82D7-1F8D-6639-FC4D-F84EB6C2B8D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6420795" y="7667244"/>
            <a:ext cx="409651" cy="409651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EE65CD24-3573-0E89-142E-7D3D1A81A857}"/>
              </a:ext>
            </a:extLst>
          </p:cNvPr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C02</a:t>
            </a:r>
            <a:endParaRPr lang="en-US" sz="975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547DEC33-85E6-88F8-5B84-7A0E3B401F1F}"/>
              </a:ext>
            </a:extLst>
          </p:cNvPr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865D4B1D-98C8-4F52-7DC4-A4BEFF0D7D73}"/>
              </a:ext>
            </a:extLst>
          </p:cNvPr>
          <p:cNvSpPr txBox="1"/>
          <p:nvPr/>
        </p:nvSpPr>
        <p:spPr>
          <a:xfrm>
            <a:off x="1317650" y="2214677"/>
            <a:ext cx="362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35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CDA30FD-F452-A138-FBDE-5A90F48116FA}"/>
              </a:ext>
            </a:extLst>
          </p:cNvPr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Licitaciones y ofertas · Qué entra, qué sale</a:t>
            </a:r>
            <a:endParaRPr lang="en-US" sz="1125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01F0DEB4-0FAB-7524-D2DF-305CCF7B33BA}"/>
              </a:ext>
            </a:extLst>
          </p:cNvPr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Oferta.</a:t>
            </a:r>
            <a:endParaRPr lang="en-US" sz="585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C45DF6BA-C2EA-4B15-2774-57F65ADAC720}"/>
              </a:ext>
            </a:extLst>
          </p:cNvPr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expediente de licitación al BC3 firmado en dos horas.</a:t>
            </a:r>
            <a:endParaRPr lang="en-US" sz="195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9590AC88-9A95-25C6-CCE1-61D8E304480A}"/>
              </a:ext>
            </a:extLst>
          </p:cNvPr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EC0C0899-D5DD-9A06-6A55-BA8B20A35BAB}"/>
              </a:ext>
            </a:extLst>
          </p:cNvPr>
          <p:cNvSpPr/>
          <p:nvPr/>
        </p:nvSpPr>
        <p:spPr>
          <a:xfrm>
            <a:off x="12382805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97D07632-71C9-D214-E90C-32AAA5A76313}"/>
              </a:ext>
            </a:extLst>
          </p:cNvPr>
          <p:cNvSpPr txBox="1"/>
          <p:nvPr/>
        </p:nvSpPr>
        <p:spPr>
          <a:xfrm>
            <a:off x="12382805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8F4AD74C-B415-7E64-5B30-8F6E2695ABB3}"/>
              </a:ext>
            </a:extLst>
          </p:cNvPr>
          <p:cNvSpPr/>
          <p:nvPr/>
        </p:nvSpPr>
        <p:spPr>
          <a:xfrm>
            <a:off x="13037515" y="2533802"/>
            <a:ext cx="5907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9D55FDB-EF32-E531-60A2-C14D3AAA2FFA}"/>
              </a:ext>
            </a:extLst>
          </p:cNvPr>
          <p:cNvSpPr txBox="1"/>
          <p:nvPr/>
        </p:nvSpPr>
        <p:spPr>
          <a:xfrm>
            <a:off x="13037515" y="2533802"/>
            <a:ext cx="5907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125" dirty="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A2CA755D-0BDC-51AE-3FDA-6DA06895DFAF}"/>
              </a:ext>
            </a:extLst>
          </p:cNvPr>
          <p:cNvSpPr/>
          <p:nvPr/>
        </p:nvSpPr>
        <p:spPr>
          <a:xfrm>
            <a:off x="13698626" y="2533802"/>
            <a:ext cx="59984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42356508-10B4-4466-7E69-54CBA00AF109}"/>
              </a:ext>
            </a:extLst>
          </p:cNvPr>
          <p:cNvSpPr txBox="1"/>
          <p:nvPr/>
        </p:nvSpPr>
        <p:spPr>
          <a:xfrm>
            <a:off x="13698626" y="2533802"/>
            <a:ext cx="6007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1125" dirty="0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B48B95E7-D235-C2B3-1506-F55D3E31158A}"/>
              </a:ext>
            </a:extLst>
          </p:cNvPr>
          <p:cNvSpPr/>
          <p:nvPr/>
        </p:nvSpPr>
        <p:spPr>
          <a:xfrm>
            <a:off x="14368882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3F66515F-AB4F-1051-A4C2-BF5434D7A009}"/>
              </a:ext>
            </a:extLst>
          </p:cNvPr>
          <p:cNvSpPr txBox="1"/>
          <p:nvPr/>
        </p:nvSpPr>
        <p:spPr>
          <a:xfrm>
            <a:off x="14368882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BC3</a:t>
            </a:r>
            <a:endParaRPr lang="en-US" sz="1125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4165C514-746C-EBD8-6D94-31CFBFFDA953}"/>
              </a:ext>
            </a:extLst>
          </p:cNvPr>
          <p:cNvSpPr/>
          <p:nvPr/>
        </p:nvSpPr>
        <p:spPr>
          <a:xfrm>
            <a:off x="15020849" y="2533802"/>
            <a:ext cx="780898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D726F750-7B20-B9FD-6883-99BA71B9A1CE}"/>
              </a:ext>
            </a:extLst>
          </p:cNvPr>
          <p:cNvSpPr txBox="1"/>
          <p:nvPr/>
        </p:nvSpPr>
        <p:spPr>
          <a:xfrm>
            <a:off x="15020849" y="2533802"/>
            <a:ext cx="7818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125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3EB8BF3B-AE52-BCA5-3DF7-2B78AFB5437B}"/>
              </a:ext>
            </a:extLst>
          </p:cNvPr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5C5902FB-9497-0AB1-5118-870B1CCC1A49}"/>
              </a:ext>
            </a:extLst>
          </p:cNvPr>
          <p:cNvSpPr/>
          <p:nvPr/>
        </p:nvSpPr>
        <p:spPr>
          <a:xfrm>
            <a:off x="12382805" y="3829507"/>
            <a:ext cx="685800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F9188D28-B65C-4C03-CB35-9B07BB4DB828}"/>
              </a:ext>
            </a:extLst>
          </p:cNvPr>
          <p:cNvSpPr txBox="1"/>
          <p:nvPr/>
        </p:nvSpPr>
        <p:spPr>
          <a:xfrm>
            <a:off x="12382805" y="3829507"/>
            <a:ext cx="6858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1125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5A2E18CE-8550-0C0B-3068-97BBAB35372B}"/>
              </a:ext>
            </a:extLst>
          </p:cNvPr>
          <p:cNvSpPr/>
          <p:nvPr/>
        </p:nvSpPr>
        <p:spPr>
          <a:xfrm>
            <a:off x="13142671" y="3829507"/>
            <a:ext cx="972007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1770F73D-3824-2DC6-715C-9C60A8B2ACFC}"/>
              </a:ext>
            </a:extLst>
          </p:cNvPr>
          <p:cNvSpPr txBox="1"/>
          <p:nvPr/>
        </p:nvSpPr>
        <p:spPr>
          <a:xfrm>
            <a:off x="13142671" y="3829507"/>
            <a:ext cx="972007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COPEGAL</a:t>
            </a:r>
            <a:endParaRPr lang="en-US" sz="1125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A9E974CA-0421-2079-6A43-8853B8CEB0CE}"/>
              </a:ext>
            </a:extLst>
          </p:cNvPr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B7F681A0-83CD-51BE-5387-23789E485E5D}"/>
              </a:ext>
            </a:extLst>
          </p:cNvPr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3918B9B5-009D-4B4A-5A8B-A59C222404E1}"/>
              </a:ext>
            </a:extLst>
          </p:cNvPr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B10B5413-A731-D8F5-2A25-49E11C0980B4}"/>
              </a:ext>
            </a:extLst>
          </p:cNvPr>
          <p:cNvSpPr txBox="1"/>
          <p:nvPr/>
        </p:nvSpPr>
        <p:spPr>
          <a:xfrm>
            <a:off x="21717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Pliego PCAP</a:t>
            </a:r>
            <a:endParaRPr lang="en-US" sz="1725" dirty="0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E27069FC-DED7-B4B7-C721-CEA89880418E}"/>
              </a:ext>
            </a:extLst>
          </p:cNvPr>
          <p:cNvSpPr txBox="1"/>
          <p:nvPr/>
        </p:nvSpPr>
        <p:spPr>
          <a:xfrm>
            <a:off x="21717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Cláusulas administrativas</a:t>
            </a:r>
            <a:endParaRPr lang="en-US" sz="1275" dirty="0"/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9B571EB7-8A45-4D96-65EB-76F723DB39C6}"/>
              </a:ext>
            </a:extLst>
          </p:cNvPr>
          <p:cNvSpPr txBox="1"/>
          <p:nvPr/>
        </p:nvSpPr>
        <p:spPr>
          <a:xfrm>
            <a:off x="21717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PPT y anexos</a:t>
            </a:r>
            <a:endParaRPr lang="en-US" sz="1725" dirty="0"/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1A36A30B-C4CC-322A-97D9-D782DBD2EEA2}"/>
              </a:ext>
            </a:extLst>
          </p:cNvPr>
          <p:cNvSpPr txBox="1"/>
          <p:nvPr/>
        </p:nvSpPr>
        <p:spPr>
          <a:xfrm>
            <a:off x="21717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Prescripciones técnicas</a:t>
            </a:r>
            <a:endParaRPr lang="en-US" sz="1275" dirty="0"/>
          </a:p>
        </p:txBody>
      </p:sp>
      <p:pic>
        <p:nvPicPr>
          <p:cNvPr id="60" name="Image 20" descr="gen-dedup-ac40fa232d571b071085c7ad71be911e.png">
            <a:extLst>
              <a:ext uri="{FF2B5EF4-FFF2-40B4-BE49-F238E27FC236}">
                <a16:creationId xmlns:a16="http://schemas.microsoft.com/office/drawing/2014/main" id="{97F0E1D0-C6A6-F1A3-D4B0-583A5DE5B9B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6698" y="7686446"/>
            <a:ext cx="381305" cy="381305"/>
          </a:xfrm>
          <a:prstGeom prst="rect">
            <a:avLst/>
          </a:prstGeom>
        </p:spPr>
      </p:pic>
      <p:sp>
        <p:nvSpPr>
          <p:cNvPr id="61" name="Text 38">
            <a:extLst>
              <a:ext uri="{FF2B5EF4-FFF2-40B4-BE49-F238E27FC236}">
                <a16:creationId xmlns:a16="http://schemas.microsoft.com/office/drawing/2014/main" id="{B0E85B13-4C1D-C7EB-9C29-CEDF607F6DAD}"/>
              </a:ext>
            </a:extLst>
          </p:cNvPr>
          <p:cNvSpPr txBox="1"/>
          <p:nvPr/>
        </p:nvSpPr>
        <p:spPr>
          <a:xfrm>
            <a:off x="21717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precios</a:t>
            </a:r>
            <a:endParaRPr lang="en-US" sz="1725" dirty="0"/>
          </a:p>
        </p:txBody>
      </p:sp>
      <p:sp>
        <p:nvSpPr>
          <p:cNvPr id="62" name="Text 39">
            <a:extLst>
              <a:ext uri="{FF2B5EF4-FFF2-40B4-BE49-F238E27FC236}">
                <a16:creationId xmlns:a16="http://schemas.microsoft.com/office/drawing/2014/main" id="{278A4C17-32F1-2C8D-5E2F-EF9E1CA1091F}"/>
              </a:ext>
            </a:extLst>
          </p:cNvPr>
          <p:cNvSpPr txBox="1"/>
          <p:nvPr/>
        </p:nvSpPr>
        <p:spPr>
          <a:xfrm>
            <a:off x="21717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 ofertas anteriores</a:t>
            </a:r>
            <a:endParaRPr lang="en-US" sz="1275" dirty="0"/>
          </a:p>
        </p:txBody>
      </p:sp>
      <p:pic>
        <p:nvPicPr>
          <p:cNvPr id="63" name="Image 21" descr="gen-dedup-bb78bd60ebac547c6c1d68cc4b407b9d.png">
            <a:extLst>
              <a:ext uri="{FF2B5EF4-FFF2-40B4-BE49-F238E27FC236}">
                <a16:creationId xmlns:a16="http://schemas.microsoft.com/office/drawing/2014/main" id="{DE1652F5-241B-12A3-FB5D-29AFE1B820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698" y="8887054"/>
            <a:ext cx="381305" cy="381305"/>
          </a:xfrm>
          <a:prstGeom prst="rect">
            <a:avLst/>
          </a:prstGeom>
        </p:spPr>
      </p:pic>
      <p:sp>
        <p:nvSpPr>
          <p:cNvPr id="64" name="Text 40">
            <a:extLst>
              <a:ext uri="{FF2B5EF4-FFF2-40B4-BE49-F238E27FC236}">
                <a16:creationId xmlns:a16="http://schemas.microsoft.com/office/drawing/2014/main" id="{5DED16DD-6489-BF89-36EF-FA8E866BB2D6}"/>
              </a:ext>
            </a:extLst>
          </p:cNvPr>
          <p:cNvSpPr txBox="1"/>
          <p:nvPr/>
        </p:nvSpPr>
        <p:spPr>
          <a:xfrm>
            <a:off x="21717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Escaneados</a:t>
            </a:r>
            <a:endParaRPr lang="en-US" sz="1725" dirty="0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F36989C8-BCA0-0588-E710-EDBB89004314}"/>
              </a:ext>
            </a:extLst>
          </p:cNvPr>
          <p:cNvSpPr txBox="1"/>
          <p:nvPr/>
        </p:nvSpPr>
        <p:spPr>
          <a:xfrm>
            <a:off x="21717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OCR</a:t>
            </a:r>
            <a:endParaRPr lang="en-US" sz="1275" dirty="0"/>
          </a:p>
        </p:txBody>
      </p:sp>
      <p:pic>
        <p:nvPicPr>
          <p:cNvPr id="66" name="Image 22" descr="gen-dedup-625f6ee98a837ce7c94bde031f58a71e.png">
            <a:extLst>
              <a:ext uri="{FF2B5EF4-FFF2-40B4-BE49-F238E27FC236}">
                <a16:creationId xmlns:a16="http://schemas.microsoft.com/office/drawing/2014/main" id="{63BDC14F-BBAC-352C-EE0B-7EDF9FD0D827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7" name="Text 42">
            <a:extLst>
              <a:ext uri="{FF2B5EF4-FFF2-40B4-BE49-F238E27FC236}">
                <a16:creationId xmlns:a16="http://schemas.microsoft.com/office/drawing/2014/main" id="{55433C7E-8B5E-E2F8-B3E0-8B1BEED7CB19}"/>
              </a:ext>
            </a:extLst>
          </p:cNvPr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C02</a:t>
            </a:r>
            <a:endParaRPr lang="en-US" sz="900" dirty="0"/>
          </a:p>
        </p:txBody>
      </p:sp>
      <p:sp>
        <p:nvSpPr>
          <p:cNvPr id="68" name="Text 43">
            <a:extLst>
              <a:ext uri="{FF2B5EF4-FFF2-40B4-BE49-F238E27FC236}">
                <a16:creationId xmlns:a16="http://schemas.microsoft.com/office/drawing/2014/main" id="{877F5A0C-13ED-D9B3-1B1F-E8382938F667}"/>
              </a:ext>
            </a:extLst>
          </p:cNvPr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&amp; Oferta</a:t>
            </a:r>
            <a:endParaRPr lang="en-US" sz="2250" dirty="0"/>
          </a:p>
        </p:txBody>
      </p:sp>
      <p:sp>
        <p:nvSpPr>
          <p:cNvPr id="69" name="Shape 44">
            <a:extLst>
              <a:ext uri="{FF2B5EF4-FFF2-40B4-BE49-F238E27FC236}">
                <a16:creationId xmlns:a16="http://schemas.microsoft.com/office/drawing/2014/main" id="{85050EF0-C8C1-9994-A3AB-36889B8BD0F8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45">
            <a:extLst>
              <a:ext uri="{FF2B5EF4-FFF2-40B4-BE49-F238E27FC236}">
                <a16:creationId xmlns:a16="http://schemas.microsoft.com/office/drawing/2014/main" id="{5DD6CA63-1E96-BB47-9840-5C9A96307C31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71" name="Text 46">
            <a:extLst>
              <a:ext uri="{FF2B5EF4-FFF2-40B4-BE49-F238E27FC236}">
                <a16:creationId xmlns:a16="http://schemas.microsoft.com/office/drawing/2014/main" id="{9E38ED2D-3BFB-D593-9594-29279549720E}"/>
              </a:ext>
            </a:extLst>
          </p:cNvPr>
          <p:cNvSpPr txBox="1"/>
          <p:nvPr/>
        </p:nvSpPr>
        <p:spPr>
          <a:xfrm>
            <a:off x="7524598" y="6986930"/>
            <a:ext cx="358719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pliego, capítulos y partidas</a:t>
            </a:r>
            <a:endParaRPr lang="en-US" sz="1425" dirty="0"/>
          </a:p>
        </p:txBody>
      </p:sp>
      <p:sp>
        <p:nvSpPr>
          <p:cNvPr id="72" name="Shape 47">
            <a:extLst>
              <a:ext uri="{FF2B5EF4-FFF2-40B4-BE49-F238E27FC236}">
                <a16:creationId xmlns:a16="http://schemas.microsoft.com/office/drawing/2014/main" id="{9C63D7B9-CAEF-6C6F-537A-C3C6287E79C8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48">
            <a:extLst>
              <a:ext uri="{FF2B5EF4-FFF2-40B4-BE49-F238E27FC236}">
                <a16:creationId xmlns:a16="http://schemas.microsoft.com/office/drawing/2014/main" id="{AF9EC819-63F3-0907-4594-DB62C5776324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Text 49">
            <a:extLst>
              <a:ext uri="{FF2B5EF4-FFF2-40B4-BE49-F238E27FC236}">
                <a16:creationId xmlns:a16="http://schemas.microsoft.com/office/drawing/2014/main" id="{6B6B8972-6921-FAAD-5AEB-CF65E98FB27E}"/>
              </a:ext>
            </a:extLst>
          </p:cNvPr>
          <p:cNvSpPr txBox="1"/>
          <p:nvPr/>
        </p:nvSpPr>
        <p:spPr>
          <a:xfrm>
            <a:off x="7524598" y="7386523"/>
            <a:ext cx="312907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 precios por similitud</a:t>
            </a:r>
            <a:endParaRPr lang="en-US" sz="1425" dirty="0"/>
          </a:p>
        </p:txBody>
      </p:sp>
      <p:sp>
        <p:nvSpPr>
          <p:cNvPr id="75" name="Shape 50">
            <a:extLst>
              <a:ext uri="{FF2B5EF4-FFF2-40B4-BE49-F238E27FC236}">
                <a16:creationId xmlns:a16="http://schemas.microsoft.com/office/drawing/2014/main" id="{08BA426D-49BA-809B-B88C-C465F0360992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1">
            <a:extLst>
              <a:ext uri="{FF2B5EF4-FFF2-40B4-BE49-F238E27FC236}">
                <a16:creationId xmlns:a16="http://schemas.microsoft.com/office/drawing/2014/main" id="{9978FB78-A848-81B2-FD1D-422840DB998E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7" name="Text 52">
            <a:extLst>
              <a:ext uri="{FF2B5EF4-FFF2-40B4-BE49-F238E27FC236}">
                <a16:creationId xmlns:a16="http://schemas.microsoft.com/office/drawing/2014/main" id="{1BAF87C5-4F01-E2B7-B3F6-146FAD6F1AE0}"/>
              </a:ext>
            </a:extLst>
          </p:cNvPr>
          <p:cNvSpPr txBox="1"/>
          <p:nvPr/>
        </p:nvSpPr>
        <p:spPr>
          <a:xfrm>
            <a:off x="7524598" y="7787030"/>
            <a:ext cx="36530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Rango de incertidumbre por partida</a:t>
            </a:r>
            <a:endParaRPr lang="en-US" sz="1425" dirty="0"/>
          </a:p>
        </p:txBody>
      </p:sp>
      <p:sp>
        <p:nvSpPr>
          <p:cNvPr id="78" name="Shape 53">
            <a:extLst>
              <a:ext uri="{FF2B5EF4-FFF2-40B4-BE49-F238E27FC236}">
                <a16:creationId xmlns:a16="http://schemas.microsoft.com/office/drawing/2014/main" id="{3E959143-0E96-73EA-E0B5-30A2E24D4CCD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54">
            <a:extLst>
              <a:ext uri="{FF2B5EF4-FFF2-40B4-BE49-F238E27FC236}">
                <a16:creationId xmlns:a16="http://schemas.microsoft.com/office/drawing/2014/main" id="{5371246A-302B-4A96-28B3-6C83A67658A5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55">
            <a:extLst>
              <a:ext uri="{FF2B5EF4-FFF2-40B4-BE49-F238E27FC236}">
                <a16:creationId xmlns:a16="http://schemas.microsoft.com/office/drawing/2014/main" id="{BE8335B3-0D40-AF9A-B31A-3676F58D7822}"/>
              </a:ext>
            </a:extLst>
          </p:cNvPr>
          <p:cNvSpPr txBox="1"/>
          <p:nvPr/>
        </p:nvSpPr>
        <p:spPr>
          <a:xfrm>
            <a:off x="7524598" y="8186623"/>
            <a:ext cx="270022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Recomendación go / no-go</a:t>
            </a:r>
            <a:endParaRPr lang="en-US" sz="1425" dirty="0"/>
          </a:p>
        </p:txBody>
      </p:sp>
      <p:sp>
        <p:nvSpPr>
          <p:cNvPr id="81" name="Shape 56">
            <a:extLst>
              <a:ext uri="{FF2B5EF4-FFF2-40B4-BE49-F238E27FC236}">
                <a16:creationId xmlns:a16="http://schemas.microsoft.com/office/drawing/2014/main" id="{DAF0F265-FFBD-93ED-B1A5-D4994F400ED9}"/>
              </a:ext>
            </a:extLst>
          </p:cNvPr>
          <p:cNvSpPr/>
          <p:nvPr/>
        </p:nvSpPr>
        <p:spPr>
          <a:xfrm>
            <a:off x="8553298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57">
            <a:extLst>
              <a:ext uri="{FF2B5EF4-FFF2-40B4-BE49-F238E27FC236}">
                <a16:creationId xmlns:a16="http://schemas.microsoft.com/office/drawing/2014/main" id="{4174707A-204D-7C0B-DFA4-465FF6C98061}"/>
              </a:ext>
            </a:extLst>
          </p:cNvPr>
          <p:cNvSpPr txBox="1"/>
          <p:nvPr/>
        </p:nvSpPr>
        <p:spPr>
          <a:xfrm>
            <a:off x="8662111" y="8953805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200" dirty="0"/>
          </a:p>
        </p:txBody>
      </p:sp>
      <p:sp>
        <p:nvSpPr>
          <p:cNvPr id="83" name="Shape 58">
            <a:extLst>
              <a:ext uri="{FF2B5EF4-FFF2-40B4-BE49-F238E27FC236}">
                <a16:creationId xmlns:a16="http://schemas.microsoft.com/office/drawing/2014/main" id="{C2B94F1B-4274-E7E5-6B81-82804BCC76E9}"/>
              </a:ext>
            </a:extLst>
          </p:cNvPr>
          <p:cNvSpPr/>
          <p:nvPr/>
        </p:nvSpPr>
        <p:spPr>
          <a:xfrm>
            <a:off x="9201607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59">
            <a:extLst>
              <a:ext uri="{FF2B5EF4-FFF2-40B4-BE49-F238E27FC236}">
                <a16:creationId xmlns:a16="http://schemas.microsoft.com/office/drawing/2014/main" id="{CC2C30D8-D803-C881-4EF5-4F6F18839120}"/>
              </a:ext>
            </a:extLst>
          </p:cNvPr>
          <p:cNvSpPr txBox="1"/>
          <p:nvPr/>
        </p:nvSpPr>
        <p:spPr>
          <a:xfrm>
            <a:off x="9304934" y="8953805"/>
            <a:ext cx="333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200" dirty="0"/>
          </a:p>
        </p:txBody>
      </p:sp>
      <p:sp>
        <p:nvSpPr>
          <p:cNvPr id="85" name="Shape 60">
            <a:extLst>
              <a:ext uri="{FF2B5EF4-FFF2-40B4-BE49-F238E27FC236}">
                <a16:creationId xmlns:a16="http://schemas.microsoft.com/office/drawing/2014/main" id="{D3B823BE-D35D-3659-1D64-DF062C94A9E0}"/>
              </a:ext>
            </a:extLst>
          </p:cNvPr>
          <p:cNvSpPr/>
          <p:nvPr/>
        </p:nvSpPr>
        <p:spPr>
          <a:xfrm>
            <a:off x="9849002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61">
            <a:extLst>
              <a:ext uri="{FF2B5EF4-FFF2-40B4-BE49-F238E27FC236}">
                <a16:creationId xmlns:a16="http://schemas.microsoft.com/office/drawing/2014/main" id="{FD301A86-FBEC-8CD3-A08F-937AA9E8D488}"/>
              </a:ext>
            </a:extLst>
          </p:cNvPr>
          <p:cNvSpPr txBox="1"/>
          <p:nvPr/>
        </p:nvSpPr>
        <p:spPr>
          <a:xfrm>
            <a:off x="9949586" y="8953805"/>
            <a:ext cx="333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1200" dirty="0"/>
          </a:p>
        </p:txBody>
      </p:sp>
      <p:pic>
        <p:nvPicPr>
          <p:cNvPr id="87" name="Image 23" descr="gen-dedup-9f2da3d601bd1ff2962f48734b24ef49.png">
            <a:extLst>
              <a:ext uri="{FF2B5EF4-FFF2-40B4-BE49-F238E27FC236}">
                <a16:creationId xmlns:a16="http://schemas.microsoft.com/office/drawing/2014/main" id="{36C288E2-0672-FD35-671B-FB4998E1433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pic>
        <p:nvPicPr>
          <p:cNvPr id="88" name="Image 24" descr="gen-dedup-bcefe7e6c3dcadca7f25816e44556305.png">
            <a:extLst>
              <a:ext uri="{FF2B5EF4-FFF2-40B4-BE49-F238E27FC236}">
                <a16:creationId xmlns:a16="http://schemas.microsoft.com/office/drawing/2014/main" id="{E4267B92-1ADF-0790-C350-AEC0CBFCD53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439998" y="5286146"/>
            <a:ext cx="381305" cy="381305"/>
          </a:xfrm>
          <a:prstGeom prst="rect">
            <a:avLst/>
          </a:prstGeom>
        </p:spPr>
      </p:pic>
      <p:sp>
        <p:nvSpPr>
          <p:cNvPr id="89" name="Text 62">
            <a:extLst>
              <a:ext uri="{FF2B5EF4-FFF2-40B4-BE49-F238E27FC236}">
                <a16:creationId xmlns:a16="http://schemas.microsoft.com/office/drawing/2014/main" id="{90EE3479-2C9A-7E41-51AB-155DB71E6A55}"/>
              </a:ext>
            </a:extLst>
          </p:cNvPr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Fichero BC3</a:t>
            </a:r>
            <a:endParaRPr lang="en-US" sz="1725" dirty="0"/>
          </a:p>
        </p:txBody>
      </p:sp>
      <p:sp>
        <p:nvSpPr>
          <p:cNvPr id="90" name="Text 63">
            <a:extLst>
              <a:ext uri="{FF2B5EF4-FFF2-40B4-BE49-F238E27FC236}">
                <a16:creationId xmlns:a16="http://schemas.microsoft.com/office/drawing/2014/main" id="{64167B4E-25D4-F755-8032-3BBD5AEE755B}"/>
              </a:ext>
            </a:extLst>
          </p:cNvPr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Presupuesto estándar</a:t>
            </a:r>
            <a:endParaRPr lang="en-US" sz="1275" dirty="0"/>
          </a:p>
        </p:txBody>
      </p:sp>
      <p:sp>
        <p:nvSpPr>
          <p:cNvPr id="91" name="Text 64">
            <a:extLst>
              <a:ext uri="{FF2B5EF4-FFF2-40B4-BE49-F238E27FC236}">
                <a16:creationId xmlns:a16="http://schemas.microsoft.com/office/drawing/2014/main" id="{5BE3173D-6362-0E32-EE80-79D5EA00D50D}"/>
              </a:ext>
            </a:extLst>
          </p:cNvPr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pre-cierre</a:t>
            </a:r>
            <a:endParaRPr lang="en-US" sz="1725" dirty="0"/>
          </a:p>
        </p:txBody>
      </p:sp>
      <p:sp>
        <p:nvSpPr>
          <p:cNvPr id="92" name="Text 65">
            <a:extLst>
              <a:ext uri="{FF2B5EF4-FFF2-40B4-BE49-F238E27FC236}">
                <a16:creationId xmlns:a16="http://schemas.microsoft.com/office/drawing/2014/main" id="{23FBD79B-83FB-D2E1-73E2-3A54FA88A936}"/>
              </a:ext>
            </a:extLst>
          </p:cNvPr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por partida</a:t>
            </a:r>
            <a:endParaRPr lang="en-US" sz="1275" dirty="0"/>
          </a:p>
        </p:txBody>
      </p:sp>
      <p:sp>
        <p:nvSpPr>
          <p:cNvPr id="93" name="Text 66">
            <a:extLst>
              <a:ext uri="{FF2B5EF4-FFF2-40B4-BE49-F238E27FC236}">
                <a16:creationId xmlns:a16="http://schemas.microsoft.com/office/drawing/2014/main" id="{05CFD6C0-21DE-A324-B9A6-F891FA6D94C3}"/>
              </a:ext>
            </a:extLst>
          </p:cNvPr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en PDF</a:t>
            </a:r>
            <a:endParaRPr lang="en-US" sz="1725" dirty="0"/>
          </a:p>
        </p:txBody>
      </p:sp>
      <p:sp>
        <p:nvSpPr>
          <p:cNvPr id="94" name="Text 67">
            <a:extLst>
              <a:ext uri="{FF2B5EF4-FFF2-40B4-BE49-F238E27FC236}">
                <a16:creationId xmlns:a16="http://schemas.microsoft.com/office/drawing/2014/main" id="{7918FBA3-A53F-11A9-D88A-0C20054F2918}"/>
              </a:ext>
            </a:extLst>
          </p:cNvPr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Defendible y trazable</a:t>
            </a:r>
            <a:endParaRPr lang="en-US" sz="1275" dirty="0"/>
          </a:p>
        </p:txBody>
      </p:sp>
      <p:pic>
        <p:nvPicPr>
          <p:cNvPr id="95" name="Image 25" descr="gen-dedup-1a73ae5e9a5e40ea785eb0f40b3dcfb9.png">
            <a:extLst>
              <a:ext uri="{FF2B5EF4-FFF2-40B4-BE49-F238E27FC236}">
                <a16:creationId xmlns:a16="http://schemas.microsoft.com/office/drawing/2014/main" id="{0802DD91-527C-96DE-F2DE-AC3A44AAB75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96" name="Text 68">
            <a:extLst>
              <a:ext uri="{FF2B5EF4-FFF2-40B4-BE49-F238E27FC236}">
                <a16:creationId xmlns:a16="http://schemas.microsoft.com/office/drawing/2014/main" id="{0C143232-975B-86EA-05E2-73ADF730E983}"/>
              </a:ext>
            </a:extLst>
          </p:cNvPr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/ no-go</a:t>
            </a:r>
            <a:endParaRPr lang="en-US" sz="1725" dirty="0"/>
          </a:p>
        </p:txBody>
      </p:sp>
      <p:sp>
        <p:nvSpPr>
          <p:cNvPr id="97" name="Text 69">
            <a:extLst>
              <a:ext uri="{FF2B5EF4-FFF2-40B4-BE49-F238E27FC236}">
                <a16:creationId xmlns:a16="http://schemas.microsoft.com/office/drawing/2014/main" id="{5D2F0C6F-7561-62C2-71E1-8D5AFD19DAC1}"/>
              </a:ext>
            </a:extLst>
          </p:cNvPr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Concurrir o no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1715014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78742d14a20f8e35032fc528e7f79f3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 · 34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0098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de voz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telefónica autónoma sobre su centralita actual.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integra como extensión SIP en su centralita existente. Atiende en español e inglés, registra datos estructurados y transfiere al humano con todo el contexto.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360913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Conversación natural 24/7 en ES e inglés.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447415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cinco llamadas concurrentes en el caso base.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45345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estructurado con grabación y transcripción.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392643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Traspaso inteligente al humano con contexto.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34006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Extensión SIP, sin cambiar la centralita.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35213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con transcripción y métricas.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1095451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10954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FreeSWITCH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2327148" y="8762695"/>
            <a:ext cx="82844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2327148" y="8762695"/>
            <a:ext cx="8293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3248863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3248863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4326941" y="8762695"/>
            <a:ext cx="961949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4326941" y="8762695"/>
            <a:ext cx="9628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TTS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5376672" y="8762695"/>
            <a:ext cx="523951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5376672" y="8762695"/>
            <a:ext cx="5239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SIP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3144500" y="1904695"/>
            <a:ext cx="4000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 en curso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3144500" y="2286000"/>
            <a:ext cx="4000500" cy="253380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13382244" y="2505456"/>
            <a:ext cx="169804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En vivo · 02:14</a:t>
            </a:r>
            <a:endParaRPr lang="en-US" sz="825" dirty="0"/>
          </a:p>
        </p:txBody>
      </p:sp>
      <p:sp>
        <p:nvSpPr>
          <p:cNvPr id="37" name="Shape 32"/>
          <p:cNvSpPr/>
          <p:nvPr/>
        </p:nvSpPr>
        <p:spPr>
          <a:xfrm>
            <a:off x="16811244" y="2523744"/>
            <a:ext cx="95098" cy="95098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3"/>
          <p:cNvSpPr txBox="1"/>
          <p:nvPr/>
        </p:nvSpPr>
        <p:spPr>
          <a:xfrm>
            <a:off x="13382244" y="2771546"/>
            <a:ext cx="3525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Llamante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13382244" y="2991002"/>
            <a:ext cx="3525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+34 612 847 290</a:t>
            </a:r>
            <a:endParaRPr lang="en-US" sz="1350" dirty="0"/>
          </a:p>
        </p:txBody>
      </p:sp>
      <p:pic>
        <p:nvPicPr>
          <p:cNvPr id="40" name="Image 3" descr="gen-dedup-488ac33ecbf4a073f79c178dced65e5c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3382244" y="3323844"/>
            <a:ext cx="3524098" cy="914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3382244" y="3467405"/>
            <a:ext cx="3525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E6A81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Transcripción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3382244" y="3685946"/>
            <a:ext cx="35250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«Es la unidad AX-2204, lleva fallando desde ayer — la pantalla marca 28 °C.»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13382244" y="4362602"/>
            <a:ext cx="38405" cy="133502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4" name="Image 4" descr="gen-dedup-f0ec66e46317babe4cb35ea5e4804787.png"/>
          <p:cNvPicPr>
            <a:picLocks noChangeAspect="1"/>
          </p:cNvPicPr>
          <p:nvPr/>
        </p:nvPicPr>
        <p:blipFill>
          <a:blip r:embed="rId6"/>
          <a:srcRect l="-436" r="-436"/>
          <a:stretch/>
        </p:blipFill>
        <p:spPr>
          <a:xfrm>
            <a:off x="13459054" y="4324198"/>
            <a:ext cx="38405" cy="209398"/>
          </a:xfrm>
          <a:prstGeom prst="rect">
            <a:avLst/>
          </a:prstGeom>
        </p:spPr>
      </p:pic>
      <p:pic>
        <p:nvPicPr>
          <p:cNvPr id="45" name="Image 5" descr="gen-dedup-c5470268ec2eb986a60a4f750ba714fa.png"/>
          <p:cNvPicPr>
            <a:picLocks noChangeAspect="1"/>
          </p:cNvPicPr>
          <p:nvPr/>
        </p:nvPicPr>
        <p:blipFill>
          <a:blip r:embed="rId7"/>
          <a:srcRect l="-320" r="-320"/>
          <a:stretch/>
        </p:blipFill>
        <p:spPr>
          <a:xfrm>
            <a:off x="13534949" y="4286707"/>
            <a:ext cx="38405" cy="286207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13610844" y="4343400"/>
            <a:ext cx="38405" cy="171907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7" name="Image 6" descr="gen-dedup-831b624b957eac4729ec561ad632162b.png"/>
          <p:cNvPicPr>
            <a:picLocks noChangeAspect="1"/>
          </p:cNvPicPr>
          <p:nvPr/>
        </p:nvPicPr>
        <p:blipFill>
          <a:blip r:embed="rId8"/>
          <a:srcRect l="-369" r="-369"/>
          <a:stretch/>
        </p:blipFill>
        <p:spPr>
          <a:xfrm>
            <a:off x="13687654" y="4304995"/>
            <a:ext cx="38405" cy="247802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13763549" y="4371746"/>
            <a:ext cx="38405" cy="114300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9" name="Image 7" descr="gen-dedup-cede1705c72a195810cca70c9be3a9c7.png"/>
          <p:cNvPicPr>
            <a:picLocks noChangeAspect="1"/>
          </p:cNvPicPr>
          <p:nvPr/>
        </p:nvPicPr>
        <p:blipFill>
          <a:blip r:embed="rId9"/>
          <a:srcRect l="-424" r="-424"/>
          <a:stretch/>
        </p:blipFill>
        <p:spPr>
          <a:xfrm>
            <a:off x="13839444" y="4267505"/>
            <a:ext cx="38405" cy="323698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13916254" y="4334256"/>
            <a:ext cx="38405" cy="190195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1" name="Image 8" descr="gen-dedup-663b42f8c3deea78c39f1498dac45f6a.png"/>
          <p:cNvPicPr>
            <a:picLocks noChangeAspect="1"/>
          </p:cNvPicPr>
          <p:nvPr/>
        </p:nvPicPr>
        <p:blipFill>
          <a:blip r:embed="rId10"/>
          <a:srcRect l="-343" r="-343"/>
          <a:stretch/>
        </p:blipFill>
        <p:spPr>
          <a:xfrm>
            <a:off x="13992149" y="4295851"/>
            <a:ext cx="38405" cy="267005"/>
          </a:xfrm>
          <a:prstGeom prst="rect">
            <a:avLst/>
          </a:prstGeom>
        </p:spPr>
      </p:pic>
      <p:sp>
        <p:nvSpPr>
          <p:cNvPr id="52" name="Shape 41"/>
          <p:cNvSpPr/>
          <p:nvPr/>
        </p:nvSpPr>
        <p:spPr>
          <a:xfrm>
            <a:off x="14068044" y="4362602"/>
            <a:ext cx="38405" cy="133502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3" name="Image 9" descr="gen-dedup-f0ec66e46317babe4cb35ea5e4804787.png"/>
          <p:cNvPicPr>
            <a:picLocks noChangeAspect="1"/>
          </p:cNvPicPr>
          <p:nvPr/>
        </p:nvPicPr>
        <p:blipFill>
          <a:blip r:embed="rId6"/>
          <a:srcRect l="-436" r="-436"/>
          <a:stretch/>
        </p:blipFill>
        <p:spPr>
          <a:xfrm>
            <a:off x="14144854" y="4324198"/>
            <a:ext cx="38405" cy="209398"/>
          </a:xfrm>
          <a:prstGeom prst="rect">
            <a:avLst/>
          </a:prstGeom>
        </p:spPr>
      </p:pic>
      <p:pic>
        <p:nvPicPr>
          <p:cNvPr id="54" name="Image 10" descr="gen-dedup-c5470268ec2eb986a60a4f750ba714fa.png"/>
          <p:cNvPicPr>
            <a:picLocks noChangeAspect="1"/>
          </p:cNvPicPr>
          <p:nvPr/>
        </p:nvPicPr>
        <p:blipFill>
          <a:blip r:embed="rId7"/>
          <a:srcRect l="-320" r="-320"/>
          <a:stretch/>
        </p:blipFill>
        <p:spPr>
          <a:xfrm>
            <a:off x="14220749" y="4286707"/>
            <a:ext cx="38405" cy="286207"/>
          </a:xfrm>
          <a:prstGeom prst="rect">
            <a:avLst/>
          </a:prstGeom>
        </p:spPr>
      </p:pic>
      <p:sp>
        <p:nvSpPr>
          <p:cNvPr id="55" name="Shape 42"/>
          <p:cNvSpPr/>
          <p:nvPr/>
        </p:nvSpPr>
        <p:spPr>
          <a:xfrm>
            <a:off x="14296644" y="4343400"/>
            <a:ext cx="38405" cy="171907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6" name="Image 11" descr="gen-dedup-bcda4f1761bb474e1126e5ff341b16d7.png"/>
          <p:cNvPicPr>
            <a:picLocks noChangeAspect="1"/>
          </p:cNvPicPr>
          <p:nvPr/>
        </p:nvPicPr>
        <p:blipFill>
          <a:blip r:embed="rId11"/>
          <a:srcRect l="-400" r="-400"/>
          <a:stretch/>
        </p:blipFill>
        <p:spPr>
          <a:xfrm>
            <a:off x="14373454" y="4315054"/>
            <a:ext cx="38405" cy="228600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14287500" y="7239305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ext 44"/>
          <p:cNvSpPr txBox="1"/>
          <p:nvPr/>
        </p:nvSpPr>
        <p:spPr>
          <a:xfrm>
            <a:off x="14287500" y="7420356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9" name="Text 45"/>
          <p:cNvSpPr txBox="1"/>
          <p:nvPr/>
        </p:nvSpPr>
        <p:spPr>
          <a:xfrm>
            <a:off x="14287500" y="7667244"/>
            <a:ext cx="819302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n-US" sz="975" dirty="0"/>
          </a:p>
        </p:txBody>
      </p:sp>
      <p:sp>
        <p:nvSpPr>
          <p:cNvPr id="60" name="Text 46"/>
          <p:cNvSpPr txBox="1"/>
          <p:nvPr/>
        </p:nvSpPr>
        <p:spPr>
          <a:xfrm>
            <a:off x="15180869" y="7667244"/>
            <a:ext cx="685800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ASPOL</a:t>
            </a:r>
            <a:endParaRPr lang="en-US" sz="975" dirty="0"/>
          </a:p>
        </p:txBody>
      </p:sp>
      <p:sp>
        <p:nvSpPr>
          <p:cNvPr id="61" name="Text 47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62" name="Text 48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/ 50</a:t>
            </a:r>
            <a:endParaRPr lang="en-US" sz="975" dirty="0"/>
          </a:p>
        </p:txBody>
      </p:sp>
      <p:pic>
        <p:nvPicPr>
          <p:cNvPr id="63" name="Image 12" descr="gen-dedup-8d5a47c3db0dab36a6925f1ca0547b0a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5430500" y="723930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A854-C674-6524-EA91-BA15EB92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>
            <a:extLst>
              <a:ext uri="{FF2B5EF4-FFF2-40B4-BE49-F238E27FC236}">
                <a16:creationId xmlns:a16="http://schemas.microsoft.com/office/drawing/2014/main" id="{93CC9918-DA6C-9AF4-BF41-11EB1965A6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5F7D224-3C8A-BCA8-FDFD-D8E16B5A2C03}"/>
              </a:ext>
            </a:extLst>
          </p:cNvPr>
          <p:cNvSpPr/>
          <p:nvPr/>
        </p:nvSpPr>
        <p:spPr>
          <a:xfrm>
            <a:off x="1143000" y="55622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768D77B-F649-2488-B30E-88824956D926}"/>
              </a:ext>
            </a:extLst>
          </p:cNvPr>
          <p:cNvSpPr/>
          <p:nvPr/>
        </p:nvSpPr>
        <p:spPr>
          <a:xfrm>
            <a:off x="1143000" y="6762902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8F8B2F8-5336-144A-52C7-6AAA44158B15}"/>
              </a:ext>
            </a:extLst>
          </p:cNvPr>
          <p:cNvSpPr/>
          <p:nvPr/>
        </p:nvSpPr>
        <p:spPr>
          <a:xfrm>
            <a:off x="1143000" y="79625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ac80e9e021134ca9d35aa6425fc9f26.png">
            <a:extLst>
              <a:ext uri="{FF2B5EF4-FFF2-40B4-BE49-F238E27FC236}">
                <a16:creationId xmlns:a16="http://schemas.microsoft.com/office/drawing/2014/main" id="{9C12544B-678B-AA0D-679E-FD3DEE916C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F26F86C4-1E05-2975-1279-8F1966A53461}"/>
              </a:ext>
            </a:extLst>
          </p:cNvPr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4F05493-3D38-3C33-6445-FBC7CB0EB1BA}"/>
              </a:ext>
            </a:extLst>
          </p:cNvPr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29D14C5-2B49-80C7-4C3D-50AB24021B6A}"/>
              </a:ext>
            </a:extLst>
          </p:cNvPr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FD813C7-CDEF-593B-E8B0-927C8F57EEEB}"/>
              </a:ext>
            </a:extLst>
          </p:cNvPr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08057AF-318A-6391-A812-3440EE8834BB}"/>
              </a:ext>
            </a:extLst>
          </p:cNvPr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gen-dedup-25ca77fad41c44e392459a669cb46686.png">
            <a:extLst>
              <a:ext uri="{FF2B5EF4-FFF2-40B4-BE49-F238E27FC236}">
                <a16:creationId xmlns:a16="http://schemas.microsoft.com/office/drawing/2014/main" id="{20C07F2E-B7FF-DE89-B579-B34AA3439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734202"/>
            <a:ext cx="685800" cy="685800"/>
          </a:xfrm>
          <a:prstGeom prst="rect">
            <a:avLst/>
          </a:prstGeom>
        </p:spPr>
      </p:pic>
      <p:pic>
        <p:nvPicPr>
          <p:cNvPr id="13" name="Image 3" descr="gen-dedup-25ca77fad41c44e392459a669cb46686.png">
            <a:extLst>
              <a:ext uri="{FF2B5EF4-FFF2-40B4-BE49-F238E27FC236}">
                <a16:creationId xmlns:a16="http://schemas.microsoft.com/office/drawing/2014/main" id="{307C195D-F23A-135D-4B1E-E92F996057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933895"/>
            <a:ext cx="685800" cy="685800"/>
          </a:xfrm>
          <a:prstGeom prst="rect">
            <a:avLst/>
          </a:prstGeom>
        </p:spPr>
      </p:pic>
      <p:pic>
        <p:nvPicPr>
          <p:cNvPr id="14" name="Image 4" descr="gen-dedup-25ca77fad41c44e392459a669cb46686.png">
            <a:extLst>
              <a:ext uri="{FF2B5EF4-FFF2-40B4-BE49-F238E27FC236}">
                <a16:creationId xmlns:a16="http://schemas.microsoft.com/office/drawing/2014/main" id="{990A5080-2BE7-6396-3925-C160935340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8134502"/>
            <a:ext cx="685800" cy="685800"/>
          </a:xfrm>
          <a:prstGeom prst="rect">
            <a:avLst/>
          </a:prstGeom>
        </p:spPr>
      </p:pic>
      <p:pic>
        <p:nvPicPr>
          <p:cNvPr id="15" name="Image 5" descr="gen-dedup-4fd6ab27e8b90bd8fc3508b3072b05e0.png">
            <a:extLst>
              <a:ext uri="{FF2B5EF4-FFF2-40B4-BE49-F238E27FC236}">
                <a16:creationId xmlns:a16="http://schemas.microsoft.com/office/drawing/2014/main" id="{A3D37FE7-21C3-C2F3-9653-79AEBD4CE8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6" name="Image 6" descr="gen-dedup-260dd6da6acb35cd082fc331d2743917.png">
            <a:extLst>
              <a:ext uri="{FF2B5EF4-FFF2-40B4-BE49-F238E27FC236}">
                <a16:creationId xmlns:a16="http://schemas.microsoft.com/office/drawing/2014/main" id="{1C47BCDA-F9A5-0B23-BD4C-556F546C231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29600" y="8781898"/>
            <a:ext cx="533095" cy="533095"/>
          </a:xfrm>
          <a:prstGeom prst="rect">
            <a:avLst/>
          </a:prstGeom>
        </p:spPr>
      </p:pic>
      <p:pic>
        <p:nvPicPr>
          <p:cNvPr id="17" name="Image 7" descr="gen-dedup-260dd6da6acb35cd082fc331d2743917.png">
            <a:extLst>
              <a:ext uri="{FF2B5EF4-FFF2-40B4-BE49-F238E27FC236}">
                <a16:creationId xmlns:a16="http://schemas.microsoft.com/office/drawing/2014/main" id="{F7BB07AE-CF62-0F03-C5E7-B050A5226E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76995" y="8781898"/>
            <a:ext cx="533095" cy="533095"/>
          </a:xfrm>
          <a:prstGeom prst="rect">
            <a:avLst/>
          </a:prstGeom>
        </p:spPr>
      </p:pic>
      <p:pic>
        <p:nvPicPr>
          <p:cNvPr id="18" name="Image 8" descr="gen-dedup-260dd6da6acb35cd082fc331d2743917.png">
            <a:extLst>
              <a:ext uri="{FF2B5EF4-FFF2-40B4-BE49-F238E27FC236}">
                <a16:creationId xmlns:a16="http://schemas.microsoft.com/office/drawing/2014/main" id="{9AB23C0C-B360-FBCE-1BD0-FA0E71CDE9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5305" y="8781898"/>
            <a:ext cx="533095" cy="533095"/>
          </a:xfrm>
          <a:prstGeom prst="rect">
            <a:avLst/>
          </a:prstGeom>
        </p:spPr>
      </p:pic>
      <p:pic>
        <p:nvPicPr>
          <p:cNvPr id="19" name="Image 9" descr="gen-dedup-8a9a28c3a9840776409e917f9ceffe15.png">
            <a:extLst>
              <a:ext uri="{FF2B5EF4-FFF2-40B4-BE49-F238E27FC236}">
                <a16:creationId xmlns:a16="http://schemas.microsoft.com/office/drawing/2014/main" id="{14B55E06-15B8-9359-BDCB-99FEF25B48A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20" name="Image 10" descr="gen-dedup-25ca77fad41c44e392459a669cb46686.png">
            <a:extLst>
              <a:ext uri="{FF2B5EF4-FFF2-40B4-BE49-F238E27FC236}">
                <a16:creationId xmlns:a16="http://schemas.microsoft.com/office/drawing/2014/main" id="{9A3C473B-6E2C-1732-013C-9182447850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1" name="Image 11" descr="gen-dedup-25ca77fad41c44e392459a669cb46686.png">
            <a:extLst>
              <a:ext uri="{FF2B5EF4-FFF2-40B4-BE49-F238E27FC236}">
                <a16:creationId xmlns:a16="http://schemas.microsoft.com/office/drawing/2014/main" id="{8DE891DD-258D-0BE8-0F20-9338F943E0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2" name="Image 12" descr="gen-dedup-25ca77fad41c44e392459a669cb46686.png">
            <a:extLst>
              <a:ext uri="{FF2B5EF4-FFF2-40B4-BE49-F238E27FC236}">
                <a16:creationId xmlns:a16="http://schemas.microsoft.com/office/drawing/2014/main" id="{D94F94AF-F280-54C1-8A72-944CD77C65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3" name="Image 13" descr="gen-dedup-6b1fea6ef9cf700851503bcdb8011f45.png">
            <a:extLst>
              <a:ext uri="{FF2B5EF4-FFF2-40B4-BE49-F238E27FC236}">
                <a16:creationId xmlns:a16="http://schemas.microsoft.com/office/drawing/2014/main" id="{737F2E49-E98D-3E7D-7AEF-1BC321FA8A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4" name="Image 14" descr="gen-dedup-07d4da1bf1910daef42c9babebc62b73.png">
            <a:extLst>
              <a:ext uri="{FF2B5EF4-FFF2-40B4-BE49-F238E27FC236}">
                <a16:creationId xmlns:a16="http://schemas.microsoft.com/office/drawing/2014/main" id="{023910B1-58F6-BF3D-D63D-7197C38B9A4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5" name="Image 15" descr="gen-dedup-fc23fc46cc0b8a7a71b92116d7c65e62.png">
            <a:extLst>
              <a:ext uri="{FF2B5EF4-FFF2-40B4-BE49-F238E27FC236}">
                <a16:creationId xmlns:a16="http://schemas.microsoft.com/office/drawing/2014/main" id="{A6CD2157-03EB-6118-1106-D4BAADF22B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6" name="Image 16" descr="gen-dedup-f8ed294b000c1ef7e579ff30ac06ed18.png">
            <a:extLst>
              <a:ext uri="{FF2B5EF4-FFF2-40B4-BE49-F238E27FC236}">
                <a16:creationId xmlns:a16="http://schemas.microsoft.com/office/drawing/2014/main" id="{ED3D8E5D-D7E0-9755-566E-A7A7C184875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34756" y="8887054"/>
            <a:ext cx="323698" cy="323698"/>
          </a:xfrm>
          <a:prstGeom prst="rect">
            <a:avLst/>
          </a:prstGeom>
        </p:spPr>
      </p:pic>
      <p:pic>
        <p:nvPicPr>
          <p:cNvPr id="27" name="Image 17" descr="gen-dedup-1fccdd897c6e68de427f95f9a1ba34cb.png">
            <a:extLst>
              <a:ext uri="{FF2B5EF4-FFF2-40B4-BE49-F238E27FC236}">
                <a16:creationId xmlns:a16="http://schemas.microsoft.com/office/drawing/2014/main" id="{9C81BF2F-F5F5-A9FC-0856-9F9E44A337D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982151" y="8887054"/>
            <a:ext cx="323698" cy="323698"/>
          </a:xfrm>
          <a:prstGeom prst="rect">
            <a:avLst/>
          </a:prstGeom>
        </p:spPr>
      </p:pic>
      <p:pic>
        <p:nvPicPr>
          <p:cNvPr id="28" name="Image 18" descr="gen-dedup-dbbe570e5ea020bc080cbd7c66058d39.png">
            <a:extLst>
              <a:ext uri="{FF2B5EF4-FFF2-40B4-BE49-F238E27FC236}">
                <a16:creationId xmlns:a16="http://schemas.microsoft.com/office/drawing/2014/main" id="{92D868F0-FF2F-E795-85CB-EDA81F6C6D7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3125" b="-3125"/>
          <a:stretch/>
        </p:blipFill>
        <p:spPr>
          <a:xfrm>
            <a:off x="9629546" y="8887054"/>
            <a:ext cx="323698" cy="323698"/>
          </a:xfrm>
          <a:prstGeom prst="rect">
            <a:avLst/>
          </a:prstGeom>
        </p:spPr>
      </p:pic>
      <p:pic>
        <p:nvPicPr>
          <p:cNvPr id="29" name="Image 19" descr="gen-dedup-dbbe570e5ea020bc080cbd7c66058d39.png">
            <a:extLst>
              <a:ext uri="{FF2B5EF4-FFF2-40B4-BE49-F238E27FC236}">
                <a16:creationId xmlns:a16="http://schemas.microsoft.com/office/drawing/2014/main" id="{E36919D7-6784-827D-A0E4-2D51CDFEE3F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3125" b="-3125"/>
          <a:stretch/>
        </p:blipFill>
        <p:spPr>
          <a:xfrm>
            <a:off x="16420795" y="5266944"/>
            <a:ext cx="409651" cy="409651"/>
          </a:xfrm>
          <a:prstGeom prst="rect">
            <a:avLst/>
          </a:prstGeom>
        </p:spPr>
      </p:pic>
      <p:sp>
        <p:nvSpPr>
          <p:cNvPr id="30" name="Text 8">
            <a:extLst>
              <a:ext uri="{FF2B5EF4-FFF2-40B4-BE49-F238E27FC236}">
                <a16:creationId xmlns:a16="http://schemas.microsoft.com/office/drawing/2014/main" id="{D96523C9-3086-4E4A-E4A5-E8FCCEF264CF}"/>
              </a:ext>
            </a:extLst>
          </p:cNvPr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C03</a:t>
            </a:r>
            <a:endParaRPr lang="en-US" sz="975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34870939-11DE-B72F-E0A9-08764A3D6CF7}"/>
              </a:ext>
            </a:extLst>
          </p:cNvPr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6E153123-EB4E-1151-7A6B-3F0A4436CDEB}"/>
              </a:ext>
            </a:extLst>
          </p:cNvPr>
          <p:cNvSpPr txBox="1"/>
          <p:nvPr/>
        </p:nvSpPr>
        <p:spPr>
          <a:xfrm>
            <a:off x="1315822" y="2214677"/>
            <a:ext cx="362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13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567D763D-8FB9-CD87-9961-7792D22E4558}"/>
              </a:ext>
            </a:extLst>
          </p:cNvPr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telefónica · Qué entra, qué sale</a:t>
            </a:r>
            <a:endParaRPr lang="en-US" sz="1125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B0FBBC35-3B78-B843-BB35-FF08889D07A9}"/>
              </a:ext>
            </a:extLst>
          </p:cNvPr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Voz.</a:t>
            </a:r>
            <a:endParaRPr lang="en-US" sz="585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38B5200F-94D9-3434-030B-8B605002EC8D}"/>
              </a:ext>
            </a:extLst>
          </p:cNvPr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telefónica autónoma sobre su centralita actual.</a:t>
            </a:r>
            <a:endParaRPr lang="en-US" sz="195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96DA804F-D62E-F1D1-2FCB-F5D4414C5BD7}"/>
              </a:ext>
            </a:extLst>
          </p:cNvPr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014188B8-2FCB-0BB6-5C99-A984BB798C7C}"/>
              </a:ext>
            </a:extLst>
          </p:cNvPr>
          <p:cNvSpPr/>
          <p:nvPr/>
        </p:nvSpPr>
        <p:spPr>
          <a:xfrm>
            <a:off x="12382805" y="2533802"/>
            <a:ext cx="117134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AB755CD-52F5-82E9-011E-91C13218AD09}"/>
              </a:ext>
            </a:extLst>
          </p:cNvPr>
          <p:cNvSpPr txBox="1"/>
          <p:nvPr/>
        </p:nvSpPr>
        <p:spPr>
          <a:xfrm>
            <a:off x="12382805" y="2533802"/>
            <a:ext cx="11722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FreeSWITCH</a:t>
            </a:r>
            <a:endParaRPr lang="en-US" sz="1125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16E45C1A-7EE4-ECDB-1BCC-236C92CBA3AE}"/>
              </a:ext>
            </a:extLst>
          </p:cNvPr>
          <p:cNvSpPr/>
          <p:nvPr/>
        </p:nvSpPr>
        <p:spPr>
          <a:xfrm>
            <a:off x="13627303" y="2533802"/>
            <a:ext cx="866851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484383E7-812B-5F13-2989-BCA9CA1CBFC7}"/>
              </a:ext>
            </a:extLst>
          </p:cNvPr>
          <p:cNvSpPr txBox="1"/>
          <p:nvPr/>
        </p:nvSpPr>
        <p:spPr>
          <a:xfrm>
            <a:off x="13627303" y="2533802"/>
            <a:ext cx="8668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</a:t>
            </a:r>
            <a:endParaRPr lang="en-US" sz="1125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826EC3F4-2026-884D-D56D-FAD8EA7F35D0}"/>
              </a:ext>
            </a:extLst>
          </p:cNvPr>
          <p:cNvSpPr/>
          <p:nvPr/>
        </p:nvSpPr>
        <p:spPr>
          <a:xfrm>
            <a:off x="1456913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0784E4ED-6119-5057-6DB8-A862C0CF2350}"/>
              </a:ext>
            </a:extLst>
          </p:cNvPr>
          <p:cNvSpPr txBox="1"/>
          <p:nvPr/>
        </p:nvSpPr>
        <p:spPr>
          <a:xfrm>
            <a:off x="1456913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ADC891A8-20FC-0238-6425-27E1AD781923}"/>
              </a:ext>
            </a:extLst>
          </p:cNvPr>
          <p:cNvSpPr/>
          <p:nvPr/>
        </p:nvSpPr>
        <p:spPr>
          <a:xfrm>
            <a:off x="15692018" y="2533802"/>
            <a:ext cx="101955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6ABC70F7-5B0A-F7F1-3480-E21C2A2E2B89}"/>
              </a:ext>
            </a:extLst>
          </p:cNvPr>
          <p:cNvSpPr txBox="1"/>
          <p:nvPr/>
        </p:nvSpPr>
        <p:spPr>
          <a:xfrm>
            <a:off x="15692018" y="2533802"/>
            <a:ext cx="10195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TTS</a:t>
            </a:r>
            <a:endParaRPr lang="en-US" sz="1125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D9A403D1-8243-1F0A-FAFB-61C3944D8DBC}"/>
              </a:ext>
            </a:extLst>
          </p:cNvPr>
          <p:cNvSpPr/>
          <p:nvPr/>
        </p:nvSpPr>
        <p:spPr>
          <a:xfrm>
            <a:off x="12382805" y="2905049"/>
            <a:ext cx="514807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A671FE8F-AF1B-0AC0-F1A7-BEC21E93C2FD}"/>
              </a:ext>
            </a:extLst>
          </p:cNvPr>
          <p:cNvSpPr txBox="1"/>
          <p:nvPr/>
        </p:nvSpPr>
        <p:spPr>
          <a:xfrm>
            <a:off x="12382805" y="2905049"/>
            <a:ext cx="514807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SIP</a:t>
            </a:r>
            <a:endParaRPr lang="en-US" sz="1125" dirty="0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E1DE1CB7-81FA-D8C9-F873-5E2975377A18}"/>
              </a:ext>
            </a:extLst>
          </p:cNvPr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4190AC3A-54D5-F79D-E8CF-2986CAEDF8F2}"/>
              </a:ext>
            </a:extLst>
          </p:cNvPr>
          <p:cNvSpPr/>
          <p:nvPr/>
        </p:nvSpPr>
        <p:spPr>
          <a:xfrm>
            <a:off x="12382805" y="3829507"/>
            <a:ext cx="933602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009DB5EB-2FD4-A891-C85D-53A719D7FAC0}"/>
              </a:ext>
            </a:extLst>
          </p:cNvPr>
          <p:cNvSpPr txBox="1"/>
          <p:nvPr/>
        </p:nvSpPr>
        <p:spPr>
          <a:xfrm>
            <a:off x="12382805" y="3829507"/>
            <a:ext cx="9336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n-US" sz="1125" dirty="0"/>
          </a:p>
        </p:txBody>
      </p:sp>
      <p:sp>
        <p:nvSpPr>
          <p:cNvPr id="50" name="Shape 28">
            <a:extLst>
              <a:ext uri="{FF2B5EF4-FFF2-40B4-BE49-F238E27FC236}">
                <a16:creationId xmlns:a16="http://schemas.microsoft.com/office/drawing/2014/main" id="{09773CA3-5B73-64EF-CE3E-1A21DC3F68E8}"/>
              </a:ext>
            </a:extLst>
          </p:cNvPr>
          <p:cNvSpPr/>
          <p:nvPr/>
        </p:nvSpPr>
        <p:spPr>
          <a:xfrm>
            <a:off x="13384073" y="3829507"/>
            <a:ext cx="77175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82E5172A-1444-2033-6C3A-9EA343F7B536}"/>
              </a:ext>
            </a:extLst>
          </p:cNvPr>
          <p:cNvSpPr txBox="1"/>
          <p:nvPr/>
        </p:nvSpPr>
        <p:spPr>
          <a:xfrm>
            <a:off x="13384073" y="3829507"/>
            <a:ext cx="7717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ASPOL</a:t>
            </a:r>
            <a:endParaRPr lang="en-US" sz="1125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C1CA3A27-4649-0215-1FBA-3410FED7D3F0}"/>
              </a:ext>
            </a:extLst>
          </p:cNvPr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0285CD0D-E1B3-D0AD-82FA-B83B9DD3E1FA}"/>
              </a:ext>
            </a:extLst>
          </p:cNvPr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C86CF816-507D-2BD4-FAF6-06F0338D5E7F}"/>
              </a:ext>
            </a:extLst>
          </p:cNvPr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pic>
        <p:nvPicPr>
          <p:cNvPr id="55" name="Image 20" descr="gen-dedup-5753d29df88f58139a34bdae804f42e1.png">
            <a:extLst>
              <a:ext uri="{FF2B5EF4-FFF2-40B4-BE49-F238E27FC236}">
                <a16:creationId xmlns:a16="http://schemas.microsoft.com/office/drawing/2014/main" id="{673E7C37-272F-1A56-C511-5AFA10AA435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6698" y="5886907"/>
            <a:ext cx="381305" cy="381305"/>
          </a:xfrm>
          <a:prstGeom prst="rect">
            <a:avLst/>
          </a:prstGeom>
        </p:spPr>
      </p:pic>
      <p:sp>
        <p:nvSpPr>
          <p:cNvPr id="56" name="Text 33">
            <a:extLst>
              <a:ext uri="{FF2B5EF4-FFF2-40B4-BE49-F238E27FC236}">
                <a16:creationId xmlns:a16="http://schemas.microsoft.com/office/drawing/2014/main" id="{37DEA210-6872-71B9-400C-601F1EFA551F}"/>
              </a:ext>
            </a:extLst>
          </p:cNvPr>
          <p:cNvSpPr txBox="1"/>
          <p:nvPr/>
        </p:nvSpPr>
        <p:spPr>
          <a:xfrm>
            <a:off x="2171700" y="58100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 entrante</a:t>
            </a:r>
            <a:endParaRPr lang="en-US" sz="1725" dirty="0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5CF636BB-617A-6060-B502-8BB817DBD5D3}"/>
              </a:ext>
            </a:extLst>
          </p:cNvPr>
          <p:cNvSpPr txBox="1"/>
          <p:nvPr/>
        </p:nvSpPr>
        <p:spPr>
          <a:xfrm>
            <a:off x="2171700" y="61191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Extensión SIP</a:t>
            </a:r>
            <a:endParaRPr lang="en-US" sz="1275" dirty="0"/>
          </a:p>
        </p:txBody>
      </p:sp>
      <p:pic>
        <p:nvPicPr>
          <p:cNvPr id="58" name="Image 21" descr="gen-dedup-40fe17d3ab1353232329f201d424c931.png">
            <a:extLst>
              <a:ext uri="{FF2B5EF4-FFF2-40B4-BE49-F238E27FC236}">
                <a16:creationId xmlns:a16="http://schemas.microsoft.com/office/drawing/2014/main" id="{5FB3A836-40DD-CFA4-1911-96C605EDF03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6698" y="7086600"/>
            <a:ext cx="381305" cy="381305"/>
          </a:xfrm>
          <a:prstGeom prst="rect">
            <a:avLst/>
          </a:prstGeom>
        </p:spPr>
      </p:pic>
      <p:sp>
        <p:nvSpPr>
          <p:cNvPr id="59" name="Text 35">
            <a:extLst>
              <a:ext uri="{FF2B5EF4-FFF2-40B4-BE49-F238E27FC236}">
                <a16:creationId xmlns:a16="http://schemas.microsoft.com/office/drawing/2014/main" id="{19FA1A27-AF31-359C-BBD8-306437CCFAF7}"/>
              </a:ext>
            </a:extLst>
          </p:cNvPr>
          <p:cNvSpPr txBox="1"/>
          <p:nvPr/>
        </p:nvSpPr>
        <p:spPr>
          <a:xfrm>
            <a:off x="2171700" y="7010705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centralita</a:t>
            </a:r>
            <a:endParaRPr lang="en-US" sz="1725" dirty="0"/>
          </a:p>
        </p:txBody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04ED484E-D5FC-7CAB-1EE5-05FCD2A73000}"/>
              </a:ext>
            </a:extLst>
          </p:cNvPr>
          <p:cNvSpPr txBox="1"/>
          <p:nvPr/>
        </p:nvSpPr>
        <p:spPr>
          <a:xfrm>
            <a:off x="2171700" y="7319772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cambiarla</a:t>
            </a:r>
            <a:endParaRPr lang="en-US" sz="1275" dirty="0"/>
          </a:p>
        </p:txBody>
      </p:sp>
      <p:pic>
        <p:nvPicPr>
          <p:cNvPr id="61" name="Image 22" descr="gen-dedup-e2a0c92ad940ed4cb94c2f4f57203343.png">
            <a:extLst>
              <a:ext uri="{FF2B5EF4-FFF2-40B4-BE49-F238E27FC236}">
                <a16:creationId xmlns:a16="http://schemas.microsoft.com/office/drawing/2014/main" id="{CFBEC150-1130-A198-AC2A-55A373953F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698" y="8287207"/>
            <a:ext cx="381305" cy="381305"/>
          </a:xfrm>
          <a:prstGeom prst="rect">
            <a:avLst/>
          </a:prstGeom>
        </p:spPr>
      </p:pic>
      <p:sp>
        <p:nvSpPr>
          <p:cNvPr id="62" name="Text 37">
            <a:extLst>
              <a:ext uri="{FF2B5EF4-FFF2-40B4-BE49-F238E27FC236}">
                <a16:creationId xmlns:a16="http://schemas.microsoft.com/office/drawing/2014/main" id="{BECE400F-FD64-F094-5B23-2BF277B419D5}"/>
              </a:ext>
            </a:extLst>
          </p:cNvPr>
          <p:cNvSpPr txBox="1"/>
          <p:nvPr/>
        </p:nvSpPr>
        <p:spPr>
          <a:xfrm>
            <a:off x="2171700" y="82103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 del cliente</a:t>
            </a:r>
            <a:endParaRPr lang="en-US" sz="1725" dirty="0"/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F6B428C0-D3EB-D561-B409-F0AFB0101F60}"/>
              </a:ext>
            </a:extLst>
          </p:cNvPr>
          <p:cNvSpPr txBox="1"/>
          <p:nvPr/>
        </p:nvSpPr>
        <p:spPr>
          <a:xfrm>
            <a:off x="2171700" y="85194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Español e inglés</a:t>
            </a:r>
            <a:endParaRPr lang="en-US" sz="1275" dirty="0"/>
          </a:p>
        </p:txBody>
      </p:sp>
      <p:pic>
        <p:nvPicPr>
          <p:cNvPr id="64" name="Image 23" descr="gen-dedup-182d78fddcadc7feb406cb878a100c1d.png">
            <a:extLst>
              <a:ext uri="{FF2B5EF4-FFF2-40B4-BE49-F238E27FC236}">
                <a16:creationId xmlns:a16="http://schemas.microsoft.com/office/drawing/2014/main" id="{53EB3C4A-427C-A6C0-3D84-85CF5FEF472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5" name="Text 39">
            <a:extLst>
              <a:ext uri="{FF2B5EF4-FFF2-40B4-BE49-F238E27FC236}">
                <a16:creationId xmlns:a16="http://schemas.microsoft.com/office/drawing/2014/main" id="{C12DCA70-A3E9-1F44-F622-C0DE82750160}"/>
              </a:ext>
            </a:extLst>
          </p:cNvPr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C03</a:t>
            </a:r>
            <a:endParaRPr lang="en-US" sz="900" dirty="0"/>
          </a:p>
        </p:txBody>
      </p:sp>
      <p:sp>
        <p:nvSpPr>
          <p:cNvPr id="66" name="Text 40">
            <a:extLst>
              <a:ext uri="{FF2B5EF4-FFF2-40B4-BE49-F238E27FC236}">
                <a16:creationId xmlns:a16="http://schemas.microsoft.com/office/drawing/2014/main" id="{74CE247C-C927-14DB-C75A-1F30024963F7}"/>
              </a:ext>
            </a:extLst>
          </p:cNvPr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Voz</a:t>
            </a:r>
            <a:endParaRPr lang="en-US" sz="2250" dirty="0"/>
          </a:p>
        </p:txBody>
      </p:sp>
      <p:sp>
        <p:nvSpPr>
          <p:cNvPr id="67" name="Shape 41">
            <a:extLst>
              <a:ext uri="{FF2B5EF4-FFF2-40B4-BE49-F238E27FC236}">
                <a16:creationId xmlns:a16="http://schemas.microsoft.com/office/drawing/2014/main" id="{2256161A-8FA7-0354-C2DE-CD4AFE96E68C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42">
            <a:extLst>
              <a:ext uri="{FF2B5EF4-FFF2-40B4-BE49-F238E27FC236}">
                <a16:creationId xmlns:a16="http://schemas.microsoft.com/office/drawing/2014/main" id="{7E71D619-BA77-4914-D02A-887280167E95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69" name="Text 43">
            <a:extLst>
              <a:ext uri="{FF2B5EF4-FFF2-40B4-BE49-F238E27FC236}">
                <a16:creationId xmlns:a16="http://schemas.microsoft.com/office/drawing/2014/main" id="{39080CA7-C268-CF10-8238-2E12EC636436}"/>
              </a:ext>
            </a:extLst>
          </p:cNvPr>
          <p:cNvSpPr txBox="1"/>
          <p:nvPr/>
        </p:nvSpPr>
        <p:spPr>
          <a:xfrm>
            <a:off x="7524598" y="6986930"/>
            <a:ext cx="328726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Transcribe la voz en tiempo real</a:t>
            </a:r>
            <a:endParaRPr lang="en-US" sz="1425" dirty="0"/>
          </a:p>
        </p:txBody>
      </p:sp>
      <p:sp>
        <p:nvSpPr>
          <p:cNvPr id="70" name="Shape 44">
            <a:extLst>
              <a:ext uri="{FF2B5EF4-FFF2-40B4-BE49-F238E27FC236}">
                <a16:creationId xmlns:a16="http://schemas.microsoft.com/office/drawing/2014/main" id="{7BCB0ACD-B1EA-A5C8-A202-2E84AA72F487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45">
            <a:extLst>
              <a:ext uri="{FF2B5EF4-FFF2-40B4-BE49-F238E27FC236}">
                <a16:creationId xmlns:a16="http://schemas.microsoft.com/office/drawing/2014/main" id="{43858D6A-121D-A0DB-3855-4369F4B19CD3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CF122125-6582-2C78-74CE-04E5EDD508CA}"/>
              </a:ext>
            </a:extLst>
          </p:cNvPr>
          <p:cNvSpPr txBox="1"/>
          <p:nvPr/>
        </p:nvSpPr>
        <p:spPr>
          <a:xfrm>
            <a:off x="7524598" y="7386523"/>
            <a:ext cx="24597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 y decide 24/7</a:t>
            </a:r>
            <a:endParaRPr lang="en-US" sz="1425" dirty="0"/>
          </a:p>
        </p:txBody>
      </p:sp>
      <p:sp>
        <p:nvSpPr>
          <p:cNvPr id="73" name="Shape 47">
            <a:extLst>
              <a:ext uri="{FF2B5EF4-FFF2-40B4-BE49-F238E27FC236}">
                <a16:creationId xmlns:a16="http://schemas.microsoft.com/office/drawing/2014/main" id="{639FBCCA-38CC-8758-B6D3-49F73AA278F0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48">
            <a:extLst>
              <a:ext uri="{FF2B5EF4-FFF2-40B4-BE49-F238E27FC236}">
                <a16:creationId xmlns:a16="http://schemas.microsoft.com/office/drawing/2014/main" id="{45C33F66-2300-E686-A4E0-F5090B1B2EB4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49">
            <a:extLst>
              <a:ext uri="{FF2B5EF4-FFF2-40B4-BE49-F238E27FC236}">
                <a16:creationId xmlns:a16="http://schemas.microsoft.com/office/drawing/2014/main" id="{30E94B98-A45B-E4E4-1563-16331276D4E0}"/>
              </a:ext>
            </a:extLst>
          </p:cNvPr>
          <p:cNvSpPr txBox="1"/>
          <p:nvPr/>
        </p:nvSpPr>
        <p:spPr>
          <a:xfrm>
            <a:off x="7524598" y="7787030"/>
            <a:ext cx="267553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con voz natural</a:t>
            </a:r>
            <a:endParaRPr lang="en-US" sz="1425" dirty="0"/>
          </a:p>
        </p:txBody>
      </p:sp>
      <p:sp>
        <p:nvSpPr>
          <p:cNvPr id="76" name="Shape 50">
            <a:extLst>
              <a:ext uri="{FF2B5EF4-FFF2-40B4-BE49-F238E27FC236}">
                <a16:creationId xmlns:a16="http://schemas.microsoft.com/office/drawing/2014/main" id="{C9F6805D-F6F7-4EE9-67C7-A7259A9FD83C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51">
            <a:extLst>
              <a:ext uri="{FF2B5EF4-FFF2-40B4-BE49-F238E27FC236}">
                <a16:creationId xmlns:a16="http://schemas.microsoft.com/office/drawing/2014/main" id="{9F2594B3-9CA5-611B-FCB8-1DAE9270A921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78" name="Text 52">
            <a:extLst>
              <a:ext uri="{FF2B5EF4-FFF2-40B4-BE49-F238E27FC236}">
                <a16:creationId xmlns:a16="http://schemas.microsoft.com/office/drawing/2014/main" id="{E914D527-75B6-1888-2E63-6EE3D7FC7990}"/>
              </a:ext>
            </a:extLst>
          </p:cNvPr>
          <p:cNvSpPr txBox="1"/>
          <p:nvPr/>
        </p:nvSpPr>
        <p:spPr>
          <a:xfrm>
            <a:off x="7524598" y="8186623"/>
            <a:ext cx="31967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5 llamadas concurrentes</a:t>
            </a:r>
            <a:endParaRPr lang="en-US" sz="1425" dirty="0"/>
          </a:p>
        </p:txBody>
      </p:sp>
      <p:pic>
        <p:nvPicPr>
          <p:cNvPr id="79" name="Image 24" descr="gen-dedup-9f2da3d601bd1ff2962f48734b24ef49.png">
            <a:extLst>
              <a:ext uri="{FF2B5EF4-FFF2-40B4-BE49-F238E27FC236}">
                <a16:creationId xmlns:a16="http://schemas.microsoft.com/office/drawing/2014/main" id="{688C0D76-C35B-DBBF-2955-3E5D340060F8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sp>
        <p:nvSpPr>
          <p:cNvPr id="80" name="Text 53">
            <a:extLst>
              <a:ext uri="{FF2B5EF4-FFF2-40B4-BE49-F238E27FC236}">
                <a16:creationId xmlns:a16="http://schemas.microsoft.com/office/drawing/2014/main" id="{0BE0BC74-A5E3-D65A-FAE3-D8C51B6E9FB8}"/>
              </a:ext>
            </a:extLst>
          </p:cNvPr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hablada</a:t>
            </a:r>
            <a:endParaRPr lang="en-US" sz="1725" dirty="0"/>
          </a:p>
        </p:txBody>
      </p:sp>
      <p:sp>
        <p:nvSpPr>
          <p:cNvPr id="81" name="Text 54">
            <a:extLst>
              <a:ext uri="{FF2B5EF4-FFF2-40B4-BE49-F238E27FC236}">
                <a16:creationId xmlns:a16="http://schemas.microsoft.com/office/drawing/2014/main" id="{CFCF4518-F77C-72CF-8987-B514D76A8363}"/>
              </a:ext>
            </a:extLst>
          </p:cNvPr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TTS</a:t>
            </a:r>
            <a:endParaRPr lang="en-US" sz="1275" dirty="0"/>
          </a:p>
        </p:txBody>
      </p:sp>
      <p:pic>
        <p:nvPicPr>
          <p:cNvPr id="82" name="Image 25" descr="gen-dedup-2b4a586b3ab60de3fc74674a155585a7.png">
            <a:extLst>
              <a:ext uri="{FF2B5EF4-FFF2-40B4-BE49-F238E27FC236}">
                <a16:creationId xmlns:a16="http://schemas.microsoft.com/office/drawing/2014/main" id="{974E3E87-B617-061F-0048-0DB7B1E8B4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439998" y="6486754"/>
            <a:ext cx="381305" cy="381305"/>
          </a:xfrm>
          <a:prstGeom prst="rect">
            <a:avLst/>
          </a:prstGeom>
        </p:spPr>
      </p:pic>
      <p:sp>
        <p:nvSpPr>
          <p:cNvPr id="83" name="Text 55">
            <a:extLst>
              <a:ext uri="{FF2B5EF4-FFF2-40B4-BE49-F238E27FC236}">
                <a16:creationId xmlns:a16="http://schemas.microsoft.com/office/drawing/2014/main" id="{11C18A96-C464-A891-DB16-33BD3787D4E8}"/>
              </a:ext>
            </a:extLst>
          </p:cNvPr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Traspaso al humano</a:t>
            </a:r>
            <a:endParaRPr lang="en-US" sz="1725" dirty="0"/>
          </a:p>
        </p:txBody>
      </p:sp>
      <p:sp>
        <p:nvSpPr>
          <p:cNvPr id="84" name="Text 56">
            <a:extLst>
              <a:ext uri="{FF2B5EF4-FFF2-40B4-BE49-F238E27FC236}">
                <a16:creationId xmlns:a16="http://schemas.microsoft.com/office/drawing/2014/main" id="{19F0F8E6-2DAC-5863-2045-3E74BBE3AD81}"/>
              </a:ext>
            </a:extLst>
          </p:cNvPr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todo el contexto</a:t>
            </a:r>
            <a:endParaRPr lang="en-US" sz="1275" dirty="0"/>
          </a:p>
        </p:txBody>
      </p:sp>
      <p:pic>
        <p:nvPicPr>
          <p:cNvPr id="85" name="Image 26" descr="gen-dedup-fb6dc6c69da23a7763f473aade9244e2.png">
            <a:extLst>
              <a:ext uri="{FF2B5EF4-FFF2-40B4-BE49-F238E27FC236}">
                <a16:creationId xmlns:a16="http://schemas.microsoft.com/office/drawing/2014/main" id="{F499DF8A-4756-C9E6-91C9-FEA06BBAB68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7686446"/>
            <a:ext cx="381305" cy="381305"/>
          </a:xfrm>
          <a:prstGeom prst="rect">
            <a:avLst/>
          </a:prstGeom>
        </p:spPr>
      </p:pic>
      <p:sp>
        <p:nvSpPr>
          <p:cNvPr id="86" name="Text 57">
            <a:extLst>
              <a:ext uri="{FF2B5EF4-FFF2-40B4-BE49-F238E27FC236}">
                <a16:creationId xmlns:a16="http://schemas.microsoft.com/office/drawing/2014/main" id="{E0580382-907F-A9A5-E0B2-319DDBB3648C}"/>
              </a:ext>
            </a:extLst>
          </p:cNvPr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estructurado</a:t>
            </a:r>
            <a:endParaRPr lang="en-US" sz="1725" dirty="0"/>
          </a:p>
        </p:txBody>
      </p:sp>
      <p:sp>
        <p:nvSpPr>
          <p:cNvPr id="87" name="Text 58">
            <a:extLst>
              <a:ext uri="{FF2B5EF4-FFF2-40B4-BE49-F238E27FC236}">
                <a16:creationId xmlns:a16="http://schemas.microsoft.com/office/drawing/2014/main" id="{88A33107-A7A7-D56A-0B3A-8D603F4C0B9F}"/>
              </a:ext>
            </a:extLst>
          </p:cNvPr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Grabación y transcripción</a:t>
            </a:r>
            <a:endParaRPr lang="en-US" sz="1275" dirty="0"/>
          </a:p>
        </p:txBody>
      </p:sp>
      <p:pic>
        <p:nvPicPr>
          <p:cNvPr id="88" name="Image 27" descr="gen-dedup-4e71fa0306145f1fe8c8f6d6baeae426.png">
            <a:extLst>
              <a:ext uri="{FF2B5EF4-FFF2-40B4-BE49-F238E27FC236}">
                <a16:creationId xmlns:a16="http://schemas.microsoft.com/office/drawing/2014/main" id="{9588B95C-233E-74BA-0D37-71490EC78CA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89" name="Text 59">
            <a:extLst>
              <a:ext uri="{FF2B5EF4-FFF2-40B4-BE49-F238E27FC236}">
                <a16:creationId xmlns:a16="http://schemas.microsoft.com/office/drawing/2014/main" id="{5743D703-24F5-9238-5AC2-4089874DD33A}"/>
              </a:ext>
            </a:extLst>
          </p:cNvPr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725" dirty="0"/>
          </a:p>
        </p:txBody>
      </p:sp>
      <p:sp>
        <p:nvSpPr>
          <p:cNvPr id="90" name="Text 60">
            <a:extLst>
              <a:ext uri="{FF2B5EF4-FFF2-40B4-BE49-F238E27FC236}">
                <a16:creationId xmlns:a16="http://schemas.microsoft.com/office/drawing/2014/main" id="{82279ACD-742F-E5A9-88B8-EFEC3F593D13}"/>
              </a:ext>
            </a:extLst>
          </p:cNvPr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Transcripción y métricas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15603869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efac8eb198ecfd775a3e8768787cb13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92195" y="7619695"/>
            <a:ext cx="4190695" cy="4190695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 · 36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4195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comercial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CRM al día sin que el comercial lo toque.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el correo de los comerciales, extrae la señal y actualiza Odoo: actividades, etapas, tareas. Detecta oportunidades inactivas y emite alertas. El comercial deja de transcribir y se dedica a vender.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22677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siempre actualizado.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33329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de oportunidades inactivas.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28565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accionables al comercial.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29343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Modos automático y supervisado.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208574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por acción.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253928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inmutable para auditoría.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2221078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2221078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894990" y="8762695"/>
            <a:ext cx="6473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894990" y="8762695"/>
            <a:ext cx="6483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631997" y="8762695"/>
            <a:ext cx="88605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631997" y="8762695"/>
            <a:ext cx="8860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975" dirty="0"/>
          </a:p>
        </p:txBody>
      </p:sp>
      <p:sp>
        <p:nvSpPr>
          <p:cNvPr id="32" name="Text 27"/>
          <p:cNvSpPr txBox="1"/>
          <p:nvPr/>
        </p:nvSpPr>
        <p:spPr>
          <a:xfrm>
            <a:off x="13144500" y="1904695"/>
            <a:ext cx="4000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de actividad</a:t>
            </a:r>
            <a:endParaRPr lang="en-US" sz="825" dirty="0"/>
          </a:p>
        </p:txBody>
      </p:sp>
      <p:sp>
        <p:nvSpPr>
          <p:cNvPr id="33" name="Shape 28"/>
          <p:cNvSpPr/>
          <p:nvPr/>
        </p:nvSpPr>
        <p:spPr>
          <a:xfrm>
            <a:off x="13144500" y="2286000"/>
            <a:ext cx="4000500" cy="1886407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9"/>
          <p:cNvSpPr txBox="1"/>
          <p:nvPr/>
        </p:nvSpPr>
        <p:spPr>
          <a:xfrm>
            <a:off x="13382244" y="2505456"/>
            <a:ext cx="8293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147</a:t>
            </a:r>
            <a:endParaRPr lang="en-US" sz="2550" dirty="0"/>
          </a:p>
        </p:txBody>
      </p:sp>
      <p:sp>
        <p:nvSpPr>
          <p:cNvPr id="35" name="Text 30"/>
          <p:cNvSpPr txBox="1"/>
          <p:nvPr/>
        </p:nvSpPr>
        <p:spPr>
          <a:xfrm>
            <a:off x="13382244" y="2866644"/>
            <a:ext cx="8293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Actividades</a:t>
            </a:r>
            <a:endParaRPr lang="en-US" sz="800" dirty="0"/>
          </a:p>
        </p:txBody>
      </p:sp>
      <p:sp>
        <p:nvSpPr>
          <p:cNvPr id="36" name="Text 31"/>
          <p:cNvSpPr txBox="1"/>
          <p:nvPr/>
        </p:nvSpPr>
        <p:spPr>
          <a:xfrm>
            <a:off x="14282928" y="2505456"/>
            <a:ext cx="8293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2550" dirty="0"/>
          </a:p>
        </p:txBody>
      </p:sp>
      <p:sp>
        <p:nvSpPr>
          <p:cNvPr id="37" name="Text 32"/>
          <p:cNvSpPr txBox="1"/>
          <p:nvPr/>
        </p:nvSpPr>
        <p:spPr>
          <a:xfrm>
            <a:off x="14282928" y="2866644"/>
            <a:ext cx="8293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Tareas</a:t>
            </a:r>
            <a:endParaRPr lang="en-US" sz="800" dirty="0"/>
          </a:p>
        </p:txBody>
      </p:sp>
      <p:sp>
        <p:nvSpPr>
          <p:cNvPr id="38" name="Text 33"/>
          <p:cNvSpPr txBox="1"/>
          <p:nvPr/>
        </p:nvSpPr>
        <p:spPr>
          <a:xfrm>
            <a:off x="15182698" y="2505456"/>
            <a:ext cx="8293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550" dirty="0"/>
          </a:p>
        </p:txBody>
      </p:sp>
      <p:sp>
        <p:nvSpPr>
          <p:cNvPr id="39" name="Text 34"/>
          <p:cNvSpPr txBox="1"/>
          <p:nvPr/>
        </p:nvSpPr>
        <p:spPr>
          <a:xfrm>
            <a:off x="15182698" y="2866644"/>
            <a:ext cx="8293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16083382" y="2505456"/>
            <a:ext cx="8293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2550" dirty="0"/>
          </a:p>
        </p:txBody>
      </p:sp>
      <p:sp>
        <p:nvSpPr>
          <p:cNvPr id="41" name="Text 36"/>
          <p:cNvSpPr txBox="1"/>
          <p:nvPr/>
        </p:nvSpPr>
        <p:spPr>
          <a:xfrm>
            <a:off x="16083382" y="2866644"/>
            <a:ext cx="8293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Inactivas</a:t>
            </a:r>
            <a:endParaRPr lang="en-US" sz="800" dirty="0"/>
          </a:p>
        </p:txBody>
      </p:sp>
      <p:pic>
        <p:nvPicPr>
          <p:cNvPr id="42" name="Image 3" descr="gen-dedup-47c85c61eb897dc9df54890f7cf3ecf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3382244" y="3152851"/>
            <a:ext cx="3524098" cy="9144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13382244" y="3333902"/>
            <a:ext cx="3525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Última actividad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13382244" y="3571646"/>
            <a:ext cx="35250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 NAUTIA-2025-118 movida a Negociación — tarea creada.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14287500" y="6953098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40"/>
          <p:cNvSpPr txBox="1"/>
          <p:nvPr/>
        </p:nvSpPr>
        <p:spPr>
          <a:xfrm>
            <a:off x="14287500" y="7134149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47" name="Text 41"/>
          <p:cNvSpPr txBox="1"/>
          <p:nvPr/>
        </p:nvSpPr>
        <p:spPr>
          <a:xfrm>
            <a:off x="14287500" y="7381951"/>
            <a:ext cx="905256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 Córtex</a:t>
            </a:r>
            <a:endParaRPr lang="en-US" sz="975" dirty="0"/>
          </a:p>
        </p:txBody>
      </p:sp>
      <p:sp>
        <p:nvSpPr>
          <p:cNvPr id="48" name="Text 42"/>
          <p:cNvSpPr txBox="1"/>
          <p:nvPr/>
        </p:nvSpPr>
        <p:spPr>
          <a:xfrm>
            <a:off x="15268651" y="7381951"/>
            <a:ext cx="619963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975" dirty="0"/>
          </a:p>
        </p:txBody>
      </p:sp>
      <p:sp>
        <p:nvSpPr>
          <p:cNvPr id="49" name="Text 43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0" name="Text 44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/ 50</a:t>
            </a:r>
            <a:endParaRPr lang="en-US" sz="975" dirty="0"/>
          </a:p>
        </p:txBody>
      </p:sp>
      <p:pic>
        <p:nvPicPr>
          <p:cNvPr id="51" name="Image 4" descr="gen-dedup-b9323ed466faf8272e44a6a6bb1ae81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430500" y="723930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2F14-FA6B-7491-4376-F59B7084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>
            <a:extLst>
              <a:ext uri="{FF2B5EF4-FFF2-40B4-BE49-F238E27FC236}">
                <a16:creationId xmlns:a16="http://schemas.microsoft.com/office/drawing/2014/main" id="{3B04FD8C-4A31-5B2D-F769-4506328059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B29A3A5-8D4C-75D0-7C58-057336A30755}"/>
              </a:ext>
            </a:extLst>
          </p:cNvPr>
          <p:cNvSpPr/>
          <p:nvPr/>
        </p:nvSpPr>
        <p:spPr>
          <a:xfrm>
            <a:off x="1143000" y="55622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4904A1B-A9F5-4D6D-A394-C7031022736E}"/>
              </a:ext>
            </a:extLst>
          </p:cNvPr>
          <p:cNvSpPr/>
          <p:nvPr/>
        </p:nvSpPr>
        <p:spPr>
          <a:xfrm>
            <a:off x="1143000" y="6762902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71773A1-5B00-1623-970D-F3351E8B935A}"/>
              </a:ext>
            </a:extLst>
          </p:cNvPr>
          <p:cNvSpPr/>
          <p:nvPr/>
        </p:nvSpPr>
        <p:spPr>
          <a:xfrm>
            <a:off x="1143000" y="79625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ac80e9e021134ca9d35aa6425fc9f26.png">
            <a:extLst>
              <a:ext uri="{FF2B5EF4-FFF2-40B4-BE49-F238E27FC236}">
                <a16:creationId xmlns:a16="http://schemas.microsoft.com/office/drawing/2014/main" id="{F26BAA65-CCAC-5C17-7405-66DD0D50CD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ECD154B4-588B-E06D-8C29-82CBD56E5019}"/>
              </a:ext>
            </a:extLst>
          </p:cNvPr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70E5AA2-8E17-7855-4238-D337948E8EC1}"/>
              </a:ext>
            </a:extLst>
          </p:cNvPr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4F3152D-031A-66E5-8756-57D2D6CE917F}"/>
              </a:ext>
            </a:extLst>
          </p:cNvPr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51AA2F9-61A8-CBED-2253-F8497117811E}"/>
              </a:ext>
            </a:extLst>
          </p:cNvPr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529D2C2-E499-F93D-2050-EB9ECEC571EB}"/>
              </a:ext>
            </a:extLst>
          </p:cNvPr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gen-dedup-8a9a28c3a9840776409e917f9ceffe15.png">
            <a:extLst>
              <a:ext uri="{FF2B5EF4-FFF2-40B4-BE49-F238E27FC236}">
                <a16:creationId xmlns:a16="http://schemas.microsoft.com/office/drawing/2014/main" id="{0A4E38EF-3D0D-E385-4270-0C7C93B49C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734202"/>
            <a:ext cx="685800" cy="685800"/>
          </a:xfrm>
          <a:prstGeom prst="rect">
            <a:avLst/>
          </a:prstGeom>
        </p:spPr>
      </p:pic>
      <p:pic>
        <p:nvPicPr>
          <p:cNvPr id="13" name="Image 3" descr="gen-dedup-8a9a28c3a9840776409e917f9ceffe15.png">
            <a:extLst>
              <a:ext uri="{FF2B5EF4-FFF2-40B4-BE49-F238E27FC236}">
                <a16:creationId xmlns:a16="http://schemas.microsoft.com/office/drawing/2014/main" id="{2F98A228-15AC-A250-6B82-AD0467DEAD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933895"/>
            <a:ext cx="685800" cy="685800"/>
          </a:xfrm>
          <a:prstGeom prst="rect">
            <a:avLst/>
          </a:prstGeom>
        </p:spPr>
      </p:pic>
      <p:pic>
        <p:nvPicPr>
          <p:cNvPr id="14" name="Image 4" descr="gen-dedup-25ca77fad41c44e392459a669cb46686.png">
            <a:extLst>
              <a:ext uri="{FF2B5EF4-FFF2-40B4-BE49-F238E27FC236}">
                <a16:creationId xmlns:a16="http://schemas.microsoft.com/office/drawing/2014/main" id="{2DF1BC95-6A45-467B-627D-8C0B806CCF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134502"/>
            <a:ext cx="685800" cy="685800"/>
          </a:xfrm>
          <a:prstGeom prst="rect">
            <a:avLst/>
          </a:prstGeom>
        </p:spPr>
      </p:pic>
      <p:pic>
        <p:nvPicPr>
          <p:cNvPr id="15" name="Image 5" descr="gen-dedup-4fd6ab27e8b90bd8fc3508b3072b05e0.png">
            <a:extLst>
              <a:ext uri="{FF2B5EF4-FFF2-40B4-BE49-F238E27FC236}">
                <a16:creationId xmlns:a16="http://schemas.microsoft.com/office/drawing/2014/main" id="{B788E3C6-E090-9B84-FE34-CF673EBF17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6" name="Image 6" descr="gen-dedup-260dd6da6acb35cd082fc331d2743917.png">
            <a:extLst>
              <a:ext uri="{FF2B5EF4-FFF2-40B4-BE49-F238E27FC236}">
                <a16:creationId xmlns:a16="http://schemas.microsoft.com/office/drawing/2014/main" id="{CD82A74D-0282-BF2C-69A3-11DC89B3D8D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53298" y="8781898"/>
            <a:ext cx="533095" cy="533095"/>
          </a:xfrm>
          <a:prstGeom prst="rect">
            <a:avLst/>
          </a:prstGeom>
        </p:spPr>
      </p:pic>
      <p:pic>
        <p:nvPicPr>
          <p:cNvPr id="17" name="Image 7" descr="gen-dedup-8a9a28c3a9840776409e917f9ceffe15.png">
            <a:extLst>
              <a:ext uri="{FF2B5EF4-FFF2-40B4-BE49-F238E27FC236}">
                <a16:creationId xmlns:a16="http://schemas.microsoft.com/office/drawing/2014/main" id="{C0FE5461-8CFB-EB45-B0C0-847316CA81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18" name="Image 8" descr="gen-dedup-8a9a28c3a9840776409e917f9ceffe15.png">
            <a:extLst>
              <a:ext uri="{FF2B5EF4-FFF2-40B4-BE49-F238E27FC236}">
                <a16:creationId xmlns:a16="http://schemas.microsoft.com/office/drawing/2014/main" id="{CBEF4F3A-05D7-5D44-CCCA-6EA081DDC4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19" name="Image 9" descr="gen-dedup-8a9a28c3a9840776409e917f9ceffe15.png">
            <a:extLst>
              <a:ext uri="{FF2B5EF4-FFF2-40B4-BE49-F238E27FC236}">
                <a16:creationId xmlns:a16="http://schemas.microsoft.com/office/drawing/2014/main" id="{C1FC1CFE-84C6-89F8-EBD0-7207948D10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0" name="Image 10" descr="gen-dedup-25ca77fad41c44e392459a669cb46686.png">
            <a:extLst>
              <a:ext uri="{FF2B5EF4-FFF2-40B4-BE49-F238E27FC236}">
                <a16:creationId xmlns:a16="http://schemas.microsoft.com/office/drawing/2014/main" id="{D95A4D56-D5DD-5735-B596-0978ADA3C5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1" name="Image 11" descr="gen-dedup-6b1fea6ef9cf700851503bcdb8011f45.png">
            <a:extLst>
              <a:ext uri="{FF2B5EF4-FFF2-40B4-BE49-F238E27FC236}">
                <a16:creationId xmlns:a16="http://schemas.microsoft.com/office/drawing/2014/main" id="{A097B113-69E3-430D-81EB-0CC4A44DF8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2" name="Image 12" descr="gen-dedup-07d4da1bf1910daef42c9babebc62b73.png">
            <a:extLst>
              <a:ext uri="{FF2B5EF4-FFF2-40B4-BE49-F238E27FC236}">
                <a16:creationId xmlns:a16="http://schemas.microsoft.com/office/drawing/2014/main" id="{3481503F-4160-3965-1FA4-82497A3D436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3" name="Image 13" descr="gen-dedup-5023fea922589d6909f6d48e2362d329.png">
            <a:extLst>
              <a:ext uri="{FF2B5EF4-FFF2-40B4-BE49-F238E27FC236}">
                <a16:creationId xmlns:a16="http://schemas.microsoft.com/office/drawing/2014/main" id="{C1463665-5D9F-E3FC-3F4C-010CA4D294B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447495" y="5867705"/>
            <a:ext cx="409651" cy="409651"/>
          </a:xfrm>
          <a:prstGeom prst="rect">
            <a:avLst/>
          </a:prstGeom>
        </p:spPr>
      </p:pic>
      <p:pic>
        <p:nvPicPr>
          <p:cNvPr id="24" name="Image 14" descr="gen-dedup-04a6c6595c9dff6b95c3b59c31d72678.png">
            <a:extLst>
              <a:ext uri="{FF2B5EF4-FFF2-40B4-BE49-F238E27FC236}">
                <a16:creationId xmlns:a16="http://schemas.microsoft.com/office/drawing/2014/main" id="{BC3AF015-49FF-78AA-F3F2-2995689092D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7495" y="7067398"/>
            <a:ext cx="409651" cy="409651"/>
          </a:xfrm>
          <a:prstGeom prst="rect">
            <a:avLst/>
          </a:prstGeom>
        </p:spPr>
      </p:pic>
      <p:pic>
        <p:nvPicPr>
          <p:cNvPr id="25" name="Image 15" descr="gen-dedup-fc23fc46cc0b8a7a71b92116d7c65e62.png">
            <a:extLst>
              <a:ext uri="{FF2B5EF4-FFF2-40B4-BE49-F238E27FC236}">
                <a16:creationId xmlns:a16="http://schemas.microsoft.com/office/drawing/2014/main" id="{569C1092-AB06-4B36-439A-25000B0CCB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6" name="Image 16" descr="gen-dedup-1fccdd897c6e68de427f95f9a1ba34cb.png">
            <a:extLst>
              <a:ext uri="{FF2B5EF4-FFF2-40B4-BE49-F238E27FC236}">
                <a16:creationId xmlns:a16="http://schemas.microsoft.com/office/drawing/2014/main" id="{6C0BAF59-34E4-6E40-62A3-17C33E82E44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58454" y="8887054"/>
            <a:ext cx="323698" cy="323698"/>
          </a:xfrm>
          <a:prstGeom prst="rect">
            <a:avLst/>
          </a:prstGeom>
        </p:spPr>
      </p:pic>
      <p:pic>
        <p:nvPicPr>
          <p:cNvPr id="27" name="Image 17" descr="gen-dedup-367a927f5b78b4bbee80af254fbb37ad.png">
            <a:extLst>
              <a:ext uri="{FF2B5EF4-FFF2-40B4-BE49-F238E27FC236}">
                <a16:creationId xmlns:a16="http://schemas.microsoft.com/office/drawing/2014/main" id="{4BF6476B-B204-30B5-BFE2-BE11931AF51D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420795" y="5266944"/>
            <a:ext cx="409651" cy="409651"/>
          </a:xfrm>
          <a:prstGeom prst="rect">
            <a:avLst/>
          </a:prstGeom>
        </p:spPr>
      </p:pic>
      <p:pic>
        <p:nvPicPr>
          <p:cNvPr id="28" name="Image 18" descr="gen-dedup-ea2e85f5b1b3acf79a04f16727fee6bd.png">
            <a:extLst>
              <a:ext uri="{FF2B5EF4-FFF2-40B4-BE49-F238E27FC236}">
                <a16:creationId xmlns:a16="http://schemas.microsoft.com/office/drawing/2014/main" id="{F1E9D9EE-A2CF-F0DE-1D17-FEA51868CC0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420795" y="6467551"/>
            <a:ext cx="409651" cy="409651"/>
          </a:xfrm>
          <a:prstGeom prst="rect">
            <a:avLst/>
          </a:prstGeom>
        </p:spPr>
      </p:pic>
      <p:pic>
        <p:nvPicPr>
          <p:cNvPr id="29" name="Image 19" descr="gen-dedup-dc1f25954fda8af65157a95b5d7177cd.png">
            <a:extLst>
              <a:ext uri="{FF2B5EF4-FFF2-40B4-BE49-F238E27FC236}">
                <a16:creationId xmlns:a16="http://schemas.microsoft.com/office/drawing/2014/main" id="{F4241141-FE5E-4548-9C27-BB92939515B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21875" b="-21875"/>
          <a:stretch/>
        </p:blipFill>
        <p:spPr>
          <a:xfrm>
            <a:off x="16420795" y="7667244"/>
            <a:ext cx="409651" cy="409651"/>
          </a:xfrm>
          <a:prstGeom prst="rect">
            <a:avLst/>
          </a:prstGeom>
        </p:spPr>
      </p:pic>
      <p:sp>
        <p:nvSpPr>
          <p:cNvPr id="30" name="Text 8">
            <a:extLst>
              <a:ext uri="{FF2B5EF4-FFF2-40B4-BE49-F238E27FC236}">
                <a16:creationId xmlns:a16="http://schemas.microsoft.com/office/drawing/2014/main" id="{EDF79E4E-FF69-DC15-455C-AD163B10E34B}"/>
              </a:ext>
            </a:extLst>
          </p:cNvPr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C04</a:t>
            </a:r>
            <a:endParaRPr lang="en-US" sz="975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F3ECF20C-006E-DD5D-D68F-0215B46D3E31}"/>
              </a:ext>
            </a:extLst>
          </p:cNvPr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4409B18C-D1DD-84DD-53F6-C4DF1FE431E3}"/>
              </a:ext>
            </a:extLst>
          </p:cNvPr>
          <p:cNvSpPr txBox="1"/>
          <p:nvPr/>
        </p:nvSpPr>
        <p:spPr>
          <a:xfrm>
            <a:off x="1313078" y="2214677"/>
            <a:ext cx="3721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13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861F1FC6-7C8E-E515-71FF-BC678D902FB4}"/>
              </a:ext>
            </a:extLst>
          </p:cNvPr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comercial · Qué entra, qué sale</a:t>
            </a:r>
            <a:endParaRPr lang="en-US" sz="1125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6C369E3B-14ED-0BCE-91CE-F66E723661CB}"/>
              </a:ext>
            </a:extLst>
          </p:cNvPr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CRM.</a:t>
            </a:r>
            <a:endParaRPr lang="en-US" sz="585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C5C7DFAF-95B0-CAAA-DF21-B3A18EA1A05E}"/>
              </a:ext>
            </a:extLst>
          </p:cNvPr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CRM al día sin que el comercial lo toque.</a:t>
            </a:r>
            <a:endParaRPr lang="en-US" sz="195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1640E768-78F8-B680-AE5E-6A95331A90A2}"/>
              </a:ext>
            </a:extLst>
          </p:cNvPr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11E0C700-D3EF-16CF-9442-F97416008F19}"/>
              </a:ext>
            </a:extLst>
          </p:cNvPr>
          <p:cNvSpPr/>
          <p:nvPr/>
        </p:nvSpPr>
        <p:spPr>
          <a:xfrm>
            <a:off x="1238280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A4525113-CFFD-2CC5-05B6-B6CCB5F7E311}"/>
              </a:ext>
            </a:extLst>
          </p:cNvPr>
          <p:cNvSpPr txBox="1"/>
          <p:nvPr/>
        </p:nvSpPr>
        <p:spPr>
          <a:xfrm>
            <a:off x="1238280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B0F65029-8C79-1102-401F-8AA35E0601B2}"/>
              </a:ext>
            </a:extLst>
          </p:cNvPr>
          <p:cNvSpPr/>
          <p:nvPr/>
        </p:nvSpPr>
        <p:spPr>
          <a:xfrm>
            <a:off x="13505688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0211E3AE-A4BF-83A2-D593-9F6A55ABABC2}"/>
              </a:ext>
            </a:extLst>
          </p:cNvPr>
          <p:cNvSpPr txBox="1"/>
          <p:nvPr/>
        </p:nvSpPr>
        <p:spPr>
          <a:xfrm>
            <a:off x="13505688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AE7C2123-7923-E320-2205-471E15C4E99E}"/>
              </a:ext>
            </a:extLst>
          </p:cNvPr>
          <p:cNvSpPr/>
          <p:nvPr/>
        </p:nvSpPr>
        <p:spPr>
          <a:xfrm>
            <a:off x="14160398" y="2533802"/>
            <a:ext cx="65745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EB3556CE-74DF-A3AE-211A-FEE2A7FA3316}"/>
              </a:ext>
            </a:extLst>
          </p:cNvPr>
          <p:cNvSpPr txBox="1"/>
          <p:nvPr/>
        </p:nvSpPr>
        <p:spPr>
          <a:xfrm>
            <a:off x="14160398" y="2533802"/>
            <a:ext cx="6574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1125" dirty="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4AF2989A-0616-F744-33E4-43C1956D2A70}"/>
              </a:ext>
            </a:extLst>
          </p:cNvPr>
          <p:cNvSpPr/>
          <p:nvPr/>
        </p:nvSpPr>
        <p:spPr>
          <a:xfrm>
            <a:off x="14890090" y="2533802"/>
            <a:ext cx="9336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2382FF7F-FDC7-22A5-9095-F32D315CDA44}"/>
              </a:ext>
            </a:extLst>
          </p:cNvPr>
          <p:cNvSpPr txBox="1"/>
          <p:nvPr/>
        </p:nvSpPr>
        <p:spPr>
          <a:xfrm>
            <a:off x="14890090" y="2533802"/>
            <a:ext cx="9336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1125" dirty="0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9543804F-2A08-DD3E-F7C1-781FA2F1552D}"/>
              </a:ext>
            </a:extLst>
          </p:cNvPr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F617A3BB-746E-9CD0-BF90-15BBCA7D63BA}"/>
              </a:ext>
            </a:extLst>
          </p:cNvPr>
          <p:cNvSpPr/>
          <p:nvPr/>
        </p:nvSpPr>
        <p:spPr>
          <a:xfrm>
            <a:off x="12382805" y="3829507"/>
            <a:ext cx="1028700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6428B006-F432-3C44-F4E4-63B0343DF60B}"/>
              </a:ext>
            </a:extLst>
          </p:cNvPr>
          <p:cNvSpPr txBox="1"/>
          <p:nvPr/>
        </p:nvSpPr>
        <p:spPr>
          <a:xfrm>
            <a:off x="12382805" y="3829507"/>
            <a:ext cx="10287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 Córtex</a:t>
            </a:r>
            <a:endParaRPr lang="en-US" sz="1125" dirty="0"/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ABC359B4-20B3-2CAD-8FB5-F158B753139B}"/>
              </a:ext>
            </a:extLst>
          </p:cNvPr>
          <p:cNvSpPr/>
          <p:nvPr/>
        </p:nvSpPr>
        <p:spPr>
          <a:xfrm>
            <a:off x="13486486" y="3829507"/>
            <a:ext cx="69494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B8E39140-5D49-D51A-788C-4CDAC8F4AF2A}"/>
              </a:ext>
            </a:extLst>
          </p:cNvPr>
          <p:cNvSpPr txBox="1"/>
          <p:nvPr/>
        </p:nvSpPr>
        <p:spPr>
          <a:xfrm>
            <a:off x="13486486" y="3829507"/>
            <a:ext cx="6958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1125" dirty="0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60ED6435-4585-B040-A86D-0B78B31A476C}"/>
              </a:ext>
            </a:extLst>
          </p:cNvPr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4F5E99EE-CCEF-028A-DCF9-89781D468E21}"/>
              </a:ext>
            </a:extLst>
          </p:cNvPr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14F1DC18-7119-CB6A-5173-67E906616D98}"/>
              </a:ext>
            </a:extLst>
          </p:cNvPr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11AF171A-5601-A5A4-EBB7-E4755D99484C}"/>
              </a:ext>
            </a:extLst>
          </p:cNvPr>
          <p:cNvSpPr txBox="1"/>
          <p:nvPr/>
        </p:nvSpPr>
        <p:spPr>
          <a:xfrm>
            <a:off x="2171700" y="58100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</a:t>
            </a:r>
            <a:endParaRPr lang="en-US" sz="1725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2C273CF4-9F70-6481-C9C3-2EDF96139DAE}"/>
              </a:ext>
            </a:extLst>
          </p:cNvPr>
          <p:cNvSpPr txBox="1"/>
          <p:nvPr/>
        </p:nvSpPr>
        <p:spPr>
          <a:xfrm>
            <a:off x="2171700" y="61191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comercial vía IMAP</a:t>
            </a:r>
            <a:endParaRPr lang="en-US" sz="1275" dirty="0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2702E31C-127F-60EE-D9D1-109BF25F9955}"/>
              </a:ext>
            </a:extLst>
          </p:cNvPr>
          <p:cNvSpPr txBox="1"/>
          <p:nvPr/>
        </p:nvSpPr>
        <p:spPr>
          <a:xfrm>
            <a:off x="2171700" y="7010705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 / 365</a:t>
            </a:r>
            <a:endParaRPr lang="en-US" sz="1725" dirty="0"/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7B875BD1-E706-A3BE-6074-0E32609AD52F}"/>
              </a:ext>
            </a:extLst>
          </p:cNvPr>
          <p:cNvSpPr txBox="1"/>
          <p:nvPr/>
        </p:nvSpPr>
        <p:spPr>
          <a:xfrm>
            <a:off x="2171700" y="7319772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comercial</a:t>
            </a:r>
            <a:endParaRPr lang="en-US" sz="1275" dirty="0"/>
          </a:p>
        </p:txBody>
      </p:sp>
      <p:pic>
        <p:nvPicPr>
          <p:cNvPr id="57" name="Image 20" descr="gen-dedup-a832f96a8efbeea01b183a808255d3bb.png">
            <a:extLst>
              <a:ext uri="{FF2B5EF4-FFF2-40B4-BE49-F238E27FC236}">
                <a16:creationId xmlns:a16="http://schemas.microsoft.com/office/drawing/2014/main" id="{FEBC91ED-35D2-9A59-D959-13E9A033A90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6698" y="8287207"/>
            <a:ext cx="381305" cy="381305"/>
          </a:xfrm>
          <a:prstGeom prst="rect">
            <a:avLst/>
          </a:prstGeom>
        </p:spPr>
      </p:pic>
      <p:sp>
        <p:nvSpPr>
          <p:cNvPr id="58" name="Text 35">
            <a:extLst>
              <a:ext uri="{FF2B5EF4-FFF2-40B4-BE49-F238E27FC236}">
                <a16:creationId xmlns:a16="http://schemas.microsoft.com/office/drawing/2014/main" id="{2FE106D9-641A-6444-C9FD-D9D36A38B7A3}"/>
              </a:ext>
            </a:extLst>
          </p:cNvPr>
          <p:cNvSpPr txBox="1"/>
          <p:nvPr/>
        </p:nvSpPr>
        <p:spPr>
          <a:xfrm>
            <a:off x="2171700" y="82103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Hilos con clientes</a:t>
            </a:r>
            <a:endParaRPr lang="en-US" sz="1725" dirty="0"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101CF094-B9F2-E7F0-C3FB-A3EF44A3078D}"/>
              </a:ext>
            </a:extLst>
          </p:cNvPr>
          <p:cNvSpPr txBox="1"/>
          <p:nvPr/>
        </p:nvSpPr>
        <p:spPr>
          <a:xfrm>
            <a:off x="2171700" y="85194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Señales de venta</a:t>
            </a:r>
            <a:endParaRPr lang="en-US" sz="1275" dirty="0"/>
          </a:p>
        </p:txBody>
      </p:sp>
      <p:pic>
        <p:nvPicPr>
          <p:cNvPr id="60" name="Image 21" descr="gen-dedup-182d78fddcadc7feb406cb878a100c1d.png">
            <a:extLst>
              <a:ext uri="{FF2B5EF4-FFF2-40B4-BE49-F238E27FC236}">
                <a16:creationId xmlns:a16="http://schemas.microsoft.com/office/drawing/2014/main" id="{F269681B-2364-5F01-3AD9-1953C5C5210D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1" name="Text 37">
            <a:extLst>
              <a:ext uri="{FF2B5EF4-FFF2-40B4-BE49-F238E27FC236}">
                <a16:creationId xmlns:a16="http://schemas.microsoft.com/office/drawing/2014/main" id="{A91DBBFE-EFC5-C325-3E39-6FD27DECC34C}"/>
              </a:ext>
            </a:extLst>
          </p:cNvPr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C04</a:t>
            </a:r>
            <a:endParaRPr lang="en-US" sz="900" dirty="0"/>
          </a:p>
        </p:txBody>
      </p:sp>
      <p:sp>
        <p:nvSpPr>
          <p:cNvPr id="62" name="Text 38">
            <a:extLst>
              <a:ext uri="{FF2B5EF4-FFF2-40B4-BE49-F238E27FC236}">
                <a16:creationId xmlns:a16="http://schemas.microsoft.com/office/drawing/2014/main" id="{286F5DF9-4F23-A3D2-F797-AC0068AB2957}"/>
              </a:ext>
            </a:extLst>
          </p:cNvPr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CRM</a:t>
            </a:r>
            <a:endParaRPr lang="en-US" sz="2250" dirty="0"/>
          </a:p>
        </p:txBody>
      </p:sp>
      <p:sp>
        <p:nvSpPr>
          <p:cNvPr id="63" name="Shape 39">
            <a:extLst>
              <a:ext uri="{FF2B5EF4-FFF2-40B4-BE49-F238E27FC236}">
                <a16:creationId xmlns:a16="http://schemas.microsoft.com/office/drawing/2014/main" id="{28A7C841-9E3E-EA18-3129-C1BDF3F40B65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40">
            <a:extLst>
              <a:ext uri="{FF2B5EF4-FFF2-40B4-BE49-F238E27FC236}">
                <a16:creationId xmlns:a16="http://schemas.microsoft.com/office/drawing/2014/main" id="{762FE3C0-F5F2-31A7-81E3-A879D42D79E7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5B4AC3A4-CE6D-A623-0EC7-A5A6413D3BDE}"/>
              </a:ext>
            </a:extLst>
          </p:cNvPr>
          <p:cNvSpPr txBox="1"/>
          <p:nvPr/>
        </p:nvSpPr>
        <p:spPr>
          <a:xfrm>
            <a:off x="7524598" y="6986930"/>
            <a:ext cx="311719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Extrae la señal de cada correo</a:t>
            </a:r>
            <a:endParaRPr lang="en-US" sz="1425" dirty="0"/>
          </a:p>
        </p:txBody>
      </p:sp>
      <p:sp>
        <p:nvSpPr>
          <p:cNvPr id="66" name="Shape 42">
            <a:extLst>
              <a:ext uri="{FF2B5EF4-FFF2-40B4-BE49-F238E27FC236}">
                <a16:creationId xmlns:a16="http://schemas.microsoft.com/office/drawing/2014/main" id="{2C14326F-CE06-3916-DFA5-EDBA3B5D4086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43">
            <a:extLst>
              <a:ext uri="{FF2B5EF4-FFF2-40B4-BE49-F238E27FC236}">
                <a16:creationId xmlns:a16="http://schemas.microsoft.com/office/drawing/2014/main" id="{F8F6E114-4DAD-8A7C-F742-64ADB2B2A1B8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44">
            <a:extLst>
              <a:ext uri="{FF2B5EF4-FFF2-40B4-BE49-F238E27FC236}">
                <a16:creationId xmlns:a16="http://schemas.microsoft.com/office/drawing/2014/main" id="{9C98E36E-4A18-7F8A-9CBA-6EE87CDA265A}"/>
              </a:ext>
            </a:extLst>
          </p:cNvPr>
          <p:cNvSpPr txBox="1"/>
          <p:nvPr/>
        </p:nvSpPr>
        <p:spPr>
          <a:xfrm>
            <a:off x="7524598" y="7386523"/>
            <a:ext cx="38825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Actualiza actividades, etapas y tareas</a:t>
            </a:r>
            <a:endParaRPr lang="en-US" sz="1425" dirty="0"/>
          </a:p>
        </p:txBody>
      </p:sp>
      <p:sp>
        <p:nvSpPr>
          <p:cNvPr id="69" name="Shape 45">
            <a:extLst>
              <a:ext uri="{FF2B5EF4-FFF2-40B4-BE49-F238E27FC236}">
                <a16:creationId xmlns:a16="http://schemas.microsoft.com/office/drawing/2014/main" id="{48905610-84B6-FC2F-41B3-1FD3FE8F2D3A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46">
            <a:extLst>
              <a:ext uri="{FF2B5EF4-FFF2-40B4-BE49-F238E27FC236}">
                <a16:creationId xmlns:a16="http://schemas.microsoft.com/office/drawing/2014/main" id="{75B3838D-D7A7-9E41-A6AC-FA65A269A73F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1" name="Text 47">
            <a:extLst>
              <a:ext uri="{FF2B5EF4-FFF2-40B4-BE49-F238E27FC236}">
                <a16:creationId xmlns:a16="http://schemas.microsoft.com/office/drawing/2014/main" id="{CD769E42-7A82-55D5-37C6-D1FAC1EA1FA2}"/>
              </a:ext>
            </a:extLst>
          </p:cNvPr>
          <p:cNvSpPr txBox="1"/>
          <p:nvPr/>
        </p:nvSpPr>
        <p:spPr>
          <a:xfrm>
            <a:off x="7524598" y="7787030"/>
            <a:ext cx="33329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oportunidades inactivas</a:t>
            </a:r>
            <a:endParaRPr lang="en-US" sz="1425" dirty="0"/>
          </a:p>
        </p:txBody>
      </p:sp>
      <p:sp>
        <p:nvSpPr>
          <p:cNvPr id="72" name="Shape 48">
            <a:extLst>
              <a:ext uri="{FF2B5EF4-FFF2-40B4-BE49-F238E27FC236}">
                <a16:creationId xmlns:a16="http://schemas.microsoft.com/office/drawing/2014/main" id="{9BF02579-8EC5-F6EF-C4B3-265C1D2D9587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49">
            <a:extLst>
              <a:ext uri="{FF2B5EF4-FFF2-40B4-BE49-F238E27FC236}">
                <a16:creationId xmlns:a16="http://schemas.microsoft.com/office/drawing/2014/main" id="{EC87ED28-81A3-C479-8507-C742375CFE2E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74" name="Text 50">
            <a:extLst>
              <a:ext uri="{FF2B5EF4-FFF2-40B4-BE49-F238E27FC236}">
                <a16:creationId xmlns:a16="http://schemas.microsoft.com/office/drawing/2014/main" id="{7F735120-E38D-1799-9A7C-BEAE79DA5CD3}"/>
              </a:ext>
            </a:extLst>
          </p:cNvPr>
          <p:cNvSpPr txBox="1"/>
          <p:nvPr/>
        </p:nvSpPr>
        <p:spPr>
          <a:xfrm>
            <a:off x="7524598" y="8186623"/>
            <a:ext cx="32607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 automático o supervisado</a:t>
            </a:r>
            <a:endParaRPr lang="en-US" sz="1425" dirty="0"/>
          </a:p>
        </p:txBody>
      </p:sp>
      <p:sp>
        <p:nvSpPr>
          <p:cNvPr id="75" name="Shape 51">
            <a:extLst>
              <a:ext uri="{FF2B5EF4-FFF2-40B4-BE49-F238E27FC236}">
                <a16:creationId xmlns:a16="http://schemas.microsoft.com/office/drawing/2014/main" id="{5ED810C6-790A-AEB6-ED65-89B1B3543A9E}"/>
              </a:ext>
            </a:extLst>
          </p:cNvPr>
          <p:cNvSpPr/>
          <p:nvPr/>
        </p:nvSpPr>
        <p:spPr>
          <a:xfrm>
            <a:off x="9201607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2">
            <a:extLst>
              <a:ext uri="{FF2B5EF4-FFF2-40B4-BE49-F238E27FC236}">
                <a16:creationId xmlns:a16="http://schemas.microsoft.com/office/drawing/2014/main" id="{22EB1CCF-2620-F10A-4EB1-8532A0BD4587}"/>
              </a:ext>
            </a:extLst>
          </p:cNvPr>
          <p:cNvSpPr txBox="1"/>
          <p:nvPr/>
        </p:nvSpPr>
        <p:spPr>
          <a:xfrm>
            <a:off x="9309506" y="8953805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200" dirty="0"/>
          </a:p>
        </p:txBody>
      </p:sp>
      <p:pic>
        <p:nvPicPr>
          <p:cNvPr id="77" name="Image 22" descr="gen-dedup-9f2da3d601bd1ff2962f48734b24ef49.png">
            <a:extLst>
              <a:ext uri="{FF2B5EF4-FFF2-40B4-BE49-F238E27FC236}">
                <a16:creationId xmlns:a16="http://schemas.microsoft.com/office/drawing/2014/main" id="{0A131419-FA1B-4425-7F67-8A950EE1E846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sp>
        <p:nvSpPr>
          <p:cNvPr id="78" name="Text 53">
            <a:extLst>
              <a:ext uri="{FF2B5EF4-FFF2-40B4-BE49-F238E27FC236}">
                <a16:creationId xmlns:a16="http://schemas.microsoft.com/office/drawing/2014/main" id="{AB4B7815-7658-067B-5B26-FBC977EFE208}"/>
              </a:ext>
            </a:extLst>
          </p:cNvPr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CRM</a:t>
            </a:r>
            <a:endParaRPr lang="en-US" sz="1725" dirty="0"/>
          </a:p>
        </p:txBody>
      </p:sp>
      <p:sp>
        <p:nvSpPr>
          <p:cNvPr id="79" name="Text 54">
            <a:extLst>
              <a:ext uri="{FF2B5EF4-FFF2-40B4-BE49-F238E27FC236}">
                <a16:creationId xmlns:a16="http://schemas.microsoft.com/office/drawing/2014/main" id="{0054425A-FDC5-44D0-7D5B-70B4D4EC9EC9}"/>
              </a:ext>
            </a:extLst>
          </p:cNvPr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Siempre actualizado</a:t>
            </a:r>
            <a:endParaRPr lang="en-US" sz="1275" dirty="0"/>
          </a:p>
        </p:txBody>
      </p:sp>
      <p:sp>
        <p:nvSpPr>
          <p:cNvPr id="80" name="Text 55">
            <a:extLst>
              <a:ext uri="{FF2B5EF4-FFF2-40B4-BE49-F238E27FC236}">
                <a16:creationId xmlns:a16="http://schemas.microsoft.com/office/drawing/2014/main" id="{CD9BE866-EB68-420E-C1A1-DB1F08D9A048}"/>
              </a:ext>
            </a:extLst>
          </p:cNvPr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</a:t>
            </a:r>
            <a:endParaRPr lang="en-US" sz="1725" dirty="0"/>
          </a:p>
        </p:txBody>
      </p:sp>
      <p:sp>
        <p:nvSpPr>
          <p:cNvPr id="81" name="Text 56">
            <a:extLst>
              <a:ext uri="{FF2B5EF4-FFF2-40B4-BE49-F238E27FC236}">
                <a16:creationId xmlns:a16="http://schemas.microsoft.com/office/drawing/2014/main" id="{3B695E3A-46D0-8009-1364-81D0341D3B40}"/>
              </a:ext>
            </a:extLst>
          </p:cNvPr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sincronizado</a:t>
            </a:r>
            <a:endParaRPr lang="en-US" sz="1275" dirty="0"/>
          </a:p>
        </p:txBody>
      </p:sp>
      <p:sp>
        <p:nvSpPr>
          <p:cNvPr id="82" name="Text 57">
            <a:extLst>
              <a:ext uri="{FF2B5EF4-FFF2-40B4-BE49-F238E27FC236}">
                <a16:creationId xmlns:a16="http://schemas.microsoft.com/office/drawing/2014/main" id="{0F96F248-2EB1-D9FB-5419-44B468E62E22}"/>
              </a:ext>
            </a:extLst>
          </p:cNvPr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</a:t>
            </a:r>
            <a:endParaRPr lang="en-US" sz="1725" dirty="0"/>
          </a:p>
        </p:txBody>
      </p:sp>
      <p:sp>
        <p:nvSpPr>
          <p:cNvPr id="83" name="Text 58">
            <a:extLst>
              <a:ext uri="{FF2B5EF4-FFF2-40B4-BE49-F238E27FC236}">
                <a16:creationId xmlns:a16="http://schemas.microsoft.com/office/drawing/2014/main" id="{2E3D9D4E-DEEB-B363-93C1-1570ECCD4A30}"/>
              </a:ext>
            </a:extLst>
          </p:cNvPr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sincronizado</a:t>
            </a:r>
            <a:endParaRPr lang="en-US" sz="1275" dirty="0"/>
          </a:p>
        </p:txBody>
      </p:sp>
      <p:pic>
        <p:nvPicPr>
          <p:cNvPr id="84" name="Image 23" descr="gen-dedup-88dcb31eb760695c9388ddaf5f14100d.png">
            <a:extLst>
              <a:ext uri="{FF2B5EF4-FFF2-40B4-BE49-F238E27FC236}">
                <a16:creationId xmlns:a16="http://schemas.microsoft.com/office/drawing/2014/main" id="{094D4D49-ECBD-FE75-A8C0-9883F12509A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85" name="Text 59">
            <a:extLst>
              <a:ext uri="{FF2B5EF4-FFF2-40B4-BE49-F238E27FC236}">
                <a16:creationId xmlns:a16="http://schemas.microsoft.com/office/drawing/2014/main" id="{5F80FB44-58A2-1258-F0BB-37DD5FAF0745}"/>
              </a:ext>
            </a:extLst>
          </p:cNvPr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al comercial</a:t>
            </a:r>
            <a:endParaRPr lang="en-US" sz="1725" dirty="0"/>
          </a:p>
        </p:txBody>
      </p:sp>
      <p:sp>
        <p:nvSpPr>
          <p:cNvPr id="86" name="Text 60">
            <a:extLst>
              <a:ext uri="{FF2B5EF4-FFF2-40B4-BE49-F238E27FC236}">
                <a16:creationId xmlns:a16="http://schemas.microsoft.com/office/drawing/2014/main" id="{3289E817-5123-CB9F-FBDF-C8916B26FDC6}"/>
              </a:ext>
            </a:extLst>
          </p:cNvPr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Accionables, con log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37284849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72116808d469401733c917a4031849b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002000" y="-1714500"/>
            <a:ext cx="4000500" cy="4000500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 · 38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0199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multicanal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Multicanal.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Adiós al grabado manual de pedidos.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los correos de pedido, los interpreta en lenguaje natural, los cruza con el catálogo y el stock y crea el pedido en su ERP. Si el ERP no escribe por API, lo deja en su propio módulo.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292516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 del grabado nocturno manual.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258500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 patrones por cliente.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242590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Cruce con catálogo y stock.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46012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inconsistencias antes de comprometer stock.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29343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Modos automático y supervisado.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40361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propio de fallback si el ERP no escribe.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2221078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2221078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894990" y="8762695"/>
            <a:ext cx="6473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894990" y="8762695"/>
            <a:ext cx="6483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631997" y="8762695"/>
            <a:ext cx="88605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631997" y="8762695"/>
            <a:ext cx="8860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4610405" y="8762695"/>
            <a:ext cx="95280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4610405" y="8762695"/>
            <a:ext cx="9528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4287500" y="19046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 detectado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4097305" y="1904695"/>
            <a:ext cx="3810305" cy="210494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14335049" y="2124151"/>
            <a:ext cx="5623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endParaRPr lang="en-US" sz="825" dirty="0"/>
          </a:p>
        </p:txBody>
      </p:sp>
      <p:sp>
        <p:nvSpPr>
          <p:cNvPr id="37" name="Text 32"/>
          <p:cNvSpPr txBox="1"/>
          <p:nvPr/>
        </p:nvSpPr>
        <p:spPr>
          <a:xfrm>
            <a:off x="17044416" y="2124151"/>
            <a:ext cx="6291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PROMEGA</a:t>
            </a:r>
            <a:endParaRPr lang="en-US" sz="975" dirty="0"/>
          </a:p>
        </p:txBody>
      </p:sp>
      <p:pic>
        <p:nvPicPr>
          <p:cNvPr id="38" name="Image 3" descr="gen-dedup-903b0a4be279efbebb8ba9c031661f3c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4335049" y="2409444"/>
            <a:ext cx="3333902" cy="914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4335049" y="2553005"/>
            <a:ext cx="99486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A-2204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17373600" y="2553005"/>
            <a:ext cx="37581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50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14335049" y="2790749"/>
            <a:ext cx="986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A-1188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17370857" y="2790749"/>
            <a:ext cx="37673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30</a:t>
            </a:r>
            <a:endParaRPr lang="en-US" sz="1050" dirty="0"/>
          </a:p>
        </p:txBody>
      </p:sp>
      <p:sp>
        <p:nvSpPr>
          <p:cNvPr id="43" name="Text 37"/>
          <p:cNvSpPr txBox="1"/>
          <p:nvPr/>
        </p:nvSpPr>
        <p:spPr>
          <a:xfrm>
            <a:off x="14335049" y="3029407"/>
            <a:ext cx="9902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A81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A-3001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17238269" y="3029407"/>
            <a:ext cx="64465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20</a:t>
            </a:r>
            <a:endParaRPr lang="en-US" sz="1050" dirty="0"/>
          </a:p>
        </p:txBody>
      </p:sp>
      <p:pic>
        <p:nvPicPr>
          <p:cNvPr id="45" name="Image 4" descr="gen-dedup-903b0a4be279efbebb8ba9c031661f3c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4335049" y="3323844"/>
            <a:ext cx="3333902" cy="9144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14335049" y="3467405"/>
            <a:ext cx="11722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</a:t>
            </a:r>
            <a:endParaRPr lang="en-US" sz="825" dirty="0"/>
          </a:p>
        </p:txBody>
      </p:sp>
      <p:sp>
        <p:nvSpPr>
          <p:cNvPr id="47" name="Text 40"/>
          <p:cNvSpPr txBox="1"/>
          <p:nvPr/>
        </p:nvSpPr>
        <p:spPr>
          <a:xfrm>
            <a:off x="14335049" y="3638398"/>
            <a:ext cx="163494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 de stock</a:t>
            </a:r>
            <a:endParaRPr lang="en-US" sz="975" dirty="0"/>
          </a:p>
        </p:txBody>
      </p:sp>
      <p:sp>
        <p:nvSpPr>
          <p:cNvPr id="48" name="Text 41"/>
          <p:cNvSpPr txBox="1"/>
          <p:nvPr/>
        </p:nvSpPr>
        <p:spPr>
          <a:xfrm>
            <a:off x="16830446" y="3486607"/>
            <a:ext cx="838505" cy="286207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</a:t>
            </a:r>
            <a:endParaRPr lang="en-US" sz="825" dirty="0"/>
          </a:p>
        </p:txBody>
      </p:sp>
      <p:sp>
        <p:nvSpPr>
          <p:cNvPr id="49" name="Shape 42"/>
          <p:cNvSpPr/>
          <p:nvPr/>
        </p:nvSpPr>
        <p:spPr>
          <a:xfrm>
            <a:off x="14287500" y="7239305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ext 43"/>
          <p:cNvSpPr txBox="1"/>
          <p:nvPr/>
        </p:nvSpPr>
        <p:spPr>
          <a:xfrm>
            <a:off x="14287500" y="7420356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1" name="Text 44"/>
          <p:cNvSpPr txBox="1"/>
          <p:nvPr/>
        </p:nvSpPr>
        <p:spPr>
          <a:xfrm>
            <a:off x="14287500" y="7667244"/>
            <a:ext cx="896112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PROMEGA</a:t>
            </a:r>
            <a:endParaRPr lang="en-US" sz="975" dirty="0"/>
          </a:p>
        </p:txBody>
      </p:sp>
      <p:sp>
        <p:nvSpPr>
          <p:cNvPr id="52" name="Text 45"/>
          <p:cNvSpPr txBox="1"/>
          <p:nvPr/>
        </p:nvSpPr>
        <p:spPr>
          <a:xfrm>
            <a:off x="15254935" y="7667244"/>
            <a:ext cx="781812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UCALSA</a:t>
            </a:r>
            <a:endParaRPr lang="en-US" sz="975" dirty="0"/>
          </a:p>
        </p:txBody>
      </p:sp>
      <p:sp>
        <p:nvSpPr>
          <p:cNvPr id="53" name="Text 46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4" name="Text 47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/ 50</a:t>
            </a:r>
            <a:endParaRPr lang="en-US" sz="975" dirty="0"/>
          </a:p>
        </p:txBody>
      </p:sp>
      <p:pic>
        <p:nvPicPr>
          <p:cNvPr id="55" name="Image 5" descr="gen-dedup-5e6cfa15fdde50fc8b72728e79a7223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82805" y="3429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FD79E-E26E-6B11-CBD6-44305A56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>
            <a:extLst>
              <a:ext uri="{FF2B5EF4-FFF2-40B4-BE49-F238E27FC236}">
                <a16:creationId xmlns:a16="http://schemas.microsoft.com/office/drawing/2014/main" id="{55E0D06A-40C3-CD48-ED22-63DB6E89AB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5080037-3154-532C-65B0-196C2E223B35}"/>
              </a:ext>
            </a:extLst>
          </p:cNvPr>
          <p:cNvSpPr/>
          <p:nvPr/>
        </p:nvSpPr>
        <p:spPr>
          <a:xfrm>
            <a:off x="1143000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6E8BB84-5CAF-F3D0-2080-5D07182A238F}"/>
              </a:ext>
            </a:extLst>
          </p:cNvPr>
          <p:cNvSpPr/>
          <p:nvPr/>
        </p:nvSpPr>
        <p:spPr>
          <a:xfrm>
            <a:off x="1143000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EA87842-5FBB-0368-CF8E-E0B2F00A65C3}"/>
              </a:ext>
            </a:extLst>
          </p:cNvPr>
          <p:cNvSpPr/>
          <p:nvPr/>
        </p:nvSpPr>
        <p:spPr>
          <a:xfrm>
            <a:off x="1143000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F2FA9B0-49C2-E41A-8A74-AF46896B6476}"/>
              </a:ext>
            </a:extLst>
          </p:cNvPr>
          <p:cNvSpPr/>
          <p:nvPr/>
        </p:nvSpPr>
        <p:spPr>
          <a:xfrm>
            <a:off x="1143000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gen-dedup-fac80e9e021134ca9d35aa6425fc9f26.png">
            <a:extLst>
              <a:ext uri="{FF2B5EF4-FFF2-40B4-BE49-F238E27FC236}">
                <a16:creationId xmlns:a16="http://schemas.microsoft.com/office/drawing/2014/main" id="{50084620-7BC8-84E8-7B5E-EB484870CB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BE189C97-F670-AF5E-9354-C1473724BFA2}"/>
              </a:ext>
            </a:extLst>
          </p:cNvPr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634F6EE-EC60-08C2-5123-4403D5BF5E0C}"/>
              </a:ext>
            </a:extLst>
          </p:cNvPr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F29C018-B24A-241D-8676-7500005EE83B}"/>
              </a:ext>
            </a:extLst>
          </p:cNvPr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AB09A22-C00C-416E-D2FB-4E6FB27C6F92}"/>
              </a:ext>
            </a:extLst>
          </p:cNvPr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DCC807F-A1C3-0F5C-54D9-56304C63E425}"/>
              </a:ext>
            </a:extLst>
          </p:cNvPr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gen-dedup-8a9a28c3a9840776409e917f9ceffe15.png">
            <a:extLst>
              <a:ext uri="{FF2B5EF4-FFF2-40B4-BE49-F238E27FC236}">
                <a16:creationId xmlns:a16="http://schemas.microsoft.com/office/drawing/2014/main" id="{8101219D-9FB8-309E-71AC-7BACB8754A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134356"/>
            <a:ext cx="685800" cy="685800"/>
          </a:xfrm>
          <a:prstGeom prst="rect">
            <a:avLst/>
          </a:prstGeom>
        </p:spPr>
      </p:pic>
      <p:pic>
        <p:nvPicPr>
          <p:cNvPr id="14" name="Image 3" descr="gen-dedup-8a9a28c3a9840776409e917f9ceffe15.png">
            <a:extLst>
              <a:ext uri="{FF2B5EF4-FFF2-40B4-BE49-F238E27FC236}">
                <a16:creationId xmlns:a16="http://schemas.microsoft.com/office/drawing/2014/main" id="{D723F918-BA68-CB18-2C68-90F09A03E4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334049"/>
            <a:ext cx="685800" cy="685800"/>
          </a:xfrm>
          <a:prstGeom prst="rect">
            <a:avLst/>
          </a:prstGeom>
        </p:spPr>
      </p:pic>
      <p:pic>
        <p:nvPicPr>
          <p:cNvPr id="15" name="Image 4" descr="gen-dedup-8a9a28c3a9840776409e917f9ceffe15.png">
            <a:extLst>
              <a:ext uri="{FF2B5EF4-FFF2-40B4-BE49-F238E27FC236}">
                <a16:creationId xmlns:a16="http://schemas.microsoft.com/office/drawing/2014/main" id="{0A12FEB1-7F08-DE25-8A4A-2F4691F242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7534656"/>
            <a:ext cx="685800" cy="685800"/>
          </a:xfrm>
          <a:prstGeom prst="rect">
            <a:avLst/>
          </a:prstGeom>
        </p:spPr>
      </p:pic>
      <p:pic>
        <p:nvPicPr>
          <p:cNvPr id="16" name="Image 5" descr="gen-dedup-8a9a28c3a9840776409e917f9ceffe15.png">
            <a:extLst>
              <a:ext uri="{FF2B5EF4-FFF2-40B4-BE49-F238E27FC236}">
                <a16:creationId xmlns:a16="http://schemas.microsoft.com/office/drawing/2014/main" id="{5F3A46A0-3BA7-A7B9-7DE9-8E45166B1F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8734349"/>
            <a:ext cx="685800" cy="685800"/>
          </a:xfrm>
          <a:prstGeom prst="rect">
            <a:avLst/>
          </a:prstGeom>
        </p:spPr>
      </p:pic>
      <p:pic>
        <p:nvPicPr>
          <p:cNvPr id="17" name="Image 6" descr="gen-dedup-4fd6ab27e8b90bd8fc3508b3072b05e0.png">
            <a:extLst>
              <a:ext uri="{FF2B5EF4-FFF2-40B4-BE49-F238E27FC236}">
                <a16:creationId xmlns:a16="http://schemas.microsoft.com/office/drawing/2014/main" id="{434A8A2D-8513-7A63-ADD2-E4BEEE18BF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8" name="Image 7" descr="gen-dedup-260dd6da6acb35cd082fc331d2743917.png">
            <a:extLst>
              <a:ext uri="{FF2B5EF4-FFF2-40B4-BE49-F238E27FC236}">
                <a16:creationId xmlns:a16="http://schemas.microsoft.com/office/drawing/2014/main" id="{A4A22246-33C8-42ED-34B7-40927BB805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53298" y="8781898"/>
            <a:ext cx="533095" cy="533095"/>
          </a:xfrm>
          <a:prstGeom prst="rect">
            <a:avLst/>
          </a:prstGeom>
        </p:spPr>
      </p:pic>
      <p:pic>
        <p:nvPicPr>
          <p:cNvPr id="19" name="Image 8" descr="gen-dedup-8a9a28c3a9840776409e917f9ceffe15.png">
            <a:extLst>
              <a:ext uri="{FF2B5EF4-FFF2-40B4-BE49-F238E27FC236}">
                <a16:creationId xmlns:a16="http://schemas.microsoft.com/office/drawing/2014/main" id="{A0B2A257-A11B-BCBC-E779-E8BAB9A6C6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20" name="Image 9" descr="gen-dedup-8a9a28c3a9840776409e917f9ceffe15.png">
            <a:extLst>
              <a:ext uri="{FF2B5EF4-FFF2-40B4-BE49-F238E27FC236}">
                <a16:creationId xmlns:a16="http://schemas.microsoft.com/office/drawing/2014/main" id="{868A6A4F-4280-91FA-3DEF-4A47BDF096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1" name="Image 10" descr="gen-dedup-25ca77fad41c44e392459a669cb46686.png">
            <a:extLst>
              <a:ext uri="{FF2B5EF4-FFF2-40B4-BE49-F238E27FC236}">
                <a16:creationId xmlns:a16="http://schemas.microsoft.com/office/drawing/2014/main" id="{8EA3F430-F68E-52C0-A9E3-B40344AAD42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2" name="Image 11" descr="gen-dedup-25ca77fad41c44e392459a669cb46686.png">
            <a:extLst>
              <a:ext uri="{FF2B5EF4-FFF2-40B4-BE49-F238E27FC236}">
                <a16:creationId xmlns:a16="http://schemas.microsoft.com/office/drawing/2014/main" id="{09682BCD-1A65-5918-AC79-B201BA4C436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3" name="Image 12" descr="gen-dedup-6b1fea6ef9cf700851503bcdb8011f45.png">
            <a:extLst>
              <a:ext uri="{FF2B5EF4-FFF2-40B4-BE49-F238E27FC236}">
                <a16:creationId xmlns:a16="http://schemas.microsoft.com/office/drawing/2014/main" id="{2E945C58-D383-B542-284F-8F95A25C35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4" name="Image 13" descr="gen-dedup-07d4da1bf1910daef42c9babebc62b73.png">
            <a:extLst>
              <a:ext uri="{FF2B5EF4-FFF2-40B4-BE49-F238E27FC236}">
                <a16:creationId xmlns:a16="http://schemas.microsoft.com/office/drawing/2014/main" id="{4635D6B7-D260-5E2B-5D58-AA8B3D24805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5" name="Image 14" descr="gen-dedup-5023fea922589d6909f6d48e2362d329.png">
            <a:extLst>
              <a:ext uri="{FF2B5EF4-FFF2-40B4-BE49-F238E27FC236}">
                <a16:creationId xmlns:a16="http://schemas.microsoft.com/office/drawing/2014/main" id="{B0BB8A97-A205-48D6-4323-6FE53C72D24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447495" y="5266944"/>
            <a:ext cx="409651" cy="409651"/>
          </a:xfrm>
          <a:prstGeom prst="rect">
            <a:avLst/>
          </a:prstGeom>
        </p:spPr>
      </p:pic>
      <p:pic>
        <p:nvPicPr>
          <p:cNvPr id="26" name="Image 15" descr="gen-dedup-04a6c6595c9dff6b95c3b59c31d72678.png">
            <a:extLst>
              <a:ext uri="{FF2B5EF4-FFF2-40B4-BE49-F238E27FC236}">
                <a16:creationId xmlns:a16="http://schemas.microsoft.com/office/drawing/2014/main" id="{C4B10ED0-0AD4-192E-B75E-04DA288BEE5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7495" y="6467551"/>
            <a:ext cx="409651" cy="409651"/>
          </a:xfrm>
          <a:prstGeom prst="rect">
            <a:avLst/>
          </a:prstGeom>
        </p:spPr>
      </p:pic>
      <p:pic>
        <p:nvPicPr>
          <p:cNvPr id="27" name="Image 16" descr="gen-dedup-3eb90732e3661373fb19e7f4f40accc7.png">
            <a:extLst>
              <a:ext uri="{FF2B5EF4-FFF2-40B4-BE49-F238E27FC236}">
                <a16:creationId xmlns:a16="http://schemas.microsoft.com/office/drawing/2014/main" id="{AC071ABA-FC17-A0B4-026D-C4EAA089EC1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447495" y="7667244"/>
            <a:ext cx="409651" cy="409651"/>
          </a:xfrm>
          <a:prstGeom prst="rect">
            <a:avLst/>
          </a:prstGeom>
        </p:spPr>
      </p:pic>
      <p:pic>
        <p:nvPicPr>
          <p:cNvPr id="28" name="Image 17" descr="gen-dedup-e65a801e1d2e7d7f545c66da47e65295.png">
            <a:extLst>
              <a:ext uri="{FF2B5EF4-FFF2-40B4-BE49-F238E27FC236}">
                <a16:creationId xmlns:a16="http://schemas.microsoft.com/office/drawing/2014/main" id="{3C0BCF20-496F-1698-C978-6EC9B4CA2AB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447495" y="8867851"/>
            <a:ext cx="409651" cy="409651"/>
          </a:xfrm>
          <a:prstGeom prst="rect">
            <a:avLst/>
          </a:prstGeom>
        </p:spPr>
      </p:pic>
      <p:pic>
        <p:nvPicPr>
          <p:cNvPr id="29" name="Image 18" descr="gen-dedup-fc23fc46cc0b8a7a71b92116d7c65e62.png">
            <a:extLst>
              <a:ext uri="{FF2B5EF4-FFF2-40B4-BE49-F238E27FC236}">
                <a16:creationId xmlns:a16="http://schemas.microsoft.com/office/drawing/2014/main" id="{4AEC0BA0-998F-5D29-E2A2-6D8FD9ADE8A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30" name="Image 19" descr="gen-dedup-1fccdd897c6e68de427f95f9a1ba34cb.png">
            <a:extLst>
              <a:ext uri="{FF2B5EF4-FFF2-40B4-BE49-F238E27FC236}">
                <a16:creationId xmlns:a16="http://schemas.microsoft.com/office/drawing/2014/main" id="{35888F90-7EE7-4A7D-192D-1643AFE3D69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58454" y="8887054"/>
            <a:ext cx="323698" cy="323698"/>
          </a:xfrm>
          <a:prstGeom prst="rect">
            <a:avLst/>
          </a:prstGeom>
        </p:spPr>
      </p:pic>
      <p:pic>
        <p:nvPicPr>
          <p:cNvPr id="31" name="Image 20" descr="gen-dedup-367a927f5b78b4bbee80af254fbb37ad.png">
            <a:extLst>
              <a:ext uri="{FF2B5EF4-FFF2-40B4-BE49-F238E27FC236}">
                <a16:creationId xmlns:a16="http://schemas.microsoft.com/office/drawing/2014/main" id="{33D23521-862F-2130-5482-7DD0CF1574EB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6420795" y="5266944"/>
            <a:ext cx="409651" cy="409651"/>
          </a:xfrm>
          <a:prstGeom prst="rect">
            <a:avLst/>
          </a:prstGeom>
        </p:spPr>
      </p:pic>
      <p:pic>
        <p:nvPicPr>
          <p:cNvPr id="32" name="Image 21" descr="gen-dedup-1d344c7a59f5a91386bffe2900bacfe0.png">
            <a:extLst>
              <a:ext uri="{FF2B5EF4-FFF2-40B4-BE49-F238E27FC236}">
                <a16:creationId xmlns:a16="http://schemas.microsoft.com/office/drawing/2014/main" id="{1C6A706D-95A5-0C76-D778-3DF19B6C6F8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-50000" b="-50000"/>
          <a:stretch/>
        </p:blipFill>
        <p:spPr>
          <a:xfrm>
            <a:off x="16420795" y="6467551"/>
            <a:ext cx="409651" cy="409651"/>
          </a:xfrm>
          <a:prstGeom prst="rect">
            <a:avLst/>
          </a:prstGeom>
        </p:spPr>
      </p:pic>
      <p:sp>
        <p:nvSpPr>
          <p:cNvPr id="33" name="Text 9">
            <a:extLst>
              <a:ext uri="{FF2B5EF4-FFF2-40B4-BE49-F238E27FC236}">
                <a16:creationId xmlns:a16="http://schemas.microsoft.com/office/drawing/2014/main" id="{72CDAF85-9021-8192-0371-C16ACE872CB4}"/>
              </a:ext>
            </a:extLst>
          </p:cNvPr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C05</a:t>
            </a:r>
            <a:endParaRPr lang="en-US" sz="975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0246EAD2-62AC-5622-4507-3CB4F8DF523C}"/>
              </a:ext>
            </a:extLst>
          </p:cNvPr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73860FFF-18DF-277F-1005-E4A51868A4CF}"/>
              </a:ext>
            </a:extLst>
          </p:cNvPr>
          <p:cNvSpPr txBox="1"/>
          <p:nvPr/>
        </p:nvSpPr>
        <p:spPr>
          <a:xfrm>
            <a:off x="1317650" y="2214677"/>
            <a:ext cx="362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35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F9C8E668-3081-6BC5-C5F1-4F9AEA077F61}"/>
              </a:ext>
            </a:extLst>
          </p:cNvPr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 de pedidos · Qué entra, qué sale</a:t>
            </a:r>
            <a:endParaRPr lang="en-US" sz="1125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19979638-DFB7-BFA2-7825-8A0AD1E1C2D9}"/>
              </a:ext>
            </a:extLst>
          </p:cNvPr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Multicanal.</a:t>
            </a:r>
            <a:endParaRPr lang="en-US" sz="585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5CE53884-68B8-9D75-4A01-BED15948418C}"/>
              </a:ext>
            </a:extLst>
          </p:cNvPr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Adiós al grabado manual de pedidos.</a:t>
            </a:r>
            <a:endParaRPr lang="en-US" sz="195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7D184DC-9CE8-0B07-1605-2F0CA26720D3}"/>
              </a:ext>
            </a:extLst>
          </p:cNvPr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0EC8434C-8867-5EF4-5C27-EFA8498E5718}"/>
              </a:ext>
            </a:extLst>
          </p:cNvPr>
          <p:cNvSpPr/>
          <p:nvPr/>
        </p:nvSpPr>
        <p:spPr>
          <a:xfrm>
            <a:off x="1238280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D1C84A0B-0975-21D0-743A-6AB889B5A1DF}"/>
              </a:ext>
            </a:extLst>
          </p:cNvPr>
          <p:cNvSpPr txBox="1"/>
          <p:nvPr/>
        </p:nvSpPr>
        <p:spPr>
          <a:xfrm>
            <a:off x="1238280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5839CCE8-141F-12A0-B09B-73542EF05001}"/>
              </a:ext>
            </a:extLst>
          </p:cNvPr>
          <p:cNvSpPr/>
          <p:nvPr/>
        </p:nvSpPr>
        <p:spPr>
          <a:xfrm>
            <a:off x="13505688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6A4E6147-8E73-5871-6B77-0175EA91C301}"/>
              </a:ext>
            </a:extLst>
          </p:cNvPr>
          <p:cNvSpPr txBox="1"/>
          <p:nvPr/>
        </p:nvSpPr>
        <p:spPr>
          <a:xfrm>
            <a:off x="13505688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B5515314-AB0C-3F29-830A-7AC0533E4AE5}"/>
              </a:ext>
            </a:extLst>
          </p:cNvPr>
          <p:cNvSpPr/>
          <p:nvPr/>
        </p:nvSpPr>
        <p:spPr>
          <a:xfrm>
            <a:off x="14160398" y="2533802"/>
            <a:ext cx="65745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FBFCC52A-C06C-299B-859E-F26C6319560F}"/>
              </a:ext>
            </a:extLst>
          </p:cNvPr>
          <p:cNvSpPr txBox="1"/>
          <p:nvPr/>
        </p:nvSpPr>
        <p:spPr>
          <a:xfrm>
            <a:off x="14160398" y="2533802"/>
            <a:ext cx="6574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1125" dirty="0"/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DA155C49-E3EF-7326-BF8D-1719CFD6A3BE}"/>
              </a:ext>
            </a:extLst>
          </p:cNvPr>
          <p:cNvSpPr/>
          <p:nvPr/>
        </p:nvSpPr>
        <p:spPr>
          <a:xfrm>
            <a:off x="14890090" y="2533802"/>
            <a:ext cx="9336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4EE36014-9DBF-C599-2291-2A4B73F802E4}"/>
              </a:ext>
            </a:extLst>
          </p:cNvPr>
          <p:cNvSpPr txBox="1"/>
          <p:nvPr/>
        </p:nvSpPr>
        <p:spPr>
          <a:xfrm>
            <a:off x="14890090" y="2533802"/>
            <a:ext cx="9336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1125" dirty="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DFA1A953-7E96-D24E-82AD-86B8523C214B}"/>
              </a:ext>
            </a:extLst>
          </p:cNvPr>
          <p:cNvSpPr/>
          <p:nvPr/>
        </p:nvSpPr>
        <p:spPr>
          <a:xfrm>
            <a:off x="15896844" y="2533802"/>
            <a:ext cx="101955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7F4782C6-F937-582F-7202-F06165AE992E}"/>
              </a:ext>
            </a:extLst>
          </p:cNvPr>
          <p:cNvSpPr txBox="1"/>
          <p:nvPr/>
        </p:nvSpPr>
        <p:spPr>
          <a:xfrm>
            <a:off x="15896844" y="2533802"/>
            <a:ext cx="10195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1125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C8031C65-5B60-AA96-B6BB-92910321C8AD}"/>
              </a:ext>
            </a:extLst>
          </p:cNvPr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EEA0C2EA-F5E5-14FC-6946-77A4BCE9B3F4}"/>
              </a:ext>
            </a:extLst>
          </p:cNvPr>
          <p:cNvSpPr/>
          <p:nvPr/>
        </p:nvSpPr>
        <p:spPr>
          <a:xfrm>
            <a:off x="12382805" y="3829507"/>
            <a:ext cx="1019556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28">
            <a:extLst>
              <a:ext uri="{FF2B5EF4-FFF2-40B4-BE49-F238E27FC236}">
                <a16:creationId xmlns:a16="http://schemas.microsoft.com/office/drawing/2014/main" id="{C09021AC-9353-9466-7F7B-0540BF30B8DE}"/>
              </a:ext>
            </a:extLst>
          </p:cNvPr>
          <p:cNvSpPr txBox="1"/>
          <p:nvPr/>
        </p:nvSpPr>
        <p:spPr>
          <a:xfrm>
            <a:off x="12382805" y="3829507"/>
            <a:ext cx="10195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PROMEGA</a:t>
            </a:r>
            <a:endParaRPr lang="en-US" sz="1125" dirty="0"/>
          </a:p>
        </p:txBody>
      </p:sp>
      <p:sp>
        <p:nvSpPr>
          <p:cNvPr id="53" name="Shape 29">
            <a:extLst>
              <a:ext uri="{FF2B5EF4-FFF2-40B4-BE49-F238E27FC236}">
                <a16:creationId xmlns:a16="http://schemas.microsoft.com/office/drawing/2014/main" id="{996E70FD-94D0-FF33-FEE7-2A0ACE80A74A}"/>
              </a:ext>
            </a:extLst>
          </p:cNvPr>
          <p:cNvSpPr/>
          <p:nvPr/>
        </p:nvSpPr>
        <p:spPr>
          <a:xfrm>
            <a:off x="13470026" y="3829507"/>
            <a:ext cx="88605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24210FB3-9075-0AF2-6C47-66A6ABD3870A}"/>
              </a:ext>
            </a:extLst>
          </p:cNvPr>
          <p:cNvSpPr txBox="1"/>
          <p:nvPr/>
        </p:nvSpPr>
        <p:spPr>
          <a:xfrm>
            <a:off x="13470026" y="3829507"/>
            <a:ext cx="886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UCALSA</a:t>
            </a:r>
            <a:endParaRPr lang="en-US" sz="1125" dirty="0"/>
          </a:p>
        </p:txBody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1214C563-AC60-5B01-950B-2558C10AAC2C}"/>
              </a:ext>
            </a:extLst>
          </p:cNvPr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4947427D-3DD3-87AC-E68A-9C192AE94D97}"/>
              </a:ext>
            </a:extLst>
          </p:cNvPr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707F8F70-521B-DBD1-F3B1-4685AE3806DB}"/>
              </a:ext>
            </a:extLst>
          </p:cNvPr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8" name="Text 34">
            <a:extLst>
              <a:ext uri="{FF2B5EF4-FFF2-40B4-BE49-F238E27FC236}">
                <a16:creationId xmlns:a16="http://schemas.microsoft.com/office/drawing/2014/main" id="{5FF78CE0-7B64-678E-00A9-20C25969999B}"/>
              </a:ext>
            </a:extLst>
          </p:cNvPr>
          <p:cNvSpPr txBox="1"/>
          <p:nvPr/>
        </p:nvSpPr>
        <p:spPr>
          <a:xfrm>
            <a:off x="21717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725" dirty="0"/>
          </a:p>
        </p:txBody>
      </p:sp>
      <p:sp>
        <p:nvSpPr>
          <p:cNvPr id="59" name="Text 35">
            <a:extLst>
              <a:ext uri="{FF2B5EF4-FFF2-40B4-BE49-F238E27FC236}">
                <a16:creationId xmlns:a16="http://schemas.microsoft.com/office/drawing/2014/main" id="{5986B3A9-E2F8-04D0-494F-A921F3615C4C}"/>
              </a:ext>
            </a:extLst>
          </p:cNvPr>
          <p:cNvSpPr txBox="1"/>
          <p:nvPr/>
        </p:nvSpPr>
        <p:spPr>
          <a:xfrm>
            <a:off x="21717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por correo</a:t>
            </a:r>
            <a:endParaRPr lang="en-US" sz="1275" dirty="0"/>
          </a:p>
        </p:txBody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98E78DEF-2461-3D01-F533-ACACF2624039}"/>
              </a:ext>
            </a:extLst>
          </p:cNvPr>
          <p:cNvSpPr txBox="1"/>
          <p:nvPr/>
        </p:nvSpPr>
        <p:spPr>
          <a:xfrm>
            <a:off x="21717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 / 365</a:t>
            </a:r>
            <a:endParaRPr lang="en-US" sz="1725" dirty="0"/>
          </a:p>
        </p:txBody>
      </p:sp>
      <p:sp>
        <p:nvSpPr>
          <p:cNvPr id="61" name="Text 37">
            <a:extLst>
              <a:ext uri="{FF2B5EF4-FFF2-40B4-BE49-F238E27FC236}">
                <a16:creationId xmlns:a16="http://schemas.microsoft.com/office/drawing/2014/main" id="{C522803C-5FED-23DC-7B1E-36800D7AD9FA}"/>
              </a:ext>
            </a:extLst>
          </p:cNvPr>
          <p:cNvSpPr txBox="1"/>
          <p:nvPr/>
        </p:nvSpPr>
        <p:spPr>
          <a:xfrm>
            <a:off x="21717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por correo</a:t>
            </a:r>
            <a:endParaRPr lang="en-US" sz="1275" dirty="0"/>
          </a:p>
        </p:txBody>
      </p:sp>
      <p:sp>
        <p:nvSpPr>
          <p:cNvPr id="62" name="Text 38">
            <a:extLst>
              <a:ext uri="{FF2B5EF4-FFF2-40B4-BE49-F238E27FC236}">
                <a16:creationId xmlns:a16="http://schemas.microsoft.com/office/drawing/2014/main" id="{827F5D5C-0BD9-2BF2-9805-D46BCA50F0F4}"/>
              </a:ext>
            </a:extLst>
          </p:cNvPr>
          <p:cNvSpPr txBox="1"/>
          <p:nvPr/>
        </p:nvSpPr>
        <p:spPr>
          <a:xfrm>
            <a:off x="21717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1725" dirty="0"/>
          </a:p>
        </p:txBody>
      </p:sp>
      <p:sp>
        <p:nvSpPr>
          <p:cNvPr id="63" name="Text 39">
            <a:extLst>
              <a:ext uri="{FF2B5EF4-FFF2-40B4-BE49-F238E27FC236}">
                <a16:creationId xmlns:a16="http://schemas.microsoft.com/office/drawing/2014/main" id="{36AB6599-E552-6F54-73D8-7D7AC48A1C63}"/>
              </a:ext>
            </a:extLst>
          </p:cNvPr>
          <p:cNvSpPr txBox="1"/>
          <p:nvPr/>
        </p:nvSpPr>
        <p:spPr>
          <a:xfrm>
            <a:off x="21717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por mensaje</a:t>
            </a:r>
            <a:endParaRPr lang="en-US" sz="1275" dirty="0"/>
          </a:p>
        </p:txBody>
      </p:sp>
      <p:sp>
        <p:nvSpPr>
          <p:cNvPr id="64" name="Text 40">
            <a:extLst>
              <a:ext uri="{FF2B5EF4-FFF2-40B4-BE49-F238E27FC236}">
                <a16:creationId xmlns:a16="http://schemas.microsoft.com/office/drawing/2014/main" id="{18A06D03-3737-0D6E-F952-9CF370941B92}"/>
              </a:ext>
            </a:extLst>
          </p:cNvPr>
          <p:cNvSpPr txBox="1"/>
          <p:nvPr/>
        </p:nvSpPr>
        <p:spPr>
          <a:xfrm>
            <a:off x="21717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 adjunto</a:t>
            </a:r>
            <a:endParaRPr lang="en-US" sz="1725" dirty="0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54479E6A-3D00-E5D6-562B-335D089458CC}"/>
              </a:ext>
            </a:extLst>
          </p:cNvPr>
          <p:cNvSpPr txBox="1"/>
          <p:nvPr/>
        </p:nvSpPr>
        <p:spPr>
          <a:xfrm>
            <a:off x="21717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del cliente</a:t>
            </a:r>
            <a:endParaRPr lang="en-US" sz="1275" dirty="0"/>
          </a:p>
        </p:txBody>
      </p:sp>
      <p:pic>
        <p:nvPicPr>
          <p:cNvPr id="66" name="Image 22" descr="gen-dedup-625f6ee98a837ce7c94bde031f58a71e.png">
            <a:extLst>
              <a:ext uri="{FF2B5EF4-FFF2-40B4-BE49-F238E27FC236}">
                <a16:creationId xmlns:a16="http://schemas.microsoft.com/office/drawing/2014/main" id="{C24665F9-0B74-1E2D-B87C-7DBAF8AD5D22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7" name="Text 42">
            <a:extLst>
              <a:ext uri="{FF2B5EF4-FFF2-40B4-BE49-F238E27FC236}">
                <a16:creationId xmlns:a16="http://schemas.microsoft.com/office/drawing/2014/main" id="{3F25EED4-2BB2-40C9-D3C9-86834FED5CD2}"/>
              </a:ext>
            </a:extLst>
          </p:cNvPr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C05</a:t>
            </a:r>
            <a:endParaRPr lang="en-US" sz="900" dirty="0"/>
          </a:p>
        </p:txBody>
      </p:sp>
      <p:sp>
        <p:nvSpPr>
          <p:cNvPr id="68" name="Text 43">
            <a:extLst>
              <a:ext uri="{FF2B5EF4-FFF2-40B4-BE49-F238E27FC236}">
                <a16:creationId xmlns:a16="http://schemas.microsoft.com/office/drawing/2014/main" id="{650F3E92-AEAF-10C0-C00D-37B882E58C06}"/>
              </a:ext>
            </a:extLst>
          </p:cNvPr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Multicanal</a:t>
            </a:r>
            <a:endParaRPr lang="en-US" sz="2250" dirty="0"/>
          </a:p>
        </p:txBody>
      </p:sp>
      <p:sp>
        <p:nvSpPr>
          <p:cNvPr id="69" name="Shape 44">
            <a:extLst>
              <a:ext uri="{FF2B5EF4-FFF2-40B4-BE49-F238E27FC236}">
                <a16:creationId xmlns:a16="http://schemas.microsoft.com/office/drawing/2014/main" id="{4946F940-4F7D-0A70-3D9F-F568118D196A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45">
            <a:extLst>
              <a:ext uri="{FF2B5EF4-FFF2-40B4-BE49-F238E27FC236}">
                <a16:creationId xmlns:a16="http://schemas.microsoft.com/office/drawing/2014/main" id="{58682345-315B-7CF5-C117-1E6F12E34F2C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71" name="Text 46">
            <a:extLst>
              <a:ext uri="{FF2B5EF4-FFF2-40B4-BE49-F238E27FC236}">
                <a16:creationId xmlns:a16="http://schemas.microsoft.com/office/drawing/2014/main" id="{A275CF37-9CD8-8019-1B5B-F18D9D3B691A}"/>
              </a:ext>
            </a:extLst>
          </p:cNvPr>
          <p:cNvSpPr txBox="1"/>
          <p:nvPr/>
        </p:nvSpPr>
        <p:spPr>
          <a:xfrm>
            <a:off x="7524598" y="6986930"/>
            <a:ext cx="4014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 el pedido en lenguaje natural</a:t>
            </a:r>
            <a:endParaRPr lang="en-US" sz="1425" dirty="0"/>
          </a:p>
        </p:txBody>
      </p:sp>
      <p:sp>
        <p:nvSpPr>
          <p:cNvPr id="72" name="Shape 47">
            <a:extLst>
              <a:ext uri="{FF2B5EF4-FFF2-40B4-BE49-F238E27FC236}">
                <a16:creationId xmlns:a16="http://schemas.microsoft.com/office/drawing/2014/main" id="{70FB253B-20BC-4498-BBFD-9012E395A6C7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48">
            <a:extLst>
              <a:ext uri="{FF2B5EF4-FFF2-40B4-BE49-F238E27FC236}">
                <a16:creationId xmlns:a16="http://schemas.microsoft.com/office/drawing/2014/main" id="{98B731D9-8338-28EB-E4CD-AA191F90279C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Text 49">
            <a:extLst>
              <a:ext uri="{FF2B5EF4-FFF2-40B4-BE49-F238E27FC236}">
                <a16:creationId xmlns:a16="http://schemas.microsoft.com/office/drawing/2014/main" id="{A5132A60-776B-B93A-DB24-6E6A7E04F2ED}"/>
              </a:ext>
            </a:extLst>
          </p:cNvPr>
          <p:cNvSpPr txBox="1"/>
          <p:nvPr/>
        </p:nvSpPr>
        <p:spPr>
          <a:xfrm>
            <a:off x="7524598" y="7386523"/>
            <a:ext cx="381670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 los patrones de cada cliente</a:t>
            </a:r>
            <a:endParaRPr lang="en-US" sz="1425" dirty="0"/>
          </a:p>
        </p:txBody>
      </p:sp>
      <p:sp>
        <p:nvSpPr>
          <p:cNvPr id="75" name="Shape 50">
            <a:extLst>
              <a:ext uri="{FF2B5EF4-FFF2-40B4-BE49-F238E27FC236}">
                <a16:creationId xmlns:a16="http://schemas.microsoft.com/office/drawing/2014/main" id="{88CE289E-1B47-DEC5-1926-21208B8BEAF6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1">
            <a:extLst>
              <a:ext uri="{FF2B5EF4-FFF2-40B4-BE49-F238E27FC236}">
                <a16:creationId xmlns:a16="http://schemas.microsoft.com/office/drawing/2014/main" id="{358C114F-27F8-813E-A5DF-7AB9A3224371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7" name="Text 52">
            <a:extLst>
              <a:ext uri="{FF2B5EF4-FFF2-40B4-BE49-F238E27FC236}">
                <a16:creationId xmlns:a16="http://schemas.microsoft.com/office/drawing/2014/main" id="{F48F7975-B5F9-B585-A53E-34C25F7646FB}"/>
              </a:ext>
            </a:extLst>
          </p:cNvPr>
          <p:cNvSpPr txBox="1"/>
          <p:nvPr/>
        </p:nvSpPr>
        <p:spPr>
          <a:xfrm>
            <a:off x="7524598" y="7787030"/>
            <a:ext cx="28117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Cruza con catálogo y stock</a:t>
            </a:r>
            <a:endParaRPr lang="en-US" sz="1425" dirty="0"/>
          </a:p>
        </p:txBody>
      </p:sp>
      <p:sp>
        <p:nvSpPr>
          <p:cNvPr id="78" name="Shape 53">
            <a:extLst>
              <a:ext uri="{FF2B5EF4-FFF2-40B4-BE49-F238E27FC236}">
                <a16:creationId xmlns:a16="http://schemas.microsoft.com/office/drawing/2014/main" id="{67790369-7D5A-98F7-1752-D7F241685E86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54">
            <a:extLst>
              <a:ext uri="{FF2B5EF4-FFF2-40B4-BE49-F238E27FC236}">
                <a16:creationId xmlns:a16="http://schemas.microsoft.com/office/drawing/2014/main" id="{4E998DFF-3F55-5716-FBD5-B7B051585BE3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55">
            <a:extLst>
              <a:ext uri="{FF2B5EF4-FFF2-40B4-BE49-F238E27FC236}">
                <a16:creationId xmlns:a16="http://schemas.microsoft.com/office/drawing/2014/main" id="{76373E96-DB27-B655-2CC2-0BA3B8791782}"/>
              </a:ext>
            </a:extLst>
          </p:cNvPr>
          <p:cNvSpPr txBox="1"/>
          <p:nvPr/>
        </p:nvSpPr>
        <p:spPr>
          <a:xfrm>
            <a:off x="7524598" y="8186623"/>
            <a:ext cx="24597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inconsistencias</a:t>
            </a:r>
            <a:endParaRPr lang="en-US" sz="1425" dirty="0"/>
          </a:p>
        </p:txBody>
      </p:sp>
      <p:sp>
        <p:nvSpPr>
          <p:cNvPr id="81" name="Shape 56">
            <a:extLst>
              <a:ext uri="{FF2B5EF4-FFF2-40B4-BE49-F238E27FC236}">
                <a16:creationId xmlns:a16="http://schemas.microsoft.com/office/drawing/2014/main" id="{2EA40D79-75FC-490B-B30C-34632BDAC583}"/>
              </a:ext>
            </a:extLst>
          </p:cNvPr>
          <p:cNvSpPr/>
          <p:nvPr/>
        </p:nvSpPr>
        <p:spPr>
          <a:xfrm>
            <a:off x="9201607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57">
            <a:extLst>
              <a:ext uri="{FF2B5EF4-FFF2-40B4-BE49-F238E27FC236}">
                <a16:creationId xmlns:a16="http://schemas.microsoft.com/office/drawing/2014/main" id="{04EA7FB2-2678-91F4-8983-D0A47ADD760B}"/>
              </a:ext>
            </a:extLst>
          </p:cNvPr>
          <p:cNvSpPr txBox="1"/>
          <p:nvPr/>
        </p:nvSpPr>
        <p:spPr>
          <a:xfrm>
            <a:off x="9309506" y="8953805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200" dirty="0"/>
          </a:p>
        </p:txBody>
      </p:sp>
      <p:pic>
        <p:nvPicPr>
          <p:cNvPr id="83" name="Image 23" descr="gen-dedup-9f2da3d601bd1ff2962f48734b24ef49.png">
            <a:extLst>
              <a:ext uri="{FF2B5EF4-FFF2-40B4-BE49-F238E27FC236}">
                <a16:creationId xmlns:a16="http://schemas.microsoft.com/office/drawing/2014/main" id="{07DA5BDE-8E2F-EEC3-4535-21D7FEA58F5A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sp>
        <p:nvSpPr>
          <p:cNvPr id="84" name="Text 58">
            <a:extLst>
              <a:ext uri="{FF2B5EF4-FFF2-40B4-BE49-F238E27FC236}">
                <a16:creationId xmlns:a16="http://schemas.microsoft.com/office/drawing/2014/main" id="{B27A0B55-FDAC-6E52-767A-5F94D6C1DABB}"/>
              </a:ext>
            </a:extLst>
          </p:cNvPr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 en Odoo</a:t>
            </a:r>
            <a:endParaRPr lang="en-US" sz="1725" dirty="0"/>
          </a:p>
        </p:txBody>
      </p:sp>
      <p:sp>
        <p:nvSpPr>
          <p:cNvPr id="85" name="Text 59">
            <a:extLst>
              <a:ext uri="{FF2B5EF4-FFF2-40B4-BE49-F238E27FC236}">
                <a16:creationId xmlns:a16="http://schemas.microsoft.com/office/drawing/2014/main" id="{953ED26C-075D-4915-1F3F-3F932D01CBC2}"/>
              </a:ext>
            </a:extLst>
          </p:cNvPr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vía API</a:t>
            </a:r>
            <a:endParaRPr lang="en-US" sz="1275" dirty="0"/>
          </a:p>
        </p:txBody>
      </p:sp>
      <p:sp>
        <p:nvSpPr>
          <p:cNvPr id="86" name="Text 60">
            <a:extLst>
              <a:ext uri="{FF2B5EF4-FFF2-40B4-BE49-F238E27FC236}">
                <a16:creationId xmlns:a16="http://schemas.microsoft.com/office/drawing/2014/main" id="{E52AE7FE-1884-FFED-4230-B01588C4A727}"/>
              </a:ext>
            </a:extLst>
          </p:cNvPr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 en SAP</a:t>
            </a:r>
            <a:endParaRPr lang="en-US" sz="1725" dirty="0"/>
          </a:p>
        </p:txBody>
      </p:sp>
      <p:sp>
        <p:nvSpPr>
          <p:cNvPr id="87" name="Text 61">
            <a:extLst>
              <a:ext uri="{FF2B5EF4-FFF2-40B4-BE49-F238E27FC236}">
                <a16:creationId xmlns:a16="http://schemas.microsoft.com/office/drawing/2014/main" id="{2451BE66-D532-D912-12DD-496DDE1D5B02}"/>
              </a:ext>
            </a:extLst>
          </p:cNvPr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en el ERP</a:t>
            </a:r>
            <a:endParaRPr lang="en-US" sz="1275" dirty="0"/>
          </a:p>
        </p:txBody>
      </p:sp>
      <p:pic>
        <p:nvPicPr>
          <p:cNvPr id="88" name="Image 24" descr="gen-dedup-cad81b674f5ca746b7ee00627dfd46b4.png">
            <a:extLst>
              <a:ext uri="{FF2B5EF4-FFF2-40B4-BE49-F238E27FC236}">
                <a16:creationId xmlns:a16="http://schemas.microsoft.com/office/drawing/2014/main" id="{5E8A6C49-D55F-A711-D339-BA6BD0DD431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7686446"/>
            <a:ext cx="381305" cy="381305"/>
          </a:xfrm>
          <a:prstGeom prst="rect">
            <a:avLst/>
          </a:prstGeom>
        </p:spPr>
      </p:pic>
      <p:sp>
        <p:nvSpPr>
          <p:cNvPr id="89" name="Text 62">
            <a:extLst>
              <a:ext uri="{FF2B5EF4-FFF2-40B4-BE49-F238E27FC236}">
                <a16:creationId xmlns:a16="http://schemas.microsoft.com/office/drawing/2014/main" id="{E12E6812-17D1-4C93-4893-848544A47D67}"/>
              </a:ext>
            </a:extLst>
          </p:cNvPr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 de stock</a:t>
            </a:r>
            <a:endParaRPr lang="en-US" sz="1725" dirty="0"/>
          </a:p>
        </p:txBody>
      </p:sp>
      <p:sp>
        <p:nvSpPr>
          <p:cNvPr id="90" name="Text 63">
            <a:extLst>
              <a:ext uri="{FF2B5EF4-FFF2-40B4-BE49-F238E27FC236}">
                <a16:creationId xmlns:a16="http://schemas.microsoft.com/office/drawing/2014/main" id="{FFBB9B19-1688-7706-C42B-D7C6BCA18A98}"/>
              </a:ext>
            </a:extLst>
          </p:cNvPr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comprometer</a:t>
            </a:r>
            <a:endParaRPr lang="en-US" sz="1275" dirty="0"/>
          </a:p>
        </p:txBody>
      </p:sp>
      <p:pic>
        <p:nvPicPr>
          <p:cNvPr id="91" name="Image 25" descr="gen-dedup-925fba63a8843f0fea34333cb67c6447.png">
            <a:extLst>
              <a:ext uri="{FF2B5EF4-FFF2-40B4-BE49-F238E27FC236}">
                <a16:creationId xmlns:a16="http://schemas.microsoft.com/office/drawing/2014/main" id="{E4E03312-A9C0-15AD-3BC7-46931FD128F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92" name="Text 64">
            <a:extLst>
              <a:ext uri="{FF2B5EF4-FFF2-40B4-BE49-F238E27FC236}">
                <a16:creationId xmlns:a16="http://schemas.microsoft.com/office/drawing/2014/main" id="{D82FA772-45A8-4A17-F49F-279885AE2D68}"/>
              </a:ext>
            </a:extLst>
          </p:cNvPr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fallback</a:t>
            </a:r>
            <a:endParaRPr lang="en-US" sz="1725" dirty="0"/>
          </a:p>
        </p:txBody>
      </p:sp>
      <p:sp>
        <p:nvSpPr>
          <p:cNvPr id="93" name="Text 65">
            <a:extLst>
              <a:ext uri="{FF2B5EF4-FFF2-40B4-BE49-F238E27FC236}">
                <a16:creationId xmlns:a16="http://schemas.microsoft.com/office/drawing/2014/main" id="{3B2AF530-FD85-160C-50E4-647957A183CD}"/>
              </a:ext>
            </a:extLst>
          </p:cNvPr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el ERP no escribe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26267516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efac8eb198ecfd775a3e8768787cb13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92195" y="-1524305"/>
            <a:ext cx="4190695" cy="4190695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 · 40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18288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y docs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Automáticos.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Genera, envía y concilia. Sin Excel.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se cierra una expedición, el sistema genera el albarán, lo envía al cliente y al cierre del día concilia expedido contra facturado. Las discrepancias se elevan al responsable.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277703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en PDF, Excel y EDI.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247162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Plantilla con su logo y datos.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248259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Envío al contacto del cliente.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311719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Conciliación expedido vs facturado.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37298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de discrepancias en tiempo real.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30385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documental auditable.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1815998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1815998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894990" y="8762695"/>
            <a:ext cx="88605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894990" y="8762695"/>
            <a:ext cx="8860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872484" y="8762695"/>
            <a:ext cx="1162202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872484" y="8762695"/>
            <a:ext cx="11622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/ Graph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5122469" y="8762695"/>
            <a:ext cx="523951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5122469" y="8762695"/>
            <a:ext cx="5239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4287500" y="19046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Albarán en proceso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4287500" y="2286000"/>
            <a:ext cx="3619195" cy="215249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14525244" y="2505456"/>
            <a:ext cx="13149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</a:t>
            </a:r>
            <a:endParaRPr lang="en-US" sz="825" dirty="0"/>
          </a:p>
        </p:txBody>
      </p:sp>
      <p:sp>
        <p:nvSpPr>
          <p:cNvPr id="37" name="Text 32"/>
          <p:cNvSpPr txBox="1"/>
          <p:nvPr/>
        </p:nvSpPr>
        <p:spPr>
          <a:xfrm>
            <a:off x="14525244" y="2676449"/>
            <a:ext cx="154167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Albarán A-9981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16758209" y="2505456"/>
            <a:ext cx="914400" cy="247802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+ XLS</a:t>
            </a:r>
            <a:endParaRPr lang="en-US" sz="825" dirty="0"/>
          </a:p>
        </p:txBody>
      </p:sp>
      <p:pic>
        <p:nvPicPr>
          <p:cNvPr id="39" name="Image 3" descr="gen-dedup-e4da4572dd0a2a949d775cada46b1539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14525244" y="3010205"/>
            <a:ext cx="3143707" cy="914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4525244" y="3152851"/>
            <a:ext cx="5815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endParaRPr lang="en-US" sz="975" dirty="0"/>
          </a:p>
        </p:txBody>
      </p:sp>
      <p:sp>
        <p:nvSpPr>
          <p:cNvPr id="41" name="Text 35"/>
          <p:cNvSpPr txBox="1"/>
          <p:nvPr/>
        </p:nvSpPr>
        <p:spPr>
          <a:xfrm>
            <a:off x="17305020" y="3152851"/>
            <a:ext cx="43982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GALPI</a:t>
            </a:r>
            <a:endParaRPr lang="en-US" sz="975" dirty="0"/>
          </a:p>
        </p:txBody>
      </p:sp>
      <p:sp>
        <p:nvSpPr>
          <p:cNvPr id="42" name="Text 36"/>
          <p:cNvSpPr txBox="1"/>
          <p:nvPr/>
        </p:nvSpPr>
        <p:spPr>
          <a:xfrm>
            <a:off x="14525244" y="3381451"/>
            <a:ext cx="50749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17006011" y="3381451"/>
            <a:ext cx="79187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2025-1042</a:t>
            </a:r>
            <a:endParaRPr lang="en-US" sz="975" dirty="0"/>
          </a:p>
        </p:txBody>
      </p:sp>
      <p:sp>
        <p:nvSpPr>
          <p:cNvPr id="44" name="Text 38"/>
          <p:cNvSpPr txBox="1"/>
          <p:nvPr/>
        </p:nvSpPr>
        <p:spPr>
          <a:xfrm>
            <a:off x="14525244" y="3610051"/>
            <a:ext cx="504749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Líneas</a:t>
            </a:r>
            <a:endParaRPr lang="en-US" sz="975" dirty="0"/>
          </a:p>
        </p:txBody>
      </p:sp>
      <p:sp>
        <p:nvSpPr>
          <p:cNvPr id="45" name="Text 39"/>
          <p:cNvSpPr txBox="1"/>
          <p:nvPr/>
        </p:nvSpPr>
        <p:spPr>
          <a:xfrm>
            <a:off x="16399764" y="3610051"/>
            <a:ext cx="151973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220 uds · 1.847 kg</a:t>
            </a:r>
            <a:endParaRPr lang="en-US" sz="975" dirty="0"/>
          </a:p>
        </p:txBody>
      </p:sp>
      <p:sp>
        <p:nvSpPr>
          <p:cNvPr id="46" name="Text 40"/>
          <p:cNvSpPr txBox="1"/>
          <p:nvPr/>
        </p:nvSpPr>
        <p:spPr>
          <a:xfrm>
            <a:off x="14525244" y="3895344"/>
            <a:ext cx="1534363" cy="324612"/>
          </a:xfrm>
          <a:prstGeom prst="rect">
            <a:avLst/>
          </a:prstGeom>
          <a:solidFill>
            <a:srgbClr val="E6A817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101600" rtlCol="0" anchor="ctr"/>
          <a:lstStyle/>
          <a:p>
            <a:pPr marL="0" indent="0" algn="ctr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Enviado</a:t>
            </a:r>
            <a:endParaRPr lang="en-US" sz="825" dirty="0"/>
          </a:p>
        </p:txBody>
      </p:sp>
      <p:sp>
        <p:nvSpPr>
          <p:cNvPr id="47" name="Text 41"/>
          <p:cNvSpPr txBox="1"/>
          <p:nvPr/>
        </p:nvSpPr>
        <p:spPr>
          <a:xfrm>
            <a:off x="16135502" y="3895344"/>
            <a:ext cx="1534363" cy="324612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101600" rtlCol="0" anchor="ctr"/>
          <a:lstStyle/>
          <a:p>
            <a:pPr marL="0" indent="0" algn="ctr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Acuse</a:t>
            </a:r>
            <a:endParaRPr lang="en-US" sz="825" dirty="0"/>
          </a:p>
        </p:txBody>
      </p:sp>
      <p:sp>
        <p:nvSpPr>
          <p:cNvPr id="48" name="Shape 42"/>
          <p:cNvSpPr/>
          <p:nvPr/>
        </p:nvSpPr>
        <p:spPr>
          <a:xfrm>
            <a:off x="14287500" y="4953305"/>
            <a:ext cx="3619195" cy="972007"/>
          </a:xfrm>
          <a:prstGeom prst="rect">
            <a:avLst/>
          </a:prstGeom>
          <a:solidFill>
            <a:srgbClr val="E6A817">
              <a:alpha val="18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 43"/>
          <p:cNvSpPr txBox="1"/>
          <p:nvPr/>
        </p:nvSpPr>
        <p:spPr>
          <a:xfrm>
            <a:off x="14525244" y="5171846"/>
            <a:ext cx="3143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Conciliación del día</a:t>
            </a:r>
            <a:endParaRPr lang="en-US" sz="825" dirty="0"/>
          </a:p>
        </p:txBody>
      </p:sp>
      <p:sp>
        <p:nvSpPr>
          <p:cNvPr id="50" name="Text 44"/>
          <p:cNvSpPr txBox="1"/>
          <p:nvPr/>
        </p:nvSpPr>
        <p:spPr>
          <a:xfrm>
            <a:off x="14525244" y="5381244"/>
            <a:ext cx="40965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2550" dirty="0"/>
          </a:p>
        </p:txBody>
      </p:sp>
      <p:sp>
        <p:nvSpPr>
          <p:cNvPr id="51" name="Text 45"/>
          <p:cNvSpPr txBox="1"/>
          <p:nvPr/>
        </p:nvSpPr>
        <p:spPr>
          <a:xfrm>
            <a:off x="16578072" y="5419649"/>
            <a:ext cx="10954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expediciones</a:t>
            </a:r>
            <a:endParaRPr lang="en-US" sz="825" dirty="0"/>
          </a:p>
        </p:txBody>
      </p:sp>
      <p:sp>
        <p:nvSpPr>
          <p:cNvPr id="52" name="Text 46"/>
          <p:cNvSpPr txBox="1"/>
          <p:nvPr/>
        </p:nvSpPr>
        <p:spPr>
          <a:xfrm>
            <a:off x="16381476" y="5572354"/>
            <a:ext cx="129204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discrepancia</a:t>
            </a:r>
            <a:endParaRPr lang="en-US" sz="825" dirty="0"/>
          </a:p>
        </p:txBody>
      </p:sp>
      <p:sp>
        <p:nvSpPr>
          <p:cNvPr id="53" name="Shape 47"/>
          <p:cNvSpPr/>
          <p:nvPr/>
        </p:nvSpPr>
        <p:spPr>
          <a:xfrm>
            <a:off x="14287500" y="6953098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48"/>
          <p:cNvSpPr txBox="1"/>
          <p:nvPr/>
        </p:nvSpPr>
        <p:spPr>
          <a:xfrm>
            <a:off x="14287500" y="7134149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5" name="Text 49"/>
          <p:cNvSpPr txBox="1"/>
          <p:nvPr/>
        </p:nvSpPr>
        <p:spPr>
          <a:xfrm>
            <a:off x="14287500" y="7381951"/>
            <a:ext cx="638251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GALPI</a:t>
            </a:r>
            <a:endParaRPr lang="en-US" sz="975" dirty="0"/>
          </a:p>
        </p:txBody>
      </p:sp>
      <p:sp>
        <p:nvSpPr>
          <p:cNvPr id="56" name="Text 50"/>
          <p:cNvSpPr txBox="1"/>
          <p:nvPr/>
        </p:nvSpPr>
        <p:spPr>
          <a:xfrm>
            <a:off x="14994331" y="7381951"/>
            <a:ext cx="638251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PRISA</a:t>
            </a:r>
            <a:endParaRPr lang="en-US" sz="975" dirty="0"/>
          </a:p>
        </p:txBody>
      </p:sp>
      <p:sp>
        <p:nvSpPr>
          <p:cNvPr id="57" name="Text 51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8" name="Text 52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/ 50</a:t>
            </a:r>
            <a:endParaRPr lang="en-US" sz="975" dirty="0"/>
          </a:p>
        </p:txBody>
      </p:sp>
      <p:pic>
        <p:nvPicPr>
          <p:cNvPr id="59" name="Image 4" descr="gen-dedup-d5c564535a9179a545f68b1a9b0ccb6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82805" y="3429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5622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762902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9625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ac80e9e021134ca9d35aa6425fc9f26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734202"/>
            <a:ext cx="685800" cy="685800"/>
          </a:xfrm>
          <a:prstGeom prst="rect">
            <a:avLst/>
          </a:prstGeom>
        </p:spPr>
      </p:pic>
      <p:pic>
        <p:nvPicPr>
          <p:cNvPr id="13" name="Image 3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6933895"/>
            <a:ext cx="685800" cy="685800"/>
          </a:xfrm>
          <a:prstGeom prst="rect">
            <a:avLst/>
          </a:prstGeom>
        </p:spPr>
      </p:pic>
      <p:pic>
        <p:nvPicPr>
          <p:cNvPr id="14" name="Image 4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134502"/>
            <a:ext cx="685800" cy="685800"/>
          </a:xfrm>
          <a:prstGeom prst="rect">
            <a:avLst/>
          </a:prstGeom>
        </p:spPr>
      </p:pic>
      <p:pic>
        <p:nvPicPr>
          <p:cNvPr id="15" name="Image 5" descr="gen-dedup-4fd6ab27e8b90bd8fc3508b3072b05e0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6" name="Image 6" descr="gen-dedup-260dd6da6acb35cd082fc331d27439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9600" y="8781898"/>
            <a:ext cx="533095" cy="533095"/>
          </a:xfrm>
          <a:prstGeom prst="rect">
            <a:avLst/>
          </a:prstGeom>
        </p:spPr>
      </p:pic>
      <p:pic>
        <p:nvPicPr>
          <p:cNvPr id="17" name="Image 7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18" name="Image 8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19" name="Image 9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0" name="Image 10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1" name="Image 11" descr="gen-dedup-6b1fea6ef9cf700851503bcdb8011f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2" name="Image 12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3" name="Image 13" descr="gen-dedup-367a927f5b78b4bbee80af254fbb37a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47495" y="5867705"/>
            <a:ext cx="409651" cy="409651"/>
          </a:xfrm>
          <a:prstGeom prst="rect">
            <a:avLst/>
          </a:prstGeom>
        </p:spPr>
      </p:pic>
      <p:pic>
        <p:nvPicPr>
          <p:cNvPr id="24" name="Image 14" descr="gen-dedup-fc23fc46cc0b8a7a71b92116d7c65e6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5" name="Image 15" descr="gen-dedup-1fccdd897c6e68de427f95f9a1ba34cb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34756" y="8887054"/>
            <a:ext cx="323698" cy="323698"/>
          </a:xfrm>
          <a:prstGeom prst="rect">
            <a:avLst/>
          </a:prstGeom>
        </p:spPr>
      </p:pic>
      <p:pic>
        <p:nvPicPr>
          <p:cNvPr id="26" name="Image 16" descr="gen-dedup-e65a801e1d2e7d7f545c66da47e65295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6420795" y="5266944"/>
            <a:ext cx="409651" cy="409651"/>
          </a:xfrm>
          <a:prstGeom prst="rect">
            <a:avLst/>
          </a:prstGeom>
        </p:spPr>
      </p:pic>
      <p:pic>
        <p:nvPicPr>
          <p:cNvPr id="27" name="Image 17" descr="gen-dedup-1ca55d8bcfd048e85c2feec6baee4754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420795" y="6467551"/>
            <a:ext cx="409651" cy="409651"/>
          </a:xfrm>
          <a:prstGeom prst="rect">
            <a:avLst/>
          </a:prstGeom>
        </p:spPr>
      </p:pic>
      <p:pic>
        <p:nvPicPr>
          <p:cNvPr id="28" name="Image 18" descr="gen-dedup-04a6c6595c9dff6b95c3b59c31d72678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420795" y="7667244"/>
            <a:ext cx="409651" cy="409651"/>
          </a:xfrm>
          <a:prstGeom prst="rect">
            <a:avLst/>
          </a:prstGeom>
        </p:spPr>
      </p:pic>
      <p:sp>
        <p:nvSpPr>
          <p:cNvPr id="29" name="Text 8"/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C06</a:t>
            </a:r>
            <a:endParaRPr lang="en-US" sz="975" dirty="0"/>
          </a:p>
        </p:txBody>
      </p:sp>
      <p:sp>
        <p:nvSpPr>
          <p:cNvPr id="30" name="Shape 9"/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0"/>
          <p:cNvSpPr txBox="1"/>
          <p:nvPr/>
        </p:nvSpPr>
        <p:spPr>
          <a:xfrm>
            <a:off x="1315822" y="2214677"/>
            <a:ext cx="362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350" dirty="0"/>
          </a:p>
        </p:txBody>
      </p:sp>
      <p:sp>
        <p:nvSpPr>
          <p:cNvPr id="32" name="Text 11"/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y documentación · Qué entra, qué sale</a:t>
            </a:r>
            <a:endParaRPr lang="en-US" sz="1125" dirty="0"/>
          </a:p>
        </p:txBody>
      </p:sp>
      <p:sp>
        <p:nvSpPr>
          <p:cNvPr id="33" name="Text 12"/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Automáticos.</a:t>
            </a:r>
            <a:endParaRPr lang="en-US" sz="5850" dirty="0"/>
          </a:p>
        </p:txBody>
      </p:sp>
      <p:sp>
        <p:nvSpPr>
          <p:cNvPr id="34" name="Text 13"/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Genera, envía y concilia. Sin Excel.</a:t>
            </a:r>
            <a:endParaRPr lang="en-US" sz="1950" dirty="0"/>
          </a:p>
        </p:txBody>
      </p:sp>
      <p:sp>
        <p:nvSpPr>
          <p:cNvPr id="35" name="Text 14"/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6" name="Shape 15"/>
          <p:cNvSpPr/>
          <p:nvPr/>
        </p:nvSpPr>
        <p:spPr>
          <a:xfrm>
            <a:off x="12382805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6"/>
          <p:cNvSpPr txBox="1"/>
          <p:nvPr/>
        </p:nvSpPr>
        <p:spPr>
          <a:xfrm>
            <a:off x="12382805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38" name="Shape 17"/>
          <p:cNvSpPr/>
          <p:nvPr/>
        </p:nvSpPr>
        <p:spPr>
          <a:xfrm>
            <a:off x="1303751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8"/>
          <p:cNvSpPr txBox="1"/>
          <p:nvPr/>
        </p:nvSpPr>
        <p:spPr>
          <a:xfrm>
            <a:off x="1303751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40" name="Shape 19"/>
          <p:cNvSpPr/>
          <p:nvPr/>
        </p:nvSpPr>
        <p:spPr>
          <a:xfrm>
            <a:off x="14160398" y="2533802"/>
            <a:ext cx="9336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0"/>
          <p:cNvSpPr txBox="1"/>
          <p:nvPr/>
        </p:nvSpPr>
        <p:spPr>
          <a:xfrm>
            <a:off x="14160398" y="2533802"/>
            <a:ext cx="9336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1125" dirty="0"/>
          </a:p>
        </p:txBody>
      </p:sp>
      <p:sp>
        <p:nvSpPr>
          <p:cNvPr id="42" name="Shape 21"/>
          <p:cNvSpPr/>
          <p:nvPr/>
        </p:nvSpPr>
        <p:spPr>
          <a:xfrm>
            <a:off x="15167153" y="2533802"/>
            <a:ext cx="124815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2"/>
          <p:cNvSpPr txBox="1"/>
          <p:nvPr/>
        </p:nvSpPr>
        <p:spPr>
          <a:xfrm>
            <a:off x="15167153" y="2533802"/>
            <a:ext cx="12481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/ Graph</a:t>
            </a:r>
            <a:endParaRPr lang="en-US" sz="1125" dirty="0"/>
          </a:p>
        </p:txBody>
      </p:sp>
      <p:sp>
        <p:nvSpPr>
          <p:cNvPr id="44" name="Shape 23"/>
          <p:cNvSpPr/>
          <p:nvPr/>
        </p:nvSpPr>
        <p:spPr>
          <a:xfrm>
            <a:off x="16487546" y="2533802"/>
            <a:ext cx="523951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4"/>
          <p:cNvSpPr txBox="1"/>
          <p:nvPr/>
        </p:nvSpPr>
        <p:spPr>
          <a:xfrm>
            <a:off x="16487546" y="2533802"/>
            <a:ext cx="5239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</a:t>
            </a:r>
            <a:endParaRPr lang="en-US" sz="1125" dirty="0"/>
          </a:p>
        </p:txBody>
      </p:sp>
      <p:sp>
        <p:nvSpPr>
          <p:cNvPr id="46" name="Text 25"/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47" name="Shape 26"/>
          <p:cNvSpPr/>
          <p:nvPr/>
        </p:nvSpPr>
        <p:spPr>
          <a:xfrm>
            <a:off x="12382805" y="3829507"/>
            <a:ext cx="714146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7"/>
          <p:cNvSpPr txBox="1"/>
          <p:nvPr/>
        </p:nvSpPr>
        <p:spPr>
          <a:xfrm>
            <a:off x="12382805" y="3829507"/>
            <a:ext cx="7150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GALPI</a:t>
            </a:r>
            <a:endParaRPr lang="en-US" sz="1125" dirty="0"/>
          </a:p>
        </p:txBody>
      </p:sp>
      <p:sp>
        <p:nvSpPr>
          <p:cNvPr id="49" name="Shape 28"/>
          <p:cNvSpPr/>
          <p:nvPr/>
        </p:nvSpPr>
        <p:spPr>
          <a:xfrm>
            <a:off x="13167360" y="3829507"/>
            <a:ext cx="714146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9"/>
          <p:cNvSpPr txBox="1"/>
          <p:nvPr/>
        </p:nvSpPr>
        <p:spPr>
          <a:xfrm>
            <a:off x="13167360" y="3829507"/>
            <a:ext cx="7150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PRISA</a:t>
            </a:r>
            <a:endParaRPr lang="en-US" sz="1125" dirty="0"/>
          </a:p>
        </p:txBody>
      </p:sp>
      <p:sp>
        <p:nvSpPr>
          <p:cNvPr id="51" name="Text 30"/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2" name="Text 31"/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3" name="Text 32"/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4" name="Text 33"/>
          <p:cNvSpPr txBox="1"/>
          <p:nvPr/>
        </p:nvSpPr>
        <p:spPr>
          <a:xfrm>
            <a:off x="2171700" y="58100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Expedición cerrada</a:t>
            </a:r>
            <a:endParaRPr lang="en-US" sz="1725" dirty="0"/>
          </a:p>
        </p:txBody>
      </p:sp>
      <p:sp>
        <p:nvSpPr>
          <p:cNvPr id="55" name="Text 34"/>
          <p:cNvSpPr txBox="1"/>
          <p:nvPr/>
        </p:nvSpPr>
        <p:spPr>
          <a:xfrm>
            <a:off x="2171700" y="61191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1275" dirty="0"/>
          </a:p>
        </p:txBody>
      </p:sp>
      <p:pic>
        <p:nvPicPr>
          <p:cNvPr id="56" name="Image 19" descr="gen-dedup-925fba63a8843f0fea34333cb67c644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698" y="7086600"/>
            <a:ext cx="381305" cy="381305"/>
          </a:xfrm>
          <a:prstGeom prst="rect">
            <a:avLst/>
          </a:prstGeom>
        </p:spPr>
      </p:pic>
      <p:sp>
        <p:nvSpPr>
          <p:cNvPr id="57" name="Text 35"/>
          <p:cNvSpPr txBox="1"/>
          <p:nvPr/>
        </p:nvSpPr>
        <p:spPr>
          <a:xfrm>
            <a:off x="2171700" y="7010705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envío</a:t>
            </a:r>
            <a:endParaRPr lang="en-US" sz="1725" dirty="0"/>
          </a:p>
        </p:txBody>
      </p:sp>
      <p:sp>
        <p:nvSpPr>
          <p:cNvPr id="58" name="Text 36"/>
          <p:cNvSpPr txBox="1"/>
          <p:nvPr/>
        </p:nvSpPr>
        <p:spPr>
          <a:xfrm>
            <a:off x="2171700" y="7319772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Bultos, unidades, kg</a:t>
            </a:r>
            <a:endParaRPr lang="en-US" sz="1275" dirty="0"/>
          </a:p>
        </p:txBody>
      </p:sp>
      <p:pic>
        <p:nvPicPr>
          <p:cNvPr id="59" name="Image 20" descr="gen-dedup-a832f96a8efbeea01b183a808255d3bb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6698" y="8287207"/>
            <a:ext cx="381305" cy="381305"/>
          </a:xfrm>
          <a:prstGeom prst="rect">
            <a:avLst/>
          </a:prstGeom>
        </p:spPr>
      </p:pic>
      <p:sp>
        <p:nvSpPr>
          <p:cNvPr id="60" name="Text 37"/>
          <p:cNvSpPr txBox="1"/>
          <p:nvPr/>
        </p:nvSpPr>
        <p:spPr>
          <a:xfrm>
            <a:off x="2171700" y="82103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plantilla</a:t>
            </a:r>
            <a:endParaRPr lang="en-US" sz="1725" dirty="0"/>
          </a:p>
        </p:txBody>
      </p:sp>
      <p:sp>
        <p:nvSpPr>
          <p:cNvPr id="61" name="Text 38"/>
          <p:cNvSpPr txBox="1"/>
          <p:nvPr/>
        </p:nvSpPr>
        <p:spPr>
          <a:xfrm>
            <a:off x="2171700" y="85194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y datos de empresa</a:t>
            </a:r>
            <a:endParaRPr lang="en-US" sz="1275" dirty="0"/>
          </a:p>
        </p:txBody>
      </p:sp>
      <p:pic>
        <p:nvPicPr>
          <p:cNvPr id="62" name="Image 21" descr="gen-dedup-182d78fddcadc7feb406cb878a100c1d.png"/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3" name="Text 39"/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C06</a:t>
            </a:r>
            <a:endParaRPr lang="en-US" sz="900" dirty="0"/>
          </a:p>
        </p:txBody>
      </p:sp>
      <p:sp>
        <p:nvSpPr>
          <p:cNvPr id="64" name="Text 40"/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Automáticos</a:t>
            </a:r>
            <a:endParaRPr lang="en-US" sz="2250" dirty="0"/>
          </a:p>
        </p:txBody>
      </p:sp>
      <p:sp>
        <p:nvSpPr>
          <p:cNvPr id="65" name="Shape 41"/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42"/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43"/>
          <p:cNvSpPr txBox="1"/>
          <p:nvPr/>
        </p:nvSpPr>
        <p:spPr>
          <a:xfrm>
            <a:off x="7524598" y="6986930"/>
            <a:ext cx="181417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 el albarán</a:t>
            </a:r>
            <a:endParaRPr lang="en-US" sz="1425" dirty="0"/>
          </a:p>
        </p:txBody>
      </p:sp>
      <p:sp>
        <p:nvSpPr>
          <p:cNvPr id="68" name="Shape 44"/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45"/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0" name="Text 46"/>
          <p:cNvSpPr txBox="1"/>
          <p:nvPr/>
        </p:nvSpPr>
        <p:spPr>
          <a:xfrm>
            <a:off x="7524598" y="7386523"/>
            <a:ext cx="28565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según cada cliente</a:t>
            </a:r>
            <a:endParaRPr lang="en-US" sz="1425" dirty="0"/>
          </a:p>
        </p:txBody>
      </p:sp>
      <p:sp>
        <p:nvSpPr>
          <p:cNvPr id="71" name="Shape 47"/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48"/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49"/>
          <p:cNvSpPr txBox="1"/>
          <p:nvPr/>
        </p:nvSpPr>
        <p:spPr>
          <a:xfrm>
            <a:off x="7524598" y="7787030"/>
            <a:ext cx="2505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Envía y registra el acuse</a:t>
            </a:r>
            <a:endParaRPr lang="en-US" sz="1425" dirty="0"/>
          </a:p>
        </p:txBody>
      </p:sp>
      <p:sp>
        <p:nvSpPr>
          <p:cNvPr id="74" name="Shape 50"/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1"/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52"/>
          <p:cNvSpPr txBox="1"/>
          <p:nvPr/>
        </p:nvSpPr>
        <p:spPr>
          <a:xfrm>
            <a:off x="7524598" y="8186623"/>
            <a:ext cx="31967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 expedido vs facturado</a:t>
            </a:r>
            <a:endParaRPr lang="en-US" sz="1425" dirty="0"/>
          </a:p>
        </p:txBody>
      </p:sp>
      <p:sp>
        <p:nvSpPr>
          <p:cNvPr id="77" name="Shape 53"/>
          <p:cNvSpPr/>
          <p:nvPr/>
        </p:nvSpPr>
        <p:spPr>
          <a:xfrm>
            <a:off x="887699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54"/>
          <p:cNvSpPr txBox="1"/>
          <p:nvPr/>
        </p:nvSpPr>
        <p:spPr>
          <a:xfrm>
            <a:off x="8985809" y="8953805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200" dirty="0"/>
          </a:p>
        </p:txBody>
      </p:sp>
      <p:sp>
        <p:nvSpPr>
          <p:cNvPr id="79" name="Shape 55"/>
          <p:cNvSpPr/>
          <p:nvPr/>
        </p:nvSpPr>
        <p:spPr>
          <a:xfrm>
            <a:off x="952530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56"/>
          <p:cNvSpPr txBox="1"/>
          <p:nvPr/>
        </p:nvSpPr>
        <p:spPr>
          <a:xfrm>
            <a:off x="9667951" y="8953805"/>
            <a:ext cx="29352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</a:t>
            </a:r>
            <a:endParaRPr lang="en-US" sz="1200" dirty="0"/>
          </a:p>
        </p:txBody>
      </p:sp>
      <p:pic>
        <p:nvPicPr>
          <p:cNvPr id="81" name="Image 22" descr="gen-dedup-9f2da3d601bd1ff2962f48734b24ef49.png"/>
          <p:cNvPicPr>
            <a:picLocks noChangeAspect="1"/>
          </p:cNvPicPr>
          <p:nvPr/>
        </p:nvPicPr>
        <p:blipFill>
          <a:blip r:embed="rId20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sp>
        <p:nvSpPr>
          <p:cNvPr id="82" name="Text 57"/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Albarán PDF</a:t>
            </a:r>
            <a:endParaRPr lang="en-US" sz="1725" dirty="0"/>
          </a:p>
        </p:txBody>
      </p:sp>
      <p:sp>
        <p:nvSpPr>
          <p:cNvPr id="83" name="Text 58"/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su plantilla</a:t>
            </a:r>
            <a:endParaRPr lang="en-US" sz="1275" dirty="0"/>
          </a:p>
        </p:txBody>
      </p:sp>
      <p:sp>
        <p:nvSpPr>
          <p:cNvPr id="84" name="Text 59"/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Albarán Excel</a:t>
            </a:r>
            <a:endParaRPr lang="en-US" sz="1725" dirty="0"/>
          </a:p>
        </p:txBody>
      </p:sp>
      <p:sp>
        <p:nvSpPr>
          <p:cNvPr id="85" name="Text 60"/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de líneas</a:t>
            </a:r>
            <a:endParaRPr lang="en-US" sz="1275" dirty="0"/>
          </a:p>
        </p:txBody>
      </p:sp>
      <p:sp>
        <p:nvSpPr>
          <p:cNvPr id="86" name="Text 61"/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Enviado al cliente</a:t>
            </a:r>
            <a:endParaRPr lang="en-US" sz="1725" dirty="0"/>
          </a:p>
        </p:txBody>
      </p:sp>
      <p:sp>
        <p:nvSpPr>
          <p:cNvPr id="87" name="Text 62"/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/ Graph</a:t>
            </a:r>
            <a:endParaRPr lang="en-US" sz="1275" dirty="0"/>
          </a:p>
        </p:txBody>
      </p:sp>
      <p:pic>
        <p:nvPicPr>
          <p:cNvPr id="88" name="Image 23" descr="gen-dedup-cad81b674f5ca746b7ee00627dfd46b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89" name="Text 63"/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Discrepancias</a:t>
            </a:r>
            <a:endParaRPr lang="en-US" sz="1725" dirty="0"/>
          </a:p>
        </p:txBody>
      </p:sp>
      <p:sp>
        <p:nvSpPr>
          <p:cNvPr id="90" name="Text 64"/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Conciliación del día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3556313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ac77d8f42a1a358f9b1530a2d05c16b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 · 42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5914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documental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Asistente de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documentación interna, consultable en lenguaje natural.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Convierte manuales, normativa y procedimientos en una base consultable en lenguaje natural. Cada respuesta cita el documento y la sección. Combina retrieval vectorial y grafo.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38496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instantáneo a la información interna.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29589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Citas al documento y a la sección.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299283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híbrido: vectorial + grafo.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394837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automática de gaps documentales.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328726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Permisos por colección y por usuario.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317388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web + extensión de navegador.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590702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5907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1820570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1820570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494483" y="8762695"/>
            <a:ext cx="685800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494483" y="8762695"/>
            <a:ext cx="68580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270809" y="8762695"/>
            <a:ext cx="743407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270809" y="8762695"/>
            <a:ext cx="7434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4101998" y="8762695"/>
            <a:ext cx="1076249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4101998" y="8762695"/>
            <a:ext cx="10771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</a:t>
            </a:r>
            <a:endParaRPr lang="en-US" sz="975" dirty="0"/>
          </a:p>
        </p:txBody>
      </p:sp>
      <p:sp>
        <p:nvSpPr>
          <p:cNvPr id="34" name="Shape 29"/>
          <p:cNvSpPr/>
          <p:nvPr/>
        </p:nvSpPr>
        <p:spPr>
          <a:xfrm>
            <a:off x="5266030" y="8762695"/>
            <a:ext cx="59984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0"/>
          <p:cNvSpPr txBox="1"/>
          <p:nvPr/>
        </p:nvSpPr>
        <p:spPr>
          <a:xfrm>
            <a:off x="5266030" y="8762695"/>
            <a:ext cx="6007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975" dirty="0"/>
          </a:p>
        </p:txBody>
      </p:sp>
      <p:sp>
        <p:nvSpPr>
          <p:cNvPr id="36" name="Text 31"/>
          <p:cNvSpPr txBox="1"/>
          <p:nvPr/>
        </p:nvSpPr>
        <p:spPr>
          <a:xfrm>
            <a:off x="13144500" y="1904695"/>
            <a:ext cx="4000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</a:t>
            </a:r>
            <a:endParaRPr lang="en-US" sz="825" dirty="0"/>
          </a:p>
        </p:txBody>
      </p:sp>
      <p:sp>
        <p:nvSpPr>
          <p:cNvPr id="37" name="Shape 32"/>
          <p:cNvSpPr/>
          <p:nvPr/>
        </p:nvSpPr>
        <p:spPr>
          <a:xfrm>
            <a:off x="13144500" y="2286000"/>
            <a:ext cx="4000500" cy="79095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3"/>
          <p:cNvSpPr txBox="1"/>
          <p:nvPr/>
        </p:nvSpPr>
        <p:spPr>
          <a:xfrm>
            <a:off x="13363956" y="2467051"/>
            <a:ext cx="35625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«Qué controles hay que hacer antes de expedir y qué </a:t>
            </a:r>
            <a:r>
              <a:rPr lang="en-US" sz="1125" b="1" i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normativa</a:t>
            </a:r>
            <a:r>
              <a:rPr lang="en-US" sz="1125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los exige?»</a:t>
            </a:r>
            <a:endParaRPr lang="en-US" sz="1125" dirty="0"/>
          </a:p>
        </p:txBody>
      </p:sp>
      <p:sp>
        <p:nvSpPr>
          <p:cNvPr id="39" name="Text 34"/>
          <p:cNvSpPr txBox="1"/>
          <p:nvPr/>
        </p:nvSpPr>
        <p:spPr>
          <a:xfrm>
            <a:off x="13144500" y="3619195"/>
            <a:ext cx="4000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con fuentes</a:t>
            </a:r>
            <a:endParaRPr lang="en-US" sz="825" dirty="0"/>
          </a:p>
        </p:txBody>
      </p:sp>
      <p:sp>
        <p:nvSpPr>
          <p:cNvPr id="40" name="Shape 35"/>
          <p:cNvSpPr/>
          <p:nvPr/>
        </p:nvSpPr>
        <p:spPr>
          <a:xfrm>
            <a:off x="13144500" y="4000500"/>
            <a:ext cx="4000500" cy="164774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6"/>
          <p:cNvSpPr txBox="1"/>
          <p:nvPr/>
        </p:nvSpPr>
        <p:spPr>
          <a:xfrm>
            <a:off x="13363956" y="4181551"/>
            <a:ext cx="35625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 a ≤ 4 °C. Verificación visual antes del cierre. Firma del responsable en la hoja.</a:t>
            </a:r>
            <a:endParaRPr lang="en-US" sz="975" dirty="0"/>
          </a:p>
        </p:txBody>
      </p:sp>
      <p:pic>
        <p:nvPicPr>
          <p:cNvPr id="42" name="Image 3" descr="gen-dedup-70cfce64a46439fcb2843927a7d5a949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3363956" y="4698187"/>
            <a:ext cx="3562502" cy="9144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13363956" y="4841748"/>
            <a:ext cx="1051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13542264" y="4841748"/>
            <a:ext cx="149687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de calidad §4.2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13363956" y="5079492"/>
            <a:ext cx="1051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13542264" y="5079492"/>
            <a:ext cx="1236269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22000 §8.4.1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3363956" y="5317236"/>
            <a:ext cx="1051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13542264" y="5317236"/>
            <a:ext cx="155082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853/2004 Anexo II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14287500" y="7239305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ext 44"/>
          <p:cNvSpPr txBox="1"/>
          <p:nvPr/>
        </p:nvSpPr>
        <p:spPr>
          <a:xfrm>
            <a:off x="14287500" y="7420356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1" name="Text 45"/>
          <p:cNvSpPr txBox="1"/>
          <p:nvPr/>
        </p:nvSpPr>
        <p:spPr>
          <a:xfrm>
            <a:off x="14287500" y="7667244"/>
            <a:ext cx="943661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REGENASA</a:t>
            </a:r>
            <a:endParaRPr lang="en-US" sz="975" dirty="0"/>
          </a:p>
        </p:txBody>
      </p:sp>
      <p:sp>
        <p:nvSpPr>
          <p:cNvPr id="52" name="Text 46"/>
          <p:cNvSpPr txBox="1"/>
          <p:nvPr/>
        </p:nvSpPr>
        <p:spPr>
          <a:xfrm>
            <a:off x="15306142" y="7667244"/>
            <a:ext cx="619963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975" dirty="0"/>
          </a:p>
        </p:txBody>
      </p:sp>
      <p:sp>
        <p:nvSpPr>
          <p:cNvPr id="53" name="Text 47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4" name="Text 48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/ 50</a:t>
            </a:r>
            <a:endParaRPr lang="en-US" sz="975" dirty="0"/>
          </a:p>
        </p:txBody>
      </p:sp>
      <p:pic>
        <p:nvPicPr>
          <p:cNvPr id="55" name="Image 4" descr="gen-dedup-a10b06393f16b68cb88f4915ec56234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430500" y="723930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143000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gen-dedup-fac80e9e021134ca9d35aa6425fc9f26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134356"/>
            <a:ext cx="685800" cy="685800"/>
          </a:xfrm>
          <a:prstGeom prst="rect">
            <a:avLst/>
          </a:prstGeom>
        </p:spPr>
      </p:pic>
      <p:pic>
        <p:nvPicPr>
          <p:cNvPr id="14" name="Image 3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334049"/>
            <a:ext cx="685800" cy="685800"/>
          </a:xfrm>
          <a:prstGeom prst="rect">
            <a:avLst/>
          </a:prstGeom>
        </p:spPr>
      </p:pic>
      <p:pic>
        <p:nvPicPr>
          <p:cNvPr id="15" name="Image 4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7534656"/>
            <a:ext cx="685800" cy="685800"/>
          </a:xfrm>
          <a:prstGeom prst="rect">
            <a:avLst/>
          </a:prstGeom>
        </p:spPr>
      </p:pic>
      <p:pic>
        <p:nvPicPr>
          <p:cNvPr id="16" name="Image 5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734349"/>
            <a:ext cx="685800" cy="685800"/>
          </a:xfrm>
          <a:prstGeom prst="rect">
            <a:avLst/>
          </a:prstGeom>
        </p:spPr>
      </p:pic>
      <p:pic>
        <p:nvPicPr>
          <p:cNvPr id="17" name="Image 6" descr="gen-dedup-4fd6ab27e8b90bd8fc3508b3072b05e0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8" name="Image 7" descr="gen-dedup-260dd6da6acb35cd082fc331d27439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9600" y="8781898"/>
            <a:ext cx="533095" cy="533095"/>
          </a:xfrm>
          <a:prstGeom prst="rect">
            <a:avLst/>
          </a:prstGeom>
        </p:spPr>
      </p:pic>
      <p:pic>
        <p:nvPicPr>
          <p:cNvPr id="19" name="Image 8" descr="gen-dedup-260dd6da6acb35cd082fc331d27439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76995" y="8781898"/>
            <a:ext cx="533095" cy="533095"/>
          </a:xfrm>
          <a:prstGeom prst="rect">
            <a:avLst/>
          </a:prstGeom>
        </p:spPr>
      </p:pic>
      <p:pic>
        <p:nvPicPr>
          <p:cNvPr id="20" name="Image 9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21" name="Image 10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2" name="Image 11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3" name="Image 12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4" name="Image 13" descr="gen-dedup-6b1fea6ef9cf700851503bcdb8011f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5" name="Image 14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6" name="Image 15" descr="gen-dedup-e65a801e1d2e7d7f545c66da47e65295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47495" y="5266944"/>
            <a:ext cx="409651" cy="409651"/>
          </a:xfrm>
          <a:prstGeom prst="rect">
            <a:avLst/>
          </a:prstGeom>
        </p:spPr>
      </p:pic>
      <p:pic>
        <p:nvPicPr>
          <p:cNvPr id="27" name="Image 16" descr="gen-dedup-faef72f8220654017d2ee5f08dc50c2c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7495" y="6467551"/>
            <a:ext cx="409651" cy="409651"/>
          </a:xfrm>
          <a:prstGeom prst="rect">
            <a:avLst/>
          </a:prstGeom>
        </p:spPr>
      </p:pic>
      <p:pic>
        <p:nvPicPr>
          <p:cNvPr id="28" name="Image 17" descr="gen-dedup-fc23fc46cc0b8a7a71b92116d7c65e6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9" name="Image 18" descr="gen-dedup-c64420af1170f774cb39882a607964c5.png"/>
          <p:cNvPicPr>
            <a:picLocks noChangeAspect="1"/>
          </p:cNvPicPr>
          <p:nvPr/>
        </p:nvPicPr>
        <p:blipFill>
          <a:blip r:embed="rId14"/>
          <a:srcRect l="-7143" r="-7143"/>
          <a:stretch/>
        </p:blipFill>
        <p:spPr>
          <a:xfrm>
            <a:off x="8334756" y="8887054"/>
            <a:ext cx="323698" cy="323698"/>
          </a:xfrm>
          <a:prstGeom prst="rect">
            <a:avLst/>
          </a:prstGeom>
        </p:spPr>
      </p:pic>
      <p:pic>
        <p:nvPicPr>
          <p:cNvPr id="30" name="Image 19" descr="gen-dedup-ae9fbf65c2968d1581755de022ed705b.png"/>
          <p:cNvPicPr>
            <a:picLocks noChangeAspect="1"/>
          </p:cNvPicPr>
          <p:nvPr/>
        </p:nvPicPr>
        <p:blipFill>
          <a:blip r:embed="rId15"/>
          <a:srcRect t="-100000" b="-100000"/>
          <a:stretch/>
        </p:blipFill>
        <p:spPr>
          <a:xfrm>
            <a:off x="8982151" y="8887054"/>
            <a:ext cx="323698" cy="323698"/>
          </a:xfrm>
          <a:prstGeom prst="rect">
            <a:avLst/>
          </a:prstGeom>
        </p:spPr>
      </p:pic>
      <p:pic>
        <p:nvPicPr>
          <p:cNvPr id="31" name="Image 20" descr="gen-dedup-bc0a37f2aa86479f1dbba7289591e74a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420795" y="5266944"/>
            <a:ext cx="409651" cy="409651"/>
          </a:xfrm>
          <a:prstGeom prst="rect">
            <a:avLst/>
          </a:prstGeom>
        </p:spPr>
      </p:pic>
      <p:sp>
        <p:nvSpPr>
          <p:cNvPr id="32" name="Text 9"/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C07</a:t>
            </a:r>
            <a:endParaRPr lang="en-US" sz="975" dirty="0"/>
          </a:p>
        </p:txBody>
      </p:sp>
      <p:sp>
        <p:nvSpPr>
          <p:cNvPr id="33" name="Shape 10"/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1"/>
          <p:cNvSpPr txBox="1"/>
          <p:nvPr/>
        </p:nvSpPr>
        <p:spPr>
          <a:xfrm>
            <a:off x="1323137" y="2214677"/>
            <a:ext cx="35295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350" dirty="0"/>
          </a:p>
        </p:txBody>
      </p:sp>
      <p:sp>
        <p:nvSpPr>
          <p:cNvPr id="35" name="Text 12"/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del conocimiento · Qué entra, qué sale</a:t>
            </a:r>
            <a:endParaRPr lang="en-US" sz="1125" dirty="0"/>
          </a:p>
        </p:txBody>
      </p:sp>
      <p:sp>
        <p:nvSpPr>
          <p:cNvPr id="36" name="Text 13"/>
          <p:cNvSpPr txBox="1"/>
          <p:nvPr/>
        </p:nvSpPr>
        <p:spPr>
          <a:xfrm>
            <a:off x="1143000" y="2686507"/>
            <a:ext cx="11610137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Asistente de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Conocimiento.</a:t>
            </a:r>
            <a:endParaRPr lang="en-US" sz="5850" dirty="0"/>
          </a:p>
        </p:txBody>
      </p:sp>
      <p:sp>
        <p:nvSpPr>
          <p:cNvPr id="37" name="Text 14"/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documentación interna, consultable en lenguaje natural.</a:t>
            </a:r>
            <a:endParaRPr lang="en-US" sz="1950" dirty="0"/>
          </a:p>
        </p:txBody>
      </p:sp>
      <p:sp>
        <p:nvSpPr>
          <p:cNvPr id="38" name="Text 15"/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9" name="Shape 16"/>
          <p:cNvSpPr/>
          <p:nvPr/>
        </p:nvSpPr>
        <p:spPr>
          <a:xfrm>
            <a:off x="12382805" y="2533802"/>
            <a:ext cx="5907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7"/>
          <p:cNvSpPr txBox="1"/>
          <p:nvPr/>
        </p:nvSpPr>
        <p:spPr>
          <a:xfrm>
            <a:off x="12382805" y="2533802"/>
            <a:ext cx="5907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125" dirty="0"/>
          </a:p>
        </p:txBody>
      </p:sp>
      <p:sp>
        <p:nvSpPr>
          <p:cNvPr id="41" name="Shape 18"/>
          <p:cNvSpPr/>
          <p:nvPr/>
        </p:nvSpPr>
        <p:spPr>
          <a:xfrm>
            <a:off x="13043002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9"/>
          <p:cNvSpPr txBox="1"/>
          <p:nvPr/>
        </p:nvSpPr>
        <p:spPr>
          <a:xfrm>
            <a:off x="13043002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3" name="Shape 20"/>
          <p:cNvSpPr/>
          <p:nvPr/>
        </p:nvSpPr>
        <p:spPr>
          <a:xfrm>
            <a:off x="13698626" y="2533802"/>
            <a:ext cx="7050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1"/>
          <p:cNvSpPr txBox="1"/>
          <p:nvPr/>
        </p:nvSpPr>
        <p:spPr>
          <a:xfrm>
            <a:off x="13698626" y="2533802"/>
            <a:ext cx="7050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</a:t>
            </a:r>
            <a:endParaRPr lang="en-US" sz="1125" dirty="0"/>
          </a:p>
        </p:txBody>
      </p:sp>
      <p:sp>
        <p:nvSpPr>
          <p:cNvPr id="45" name="Shape 22"/>
          <p:cNvSpPr/>
          <p:nvPr/>
        </p:nvSpPr>
        <p:spPr>
          <a:xfrm>
            <a:off x="14473123" y="2533802"/>
            <a:ext cx="761695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3"/>
          <p:cNvSpPr txBox="1"/>
          <p:nvPr/>
        </p:nvSpPr>
        <p:spPr>
          <a:xfrm>
            <a:off x="14473123" y="2533802"/>
            <a:ext cx="76261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</a:t>
            </a:r>
            <a:endParaRPr lang="en-US" sz="1125" dirty="0"/>
          </a:p>
        </p:txBody>
      </p:sp>
      <p:sp>
        <p:nvSpPr>
          <p:cNvPr id="47" name="Shape 24"/>
          <p:cNvSpPr/>
          <p:nvPr/>
        </p:nvSpPr>
        <p:spPr>
          <a:xfrm>
            <a:off x="15309799" y="2533802"/>
            <a:ext cx="11521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5"/>
          <p:cNvSpPr txBox="1"/>
          <p:nvPr/>
        </p:nvSpPr>
        <p:spPr>
          <a:xfrm>
            <a:off x="15309799" y="2533802"/>
            <a:ext cx="11530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</a:t>
            </a:r>
            <a:endParaRPr lang="en-US" sz="1125" dirty="0"/>
          </a:p>
        </p:txBody>
      </p:sp>
      <p:sp>
        <p:nvSpPr>
          <p:cNvPr id="49" name="Shape 26"/>
          <p:cNvSpPr/>
          <p:nvPr/>
        </p:nvSpPr>
        <p:spPr>
          <a:xfrm>
            <a:off x="16531438" y="2533802"/>
            <a:ext cx="59984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7"/>
          <p:cNvSpPr txBox="1"/>
          <p:nvPr/>
        </p:nvSpPr>
        <p:spPr>
          <a:xfrm>
            <a:off x="16531438" y="2533802"/>
            <a:ext cx="6007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1125" dirty="0"/>
          </a:p>
        </p:txBody>
      </p:sp>
      <p:sp>
        <p:nvSpPr>
          <p:cNvPr id="51" name="Text 28"/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52" name="Shape 29"/>
          <p:cNvSpPr/>
          <p:nvPr/>
        </p:nvSpPr>
        <p:spPr>
          <a:xfrm>
            <a:off x="12382805" y="3829507"/>
            <a:ext cx="1076249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0"/>
          <p:cNvSpPr txBox="1"/>
          <p:nvPr/>
        </p:nvSpPr>
        <p:spPr>
          <a:xfrm>
            <a:off x="12382805" y="3829507"/>
            <a:ext cx="10771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REGENASA</a:t>
            </a:r>
            <a:endParaRPr lang="en-US" sz="1125" dirty="0"/>
          </a:p>
        </p:txBody>
      </p:sp>
      <p:sp>
        <p:nvSpPr>
          <p:cNvPr id="54" name="Shape 31"/>
          <p:cNvSpPr/>
          <p:nvPr/>
        </p:nvSpPr>
        <p:spPr>
          <a:xfrm>
            <a:off x="13530377" y="3829507"/>
            <a:ext cx="685800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32"/>
          <p:cNvSpPr txBox="1"/>
          <p:nvPr/>
        </p:nvSpPr>
        <p:spPr>
          <a:xfrm>
            <a:off x="13530377" y="3829507"/>
            <a:ext cx="6858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1125" dirty="0"/>
          </a:p>
        </p:txBody>
      </p:sp>
      <p:sp>
        <p:nvSpPr>
          <p:cNvPr id="56" name="Text 33"/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7" name="Text 34"/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8" name="Text 35"/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9" name="Text 36"/>
          <p:cNvSpPr txBox="1"/>
          <p:nvPr/>
        </p:nvSpPr>
        <p:spPr>
          <a:xfrm>
            <a:off x="21717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Manuales</a:t>
            </a:r>
            <a:endParaRPr lang="en-US" sz="1725" dirty="0"/>
          </a:p>
        </p:txBody>
      </p:sp>
      <p:sp>
        <p:nvSpPr>
          <p:cNvPr id="60" name="Text 37"/>
          <p:cNvSpPr txBox="1"/>
          <p:nvPr/>
        </p:nvSpPr>
        <p:spPr>
          <a:xfrm>
            <a:off x="21717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técnica</a:t>
            </a:r>
            <a:endParaRPr lang="en-US" sz="1275" dirty="0"/>
          </a:p>
        </p:txBody>
      </p:sp>
      <p:sp>
        <p:nvSpPr>
          <p:cNvPr id="61" name="Text 38"/>
          <p:cNvSpPr txBox="1"/>
          <p:nvPr/>
        </p:nvSpPr>
        <p:spPr>
          <a:xfrm>
            <a:off x="21717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Procedimientos</a:t>
            </a:r>
            <a:endParaRPr lang="en-US" sz="1725" dirty="0"/>
          </a:p>
        </p:txBody>
      </p:sp>
      <p:sp>
        <p:nvSpPr>
          <p:cNvPr id="62" name="Text 39"/>
          <p:cNvSpPr txBox="1"/>
          <p:nvPr/>
        </p:nvSpPr>
        <p:spPr>
          <a:xfrm>
            <a:off x="21717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Instrucciones internas</a:t>
            </a:r>
            <a:endParaRPr lang="en-US" sz="1275" dirty="0"/>
          </a:p>
        </p:txBody>
      </p:sp>
      <p:pic>
        <p:nvPicPr>
          <p:cNvPr id="63" name="Image 21" descr="gen-dedup-3ebdaa17aa4f73f0a40cf173e01637c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698" y="7686446"/>
            <a:ext cx="381305" cy="381305"/>
          </a:xfrm>
          <a:prstGeom prst="rect">
            <a:avLst/>
          </a:prstGeom>
        </p:spPr>
      </p:pic>
      <p:sp>
        <p:nvSpPr>
          <p:cNvPr id="64" name="Text 40"/>
          <p:cNvSpPr txBox="1"/>
          <p:nvPr/>
        </p:nvSpPr>
        <p:spPr>
          <a:xfrm>
            <a:off x="21717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Normativa</a:t>
            </a:r>
            <a:endParaRPr lang="en-US" sz="1725" dirty="0"/>
          </a:p>
        </p:txBody>
      </p:sp>
      <p:sp>
        <p:nvSpPr>
          <p:cNvPr id="65" name="Text 41"/>
          <p:cNvSpPr txBox="1"/>
          <p:nvPr/>
        </p:nvSpPr>
        <p:spPr>
          <a:xfrm>
            <a:off x="21717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aplicables</a:t>
            </a:r>
            <a:endParaRPr lang="en-US" sz="1275" dirty="0"/>
          </a:p>
        </p:txBody>
      </p:sp>
      <p:pic>
        <p:nvPicPr>
          <p:cNvPr id="66" name="Image 22" descr="gen-dedup-bb78bd60ebac547c6c1d68cc4b407b9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6698" y="8887054"/>
            <a:ext cx="381305" cy="381305"/>
          </a:xfrm>
          <a:prstGeom prst="rect">
            <a:avLst/>
          </a:prstGeom>
        </p:spPr>
      </p:pic>
      <p:sp>
        <p:nvSpPr>
          <p:cNvPr id="67" name="Text 42"/>
          <p:cNvSpPr txBox="1"/>
          <p:nvPr/>
        </p:nvSpPr>
        <p:spPr>
          <a:xfrm>
            <a:off x="21717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Escaneados</a:t>
            </a:r>
            <a:endParaRPr lang="en-US" sz="1725" dirty="0"/>
          </a:p>
        </p:txBody>
      </p:sp>
      <p:sp>
        <p:nvSpPr>
          <p:cNvPr id="68" name="Text 43"/>
          <p:cNvSpPr txBox="1"/>
          <p:nvPr/>
        </p:nvSpPr>
        <p:spPr>
          <a:xfrm>
            <a:off x="21717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OCR</a:t>
            </a:r>
            <a:endParaRPr lang="en-US" sz="1275" dirty="0"/>
          </a:p>
        </p:txBody>
      </p:sp>
      <p:pic>
        <p:nvPicPr>
          <p:cNvPr id="69" name="Image 23" descr="gen-dedup-625f6ee98a837ce7c94bde031f58a71e.png"/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70" name="Text 44"/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C07</a:t>
            </a:r>
            <a:endParaRPr lang="en-US" sz="900" dirty="0"/>
          </a:p>
        </p:txBody>
      </p:sp>
      <p:sp>
        <p:nvSpPr>
          <p:cNvPr id="71" name="Text 45"/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Asistente de Conocimiento</a:t>
            </a:r>
            <a:endParaRPr lang="en-US" sz="2250" dirty="0"/>
          </a:p>
        </p:txBody>
      </p:sp>
      <p:sp>
        <p:nvSpPr>
          <p:cNvPr id="72" name="Shape 46"/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47"/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74" name="Text 48"/>
          <p:cNvSpPr txBox="1"/>
          <p:nvPr/>
        </p:nvSpPr>
        <p:spPr>
          <a:xfrm>
            <a:off x="7524598" y="6986930"/>
            <a:ext cx="364205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Indexa con embeddings vectoriales</a:t>
            </a:r>
            <a:endParaRPr lang="en-US" sz="1425" dirty="0"/>
          </a:p>
        </p:txBody>
      </p:sp>
      <p:sp>
        <p:nvSpPr>
          <p:cNvPr id="75" name="Shape 49"/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0"/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7" name="Text 51"/>
          <p:cNvSpPr txBox="1"/>
          <p:nvPr/>
        </p:nvSpPr>
        <p:spPr>
          <a:xfrm>
            <a:off x="7524598" y="7386523"/>
            <a:ext cx="32424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Relaciona el contenido en grafo</a:t>
            </a:r>
            <a:endParaRPr lang="en-US" sz="1425" dirty="0"/>
          </a:p>
        </p:txBody>
      </p:sp>
      <p:sp>
        <p:nvSpPr>
          <p:cNvPr id="78" name="Shape 52"/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53"/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54"/>
          <p:cNvSpPr txBox="1"/>
          <p:nvPr/>
        </p:nvSpPr>
        <p:spPr>
          <a:xfrm>
            <a:off x="7524598" y="7787030"/>
            <a:ext cx="326532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híbrido: vector + grafo</a:t>
            </a:r>
            <a:endParaRPr lang="en-US" sz="1425" dirty="0"/>
          </a:p>
        </p:txBody>
      </p:sp>
      <p:sp>
        <p:nvSpPr>
          <p:cNvPr id="81" name="Shape 55"/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56"/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57"/>
          <p:cNvSpPr txBox="1"/>
          <p:nvPr/>
        </p:nvSpPr>
        <p:spPr>
          <a:xfrm>
            <a:off x="7524598" y="8186623"/>
            <a:ext cx="342259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Permisos por colección y usuario</a:t>
            </a:r>
            <a:endParaRPr lang="en-US" sz="1425" dirty="0"/>
          </a:p>
        </p:txBody>
      </p:sp>
      <p:sp>
        <p:nvSpPr>
          <p:cNvPr id="84" name="Shape 58"/>
          <p:cNvSpPr/>
          <p:nvPr/>
        </p:nvSpPr>
        <p:spPr>
          <a:xfrm>
            <a:off x="952530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59"/>
          <p:cNvSpPr txBox="1"/>
          <p:nvPr/>
        </p:nvSpPr>
        <p:spPr>
          <a:xfrm>
            <a:off x="9628632" y="8953805"/>
            <a:ext cx="333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200" dirty="0"/>
          </a:p>
        </p:txBody>
      </p:sp>
      <p:pic>
        <p:nvPicPr>
          <p:cNvPr id="86" name="Image 24" descr="gen-dedup-9f2da3d601bd1ff2962f48734b24ef49.png"/>
          <p:cNvPicPr>
            <a:picLocks noChangeAspect="1"/>
          </p:cNvPicPr>
          <p:nvPr/>
        </p:nvPicPr>
        <p:blipFill>
          <a:blip r:embed="rId20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sp>
        <p:nvSpPr>
          <p:cNvPr id="87" name="Text 60"/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web + extensión</a:t>
            </a:r>
            <a:endParaRPr lang="en-US" sz="1725" dirty="0"/>
          </a:p>
        </p:txBody>
      </p:sp>
      <p:sp>
        <p:nvSpPr>
          <p:cNvPr id="88" name="Text 61"/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en lenguaje natural</a:t>
            </a:r>
            <a:endParaRPr lang="en-US" sz="1275" dirty="0"/>
          </a:p>
        </p:txBody>
      </p:sp>
      <p:pic>
        <p:nvPicPr>
          <p:cNvPr id="89" name="Image 25" descr="gen-dedup-ce73183853f9710a6d0473dce2704dc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6486754"/>
            <a:ext cx="381305" cy="381305"/>
          </a:xfrm>
          <a:prstGeom prst="rect">
            <a:avLst/>
          </a:prstGeom>
        </p:spPr>
      </p:pic>
      <p:sp>
        <p:nvSpPr>
          <p:cNvPr id="90" name="Text 62"/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con fuentes</a:t>
            </a:r>
            <a:endParaRPr lang="en-US" sz="1725" dirty="0"/>
          </a:p>
        </p:txBody>
      </p:sp>
      <p:sp>
        <p:nvSpPr>
          <p:cNvPr id="91" name="Text 63"/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 y sección</a:t>
            </a:r>
            <a:endParaRPr lang="en-US" sz="1275" dirty="0"/>
          </a:p>
        </p:txBody>
      </p:sp>
      <p:pic>
        <p:nvPicPr>
          <p:cNvPr id="92" name="Image 26" descr="gen-dedup-421ab1c043c9caa43d1aba742f30aa1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39998" y="7686446"/>
            <a:ext cx="381305" cy="381305"/>
          </a:xfrm>
          <a:prstGeom prst="rect">
            <a:avLst/>
          </a:prstGeom>
        </p:spPr>
      </p:pic>
      <p:sp>
        <p:nvSpPr>
          <p:cNvPr id="93" name="Text 64"/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Gaps documentales</a:t>
            </a:r>
            <a:endParaRPr lang="en-US" sz="1725" dirty="0"/>
          </a:p>
        </p:txBody>
      </p:sp>
      <p:sp>
        <p:nvSpPr>
          <p:cNvPr id="94" name="Text 65"/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Detectados solos</a:t>
            </a:r>
            <a:endParaRPr lang="en-US" sz="1275" dirty="0"/>
          </a:p>
        </p:txBody>
      </p:sp>
      <p:pic>
        <p:nvPicPr>
          <p:cNvPr id="95" name="Image 27" descr="gen-dedup-cae6b8a028f3769cc79ae636363cc91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96" name="Text 66"/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controlado</a:t>
            </a:r>
            <a:endParaRPr lang="en-US" sz="1725" dirty="0"/>
          </a:p>
        </p:txBody>
      </p:sp>
      <p:sp>
        <p:nvSpPr>
          <p:cNvPr id="97" name="Text 67"/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colección y usuario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23138307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efac8eb198ecfd775a3e8768787cb13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92195" y="7619695"/>
            <a:ext cx="4190695" cy="4190695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 · 44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095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y respuesta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Calidad.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reporte por voz al cierre con causa raíz documentada.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operario reporta desde el móvil — formulario, voz o foto. El sistema clasifica, asigna al responsable, consulta la normativa aplicable. Cierre con acción correctiva trazable.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311719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multimodal: form, voz, foto.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342259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Clasificación y priorización automática.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317388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normativo con cita aplicable.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325343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configurable de resolución.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328726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Notificaciones con SLA por gravedad.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289041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Informes automáticos de calidad.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2221078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2221078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894990" y="8762695"/>
            <a:ext cx="590702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894990" y="8762695"/>
            <a:ext cx="5907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572561" y="8762695"/>
            <a:ext cx="82844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572561" y="8762695"/>
            <a:ext cx="8293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4494276" y="8762695"/>
            <a:ext cx="59984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4494276" y="8762695"/>
            <a:ext cx="6007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975" dirty="0"/>
          </a:p>
        </p:txBody>
      </p:sp>
      <p:sp>
        <p:nvSpPr>
          <p:cNvPr id="34" name="Shape 29"/>
          <p:cNvSpPr/>
          <p:nvPr/>
        </p:nvSpPr>
        <p:spPr>
          <a:xfrm>
            <a:off x="5180990" y="8762695"/>
            <a:ext cx="666598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0"/>
          <p:cNvSpPr txBox="1"/>
          <p:nvPr/>
        </p:nvSpPr>
        <p:spPr>
          <a:xfrm>
            <a:off x="5180990" y="8762695"/>
            <a:ext cx="6675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975" dirty="0"/>
          </a:p>
        </p:txBody>
      </p:sp>
      <p:sp>
        <p:nvSpPr>
          <p:cNvPr id="36" name="Text 31"/>
          <p:cNvSpPr txBox="1"/>
          <p:nvPr/>
        </p:nvSpPr>
        <p:spPr>
          <a:xfrm>
            <a:off x="14287500" y="19046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 reportada</a:t>
            </a:r>
            <a:endParaRPr lang="en-US" sz="825" dirty="0"/>
          </a:p>
        </p:txBody>
      </p:sp>
      <p:sp>
        <p:nvSpPr>
          <p:cNvPr id="37" name="Shape 32"/>
          <p:cNvSpPr/>
          <p:nvPr/>
        </p:nvSpPr>
        <p:spPr>
          <a:xfrm>
            <a:off x="14287500" y="2286000"/>
            <a:ext cx="3619195" cy="196230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3"/>
          <p:cNvSpPr txBox="1"/>
          <p:nvPr/>
        </p:nvSpPr>
        <p:spPr>
          <a:xfrm>
            <a:off x="14525244" y="2505456"/>
            <a:ext cx="12006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Recepción</a:t>
            </a:r>
            <a:endParaRPr lang="en-US" sz="825" dirty="0"/>
          </a:p>
        </p:txBody>
      </p:sp>
      <p:sp>
        <p:nvSpPr>
          <p:cNvPr id="39" name="Text 34"/>
          <p:cNvSpPr txBox="1"/>
          <p:nvPr/>
        </p:nvSpPr>
        <p:spPr>
          <a:xfrm>
            <a:off x="14525244" y="2676449"/>
            <a:ext cx="125272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NC-2025-0418</a:t>
            </a:r>
            <a:endParaRPr lang="en-US" sz="1275" dirty="0"/>
          </a:p>
        </p:txBody>
      </p:sp>
      <p:sp>
        <p:nvSpPr>
          <p:cNvPr id="40" name="Text 35"/>
          <p:cNvSpPr txBox="1"/>
          <p:nvPr/>
        </p:nvSpPr>
        <p:spPr>
          <a:xfrm>
            <a:off x="17106595" y="2505456"/>
            <a:ext cx="571500" cy="247802"/>
          </a:xfrm>
          <a:prstGeom prst="rect">
            <a:avLst/>
          </a:prstGeom>
          <a:solidFill>
            <a:srgbClr val="E6A817">
              <a:alpha val="2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825" dirty="0"/>
          </a:p>
        </p:txBody>
      </p:sp>
      <p:pic>
        <p:nvPicPr>
          <p:cNvPr id="41" name="Image 3" descr="gen-dedup-e4da4572dd0a2a949d775cada46b1539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14525244" y="3000146"/>
            <a:ext cx="3143707" cy="9144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4525244" y="3143707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Salmón a 6 °C · máximo 4 °C</a:t>
            </a:r>
            <a:endParaRPr lang="en-US" sz="1050" dirty="0"/>
          </a:p>
        </p:txBody>
      </p:sp>
      <p:pic>
        <p:nvPicPr>
          <p:cNvPr id="43" name="Image 4" descr="gen-dedup-e4da4572dd0a2a949d775cada46b1539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14525244" y="3462833"/>
            <a:ext cx="3143707" cy="9144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14525244" y="3606394"/>
            <a:ext cx="67482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</a:t>
            </a:r>
            <a:endParaRPr lang="en-US" sz="975" dirty="0"/>
          </a:p>
        </p:txBody>
      </p:sp>
      <p:sp>
        <p:nvSpPr>
          <p:cNvPr id="45" name="Text 38"/>
          <p:cNvSpPr txBox="1"/>
          <p:nvPr/>
        </p:nvSpPr>
        <p:spPr>
          <a:xfrm>
            <a:off x="16807586" y="3606394"/>
            <a:ext cx="112837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Salmón fresco</a:t>
            </a:r>
            <a:endParaRPr lang="en-US" sz="975" dirty="0"/>
          </a:p>
        </p:txBody>
      </p:sp>
      <p:sp>
        <p:nvSpPr>
          <p:cNvPr id="46" name="Text 39"/>
          <p:cNvSpPr txBox="1"/>
          <p:nvPr/>
        </p:nvSpPr>
        <p:spPr>
          <a:xfrm>
            <a:off x="14525244" y="3891686"/>
            <a:ext cx="3143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E6A81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24 h</a:t>
            </a:r>
            <a:endParaRPr lang="en-US" sz="825" dirty="0"/>
          </a:p>
        </p:txBody>
      </p:sp>
      <p:sp>
        <p:nvSpPr>
          <p:cNvPr id="47" name="Shape 40"/>
          <p:cNvSpPr/>
          <p:nvPr/>
        </p:nvSpPr>
        <p:spPr>
          <a:xfrm>
            <a:off x="14287500" y="5333695"/>
            <a:ext cx="3619195" cy="1505102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41"/>
          <p:cNvSpPr txBox="1"/>
          <p:nvPr/>
        </p:nvSpPr>
        <p:spPr>
          <a:xfrm>
            <a:off x="14525244" y="5553151"/>
            <a:ext cx="3143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Normativa citada</a:t>
            </a:r>
            <a:endParaRPr lang="en-US" sz="825" dirty="0"/>
          </a:p>
        </p:txBody>
      </p:sp>
      <p:sp>
        <p:nvSpPr>
          <p:cNvPr id="49" name="Text 42"/>
          <p:cNvSpPr txBox="1"/>
          <p:nvPr/>
        </p:nvSpPr>
        <p:spPr>
          <a:xfrm>
            <a:off x="14525244" y="5820156"/>
            <a:ext cx="3143707" cy="352958"/>
          </a:xfrm>
          <a:prstGeom prst="rect">
            <a:avLst/>
          </a:prstGeom>
          <a:solidFill>
            <a:srgbClr val="E6A817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01600" rIns="114300" bIns="1016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22000 §8.4.1</a:t>
            </a:r>
            <a:endParaRPr lang="en-US" sz="1050" dirty="0"/>
          </a:p>
        </p:txBody>
      </p:sp>
      <p:sp>
        <p:nvSpPr>
          <p:cNvPr id="50" name="Text 43"/>
          <p:cNvSpPr txBox="1"/>
          <p:nvPr/>
        </p:nvSpPr>
        <p:spPr>
          <a:xfrm>
            <a:off x="14525244" y="6267298"/>
            <a:ext cx="3143707" cy="352958"/>
          </a:xfrm>
          <a:prstGeom prst="rect">
            <a:avLst/>
          </a:prstGeom>
          <a:solidFill>
            <a:srgbClr val="E6A817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01600" rIns="114300" bIns="1016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Reglamento CE 853/2004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14287500" y="7048195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Text 45"/>
          <p:cNvSpPr txBox="1"/>
          <p:nvPr/>
        </p:nvSpPr>
        <p:spPr>
          <a:xfrm>
            <a:off x="14287500" y="7229246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3" name="Text 46"/>
          <p:cNvSpPr txBox="1"/>
          <p:nvPr/>
        </p:nvSpPr>
        <p:spPr>
          <a:xfrm>
            <a:off x="14287500" y="7477049"/>
            <a:ext cx="819302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n-US" sz="975" dirty="0"/>
          </a:p>
        </p:txBody>
      </p:sp>
      <p:sp>
        <p:nvSpPr>
          <p:cNvPr id="54" name="Text 47"/>
          <p:cNvSpPr txBox="1"/>
          <p:nvPr/>
        </p:nvSpPr>
        <p:spPr>
          <a:xfrm>
            <a:off x="15180869" y="7477049"/>
            <a:ext cx="752551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NAUTIA</a:t>
            </a:r>
            <a:endParaRPr lang="en-US" sz="975" dirty="0"/>
          </a:p>
        </p:txBody>
      </p:sp>
      <p:sp>
        <p:nvSpPr>
          <p:cNvPr id="55" name="Text 48"/>
          <p:cNvSpPr txBox="1"/>
          <p:nvPr/>
        </p:nvSpPr>
        <p:spPr>
          <a:xfrm>
            <a:off x="11430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6" name="Text 49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/ 50</a:t>
            </a:r>
            <a:endParaRPr lang="en-US" sz="975" dirty="0"/>
          </a:p>
        </p:txBody>
      </p:sp>
      <p:pic>
        <p:nvPicPr>
          <p:cNvPr id="57" name="Image 5" descr="gen-dedup-48688a835f425efe66de88baf3c2b53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82805" y="3429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5622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762902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9625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ac80e9e021134ca9d35aa6425fc9f26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734202"/>
            <a:ext cx="685800" cy="685800"/>
          </a:xfrm>
          <a:prstGeom prst="rect">
            <a:avLst/>
          </a:prstGeom>
        </p:spPr>
      </p:pic>
      <p:pic>
        <p:nvPicPr>
          <p:cNvPr id="13" name="Image 3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6933895"/>
            <a:ext cx="685800" cy="685800"/>
          </a:xfrm>
          <a:prstGeom prst="rect">
            <a:avLst/>
          </a:prstGeom>
        </p:spPr>
      </p:pic>
      <p:pic>
        <p:nvPicPr>
          <p:cNvPr id="14" name="Image 4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134502"/>
            <a:ext cx="685800" cy="685800"/>
          </a:xfrm>
          <a:prstGeom prst="rect">
            <a:avLst/>
          </a:prstGeom>
        </p:spPr>
      </p:pic>
      <p:pic>
        <p:nvPicPr>
          <p:cNvPr id="15" name="Image 5" descr="gen-dedup-4fd6ab27e8b90bd8fc3508b3072b05e0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6" name="Image 6" descr="gen-dedup-260dd6da6acb35cd082fc331d27439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9600" y="8781898"/>
            <a:ext cx="533095" cy="533095"/>
          </a:xfrm>
          <a:prstGeom prst="rect">
            <a:avLst/>
          </a:prstGeom>
        </p:spPr>
      </p:pic>
      <p:pic>
        <p:nvPicPr>
          <p:cNvPr id="17" name="Image 7" descr="gen-dedup-260dd6da6acb35cd082fc331d27439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76995" y="8781898"/>
            <a:ext cx="533095" cy="533095"/>
          </a:xfrm>
          <a:prstGeom prst="rect">
            <a:avLst/>
          </a:prstGeom>
        </p:spPr>
      </p:pic>
      <p:pic>
        <p:nvPicPr>
          <p:cNvPr id="18" name="Image 8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19" name="Image 9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0" name="Image 10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1" name="Image 11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2" name="Image 12" descr="gen-dedup-6b1fea6ef9cf700851503bcdb8011f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3" name="Image 13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4" name="Image 14" descr="gen-dedup-adb194156bb412e8d13b0f82fa257db1.png"/>
          <p:cNvPicPr>
            <a:picLocks noChangeAspect="1"/>
          </p:cNvPicPr>
          <p:nvPr/>
        </p:nvPicPr>
        <p:blipFill>
          <a:blip r:embed="rId11"/>
          <a:srcRect t="-6250" b="-6250"/>
          <a:stretch/>
        </p:blipFill>
        <p:spPr>
          <a:xfrm>
            <a:off x="1447495" y="5867705"/>
            <a:ext cx="409651" cy="409651"/>
          </a:xfrm>
          <a:prstGeom prst="rect">
            <a:avLst/>
          </a:prstGeom>
        </p:spPr>
      </p:pic>
      <p:pic>
        <p:nvPicPr>
          <p:cNvPr id="25" name="Image 15" descr="gen-dedup-fc23fc46cc0b8a7a71b92116d7c65e6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6" name="Image 16" descr="gen-dedup-1fccdd897c6e68de427f95f9a1ba34cb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34756" y="8887054"/>
            <a:ext cx="323698" cy="323698"/>
          </a:xfrm>
          <a:prstGeom prst="rect">
            <a:avLst/>
          </a:prstGeom>
        </p:spPr>
      </p:pic>
      <p:pic>
        <p:nvPicPr>
          <p:cNvPr id="27" name="Image 17" descr="gen-dedup-f8ed294b000c1ef7e579ff30ac06ed18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982151" y="8887054"/>
            <a:ext cx="323698" cy="323698"/>
          </a:xfrm>
          <a:prstGeom prst="rect">
            <a:avLst/>
          </a:prstGeom>
        </p:spPr>
      </p:pic>
      <p:pic>
        <p:nvPicPr>
          <p:cNvPr id="28" name="Image 18" descr="gen-dedup-e65a801e1d2e7d7f545c66da47e65295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420795" y="8867851"/>
            <a:ext cx="409651" cy="409651"/>
          </a:xfrm>
          <a:prstGeom prst="rect">
            <a:avLst/>
          </a:prstGeom>
        </p:spPr>
      </p:pic>
      <p:sp>
        <p:nvSpPr>
          <p:cNvPr id="29" name="Text 8"/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C08</a:t>
            </a:r>
            <a:endParaRPr lang="en-US" sz="975" dirty="0"/>
          </a:p>
        </p:txBody>
      </p:sp>
      <p:sp>
        <p:nvSpPr>
          <p:cNvPr id="30" name="Shape 9"/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0"/>
          <p:cNvSpPr txBox="1"/>
          <p:nvPr/>
        </p:nvSpPr>
        <p:spPr>
          <a:xfrm>
            <a:off x="1314907" y="2214677"/>
            <a:ext cx="362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1350" dirty="0"/>
          </a:p>
        </p:txBody>
      </p:sp>
      <p:sp>
        <p:nvSpPr>
          <p:cNvPr id="32" name="Text 11"/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y calidad · Qué entra, qué sale</a:t>
            </a:r>
            <a:endParaRPr lang="en-US" sz="1125" dirty="0"/>
          </a:p>
        </p:txBody>
      </p:sp>
      <p:sp>
        <p:nvSpPr>
          <p:cNvPr id="33" name="Text 12"/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Calidad.</a:t>
            </a:r>
            <a:endParaRPr lang="en-US" sz="5850" dirty="0"/>
          </a:p>
        </p:txBody>
      </p:sp>
      <p:sp>
        <p:nvSpPr>
          <p:cNvPr id="34" name="Text 13"/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reporte por voz al cierre con causa raíz documentada.</a:t>
            </a:r>
            <a:endParaRPr lang="en-US" sz="1950" dirty="0"/>
          </a:p>
        </p:txBody>
      </p:sp>
      <p:sp>
        <p:nvSpPr>
          <p:cNvPr id="35" name="Text 14"/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6" name="Shape 15"/>
          <p:cNvSpPr/>
          <p:nvPr/>
        </p:nvSpPr>
        <p:spPr>
          <a:xfrm>
            <a:off x="1238280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6"/>
          <p:cNvSpPr txBox="1"/>
          <p:nvPr/>
        </p:nvSpPr>
        <p:spPr>
          <a:xfrm>
            <a:off x="1238280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38" name="Shape 17"/>
          <p:cNvSpPr/>
          <p:nvPr/>
        </p:nvSpPr>
        <p:spPr>
          <a:xfrm>
            <a:off x="13505688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8"/>
          <p:cNvSpPr txBox="1"/>
          <p:nvPr/>
        </p:nvSpPr>
        <p:spPr>
          <a:xfrm>
            <a:off x="13505688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0" name="Shape 19"/>
          <p:cNvSpPr/>
          <p:nvPr/>
        </p:nvSpPr>
        <p:spPr>
          <a:xfrm>
            <a:off x="14160398" y="2533802"/>
            <a:ext cx="5907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0"/>
          <p:cNvSpPr txBox="1"/>
          <p:nvPr/>
        </p:nvSpPr>
        <p:spPr>
          <a:xfrm>
            <a:off x="14160398" y="2533802"/>
            <a:ext cx="5907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125" dirty="0"/>
          </a:p>
        </p:txBody>
      </p:sp>
      <p:sp>
        <p:nvSpPr>
          <p:cNvPr id="42" name="Shape 21"/>
          <p:cNvSpPr/>
          <p:nvPr/>
        </p:nvSpPr>
        <p:spPr>
          <a:xfrm>
            <a:off x="14821510" y="2533802"/>
            <a:ext cx="866851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2"/>
          <p:cNvSpPr txBox="1"/>
          <p:nvPr/>
        </p:nvSpPr>
        <p:spPr>
          <a:xfrm>
            <a:off x="14821510" y="2533802"/>
            <a:ext cx="8668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</a:t>
            </a:r>
            <a:endParaRPr lang="en-US" sz="1125" dirty="0"/>
          </a:p>
        </p:txBody>
      </p:sp>
      <p:sp>
        <p:nvSpPr>
          <p:cNvPr id="44" name="Shape 23"/>
          <p:cNvSpPr/>
          <p:nvPr/>
        </p:nvSpPr>
        <p:spPr>
          <a:xfrm>
            <a:off x="15762427" y="2533802"/>
            <a:ext cx="59984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4"/>
          <p:cNvSpPr txBox="1"/>
          <p:nvPr/>
        </p:nvSpPr>
        <p:spPr>
          <a:xfrm>
            <a:off x="15762427" y="2533802"/>
            <a:ext cx="6007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1125" dirty="0"/>
          </a:p>
        </p:txBody>
      </p:sp>
      <p:sp>
        <p:nvSpPr>
          <p:cNvPr id="46" name="Shape 25"/>
          <p:cNvSpPr/>
          <p:nvPr/>
        </p:nvSpPr>
        <p:spPr>
          <a:xfrm>
            <a:off x="16432682" y="2533802"/>
            <a:ext cx="685800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6"/>
          <p:cNvSpPr txBox="1"/>
          <p:nvPr/>
        </p:nvSpPr>
        <p:spPr>
          <a:xfrm>
            <a:off x="16432682" y="2533802"/>
            <a:ext cx="6858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125" dirty="0"/>
          </a:p>
        </p:txBody>
      </p:sp>
      <p:sp>
        <p:nvSpPr>
          <p:cNvPr id="48" name="Text 27"/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49" name="Shape 28"/>
          <p:cNvSpPr/>
          <p:nvPr/>
        </p:nvSpPr>
        <p:spPr>
          <a:xfrm>
            <a:off x="12382805" y="3829507"/>
            <a:ext cx="933602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9"/>
          <p:cNvSpPr txBox="1"/>
          <p:nvPr/>
        </p:nvSpPr>
        <p:spPr>
          <a:xfrm>
            <a:off x="12382805" y="3829507"/>
            <a:ext cx="9336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n-US" sz="1125" dirty="0"/>
          </a:p>
        </p:txBody>
      </p:sp>
      <p:sp>
        <p:nvSpPr>
          <p:cNvPr id="51" name="Shape 30"/>
          <p:cNvSpPr/>
          <p:nvPr/>
        </p:nvSpPr>
        <p:spPr>
          <a:xfrm>
            <a:off x="13384073" y="3829507"/>
            <a:ext cx="847649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31"/>
          <p:cNvSpPr txBox="1"/>
          <p:nvPr/>
        </p:nvSpPr>
        <p:spPr>
          <a:xfrm>
            <a:off x="13384073" y="3829507"/>
            <a:ext cx="8485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NAUTIA</a:t>
            </a:r>
            <a:endParaRPr lang="en-US" sz="1125" dirty="0"/>
          </a:p>
        </p:txBody>
      </p:sp>
      <p:sp>
        <p:nvSpPr>
          <p:cNvPr id="53" name="Text 32"/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4" name="Text 33"/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5" name="Text 34"/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6" name="Text 35"/>
          <p:cNvSpPr txBox="1"/>
          <p:nvPr/>
        </p:nvSpPr>
        <p:spPr>
          <a:xfrm>
            <a:off x="2171700" y="58100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 móvil</a:t>
            </a:r>
            <a:endParaRPr lang="en-US" sz="1725" dirty="0"/>
          </a:p>
        </p:txBody>
      </p:sp>
      <p:sp>
        <p:nvSpPr>
          <p:cNvPr id="57" name="Text 36"/>
          <p:cNvSpPr txBox="1"/>
          <p:nvPr/>
        </p:nvSpPr>
        <p:spPr>
          <a:xfrm>
            <a:off x="2171700" y="61191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del operario</a:t>
            </a:r>
            <a:endParaRPr lang="en-US" sz="1275" dirty="0"/>
          </a:p>
        </p:txBody>
      </p:sp>
      <p:pic>
        <p:nvPicPr>
          <p:cNvPr id="58" name="Image 19" descr="gen-dedup-e2a0c92ad940ed4cb94c2f4f5720334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6698" y="7086600"/>
            <a:ext cx="381305" cy="381305"/>
          </a:xfrm>
          <a:prstGeom prst="rect">
            <a:avLst/>
          </a:prstGeom>
        </p:spPr>
      </p:pic>
      <p:sp>
        <p:nvSpPr>
          <p:cNvPr id="59" name="Text 37"/>
          <p:cNvSpPr txBox="1"/>
          <p:nvPr/>
        </p:nvSpPr>
        <p:spPr>
          <a:xfrm>
            <a:off x="2171700" y="7010705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 por voz</a:t>
            </a:r>
            <a:endParaRPr lang="en-US" sz="1725" dirty="0"/>
          </a:p>
        </p:txBody>
      </p:sp>
      <p:sp>
        <p:nvSpPr>
          <p:cNvPr id="60" name="Text 38"/>
          <p:cNvSpPr txBox="1"/>
          <p:nvPr/>
        </p:nvSpPr>
        <p:spPr>
          <a:xfrm>
            <a:off x="2171700" y="7319772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Transcrito con Whisper</a:t>
            </a:r>
            <a:endParaRPr lang="en-US" sz="1275" dirty="0"/>
          </a:p>
        </p:txBody>
      </p:sp>
      <p:pic>
        <p:nvPicPr>
          <p:cNvPr id="61" name="Image 20" descr="gen-dedup-12c381b1329d25e1d0dcbc62c0ef721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698" y="8287207"/>
            <a:ext cx="381305" cy="381305"/>
          </a:xfrm>
          <a:prstGeom prst="rect">
            <a:avLst/>
          </a:prstGeom>
        </p:spPr>
      </p:pic>
      <p:sp>
        <p:nvSpPr>
          <p:cNvPr id="62" name="Text 39"/>
          <p:cNvSpPr txBox="1"/>
          <p:nvPr/>
        </p:nvSpPr>
        <p:spPr>
          <a:xfrm>
            <a:off x="2171700" y="82103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de la incidencia</a:t>
            </a:r>
            <a:endParaRPr lang="en-US" sz="1725" dirty="0"/>
          </a:p>
        </p:txBody>
      </p:sp>
      <p:sp>
        <p:nvSpPr>
          <p:cNvPr id="63" name="Text 40"/>
          <p:cNvSpPr txBox="1"/>
          <p:nvPr/>
        </p:nvSpPr>
        <p:spPr>
          <a:xfrm>
            <a:off x="2171700" y="85194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OCR</a:t>
            </a:r>
            <a:endParaRPr lang="en-US" sz="1275" dirty="0"/>
          </a:p>
        </p:txBody>
      </p:sp>
      <p:pic>
        <p:nvPicPr>
          <p:cNvPr id="64" name="Image 21" descr="gen-dedup-182d78fddcadc7feb406cb878a100c1d.png"/>
          <p:cNvPicPr>
            <a:picLocks noChangeAspect="1"/>
          </p:cNvPicPr>
          <p:nvPr/>
        </p:nvPicPr>
        <p:blipFill>
          <a:blip r:embed="rId18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5" name="Text 41"/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C08</a:t>
            </a:r>
            <a:endParaRPr lang="en-US" sz="900" dirty="0"/>
          </a:p>
        </p:txBody>
      </p:sp>
      <p:sp>
        <p:nvSpPr>
          <p:cNvPr id="66" name="Text 42"/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&amp; Calidad</a:t>
            </a:r>
            <a:endParaRPr lang="en-US" sz="2250" dirty="0"/>
          </a:p>
        </p:txBody>
      </p:sp>
      <p:sp>
        <p:nvSpPr>
          <p:cNvPr id="67" name="Shape 43"/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44"/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69" name="Text 45"/>
          <p:cNvSpPr txBox="1"/>
          <p:nvPr/>
        </p:nvSpPr>
        <p:spPr>
          <a:xfrm>
            <a:off x="7524598" y="6986930"/>
            <a:ext cx="326532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 y prioriza la incidencia</a:t>
            </a:r>
            <a:endParaRPr lang="en-US" sz="1425" dirty="0"/>
          </a:p>
        </p:txBody>
      </p:sp>
      <p:sp>
        <p:nvSpPr>
          <p:cNvPr id="70" name="Shape 46"/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47"/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2" name="Text 48"/>
          <p:cNvSpPr txBox="1"/>
          <p:nvPr/>
        </p:nvSpPr>
        <p:spPr>
          <a:xfrm>
            <a:off x="7524598" y="7386523"/>
            <a:ext cx="27203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 la normativa aplicable</a:t>
            </a:r>
            <a:endParaRPr lang="en-US" sz="1425" dirty="0"/>
          </a:p>
        </p:txBody>
      </p:sp>
      <p:sp>
        <p:nvSpPr>
          <p:cNvPr id="73" name="Shape 49"/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50"/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51"/>
          <p:cNvSpPr txBox="1"/>
          <p:nvPr/>
        </p:nvSpPr>
        <p:spPr>
          <a:xfrm>
            <a:off x="7524598" y="7787030"/>
            <a:ext cx="37847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de resolución configurable</a:t>
            </a:r>
            <a:endParaRPr lang="en-US" sz="1425" dirty="0"/>
          </a:p>
        </p:txBody>
      </p:sp>
      <p:sp>
        <p:nvSpPr>
          <p:cNvPr id="76" name="Shape 52"/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53"/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78" name="Text 54"/>
          <p:cNvSpPr txBox="1"/>
          <p:nvPr/>
        </p:nvSpPr>
        <p:spPr>
          <a:xfrm>
            <a:off x="7524598" y="8186623"/>
            <a:ext cx="332110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 según SLA de gravedad</a:t>
            </a:r>
            <a:endParaRPr lang="en-US" sz="1425" dirty="0"/>
          </a:p>
        </p:txBody>
      </p:sp>
      <p:sp>
        <p:nvSpPr>
          <p:cNvPr id="79" name="Shape 55"/>
          <p:cNvSpPr/>
          <p:nvPr/>
        </p:nvSpPr>
        <p:spPr>
          <a:xfrm>
            <a:off x="952530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56"/>
          <p:cNvSpPr txBox="1"/>
          <p:nvPr/>
        </p:nvSpPr>
        <p:spPr>
          <a:xfrm>
            <a:off x="9628632" y="8953805"/>
            <a:ext cx="333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200" dirty="0"/>
          </a:p>
        </p:txBody>
      </p:sp>
      <p:pic>
        <p:nvPicPr>
          <p:cNvPr id="81" name="Image 22" descr="gen-dedup-9f2da3d601bd1ff2962f48734b24ef49.png"/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pic>
        <p:nvPicPr>
          <p:cNvPr id="82" name="Image 23" descr="gen-dedup-88dcb31eb760695c9388ddaf5f14100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439998" y="5286146"/>
            <a:ext cx="381305" cy="381305"/>
          </a:xfrm>
          <a:prstGeom prst="rect">
            <a:avLst/>
          </a:prstGeom>
        </p:spPr>
      </p:pic>
      <p:sp>
        <p:nvSpPr>
          <p:cNvPr id="83" name="Text 57"/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Notificación</a:t>
            </a:r>
            <a:endParaRPr lang="en-US" sz="1725" dirty="0"/>
          </a:p>
        </p:txBody>
      </p:sp>
      <p:sp>
        <p:nvSpPr>
          <p:cNvPr id="84" name="Text 58"/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responsable, con SLA</a:t>
            </a:r>
            <a:endParaRPr lang="en-US" sz="1275" dirty="0"/>
          </a:p>
        </p:txBody>
      </p:sp>
      <p:pic>
        <p:nvPicPr>
          <p:cNvPr id="85" name="Image 24" descr="gen-dedup-3ebdaa17aa4f73f0a40cf173e01637c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6486754"/>
            <a:ext cx="381305" cy="381305"/>
          </a:xfrm>
          <a:prstGeom prst="rect">
            <a:avLst/>
          </a:prstGeom>
        </p:spPr>
      </p:pic>
      <p:sp>
        <p:nvSpPr>
          <p:cNvPr id="86" name="Text 59"/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Normativa citada</a:t>
            </a:r>
            <a:endParaRPr lang="en-US" sz="1725" dirty="0"/>
          </a:p>
        </p:txBody>
      </p:sp>
      <p:sp>
        <p:nvSpPr>
          <p:cNvPr id="87" name="Text 60"/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 aplicable</a:t>
            </a:r>
            <a:endParaRPr lang="en-US" sz="1275" dirty="0"/>
          </a:p>
        </p:txBody>
      </p:sp>
      <p:pic>
        <p:nvPicPr>
          <p:cNvPr id="88" name="Image 25" descr="gen-dedup-1a73ae5e9a5e40ea785eb0f40b3dcfb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39998" y="7686446"/>
            <a:ext cx="381305" cy="381305"/>
          </a:xfrm>
          <a:prstGeom prst="rect">
            <a:avLst/>
          </a:prstGeom>
        </p:spPr>
      </p:pic>
      <p:sp>
        <p:nvSpPr>
          <p:cNvPr id="89" name="Text 61"/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 correctiva</a:t>
            </a:r>
            <a:endParaRPr lang="en-US" sz="1725" dirty="0"/>
          </a:p>
        </p:txBody>
      </p:sp>
      <p:sp>
        <p:nvSpPr>
          <p:cNvPr id="90" name="Text 62"/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 trazable</a:t>
            </a:r>
            <a:endParaRPr lang="en-US" sz="1275" dirty="0"/>
          </a:p>
        </p:txBody>
      </p:sp>
      <p:sp>
        <p:nvSpPr>
          <p:cNvPr id="91" name="Text 63"/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 de calidad</a:t>
            </a:r>
            <a:endParaRPr lang="en-US" sz="1725" dirty="0"/>
          </a:p>
        </p:txBody>
      </p:sp>
      <p:sp>
        <p:nvSpPr>
          <p:cNvPr id="92" name="Text 64"/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Generado automáticamente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31612324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b8c47d30759796504e25cf985ed62e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7d31d0cdebc54e484415195b71eb73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2191695" y="6286500"/>
            <a:ext cx="5715000" cy="3143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0" b="1" kern="0" spc="-1125" dirty="0">
                <a:solidFill>
                  <a:srgbClr val="E6A817">
                    <a:alpha val="1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500" dirty="0"/>
          </a:p>
        </p:txBody>
      </p:sp>
      <p:pic>
        <p:nvPicPr>
          <p:cNvPr id="6" name="Image 3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3238805"/>
            <a:ext cx="914400" cy="38405"/>
          </a:xfrm>
          <a:prstGeom prst="rect">
            <a:avLst/>
          </a:prstGeom>
        </p:spPr>
      </p:pic>
      <p:pic>
        <p:nvPicPr>
          <p:cNvPr id="7" name="Image 4" descr="gen-dedup-88517622ce00ba509b5675516fbb8565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6954805" y="1143000"/>
            <a:ext cx="19202" cy="800100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1143000" y="3524098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8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cuatro · Entrega</a:t>
            </a:r>
            <a:endParaRPr lang="en-US" sz="1200" dirty="0"/>
          </a:p>
        </p:txBody>
      </p:sp>
      <p:sp>
        <p:nvSpPr>
          <p:cNvPr id="11" name="Text 3"/>
          <p:cNvSpPr txBox="1"/>
          <p:nvPr/>
        </p:nvSpPr>
        <p:spPr>
          <a:xfrm>
            <a:off x="1143000" y="3943807"/>
            <a:ext cx="11430000" cy="1429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0" b="1" kern="0" spc="-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Entrega.</a:t>
            </a:r>
            <a:endParaRPr lang="en-US" sz="1125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5905195"/>
            <a:ext cx="104781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entregamos, cómo medimos, cuándo estás en vivo y qué esperar cuando trabajas con MTi — un modelo de entrega suficientemente pequeño para empezar y suficientemente grande para escalar.</a:t>
            </a:r>
            <a:endParaRPr lang="en-US" sz="1800" dirty="0"/>
          </a:p>
        </p:txBody>
      </p:sp>
      <p:sp>
        <p:nvSpPr>
          <p:cNvPr id="13" name="Shape 5"/>
          <p:cNvSpPr/>
          <p:nvPr/>
        </p:nvSpPr>
        <p:spPr>
          <a:xfrm>
            <a:off x="1143000" y="7524598"/>
            <a:ext cx="1914754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6"/>
          <p:cNvSpPr/>
          <p:nvPr/>
        </p:nvSpPr>
        <p:spPr>
          <a:xfrm>
            <a:off x="1143000" y="7524598"/>
            <a:ext cx="1914754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· 2 semanas</a:t>
            </a:r>
            <a:endParaRPr lang="en-US" sz="1050" dirty="0"/>
          </a:p>
        </p:txBody>
      </p:sp>
      <p:sp>
        <p:nvSpPr>
          <p:cNvPr id="15" name="Shape 7"/>
          <p:cNvSpPr/>
          <p:nvPr/>
        </p:nvSpPr>
        <p:spPr>
          <a:xfrm>
            <a:off x="3184855" y="7524598"/>
            <a:ext cx="1781251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8"/>
          <p:cNvSpPr/>
          <p:nvPr/>
        </p:nvSpPr>
        <p:spPr>
          <a:xfrm>
            <a:off x="3184855" y="7524598"/>
            <a:ext cx="17812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· 4–6 semanas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5096866" y="7524598"/>
            <a:ext cx="1857146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5096866" y="7524598"/>
            <a:ext cx="185806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Producción · en curso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7086600" y="7524598"/>
            <a:ext cx="1218895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7086600" y="7524598"/>
            <a:ext cx="12198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medible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fc9b6bd6bd01734c54b10a0f11af3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3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7905902"/>
            <a:ext cx="16002000" cy="152430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Image 2" descr="gen-dedup-8a4746f7ae18871903d6c6f0da58ca57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· 47</a:t>
            </a:r>
            <a:endParaRPr lang="en-US" sz="975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2171700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lo entregamos</a:t>
            </a:r>
            <a:endParaRPr lang="en-US" sz="112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590495"/>
            <a:ext cx="1428750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fases. </a:t>
            </a: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resultado.</a:t>
            </a:r>
            <a:endParaRPr lang="en-US" sz="465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3448202"/>
            <a:ext cx="10478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compromiso es estructurado, medible y nuestro para operar. Ves métricas, no presentaciones.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1143000" y="4572000"/>
            <a:ext cx="3857854" cy="2667305"/>
          </a:xfrm>
          <a:prstGeom prst="roundRect">
            <a:avLst>
              <a:gd name="adj" fmla="val 2845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6"/>
          <p:cNvSpPr txBox="1"/>
          <p:nvPr/>
        </p:nvSpPr>
        <p:spPr>
          <a:xfrm>
            <a:off x="1371600" y="4800600"/>
            <a:ext cx="3400654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E6A81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8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5544007"/>
            <a:ext cx="34006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5790895"/>
            <a:ext cx="3400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semanas, números reales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6086246"/>
            <a:ext cx="3400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Visitamos tu operación. Mapeamos la fricción. Cuantificamos un flujo concreto con una línea base clara.</a:t>
            </a:r>
            <a:endParaRPr lang="en-US" sz="975" dirty="0"/>
          </a:p>
        </p:txBody>
      </p:sp>
      <p:sp>
        <p:nvSpPr>
          <p:cNvPr id="15" name="Shape 10"/>
          <p:cNvSpPr/>
          <p:nvPr/>
        </p:nvSpPr>
        <p:spPr>
          <a:xfrm>
            <a:off x="5191049" y="4572000"/>
            <a:ext cx="3857854" cy="2667305"/>
          </a:xfrm>
          <a:prstGeom prst="roundRect">
            <a:avLst>
              <a:gd name="adj" fmla="val 2845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1"/>
          <p:cNvSpPr txBox="1"/>
          <p:nvPr/>
        </p:nvSpPr>
        <p:spPr>
          <a:xfrm>
            <a:off x="5419649" y="4800600"/>
            <a:ext cx="3400654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E6A81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5419649" y="5544007"/>
            <a:ext cx="34006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</a:t>
            </a:r>
            <a:endParaRPr lang="en-US" sz="975" dirty="0"/>
          </a:p>
        </p:txBody>
      </p:sp>
      <p:sp>
        <p:nvSpPr>
          <p:cNvPr id="18" name="Text 13"/>
          <p:cNvSpPr txBox="1"/>
          <p:nvPr/>
        </p:nvSpPr>
        <p:spPr>
          <a:xfrm>
            <a:off x="5419649" y="5790895"/>
            <a:ext cx="3400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a seis semanas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419649" y="6086246"/>
            <a:ext cx="3400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Construimos el agente en estrecho y lo ejecutamos sobre una porción de tráfico real con el equipo en alerta.</a:t>
            </a:r>
            <a:endParaRPr lang="en-US" sz="975" dirty="0"/>
          </a:p>
        </p:txBody>
      </p:sp>
      <p:sp>
        <p:nvSpPr>
          <p:cNvPr id="20" name="Shape 15"/>
          <p:cNvSpPr/>
          <p:nvPr/>
        </p:nvSpPr>
        <p:spPr>
          <a:xfrm>
            <a:off x="9239098" y="4572000"/>
            <a:ext cx="3857854" cy="2667305"/>
          </a:xfrm>
          <a:prstGeom prst="roundRect">
            <a:avLst>
              <a:gd name="adj" fmla="val 2845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6"/>
          <p:cNvSpPr txBox="1"/>
          <p:nvPr/>
        </p:nvSpPr>
        <p:spPr>
          <a:xfrm>
            <a:off x="9467698" y="4800600"/>
            <a:ext cx="3400654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17"/>
          <p:cNvSpPr txBox="1"/>
          <p:nvPr/>
        </p:nvSpPr>
        <p:spPr>
          <a:xfrm>
            <a:off x="9467698" y="5544007"/>
            <a:ext cx="34006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Escalado</a:t>
            </a:r>
            <a:endParaRPr lang="en-US" sz="975" dirty="0"/>
          </a:p>
        </p:txBody>
      </p:sp>
      <p:sp>
        <p:nvSpPr>
          <p:cNvPr id="23" name="Text 18"/>
          <p:cNvSpPr txBox="1"/>
          <p:nvPr/>
        </p:nvSpPr>
        <p:spPr>
          <a:xfrm>
            <a:off x="9467698" y="5790895"/>
            <a:ext cx="3400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 a producción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9467698" y="6086246"/>
            <a:ext cx="3400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Abrimos el agente, lo integramos con operaciones, monitorizamos en dashboard y afinamos cada semana.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13287146" y="4572000"/>
            <a:ext cx="3857854" cy="2667305"/>
          </a:xfrm>
          <a:prstGeom prst="roundRect">
            <a:avLst>
              <a:gd name="adj" fmla="val 2845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1"/>
          <p:cNvSpPr txBox="1"/>
          <p:nvPr/>
        </p:nvSpPr>
        <p:spPr>
          <a:xfrm>
            <a:off x="13515746" y="4800600"/>
            <a:ext cx="3400654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E6A81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800" dirty="0"/>
          </a:p>
        </p:txBody>
      </p:sp>
      <p:sp>
        <p:nvSpPr>
          <p:cNvPr id="27" name="Text 22"/>
          <p:cNvSpPr txBox="1"/>
          <p:nvPr/>
        </p:nvSpPr>
        <p:spPr>
          <a:xfrm>
            <a:off x="13515746" y="5544007"/>
            <a:ext cx="34006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Operación</a:t>
            </a:r>
            <a:endParaRPr lang="en-US" sz="975" dirty="0"/>
          </a:p>
        </p:txBody>
      </p:sp>
      <p:sp>
        <p:nvSpPr>
          <p:cNvPr id="28" name="Text 23"/>
          <p:cNvSpPr txBox="1"/>
          <p:nvPr/>
        </p:nvSpPr>
        <p:spPr>
          <a:xfrm>
            <a:off x="13515746" y="5790895"/>
            <a:ext cx="3400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vivo, auditado, en evolución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13515746" y="6086246"/>
            <a:ext cx="3400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conserva el agente. Las revisiones trimestrales exponen la deriva y marcan el siguiente movimiento.</a:t>
            </a:r>
            <a:endParaRPr lang="en-US" sz="975" dirty="0"/>
          </a:p>
        </p:txBody>
      </p:sp>
      <p:sp>
        <p:nvSpPr>
          <p:cNvPr id="30" name="Text 25"/>
          <p:cNvSpPr txBox="1"/>
          <p:nvPr/>
        </p:nvSpPr>
        <p:spPr>
          <a:xfrm>
            <a:off x="1524305" y="8134502"/>
            <a:ext cx="10478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recibes desde el día uno</a:t>
            </a:r>
            <a:endParaRPr lang="en-US" sz="825" dirty="0"/>
          </a:p>
        </p:txBody>
      </p:sp>
      <p:sp>
        <p:nvSpPr>
          <p:cNvPr id="31" name="Text 26"/>
          <p:cNvSpPr txBox="1"/>
          <p:nvPr/>
        </p:nvSpPr>
        <p:spPr>
          <a:xfrm>
            <a:off x="1524305" y="8363102"/>
            <a:ext cx="10478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agente funcional, un dashboard legible, una traza documental por cada acción</a:t>
            </a:r>
            <a:endParaRPr lang="en-US" sz="16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un socio que responde al teléfono después del lanzamiento.</a:t>
            </a:r>
            <a:endParaRPr lang="en-US" sz="1650" dirty="0"/>
          </a:p>
        </p:txBody>
      </p:sp>
      <p:sp>
        <p:nvSpPr>
          <p:cNvPr id="32" name="Text 27"/>
          <p:cNvSpPr txBox="1"/>
          <p:nvPr/>
        </p:nvSpPr>
        <p:spPr>
          <a:xfrm>
            <a:off x="1143000" y="97539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Autonomía real, despliegues reales</a:t>
            </a:r>
            <a:endParaRPr lang="en-US" sz="975" dirty="0"/>
          </a:p>
        </p:txBody>
      </p:sp>
      <p:sp>
        <p:nvSpPr>
          <p:cNvPr id="33" name="Text 28"/>
          <p:cNvSpPr txBox="1"/>
          <p:nvPr/>
        </p:nvSpPr>
        <p:spPr>
          <a:xfrm>
            <a:off x="14097305" y="9753905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modelo de entrega que escala</a:t>
            </a:r>
            <a:endParaRPr lang="en-US" sz="975" dirty="0"/>
          </a:p>
        </p:txBody>
      </p:sp>
      <p:pic>
        <p:nvPicPr>
          <p:cNvPr id="34" name="Image 3" descr="gen-dedup-aa75ebd4628eee06925ab23bcc72c19a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12763195" y="8134502"/>
            <a:ext cx="361919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7ed06a9a6c7f4dd10aa32700dc9806b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MTi · 48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2171700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elegirnos</a:t>
            </a:r>
            <a:endParaRPr lang="en-US" sz="1125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2590495"/>
            <a:ext cx="14287500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1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razones por las que los socios </a:t>
            </a: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siguen llamándonos.</a:t>
            </a:r>
            <a:endParaRPr lang="en-US" sz="4650" dirty="0"/>
          </a:p>
        </p:txBody>
      </p:sp>
      <p:sp>
        <p:nvSpPr>
          <p:cNvPr id="8" name="Shape 3"/>
          <p:cNvSpPr/>
          <p:nvPr/>
        </p:nvSpPr>
        <p:spPr>
          <a:xfrm>
            <a:off x="1143000" y="4095598"/>
            <a:ext cx="3047695" cy="3619195"/>
          </a:xfrm>
          <a:prstGeom prst="roundRect">
            <a:avLst>
              <a:gd name="adj" fmla="val 249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1380744" y="4334256"/>
            <a:ext cx="381305" cy="381305"/>
          </a:xfrm>
          <a:prstGeom prst="ellipse">
            <a:avLst/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5"/>
          <p:cNvSpPr txBox="1"/>
          <p:nvPr/>
        </p:nvSpPr>
        <p:spPr>
          <a:xfrm>
            <a:off x="1495958" y="4443070"/>
            <a:ext cx="18836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380744" y="4886554"/>
            <a:ext cx="25722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primero,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modelo primero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380744" y="5424221"/>
            <a:ext cx="2572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Empezamos por tu ERP, CRM e IoT, no por un modelo. El agente aterriza dentro de tu stack — no al lado.</a:t>
            </a:r>
            <a:endParaRPr lang="en-US" sz="975" dirty="0"/>
          </a:p>
        </p:txBody>
      </p:sp>
      <p:sp>
        <p:nvSpPr>
          <p:cNvPr id="13" name="Shape 8"/>
          <p:cNvSpPr/>
          <p:nvPr/>
        </p:nvSpPr>
        <p:spPr>
          <a:xfrm>
            <a:off x="4381805" y="4095598"/>
            <a:ext cx="3047695" cy="3619195"/>
          </a:xfrm>
          <a:prstGeom prst="roundRect">
            <a:avLst>
              <a:gd name="adj" fmla="val 249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4619549" y="4334256"/>
            <a:ext cx="381305" cy="381305"/>
          </a:xfrm>
          <a:prstGeom prst="ellipse">
            <a:avLst/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0"/>
          <p:cNvSpPr txBox="1"/>
          <p:nvPr/>
        </p:nvSpPr>
        <p:spPr>
          <a:xfrm>
            <a:off x="4721047" y="4443070"/>
            <a:ext cx="1810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619549" y="4886554"/>
            <a:ext cx="25722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Auditable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diseño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4619549" y="5424221"/>
            <a:ext cx="2572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acción cita su fuente. Cada paso queda registrado. Listo para compliance desde el día uno.</a:t>
            </a:r>
            <a:endParaRPr lang="en-US" sz="975" dirty="0"/>
          </a:p>
        </p:txBody>
      </p:sp>
      <p:sp>
        <p:nvSpPr>
          <p:cNvPr id="18" name="Shape 13"/>
          <p:cNvSpPr/>
          <p:nvPr/>
        </p:nvSpPr>
        <p:spPr>
          <a:xfrm>
            <a:off x="7619695" y="4095598"/>
            <a:ext cx="3047695" cy="3619195"/>
          </a:xfrm>
          <a:prstGeom prst="roundRect">
            <a:avLst>
              <a:gd name="adj" fmla="val 249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7858354" y="4334256"/>
            <a:ext cx="381305" cy="381305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5"/>
          <p:cNvSpPr txBox="1"/>
          <p:nvPr/>
        </p:nvSpPr>
        <p:spPr>
          <a:xfrm>
            <a:off x="7958938" y="4443070"/>
            <a:ext cx="1810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7858354" y="4886554"/>
            <a:ext cx="25722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Producción,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pilotos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7858354" y="5424221"/>
            <a:ext cx="2572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Catorce despliegues en vivo. Ocho agentes productivizados. Operaciones reales, resultados medidos.</a:t>
            </a:r>
            <a:endParaRPr lang="en-US" sz="975" dirty="0"/>
          </a:p>
        </p:txBody>
      </p:sp>
      <p:sp>
        <p:nvSpPr>
          <p:cNvPr id="23" name="Shape 18"/>
          <p:cNvSpPr/>
          <p:nvPr/>
        </p:nvSpPr>
        <p:spPr>
          <a:xfrm>
            <a:off x="10858500" y="4095598"/>
            <a:ext cx="3047695" cy="3619195"/>
          </a:xfrm>
          <a:prstGeom prst="roundRect">
            <a:avLst>
              <a:gd name="adj" fmla="val 249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11096244" y="4334256"/>
            <a:ext cx="381305" cy="381305"/>
          </a:xfrm>
          <a:prstGeom prst="ellipse">
            <a:avLst/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194999" y="4443070"/>
            <a:ext cx="191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11096244" y="4886554"/>
            <a:ext cx="25722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Operamos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después de entregar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11096244" y="5424221"/>
            <a:ext cx="2572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desaparecemos. Revisiones trimestrales, detección de deriva, dashboards legibles.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14097305" y="4095598"/>
            <a:ext cx="3047695" cy="3619195"/>
          </a:xfrm>
          <a:prstGeom prst="roundRect">
            <a:avLst>
              <a:gd name="adj" fmla="val 249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14335049" y="4334256"/>
            <a:ext cx="381305" cy="381305"/>
          </a:xfrm>
          <a:prstGeom prst="ellipse">
            <a:avLst/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5"/>
          <p:cNvSpPr txBox="1"/>
          <p:nvPr/>
        </p:nvSpPr>
        <p:spPr>
          <a:xfrm>
            <a:off x="14437462" y="4443070"/>
            <a:ext cx="1810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14335049" y="4886554"/>
            <a:ext cx="25722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Hablamos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idioma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14335049" y="5424221"/>
            <a:ext cx="25722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Gallego, español, inglés, francés. Voz y chat donde ya está tu gente.</a:t>
            </a:r>
            <a:endParaRPr lang="en-US" sz="975" dirty="0"/>
          </a:p>
        </p:txBody>
      </p:sp>
      <p:sp>
        <p:nvSpPr>
          <p:cNvPr id="33" name="Shape 28"/>
          <p:cNvSpPr/>
          <p:nvPr/>
        </p:nvSpPr>
        <p:spPr>
          <a:xfrm>
            <a:off x="1143000" y="8382305"/>
            <a:ext cx="160020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9"/>
          <p:cNvSpPr txBox="1"/>
          <p:nvPr/>
        </p:nvSpPr>
        <p:spPr>
          <a:xfrm>
            <a:off x="1143000" y="8620049"/>
            <a:ext cx="1389705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Suficientemente pequeños para cuidar. </a:t>
            </a:r>
            <a:r>
              <a:rPr lang="en-US" sz="18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Suficientemente ingenierizados para escalar.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5340889" y="8686800"/>
            <a:ext cx="213055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9001 · 25+ países</a:t>
            </a:r>
            <a:endParaRPr lang="en-US" sz="975" dirty="0"/>
          </a:p>
        </p:txBody>
      </p:sp>
      <p:sp>
        <p:nvSpPr>
          <p:cNvPr id="36" name="Text 31"/>
          <p:cNvSpPr txBox="1"/>
          <p:nvPr/>
        </p:nvSpPr>
        <p:spPr>
          <a:xfrm>
            <a:off x="1143000" y="97539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Autonomía real, despliegues reales</a:t>
            </a:r>
            <a:endParaRPr lang="en-US" sz="975" dirty="0"/>
          </a:p>
        </p:txBody>
      </p:sp>
      <p:sp>
        <p:nvSpPr>
          <p:cNvPr id="37" name="Text 32"/>
          <p:cNvSpPr txBox="1"/>
          <p:nvPr/>
        </p:nvSpPr>
        <p:spPr>
          <a:xfrm>
            <a:off x="14097305" y="9753905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razones. Evidencia real.</a:t>
            </a:r>
            <a:endParaRPr lang="en-US" sz="97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fc9b6bd6bd01734c54b10a0f11af3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3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4" name="Image 2" descr="gen-dedup-8a4746f7ae18871903d6c6f0da58ca57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8762695"/>
            <a:ext cx="16002000" cy="9144"/>
          </a:xfrm>
          <a:prstGeom prst="rect">
            <a:avLst/>
          </a:prstGeom>
        </p:spPr>
      </p:pic>
      <p:pic>
        <p:nvPicPr>
          <p:cNvPr id="5" name="Image 3" descr="gen-dedup-8a4746f7ae18871903d6c6f0da58ca57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· 49</a:t>
            </a:r>
            <a:endParaRPr lang="en-US" sz="975" dirty="0"/>
          </a:p>
        </p:txBody>
      </p:sp>
      <p:sp>
        <p:nvSpPr>
          <p:cNvPr id="7" name="Text 1"/>
          <p:cNvSpPr txBox="1"/>
          <p:nvPr/>
        </p:nvSpPr>
        <p:spPr>
          <a:xfrm>
            <a:off x="1143000" y="2171700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agregados</a:t>
            </a:r>
            <a:endParaRPr lang="en-US" sz="1125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2590495"/>
            <a:ext cx="14287500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Números que se </a:t>
            </a:r>
            <a:r>
              <a:rPr lang="en-US" sz="4650" b="1" kern="0" spc="-139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acumulan</a:t>
            </a: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</a:t>
            </a: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reunión a reunión, pedido a pedido.</a:t>
            </a:r>
            <a:endParaRPr lang="en-US" sz="4650" dirty="0"/>
          </a:p>
        </p:txBody>
      </p:sp>
      <p:sp>
        <p:nvSpPr>
          <p:cNvPr id="9" name="Shape 3"/>
          <p:cNvSpPr/>
          <p:nvPr/>
        </p:nvSpPr>
        <p:spPr>
          <a:xfrm>
            <a:off x="1143000" y="4095598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 txBox="1"/>
          <p:nvPr/>
        </p:nvSpPr>
        <p:spPr>
          <a:xfrm>
            <a:off x="1410005" y="4362602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−80%</a:t>
            </a:r>
            <a:endParaRPr lang="en-US" sz="4650" dirty="0"/>
          </a:p>
        </p:txBody>
      </p:sp>
      <p:sp>
        <p:nvSpPr>
          <p:cNvPr id="11" name="Text 5"/>
          <p:cNvSpPr txBox="1"/>
          <p:nvPr/>
        </p:nvSpPr>
        <p:spPr>
          <a:xfrm>
            <a:off x="1410005" y="5086807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COPEGAL · prep. cotización</a:t>
            </a:r>
            <a:endParaRPr lang="en-US" sz="975" dirty="0"/>
          </a:p>
        </p:txBody>
      </p:sp>
      <p:sp>
        <p:nvSpPr>
          <p:cNvPr id="12" name="Text 6"/>
          <p:cNvSpPr txBox="1"/>
          <p:nvPr/>
        </p:nvSpPr>
        <p:spPr>
          <a:xfrm>
            <a:off x="1410005" y="5296205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días a minutos.</a:t>
            </a:r>
            <a:endParaRPr lang="en-US" sz="975" dirty="0"/>
          </a:p>
        </p:txBody>
      </p:sp>
      <p:sp>
        <p:nvSpPr>
          <p:cNvPr id="13" name="Shape 7"/>
          <p:cNvSpPr/>
          <p:nvPr/>
        </p:nvSpPr>
        <p:spPr>
          <a:xfrm>
            <a:off x="5191049" y="4095598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 txBox="1"/>
          <p:nvPr/>
        </p:nvSpPr>
        <p:spPr>
          <a:xfrm>
            <a:off x="5458054" y="4362602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−65%</a:t>
            </a:r>
            <a:endParaRPr lang="en-US" sz="4650" dirty="0"/>
          </a:p>
        </p:txBody>
      </p:sp>
      <p:sp>
        <p:nvSpPr>
          <p:cNvPr id="15" name="Text 9"/>
          <p:cNvSpPr txBox="1"/>
          <p:nvPr/>
        </p:nvSpPr>
        <p:spPr>
          <a:xfrm>
            <a:off x="5458054" y="5086807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 · operación manual</a:t>
            </a:r>
            <a:endParaRPr lang="en-US" sz="975" dirty="0"/>
          </a:p>
        </p:txBody>
      </p:sp>
      <p:sp>
        <p:nvSpPr>
          <p:cNvPr id="16" name="Text 10"/>
          <p:cNvSpPr txBox="1"/>
          <p:nvPr/>
        </p:nvSpPr>
        <p:spPr>
          <a:xfrm>
            <a:off x="5458054" y="5296205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Entregables, planificación, documentos.</a:t>
            </a:r>
            <a:endParaRPr lang="en-US" sz="975" dirty="0"/>
          </a:p>
        </p:txBody>
      </p:sp>
      <p:sp>
        <p:nvSpPr>
          <p:cNvPr id="17" name="Shape 11"/>
          <p:cNvSpPr/>
          <p:nvPr/>
        </p:nvSpPr>
        <p:spPr>
          <a:xfrm>
            <a:off x="9239098" y="4095598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9506102" y="4362602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−70%</a:t>
            </a:r>
            <a:endParaRPr lang="en-US" sz="4650" dirty="0"/>
          </a:p>
        </p:txBody>
      </p:sp>
      <p:sp>
        <p:nvSpPr>
          <p:cNvPr id="19" name="Text 13"/>
          <p:cNvSpPr txBox="1"/>
          <p:nvPr/>
        </p:nvSpPr>
        <p:spPr>
          <a:xfrm>
            <a:off x="9506102" y="5086807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 · prep. oferta</a:t>
            </a:r>
            <a:endParaRPr lang="en-US" sz="975" dirty="0"/>
          </a:p>
        </p:txBody>
      </p:sp>
      <p:sp>
        <p:nvSpPr>
          <p:cNvPr id="20" name="Text 14"/>
          <p:cNvSpPr txBox="1"/>
          <p:nvPr/>
        </p:nvSpPr>
        <p:spPr>
          <a:xfrm>
            <a:off x="9506102" y="5296205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pliego a PDF firmado.</a:t>
            </a:r>
            <a:endParaRPr lang="en-US" sz="975" dirty="0"/>
          </a:p>
        </p:txBody>
      </p:sp>
      <p:sp>
        <p:nvSpPr>
          <p:cNvPr id="21" name="Shape 15"/>
          <p:cNvSpPr/>
          <p:nvPr/>
        </p:nvSpPr>
        <p:spPr>
          <a:xfrm>
            <a:off x="13287146" y="4095598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13554151" y="4362602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4650" dirty="0"/>
          </a:p>
        </p:txBody>
      </p:sp>
      <p:sp>
        <p:nvSpPr>
          <p:cNvPr id="23" name="Text 17"/>
          <p:cNvSpPr txBox="1"/>
          <p:nvPr/>
        </p:nvSpPr>
        <p:spPr>
          <a:xfrm>
            <a:off x="13554151" y="5086807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productivizados</a:t>
            </a:r>
            <a:endParaRPr lang="en-US" sz="975" dirty="0"/>
          </a:p>
        </p:txBody>
      </p:sp>
      <p:sp>
        <p:nvSpPr>
          <p:cNvPr id="24" name="Text 18"/>
          <p:cNvSpPr txBox="1"/>
          <p:nvPr/>
        </p:nvSpPr>
        <p:spPr>
          <a:xfrm>
            <a:off x="13554151" y="5296205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Reutilizados entre clientes.</a:t>
            </a:r>
            <a:endParaRPr lang="en-US" sz="975" dirty="0"/>
          </a:p>
        </p:txBody>
      </p:sp>
      <p:sp>
        <p:nvSpPr>
          <p:cNvPr id="25" name="Shape 19"/>
          <p:cNvSpPr/>
          <p:nvPr/>
        </p:nvSpPr>
        <p:spPr>
          <a:xfrm>
            <a:off x="1143000" y="6476695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1410005" y="6743700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12+</a:t>
            </a:r>
            <a:endParaRPr lang="en-US" sz="4650" dirty="0"/>
          </a:p>
        </p:txBody>
      </p:sp>
      <p:sp>
        <p:nvSpPr>
          <p:cNvPr id="27" name="Text 21"/>
          <p:cNvSpPr txBox="1"/>
          <p:nvPr/>
        </p:nvSpPr>
        <p:spPr>
          <a:xfrm>
            <a:off x="1410005" y="7467905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Despliegues en vivo</a:t>
            </a:r>
            <a:endParaRPr lang="en-US" sz="975" dirty="0"/>
          </a:p>
        </p:txBody>
      </p:sp>
      <p:sp>
        <p:nvSpPr>
          <p:cNvPr id="28" name="Text 22"/>
          <p:cNvSpPr txBox="1"/>
          <p:nvPr/>
        </p:nvSpPr>
        <p:spPr>
          <a:xfrm>
            <a:off x="1410005" y="7677302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sectores y países.</a:t>
            </a:r>
            <a:endParaRPr lang="en-US" sz="975" dirty="0"/>
          </a:p>
        </p:txBody>
      </p:sp>
      <p:sp>
        <p:nvSpPr>
          <p:cNvPr id="29" name="Shape 23"/>
          <p:cNvSpPr/>
          <p:nvPr/>
        </p:nvSpPr>
        <p:spPr>
          <a:xfrm>
            <a:off x="5191049" y="6476695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5458054" y="6743700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30+</a:t>
            </a:r>
            <a:endParaRPr lang="en-US" sz="4650" dirty="0"/>
          </a:p>
        </p:txBody>
      </p:sp>
      <p:sp>
        <p:nvSpPr>
          <p:cNvPr id="31" name="Text 25"/>
          <p:cNvSpPr txBox="1"/>
          <p:nvPr/>
        </p:nvSpPr>
        <p:spPr>
          <a:xfrm>
            <a:off x="5458054" y="7467905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IA entregados</a:t>
            </a:r>
            <a:endParaRPr lang="en-US" sz="975" dirty="0"/>
          </a:p>
        </p:txBody>
      </p:sp>
      <p:sp>
        <p:nvSpPr>
          <p:cNvPr id="32" name="Text 26"/>
          <p:cNvSpPr txBox="1"/>
          <p:nvPr/>
        </p:nvSpPr>
        <p:spPr>
          <a:xfrm>
            <a:off x="5458054" y="7677302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Reales, no pilotos.</a:t>
            </a:r>
            <a:endParaRPr lang="en-US" sz="975" dirty="0"/>
          </a:p>
        </p:txBody>
      </p:sp>
      <p:sp>
        <p:nvSpPr>
          <p:cNvPr id="33" name="Shape 27"/>
          <p:cNvSpPr/>
          <p:nvPr/>
        </p:nvSpPr>
        <p:spPr>
          <a:xfrm>
            <a:off x="9239098" y="6476695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9506102" y="6743700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25+</a:t>
            </a:r>
            <a:endParaRPr lang="en-US" sz="4650" dirty="0"/>
          </a:p>
        </p:txBody>
      </p:sp>
      <p:sp>
        <p:nvSpPr>
          <p:cNvPr id="35" name="Text 29"/>
          <p:cNvSpPr txBox="1"/>
          <p:nvPr/>
        </p:nvSpPr>
        <p:spPr>
          <a:xfrm>
            <a:off x="9506102" y="7467905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Países atendidos</a:t>
            </a:r>
            <a:endParaRPr lang="en-US" sz="975" dirty="0"/>
          </a:p>
        </p:txBody>
      </p:sp>
      <p:sp>
        <p:nvSpPr>
          <p:cNvPr id="36" name="Text 30"/>
          <p:cNvSpPr txBox="1"/>
          <p:nvPr/>
        </p:nvSpPr>
        <p:spPr>
          <a:xfrm>
            <a:off x="9506102" y="7677302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la sede en Barcelona.</a:t>
            </a:r>
            <a:endParaRPr lang="en-US" sz="975" dirty="0"/>
          </a:p>
        </p:txBody>
      </p:sp>
      <p:sp>
        <p:nvSpPr>
          <p:cNvPr id="37" name="Shape 31"/>
          <p:cNvSpPr/>
          <p:nvPr/>
        </p:nvSpPr>
        <p:spPr>
          <a:xfrm>
            <a:off x="13287146" y="6476695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 txBox="1"/>
          <p:nvPr/>
        </p:nvSpPr>
        <p:spPr>
          <a:xfrm>
            <a:off x="13554151" y="6743700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150K+</a:t>
            </a:r>
            <a:endParaRPr lang="en-US" sz="4650" dirty="0"/>
          </a:p>
        </p:txBody>
      </p:sp>
      <p:sp>
        <p:nvSpPr>
          <p:cNvPr id="39" name="Text 33"/>
          <p:cNvSpPr txBox="1"/>
          <p:nvPr/>
        </p:nvSpPr>
        <p:spPr>
          <a:xfrm>
            <a:off x="13554151" y="7467905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Dispositivos IoT en vivo</a:t>
            </a:r>
            <a:endParaRPr lang="en-US" sz="975" dirty="0"/>
          </a:p>
        </p:txBody>
      </p:sp>
      <p:sp>
        <p:nvSpPr>
          <p:cNvPr id="40" name="Text 34"/>
          <p:cNvSpPr txBox="1"/>
          <p:nvPr/>
        </p:nvSpPr>
        <p:spPr>
          <a:xfrm>
            <a:off x="13554151" y="7677302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thethings.io.</a:t>
            </a:r>
            <a:endParaRPr lang="en-US" sz="975" dirty="0"/>
          </a:p>
        </p:txBody>
      </p:sp>
      <p:sp>
        <p:nvSpPr>
          <p:cNvPr id="41" name="Text 35"/>
          <p:cNvSpPr txBox="1"/>
          <p:nvPr/>
        </p:nvSpPr>
        <p:spPr>
          <a:xfrm>
            <a:off x="1143000" y="8953805"/>
            <a:ext cx="1409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Distintos sectores. Distintas operaciones. </a:t>
            </a: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mismo agente que aprende cada uno.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1143000" y="97539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Autonomía real, despliegues reales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14097305" y="9753905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· IA agéntica en producción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3093</TotalTime>
  <Words>7286</Words>
  <Application>Microsoft Office PowerPoint</Application>
  <PresentationFormat>Custom</PresentationFormat>
  <Paragraphs>1838</Paragraphs>
  <Slides>58</Slides>
  <Notes>46</Notes>
  <HiddenSlides>7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Daniel Alonso Hernández</cp:lastModifiedBy>
  <cp:revision>10</cp:revision>
  <dcterms:created xsi:type="dcterms:W3CDTF">2026-09-21T08:10:54Z</dcterms:created>
  <dcterms:modified xsi:type="dcterms:W3CDTF">2026-10-06T07:55:48Z</dcterms:modified>
</cp:coreProperties>
</file>